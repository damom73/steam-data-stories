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25788f4-d2c5-b779-8399-db2ae3436cf9}">
          <p14:sldIdLst>
            <p14:sldId id="256"/>
            <p14:sldId id="257"/>
            <p14:sldId id="258"/>
            <p14:sldId id="259"/>
            <p14:sldId id="260"/>
          </p14:sldIdLst>
        </p14:section>
        <p14:section name="A famous data story" id="{6209cdb4-4d0b-93a1-88bc-b5eb2717c5db}">
          <p14:sldIdLst>
            <p14:sldId id="261"/>
            <p14:sldId id="262"/>
            <p14:sldId id="263"/>
            <p14:sldId id="264"/>
            <p14:sldId id="265"/>
          </p14:sldIdLst>
        </p14:section>
        <p14:section name="The data story arc" id="{79ef33ed-b49e-db54-ef9e-3a4f1939de31}">
          <p14:sldIdLst>
            <p14:sldId id="266"/>
            <p14:sldId id="267"/>
            <p14:sldId id="268"/>
          </p14:sldIdLst>
        </p14:section>
        <p14:section name="Meet the Steam dataset" id="{4f295f2a-ae6f-06ab-82fb-170aaf1e660e}">
          <p14:sldIdLst>
            <p14:sldId id="269"/>
            <p14:sldId id="270"/>
            <p14:sldId id="271"/>
            <p14:sldId id="272"/>
            <p14:sldId id="273"/>
            <p14:sldId id="274"/>
          </p14:sldIdLst>
        </p14:section>
        <p14:section name="Brainstorming story angles" id="{68807b09-f109-adbc-b588-787f7eb99ace}">
          <p14:sldIdLst>
            <p14:sldId id="275"/>
            <p14:sldId id="276"/>
            <p14:sldId id="277"/>
            <p14:sldId id="278"/>
          </p14:sldIdLst>
        </p14:section>
        <p14:section name="Wrap up" id="{0da1d81b-ceea-4334-617d-48b77310cf76}">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Hook lesson. No code today: we look at what makes a data story, meet the Steam dataset and brainstorm our own story angles. About 60 minutes: 5 min hook, 15 min Nightingale, 10 min the data story arc, 15 min the Steam dataset, 15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Tell students that by the end of the lesson they will have started their own data story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new terms today, split over two slides. Don't drill them all now; each one comes up again during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an Indie game they've played. Markdown comes up at the end when we create our data story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where have you seen a chart this week? In the news, in a game, in an app? Did it tell you what it meant, or leave you to work it out? Our computers are set up, but before we write any code we look at one of the most famous data stories ever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The aim is for students to notice what made it work, not to remember the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soldiers in a war hospital weren't dying from their wounds, what might they be dying from? Take a few guesses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ten times more. That's the message her story needed to get across to people back in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rose chart from the lesson page on the site (public domain, via Wikimedia Commons); the image isn't in this deck. Ask: what's the first thing your eye goes to? The reforms made army hospitals and barracks cleaner and safer.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of the lesson. Ask students to name the three things her story did: one clear message, evidence anyone can understand, what needs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think of a film's shape: a hook, a build-up, a big moment, an ending. Data stories follow a similar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course follows the same arc: the lessons in each section of the site match one stage. Point out that today's lesson is in the Hook stage. Cover the third column and ask students to fill it in from the Nightingale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expectation that we will spend real time checking and cleaning data before any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uses Steam, and what they look at before buying a game. Reviews usually come up, which is useful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MIT licence term. Saying where data came from is part of telling an honest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Hollow Knight was made by Team Cherry, a small studio in Adelaide. The AppID is how Steam identifies each game: two games can share a name, but they never share an AppID.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columns could tell us whether players like a game? (Positive, Negative, Recommendations.) Which could tell us what critics think? (Metacritic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want to ask about sales or player counts. Head that off now: a question that needs these can't be answered with 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the seed: when students explore the data and spot something strange, that's a good thing to write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dataset can tell lots of different stories, depending on the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angle, ask the class for one more question that fits it. Write a few on the board for students who get stuck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story runs through the whole course. Students will build their own story alongside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predictions with a show of hands. Don't resolve it: the rest of the course finds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A data story picks one clear message, shows the evidence in a way anyone can understand, and says what it means or what should change. A chart alone leaves us to work out what it means.
2. Hook, Behind the Scenes, Rising Insights, Aha Moment, Resolution.
3. One game. Each column is one fact about that game.
4. Two games can share a name, but they never share an AppID.
5. No. Our data doesn't include sales, player counts, play time or money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every student saves the file in the steam_data_stories folder, not somewhere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open the preview to check their headings look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last 15 minutes. The heading is already in the file from the previous slide. Push students to name real columns from the Hollow Knight table, and to avoid questions about sales or player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HOOK</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1</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What is a Data Story?</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3002280"/>
          </a:xfrm>
          <a:prstGeom prst="roundRect">
            <a:avLst>
              <a:gd name="adj" fmla="val 2437"/>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3164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what makes a data story different from a chart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the five stages of the data story arc</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where the Steam dataset comes from and what one row represents</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brainstorm story angles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3429000"/>
          </a:xfrm>
          <a:prstGeom prst="roundRect">
            <a:avLst>
              <a:gd name="adj" fmla="val 2133"/>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74320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data story arc</a:t>
            </a:r>
            <a:r>
              <a:rPr lang="en-US" sz="2000" dirty="0">
                <a:solidFill>
                  <a:srgbClr val="2B1D19"/>
                </a:solidFill>
              </a:rPr>
              <a:t> – the five stages of a data story: Hook, Behind the Scenes, Rising Insights, Aha Moment and Resolution.</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AppID</a:t>
            </a:r>
            <a:r>
              <a:rPr lang="en-US" sz="2000" dirty="0">
                <a:solidFill>
                  <a:srgbClr val="2B1D19"/>
                </a:solidFill>
              </a:rPr>
              <a:t> – the number Steam uses to identify each game; no two games share an AppID.</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MIT licence</a:t>
            </a:r>
            <a:r>
              <a:rPr lang="en-US" sz="2000" dirty="0">
                <a:solidFill>
                  <a:srgbClr val="2B1D19"/>
                </a:solidFill>
              </a:rPr>
              <a:t> – a licence that lets anyone use, copy, change and share a work, as long as they include the original copyright notice.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3154680"/>
          </a:xfrm>
          <a:prstGeom prst="roundRect">
            <a:avLst>
              <a:gd name="adj" fmla="val 2319"/>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468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Indie</a:t>
            </a:r>
            <a:r>
              <a:rPr lang="en-US" sz="2000" dirty="0">
                <a:solidFill>
                  <a:srgbClr val="2B1D19"/>
                </a:solidFill>
              </a:rPr>
              <a:t> – a game made by a small, independent team, often without a big publisher paying for it.</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story angle</a:t>
            </a:r>
            <a:r>
              <a:rPr lang="en-US" sz="2000" dirty="0">
                <a:solidFill>
                  <a:srgbClr val="2B1D19"/>
                </a:solidFill>
              </a:rPr>
              <a:t> – the part of a topic we choose to focus on when we tell a data story.</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Markdown</a:t>
            </a:r>
            <a:r>
              <a:rPr lang="en-US" sz="2000" dirty="0">
                <a:solidFill>
                  <a:srgbClr val="2B1D19"/>
                </a:solidFill>
              </a:rPr>
              <a:t> – plain text with a few symbols for formatting, such as # for a heading and - for a dot point.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HOOK</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Most charts show us numbers and leave us to work out what they mean</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A </a:t>
            </a:r>
            <a:r>
              <a:rPr lang="en-US" sz="1600" b="1" dirty="0">
                <a:solidFill>
                  <a:srgbClr val="F7EFE6"/>
                </a:solidFill>
              </a:rPr>
              <a:t>data story</a:t>
            </a:r>
            <a:r>
              <a:rPr lang="en-US" sz="1600" dirty="0">
                <a:solidFill>
                  <a:srgbClr val="F7EFE6"/>
                </a:solidFill>
              </a:rPr>
              <a:t> does that work for us: it uses data, charts and words together to explain something and convince us it's true.</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A famous data story</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Florence Nightingale and the British Army hospital at Scutari, 1854.</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Nightingale found at Scutari</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1854: Britain was fighting the Crimean War</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Nightingale was sent to run the army hospital at Scutari, now Istanbul</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soldiers were dying in huge numbers, and most </a:t>
            </a:r>
            <a:r>
              <a:rPr lang="en-US" sz="1700" b="1" dirty="0">
                <a:solidFill>
                  <a:srgbClr val="2B1D19"/>
                </a:solidFill>
              </a:rPr>
              <a:t>weren't</a:t>
            </a:r>
            <a:r>
              <a:rPr lang="en-US" sz="1700" dirty="0">
                <a:solidFill>
                  <a:srgbClr val="2B1D19"/>
                </a:solidFill>
              </a:rPr>
              <a:t> dying from their wounds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she kept careful records of every death and its cause</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Most of the deaths could have been prevented</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her first winter: </a:t>
            </a:r>
            <a:r>
              <a:rPr lang="en-US" sz="1700" b="1" dirty="0">
                <a:solidFill>
                  <a:srgbClr val="2B1D19"/>
                </a:solidFill>
              </a:rPr>
              <a:t>4,077</a:t>
            </a:r>
            <a:r>
              <a:rPr lang="en-US" sz="1700" dirty="0">
                <a:solidFill>
                  <a:srgbClr val="2B1D19"/>
                </a:solidFill>
              </a:rPr>
              <a:t> British soldiers died at Scutari</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about </a:t>
            </a:r>
            <a:r>
              <a:rPr lang="en-US" sz="1700" b="1" dirty="0">
                <a:solidFill>
                  <a:srgbClr val="2B1D19"/>
                </a:solidFill>
              </a:rPr>
              <a:t>ten times</a:t>
            </a:r>
            <a:r>
              <a:rPr lang="en-US" sz="1700" dirty="0">
                <a:solidFill>
                  <a:srgbClr val="2B1D19"/>
                </a:solidFill>
              </a:rPr>
              <a:t> more died from disease than from battle wounds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typhus, cholera and dysentery spread through dirty water, blocked sewers and crowded wards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March 1855: a Sanitary Commission cleaned the sewers and improved ventilation</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death rate fell sharply</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The Nightingale rose (1858)</a:t>
            </a:r>
            <a:endParaRPr lang="en-US" sz="2800" dirty="0"/>
          </a:p>
        </p:txBody>
      </p:sp>
      <p:sp>
        <p:nvSpPr>
          <p:cNvPr id="3" name="Text 1"/>
          <p:cNvSpPr txBox="1"/>
          <p:nvPr/>
        </p:nvSpPr>
        <p:spPr>
          <a:xfrm>
            <a:off x="457200" y="1097280"/>
            <a:ext cx="8229600" cy="685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2B1D19"/>
                </a:solidFill>
              </a:rPr>
              <a:t>​</a:t>
            </a:r>
            <a:r>
              <a:rPr lang="en-US" sz="1600" dirty="0">
                <a:solidFill>
                  <a:srgbClr val="2B1D19"/>
                </a:solidFill>
              </a:rPr>
              <a:t>With statistician William Farr, she turned her records into charts. The most famous is the </a:t>
            </a:r>
            <a:r>
              <a:rPr lang="en-US" sz="1600" b="1" dirty="0">
                <a:solidFill>
                  <a:srgbClr val="2B1D19"/>
                </a:solidFill>
              </a:rPr>
              <a:t>Diagram of the causes of mortality in the army in the East</a:t>
            </a:r>
            <a:r>
              <a:rPr lang="en-US" sz="1600" dirty="0">
                <a:solidFill>
                  <a:srgbClr val="2B1D19"/>
                </a:solidFill>
              </a:rPr>
              <a:t>.</a:t>
            </a:r>
            <a:endParaRPr lang="en-US" sz="1600" dirty="0"/>
          </a:p>
        </p:txBody>
      </p:sp>
      <p:sp>
        <p:nvSpPr>
          <p:cNvPr id="4" name="Text 2"/>
          <p:cNvSpPr txBox="1"/>
          <p:nvPr/>
        </p:nvSpPr>
        <p:spPr>
          <a:xfrm>
            <a:off x="457200" y="1874520"/>
            <a:ext cx="8229600" cy="26060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each wedge is one month, April 1854 to March 1856</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blue</a:t>
            </a:r>
            <a:r>
              <a:rPr lang="en-US" sz="1700" dirty="0">
                <a:solidFill>
                  <a:srgbClr val="2B1D19"/>
                </a:solidFill>
              </a:rPr>
              <a:t> → deaths from preventable diseases</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red</a:t>
            </a:r>
            <a:r>
              <a:rPr lang="en-US" sz="1700" dirty="0">
                <a:solidFill>
                  <a:srgbClr val="2B1D19"/>
                </a:solidFill>
              </a:rPr>
              <a:t> → deaths from wounds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blue is so much bigger that nobody could miss the point</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shown to Parliament and the Queen, it helped bring in reforms</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Why a story and not just a table?</a:t>
            </a:r>
            <a:endParaRPr lang="en-US" sz="2800" dirty="0"/>
          </a:p>
        </p:txBody>
      </p:sp>
      <p:sp>
        <p:nvSpPr>
          <p:cNvPr id="3" name="tip box"/>
          <p:cNvSpPr/>
          <p:nvPr/>
        </p:nvSpPr>
        <p:spPr>
          <a:xfrm>
            <a:off x="457200" y="1051560"/>
            <a:ext cx="8229600" cy="2519680"/>
          </a:xfrm>
          <a:prstGeom prst="roundRect">
            <a:avLst>
              <a:gd name="adj" fmla="val 29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8338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Nightingale's numbers were available before she drew her charts, but few people paid attention to tables of figures. Her story picked </a:t>
            </a:r>
            <a:r>
              <a:rPr lang="en-US" sz="2000" b="1" dirty="0">
                <a:solidFill>
                  <a:srgbClr val="2B1D19"/>
                </a:solidFill>
              </a:rPr>
              <a:t>one clear message</a:t>
            </a:r>
            <a:r>
              <a:rPr lang="en-US" sz="2000" dirty="0">
                <a:solidFill>
                  <a:srgbClr val="2B1D19"/>
                </a:solidFill>
              </a:rPr>
              <a:t>, showed the evidence in a way anyone could understand, and ended with </a:t>
            </a:r>
            <a:r>
              <a:rPr lang="en-US" sz="2000" b="1" dirty="0">
                <a:solidFill>
                  <a:srgbClr val="2B1D19"/>
                </a:solidFill>
              </a:rPr>
              <a:t>what needed to change</a:t>
            </a:r>
            <a:r>
              <a:rPr lang="en-US" sz="2000" dirty="0">
                <a:solidFill>
                  <a:srgbClr val="2B1D19"/>
                </a:solidFill>
              </a:rPr>
              <a:t>. That's what turns data into a data story.</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The data story arc</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Nightingale's story has the same shape as a good novel or film.</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Five stages of a data story</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828800"/>
                <a:gridCol w="3200400"/>
                <a:gridCol w="3200400"/>
              </a:tblGrid>
              <a:tr h="0">
                <a:tc>
                  <a:txBody>
                    <a:bodyPr/>
                    <a:lstStyle/>
                    <a:p>
                      <a:pPr indent="0" marL="0">
                        <a:buNone/>
                      </a:pPr>
                      <a:r>
                        <a:rPr lang="en-US" sz="1400" b="1" dirty="0">
                          <a:solidFill>
                            <a:srgbClr val="FFFFFF"/>
                          </a:solidFill>
                        </a:rPr>
                        <a:t>Stage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What it does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In Nightingale's story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Hook</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grabs attention with a question worth answering</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why are so many soldiers dying in hospital?</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Behind the Scenes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collects and checks the data so it can be trusted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her careful records of every death and its cause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Rising Insights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builds up the evidence, one finding at a time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deaths rise in winter; most are from disease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Aha Moment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the key insight, shown so clearly no one can miss it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the rose: the blue dwarfs the red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Resolution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what it means and what should happen next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clean the hospitals, and the deaths will fall</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Behind the Scenes matters</a:t>
            </a:r>
            <a:endParaRPr lang="en-US" sz="2800" dirty="0"/>
          </a:p>
        </p:txBody>
      </p:sp>
      <p:sp>
        <p:nvSpPr>
          <p:cNvPr id="3" name="tip box"/>
          <p:cNvSpPr/>
          <p:nvPr/>
        </p:nvSpPr>
        <p:spPr>
          <a:xfrm>
            <a:off x="457200" y="1051560"/>
            <a:ext cx="8229600" cy="1910080"/>
          </a:xfrm>
          <a:prstGeom prst="roundRect">
            <a:avLst>
              <a:gd name="adj" fmla="val 3830"/>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2242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Audiences rarely see the Behind the Scenes stage, but it's where most of the work happens. If the data is wrong, the whole story is wrong, no matter how good the charts look.</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Meet the Steam dataset</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b="1" dirty="0">
                <a:solidFill>
                  <a:srgbClr val="F7EFE6"/>
                </a:solidFill>
              </a:rPr>
              <a:t>Steam</a:t>
            </a:r>
            <a:r>
              <a:rPr lang="en-US" sz="1800" dirty="0">
                <a:solidFill>
                  <a:srgbClr val="F7EFE6"/>
                </a:solidFill>
              </a:rPr>
              <a:t> is the biggest online store for PC games.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Where our data comes from</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the most-reviewed games on Steam: </a:t>
            </a:r>
            <a:r>
              <a:rPr lang="en-US" sz="1700" b="1" dirty="0">
                <a:solidFill>
                  <a:srgbClr val="2B1D19"/>
                </a:solidFill>
              </a:rPr>
              <a:t>10,250</a:t>
            </a:r>
            <a:r>
              <a:rPr lang="en-US" sz="1700" dirty="0">
                <a:solidFill>
                  <a:srgbClr val="2B1D19"/>
                </a:solidFill>
              </a:rPr>
              <a:t> games with at least 500 reviews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a:t>
            </a:r>
            <a:r>
              <a:rPr lang="en-US" sz="1700" b="1" dirty="0">
                <a:solidFill>
                  <a:srgbClr val="2B1D19"/>
                </a:solidFill>
              </a:rPr>
              <a:t>Steam Games Dataset</a:t>
            </a:r>
            <a:r>
              <a:rPr lang="en-US" sz="1700" dirty="0">
                <a:solidFill>
                  <a:srgbClr val="2B1D19"/>
                </a:solidFill>
              </a:rPr>
              <a:t> by Fronkon Games, from the Steam store and SteamSpy</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published under the </a:t>
            </a:r>
            <a:r>
              <a:rPr lang="en-US" sz="1700" b="1" dirty="0">
                <a:solidFill>
                  <a:srgbClr val="2B1D19"/>
                </a:solidFill>
              </a:rPr>
              <a:t>MIT licence</a:t>
            </a:r>
            <a:r>
              <a:rPr lang="en-US" sz="1700" dirty="0">
                <a:solidFill>
                  <a:srgbClr val="2B1D19"/>
                </a:solidFill>
              </a:rPr>
              <a:t>: we can use and share it if we say where it came from</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our classroom copy has had games with adult content removed</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One row is one game: Hollow Knight (1 of 2)</a:t>
            </a:r>
            <a:endParaRPr lang="en-US" sz="2800" dirty="0"/>
          </a:p>
        </p:txBody>
      </p:sp>
      <p:sp>
        <p:nvSpPr>
          <p:cNvPr id="3" name="Text 1"/>
          <p:cNvSpPr txBox="1"/>
          <p:nvPr/>
        </p:nvSpPr>
        <p:spPr>
          <a:xfrm>
            <a:off x="457200" y="1051560"/>
            <a:ext cx="8229600" cy="457200"/>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Each </a:t>
            </a:r>
            <a:r>
              <a:rPr lang="en-US" sz="1500" b="1" dirty="0">
                <a:solidFill>
                  <a:srgbClr val="2B1D19"/>
                </a:solidFill>
              </a:rPr>
              <a:t>row</a:t>
            </a:r>
            <a:r>
              <a:rPr lang="en-US" sz="1500" dirty="0">
                <a:solidFill>
                  <a:srgbClr val="2B1D19"/>
                </a:solidFill>
              </a:rPr>
              <a:t> is one game and each </a:t>
            </a:r>
            <a:r>
              <a:rPr lang="en-US" sz="1500" b="1" dirty="0">
                <a:solidFill>
                  <a:srgbClr val="2B1D19"/>
                </a:solidFill>
              </a:rPr>
              <a:t>column</a:t>
            </a:r>
            <a:r>
              <a:rPr lang="en-US" sz="1500" dirty="0">
                <a:solidFill>
                  <a:srgbClr val="2B1D19"/>
                </a:solidFill>
              </a:rPr>
              <a:t> is one fact about it. There are 13 columns.</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2011680"/>
                <a:gridCol w="1645920"/>
                <a:gridCol w="4572000"/>
              </a:tblGrid>
              <a:tr h="0">
                <a:tc>
                  <a:txBody>
                    <a:bodyPr/>
                    <a:lstStyle/>
                    <a:p>
                      <a:pPr indent="0" marL="0">
                        <a:buNone/>
                      </a:pPr>
                      <a:r>
                        <a:rPr lang="en-US" sz="1400" b="1" dirty="0">
                          <a:solidFill>
                            <a:srgbClr val="FFFFFF"/>
                          </a:solidFill>
                        </a:rPr>
                        <a:t>Column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Hollow Knight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What it means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AppID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367520</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number Steam uses to identify the game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Name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Hollow Knight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the game's name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Release date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Feb 24, 2017</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day the game came out on Steam</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Price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7.49</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price in US dollars when collected (sale games show their sale price)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Positive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403641</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how many players reviewed the game positively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Negative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12305</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how many players reviewed the game negatively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Recommendations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455843</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number of player recommendations Steam lists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One row is one game: Hollow Knight (2 of 2)</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828800"/>
                <a:gridCol w="2377440"/>
                <a:gridCol w="4023360"/>
              </a:tblGrid>
              <a:tr h="0">
                <a:tc>
                  <a:txBody>
                    <a:bodyPr/>
                    <a:lstStyle/>
                    <a:p>
                      <a:pPr indent="0" marL="0">
                        <a:buNone/>
                      </a:pPr>
                      <a:r>
                        <a:rPr lang="en-US" sz="1400" b="1" dirty="0">
                          <a:solidFill>
                            <a:srgbClr val="FFFFFF"/>
                          </a:solidFill>
                        </a:rPr>
                        <a:t>Column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Hollow Knight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What it means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Metacritic score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87</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score from professional critics on Metacritic, out of 100</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Achievements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63</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how many achievements players can unlock</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Developers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Team Cherry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who made the game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Publishers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Team Cherry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who released and sold the game (often bigger than the developer)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Genres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Action,Adventure,Indie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kinds of game it is, separated by commas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Support email</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info@teamcherry.com.au</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the email address players can use to get help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our data can't tell us</a:t>
            </a:r>
            <a:endParaRPr lang="en-US" sz="2800" dirty="0"/>
          </a:p>
        </p:txBody>
      </p:sp>
      <p:sp>
        <p:nvSpPr>
          <p:cNvPr id="3" name="tip box"/>
          <p:cNvSpPr/>
          <p:nvPr/>
        </p:nvSpPr>
        <p:spPr>
          <a:xfrm>
            <a:off x="457200" y="1051560"/>
            <a:ext cx="8229600" cy="2595880"/>
          </a:xfrm>
          <a:prstGeom prst="roundRect">
            <a:avLst>
              <a:gd name="adj" fmla="val 2818"/>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9100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2000" dirty="0">
                <a:solidFill>
                  <a:srgbClr val="2B1D19"/>
                </a:solidFill>
              </a:rPr>
              <a:t>​</a:t>
            </a:r>
            <a:r>
              <a:rPr lang="en-US" sz="2000" dirty="0">
                <a:solidFill>
                  <a:srgbClr val="2B1D19"/>
                </a:solidFill>
              </a:rPr>
              <a:t>how many people play each game, or how long they play for</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how many copies were sold, or how much money a game made</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age ratings or player ages</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so we'll choose questions that use the 13 columns we have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Real data is messy</a:t>
            </a:r>
            <a:endParaRPr lang="en-US" sz="2800" dirty="0"/>
          </a:p>
        </p:txBody>
      </p:sp>
      <p:sp>
        <p:nvSpPr>
          <p:cNvPr id="3" name="warning box"/>
          <p:cNvSpPr/>
          <p:nvPr/>
        </p:nvSpPr>
        <p:spPr>
          <a:xfrm>
            <a:off x="457200" y="1051560"/>
            <a:ext cx="8229600" cy="2214880"/>
          </a:xfrm>
          <a:prstGeom prst="roundRect">
            <a:avLst>
              <a:gd name="adj" fmla="val 33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Our data is real, and it hasn't been cleaned. Some numbers really mean "missing", some columns store dates as text, and some games appear more than once. We'll fix these in Behind the Scenes, so for now, </a:t>
            </a:r>
            <a:r>
              <a:rPr lang="en-US" sz="2000" b="1" dirty="0">
                <a:solidFill>
                  <a:srgbClr val="2B1D19"/>
                </a:solidFill>
              </a:rPr>
              <a:t>don't trust every number we see</a:t>
            </a:r>
            <a:r>
              <a:rPr lang="en-US" sz="2000" dirty="0">
                <a:solidFill>
                  <a:srgbClr val="2B1D19"/>
                </a:solidFill>
              </a:rPr>
              <a: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Brainstorming story angles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A </a:t>
            </a:r>
            <a:r>
              <a:rPr lang="en-US" sz="1800" b="1" dirty="0">
                <a:solidFill>
                  <a:srgbClr val="F7EFE6"/>
                </a:solidFill>
              </a:rPr>
              <a:t>story angle</a:t>
            </a:r>
            <a:r>
              <a:rPr lang="en-US" sz="1800" dirty="0">
                <a:solidFill>
                  <a:srgbClr val="F7EFE6"/>
                </a:solidFill>
              </a:rPr>
              <a:t> is the part of a topic we choose to focus on.</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Angles the Steam data could support</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b="1" dirty="0">
                <a:solidFill>
                  <a:srgbClr val="2B1D19"/>
                </a:solidFill>
              </a:rPr>
              <a:t>change over time:</a:t>
            </a:r>
            <a:r>
              <a:rPr lang="en-US" sz="1700" dirty="0">
                <a:solidFill>
                  <a:srgbClr val="2B1D19"/>
                </a:solidFill>
              </a:rPr>
              <a:t> how have Steam games changed since 2010?</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comparison:</a:t>
            </a:r>
            <a:r>
              <a:rPr lang="en-US" sz="1700" dirty="0">
                <a:solidFill>
                  <a:srgbClr val="2B1D19"/>
                </a:solidFill>
              </a:rPr>
              <a:t> are some kinds of games more popular than others?</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money:</a:t>
            </a:r>
            <a:r>
              <a:rPr lang="en-US" sz="1700" dirty="0">
                <a:solidFill>
                  <a:srgbClr val="2B1D19"/>
                </a:solidFill>
              </a:rPr>
              <a:t> what does a game's price tell us about it?</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surprise:</a:t>
            </a:r>
            <a:r>
              <a:rPr lang="en-US" sz="1700" dirty="0">
                <a:solidFill>
                  <a:srgbClr val="2B1D19"/>
                </a:solidFill>
              </a:rPr>
              <a:t> what's true in the data that most people would guess wrong?</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a single game:</a:t>
            </a:r>
            <a:r>
              <a:rPr lang="en-US" sz="1700" dirty="0">
                <a:solidFill>
                  <a:srgbClr val="2B1D19"/>
                </a:solidFill>
              </a:rPr>
              <a:t> what happened to one game, and was it normal?</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Our example story uses the comparison angle</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Hollow Knight, Stardew Valley and Terraria are all </a:t>
            </a:r>
            <a:r>
              <a:rPr lang="en-US" sz="1700" b="1" dirty="0">
                <a:solidFill>
                  <a:srgbClr val="2B1D19"/>
                </a:solidFill>
              </a:rPr>
              <a:t>Indie</a:t>
            </a:r>
            <a:r>
              <a:rPr lang="en-US" sz="1700" dirty="0">
                <a:solidFill>
                  <a:srgbClr val="2B1D19"/>
                </a:solidFill>
              </a:rPr>
              <a:t> games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big studios spend millions of dollars on their games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so we might expect their games to be better. But are they?</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we'll compare Indie games with all the other games, and check whether they cost less</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OUR HOOK</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Do Indie games review as well as games from big studios?</a:t>
            </a:r>
            <a:endParaRPr lang="en-US" sz="3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makes a data story different from a chart?</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Name the five stages of the data story arc in order.</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In our Steam data, what does one row represent?</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 we identify games by AppID rather than by name?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Could our data answer "Which game sold the most copies?" Why or why not?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Create your data story file</a:t>
            </a:r>
            <a:endParaRPr lang="en-US" sz="2800" dirty="0"/>
          </a:p>
        </p:txBody>
      </p:sp>
      <p:sp>
        <p:nvSpPr>
          <p:cNvPr id="3" name="Code panel"/>
          <p:cNvSpPr/>
          <p:nvPr/>
        </p:nvSpPr>
        <p:spPr>
          <a:xfrm>
            <a:off x="457200" y="1051560"/>
            <a:ext cx="3840480" cy="1263015"/>
          </a:xfrm>
          <a:prstGeom prst="roundRect">
            <a:avLst>
              <a:gd name="adj" fmla="val 4344"/>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my_data_story.md</a:t>
            </a:r>
            <a:endParaRPr lang="en-US" sz="1200" dirty="0"/>
          </a:p>
        </p:txBody>
      </p:sp>
      <p:sp>
        <p:nvSpPr>
          <p:cNvPr id="5" name="Code"/>
          <p:cNvSpPr txBox="1"/>
          <p:nvPr/>
        </p:nvSpPr>
        <p:spPr>
          <a:xfrm>
            <a:off x="594360" y="1508760"/>
            <a:ext cx="3566160" cy="760095"/>
          </a:xfrm>
          <a:prstGeom prst="rect">
            <a:avLst/>
          </a:prstGeom>
          <a:noFill/>
          <a:ln/>
        </p:spPr>
        <p:txBody>
          <a:bodyPr wrap="square" lIns="0" tIns="0" rIns="0" bIns="0" rtlCol="0" anchor="t"/>
          <a:lstStyle/>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1  </a:t>
            </a:r>
            <a:r>
              <a:rPr lang="en-US" sz="1500" dirty="0">
                <a:solidFill>
                  <a:srgbClr val="F7EFE6"/>
                </a:solidFill>
                <a:latin typeface="Courier New" pitchFamily="34" charset="0"/>
                <a:ea typeface="Courier New" pitchFamily="34" charset="-122"/>
                <a:cs typeface="Courier New" pitchFamily="34" charset="-120"/>
              </a:rPr>
              <a:t># My Data Story</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2  </a:t>
            </a:r>
            <a:r>
              <a:rPr lang="en-US" sz="1500" dirty="0">
                <a:solidFill>
                  <a:srgbClr val="F7EFE6"/>
                </a:solidFill>
                <a:latin typeface="Courier New" pitchFamily="34" charset="0"/>
                <a:ea typeface="Courier New" pitchFamily="34" charset="-122"/>
                <a:cs typeface="Courier New" pitchFamily="34" charset="-120"/>
              </a:rPr>
              <a:t> </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3  </a:t>
            </a:r>
            <a:r>
              <a:rPr lang="en-US" sz="1500" dirty="0">
                <a:solidFill>
                  <a:srgbClr val="F7EFE6"/>
                </a:solidFill>
                <a:latin typeface="Courier New" pitchFamily="34" charset="0"/>
                <a:ea typeface="Courier New" pitchFamily="34" charset="-122"/>
                <a:cs typeface="Courier New" pitchFamily="34" charset="-120"/>
              </a:rPr>
              <a:t>## Story angles</a:t>
            </a:r>
            <a:endParaRPr lang="en-US" sz="1500" dirty="0"/>
          </a:p>
        </p:txBody>
      </p:sp>
      <p:sp>
        <p:nvSpPr>
          <p:cNvPr id="6" name="Text 4"/>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7" name="Text 5"/>
          <p:cNvSpPr txBox="1"/>
          <p:nvPr/>
        </p:nvSpPr>
        <p:spPr>
          <a:xfrm>
            <a:off x="4572000" y="1399032"/>
            <a:ext cx="4114800" cy="8686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You'll record your ideas and decisions in </a:t>
            </a:r>
            <a:r>
              <a:rPr lang="en-US" sz="1300" b="1" dirty="0">
                <a:solidFill>
                  <a:srgbClr val="B86E1E"/>
                </a:solidFill>
                <a:latin typeface="Courier New" pitchFamily="34" charset="0"/>
                <a:ea typeface="Courier New" pitchFamily="34" charset="-122"/>
                <a:cs typeface="Courier New" pitchFamily="34" charset="-120"/>
              </a:rPr>
              <a:t>my_data_story.md</a:t>
            </a:r>
            <a:r>
              <a:rPr lang="en-US" sz="1500" dirty="0">
                <a:solidFill>
                  <a:srgbClr val="2B1D19"/>
                </a:solidFill>
              </a:rPr>
              <a:t>, and add to it at the end of every lesson.</a:t>
            </a:r>
            <a:endParaRPr lang="en-US" sz="1500" dirty="0"/>
          </a:p>
        </p:txBody>
      </p:sp>
      <p:sp>
        <p:nvSpPr>
          <p:cNvPr id="8" name="Text 6"/>
          <p:cNvSpPr txBox="1"/>
          <p:nvPr/>
        </p:nvSpPr>
        <p:spPr>
          <a:xfrm>
            <a:off x="4572000" y="2450592"/>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Steps</a:t>
            </a:r>
            <a:endParaRPr lang="en-US" sz="1400" dirty="0"/>
          </a:p>
        </p:txBody>
      </p:sp>
      <p:sp>
        <p:nvSpPr>
          <p:cNvPr id="9" name="Text 7"/>
          <p:cNvSpPr txBox="1"/>
          <p:nvPr/>
        </p:nvSpPr>
        <p:spPr>
          <a:xfrm>
            <a:off x="4572000" y="2798064"/>
            <a:ext cx="4114800" cy="17282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dirty="0">
                <a:solidFill>
                  <a:srgbClr val="2B1D19"/>
                </a:solidFill>
              </a:rPr>
              <a:t>open your </a:t>
            </a:r>
            <a:r>
              <a:rPr lang="en-US" sz="1200" b="1" dirty="0">
                <a:solidFill>
                  <a:srgbClr val="B86E1E"/>
                </a:solidFill>
                <a:latin typeface="Courier New" pitchFamily="34" charset="0"/>
                <a:ea typeface="Courier New" pitchFamily="34" charset="-122"/>
                <a:cs typeface="Courier New" pitchFamily="34" charset="-120"/>
              </a:rPr>
              <a:t>steam_data_stories</a:t>
            </a:r>
            <a:r>
              <a:rPr lang="en-US" sz="1400" dirty="0">
                <a:solidFill>
                  <a:srgbClr val="2B1D19"/>
                </a:solidFill>
              </a:rPr>
              <a:t> folder in VS Code</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File</a:t>
            </a:r>
            <a:r>
              <a:rPr lang="en-US" sz="1400" dirty="0">
                <a:solidFill>
                  <a:srgbClr val="2B1D19"/>
                </a:solidFill>
              </a:rPr>
              <a:t> → </a:t>
            </a:r>
            <a:r>
              <a:rPr lang="en-US" sz="1400" b="1" dirty="0">
                <a:solidFill>
                  <a:srgbClr val="2B1D19"/>
                </a:solidFill>
              </a:rPr>
              <a:t>New File…</a:t>
            </a:r>
            <a:r>
              <a:rPr lang="en-US" sz="1400" dirty="0">
                <a:solidFill>
                  <a:srgbClr val="2B1D19"/>
                </a:solidFill>
              </a:rPr>
              <a:t>, type </a:t>
            </a:r>
            <a:r>
              <a:rPr lang="en-US" sz="1200" b="1" dirty="0">
                <a:solidFill>
                  <a:srgbClr val="B86E1E"/>
                </a:solidFill>
                <a:latin typeface="Courier New" pitchFamily="34" charset="0"/>
                <a:ea typeface="Courier New" pitchFamily="34" charset="-122"/>
                <a:cs typeface="Courier New" pitchFamily="34" charset="-120"/>
              </a:rPr>
              <a:t>my_data_story.md</a:t>
            </a:r>
            <a:r>
              <a:rPr lang="en-US" sz="1400" dirty="0">
                <a:solidFill>
                  <a:srgbClr val="2B1D19"/>
                </a:solidFill>
              </a:rPr>
              <a:t>, save it in that folder</a:t>
            </a:r>
            <a:endParaRPr lang="en-US" sz="1400" dirty="0"/>
          </a:p>
          <a:p>
            <a:pPr marL="342900" indent="-342900">
              <a:spcAft>
                <a:spcPts val="400"/>
              </a:spcAft>
              <a:buSzPct val="100000"/>
              <a:buChar char="•"/>
            </a:pPr>
            <a:r>
              <a:rPr lang="en-US" sz="1400" dirty="0">
                <a:solidFill>
                  <a:srgbClr val="2B1D19"/>
                </a:solidFill>
              </a:rPr>
              <a:t>​</a:t>
            </a:r>
            <a:r>
              <a:rPr lang="en-US" sz="1400" dirty="0">
                <a:solidFill>
                  <a:srgbClr val="2B1D19"/>
                </a:solidFill>
              </a:rPr>
              <a:t>add the text on the left and save</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Markdown files</a:t>
            </a:r>
            <a:endParaRPr lang="en-US" sz="2800" dirty="0"/>
          </a:p>
        </p:txBody>
      </p:sp>
      <p:sp>
        <p:nvSpPr>
          <p:cNvPr id="3" name="tip box"/>
          <p:cNvSpPr/>
          <p:nvPr/>
        </p:nvSpPr>
        <p:spPr>
          <a:xfrm>
            <a:off x="457200" y="1051560"/>
            <a:ext cx="8229600" cy="3429000"/>
          </a:xfrm>
          <a:prstGeom prst="roundRect">
            <a:avLst>
              <a:gd name="adj" fmla="val 213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27432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2000" dirty="0">
                <a:solidFill>
                  <a:srgbClr val="2B1D19"/>
                </a:solidFill>
              </a:rPr>
              <a:t>​</a:t>
            </a:r>
            <a:r>
              <a:rPr lang="en-US" sz="2000" dirty="0">
                <a:solidFill>
                  <a:srgbClr val="2B1D19"/>
                </a:solidFill>
              </a:rPr>
              <a:t>a file ending in </a:t>
            </a:r>
            <a:r>
              <a:rPr lang="en-US" sz="1800" b="1" dirty="0">
                <a:solidFill>
                  <a:srgbClr val="B86E1E"/>
                </a:solidFill>
                <a:latin typeface="Courier New" pitchFamily="34" charset="0"/>
                <a:ea typeface="Courier New" pitchFamily="34" charset="-122"/>
                <a:cs typeface="Courier New" pitchFamily="34" charset="-120"/>
              </a:rPr>
              <a:t>.md</a:t>
            </a:r>
            <a:r>
              <a:rPr lang="en-US" sz="2000" dirty="0">
                <a:solidFill>
                  <a:srgbClr val="2B1D19"/>
                </a:solidFill>
              </a:rPr>
              <a:t> is a </a:t>
            </a:r>
            <a:r>
              <a:rPr lang="en-US" sz="2000" b="1" dirty="0">
                <a:solidFill>
                  <a:srgbClr val="2B1D19"/>
                </a:solidFill>
              </a:rPr>
              <a:t>Markdown</a:t>
            </a:r>
            <a:r>
              <a:rPr lang="en-US" sz="2000" dirty="0">
                <a:solidFill>
                  <a:srgbClr val="2B1D19"/>
                </a:solidFill>
              </a:rPr>
              <a:t> file: plain text with a few symbols</a:t>
            </a:r>
            <a:endParaRPr lang="en-US" sz="2000" dirty="0"/>
          </a:p>
          <a:p>
            <a:pPr marL="342900" indent="-342900">
              <a:spcAft>
                <a:spcPts val="1000"/>
              </a:spcAft>
              <a:buSzPct val="100000"/>
              <a:buChar char="•"/>
            </a:pPr>
            <a:r>
              <a:rPr lang="en-US" sz="2000" dirty="0">
                <a:solidFill>
                  <a:srgbClr val="2B1D19"/>
                </a:solidFill>
              </a:rPr>
              <a:t>​</a:t>
            </a:r>
            <a:r>
              <a:rPr lang="en-US" sz="1800" b="1" dirty="0">
                <a:solidFill>
                  <a:srgbClr val="B86E1E"/>
                </a:solidFill>
                <a:latin typeface="Courier New" pitchFamily="34" charset="0"/>
                <a:ea typeface="Courier New" pitchFamily="34" charset="-122"/>
                <a:cs typeface="Courier New" pitchFamily="34" charset="-120"/>
              </a:rPr>
              <a:t>#</a:t>
            </a:r>
            <a:r>
              <a:rPr lang="en-US" sz="2000" dirty="0">
                <a:solidFill>
                  <a:srgbClr val="2B1D19"/>
                </a:solidFill>
              </a:rPr>
              <a:t> is a heading, </a:t>
            </a:r>
            <a:r>
              <a:rPr lang="en-US" sz="1800" b="1" dirty="0">
                <a:solidFill>
                  <a:srgbClr val="B86E1E"/>
                </a:solidFill>
                <a:latin typeface="Courier New" pitchFamily="34" charset="0"/>
                <a:ea typeface="Courier New" pitchFamily="34" charset="-122"/>
                <a:cs typeface="Courier New" pitchFamily="34" charset="-120"/>
              </a:rPr>
              <a:t>##</a:t>
            </a:r>
            <a:r>
              <a:rPr lang="en-US" sz="2000" dirty="0">
                <a:solidFill>
                  <a:srgbClr val="2B1D19"/>
                </a:solidFill>
              </a:rPr>
              <a:t> is a smaller heading, </a:t>
            </a:r>
            <a:r>
              <a:rPr lang="en-US" sz="1800" b="1" dirty="0">
                <a:solidFill>
                  <a:srgbClr val="B86E1E"/>
                </a:solidFill>
                <a:latin typeface="Courier New" pitchFamily="34" charset="0"/>
                <a:ea typeface="Courier New" pitchFamily="34" charset="-122"/>
                <a:cs typeface="Courier New" pitchFamily="34" charset="-120"/>
              </a:rPr>
              <a:t>-</a:t>
            </a:r>
            <a:r>
              <a:rPr lang="en-US" sz="2000" dirty="0">
                <a:solidFill>
                  <a:srgbClr val="2B1D19"/>
                </a:solidFill>
              </a:rPr>
              <a:t> starts a dot point</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to see the formatted version, press </a:t>
            </a:r>
            <a:r>
              <a:rPr lang="en-US" sz="2000" b="1" dirty="0">
                <a:solidFill>
                  <a:srgbClr val="2B1D19"/>
                </a:solidFill>
              </a:rPr>
              <a:t>Ctrl+Shift+V</a:t>
            </a:r>
            <a:r>
              <a:rPr lang="en-US" sz="2000" dirty="0">
                <a:solidFill>
                  <a:srgbClr val="2B1D19"/>
                </a:solidFill>
              </a:rPr>
              <a:t> (</a:t>
            </a:r>
            <a:r>
              <a:rPr lang="en-US" sz="2000" b="1" dirty="0">
                <a:solidFill>
                  <a:srgbClr val="2B1D19"/>
                </a:solidFill>
              </a:rPr>
              <a:t>Cmd+Shift+V</a:t>
            </a:r>
            <a:r>
              <a:rPr lang="en-US" sz="2000" dirty="0">
                <a:solidFill>
                  <a:srgbClr val="2B1D19"/>
                </a:solidFill>
              </a:rPr>
              <a:t> on a Mac)</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these tutorial pages are written in Markdown too</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Story angles</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Pick two story angles from the list, and make up a third angle of your own.</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For each angle, write one question about Steam games you'd really like answered. Under each, list the columns you'd need.</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Keep all three questions. Later you'll check each one against the data and choose the best.</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Data Story?</dc:title>
  <dc:subject>PptxGenJS Presentation</dc:subject>
  <dc:creator>Steam Data Stories</dc:creator>
  <cp:lastModifiedBy>Steam Data Stories</cp:lastModifiedBy>
  <cp:revision>1</cp:revision>
  <dcterms:created xsi:type="dcterms:W3CDTF">2026-10-13T11:22:27Z</dcterms:created>
  <dcterms:modified xsi:type="dcterms:W3CDTF">2026-10-13T11:22:27Z</dcterms:modified>
</cp:coreProperties>
</file>