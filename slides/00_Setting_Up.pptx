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7c874e3-0558-fd80-2ed3-450bcbbc7fae}">
          <p14:sldIdLst>
            <p14:sldId id="256"/>
            <p14:sldId id="257"/>
            <p14:sldId id="258"/>
            <p14:sldId id="259"/>
          </p14:sldIdLst>
        </p14:section>
        <p14:section name="Install Python and VS Code" id="{f11fa4f8-1625-e81f-cdad-444b6e0cca74}">
          <p14:sldIdLst>
            <p14:sldId id="260"/>
            <p14:sldId id="261"/>
            <p14:sldId id="262"/>
          </p14:sldIdLst>
        </p14:section>
        <p14:section name="Create the project folder" id="{184d769b-71b2-caa6-02f8-84728769b4d0}">
          <p14:sldIdLst>
            <p14:sldId id="263"/>
            <p14:sldId id="264"/>
          </p14:sldIdLst>
        </p14:section>
        <p14:section name="Create a virtual environment" id="{419cf817-f63b-6d09-ae39-db8d31021572}">
          <p14:sldIdLst>
            <p14:sldId id="265"/>
            <p14:sldId id="266"/>
            <p14:sldId id="267"/>
            <p14:sldId id="268"/>
            <p14:sldId id="269"/>
          </p14:sldIdLst>
        </p14:section>
        <p14:section name="Install the libraries" id="{1d5a7803-d09c-812f-a610-0f10260c4a8d}">
          <p14:sldIdLst>
            <p14:sldId id="270"/>
            <p14:sldId id="271"/>
            <p14:sldId id="272"/>
            <p14:sldId id="273"/>
          </p14:sldIdLst>
        </p14:section>
        <p14:section name="Download the data" id="{2a260fdc-f68e-0adf-c0e6-57f86c08eab2}">
          <p14:sldIdLst>
            <p14:sldId id="274"/>
            <p14:sldId id="275"/>
            <p14:sldId id="276"/>
            <p14:sldId id="277"/>
            <p14:sldId id="278"/>
          </p14:sldIdLst>
        </p14:section>
        <p14:section name="Open our first notebook" id="{809eed68-3fbf-265e-3c33-ca3f5edce3d3}">
          <p14:sldIdLst>
            <p14:sldId id="279"/>
            <p14:sldId id="280"/>
            <p14:sldId id="281"/>
            <p14:sldId id="282"/>
            <p14:sldId id="283"/>
          </p14:sldIdLst>
        </p14:section>
        <p14:section name="Wrap up" id="{173a7afc-c509-f391-9af6-509c519f2671}">
          <p14:sldIdLst>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Done before the first lesson. Today we install our tools, download the data and check everything works. About 60 minutes: 15 min installing Python and VS Code, 10 min project folder and virtual environment, 10 min libraries, 10 min data, 10 min first notebook, 5 min check. Have students follow each step in order and wait at each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Stress that if any step fails, the next one will too, so students should put a hand up straight away rather than skip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 users can ignore PowerShell and Command Prompt. They only matter if a Windows terminal shows the running scripts is disabled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has Windows and who has a Mac, so you know who needs which instructions. Students who already have Python and VS Code can skip straight to creating the project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who already have Python and VS Code can skip to Create the project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Windows mistake is forgetting to tick Add python.exe to PATH. Walk around and check screens before students click Install Now. Downloads are at python.org/downloads.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extension is what lets VS Code create and use virtual environments, so check everyone has it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 the Documents folder so students can find it again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folder name is exactly steam_data_stories, with underscores. The Explorer panel showing the folder name in capitals is the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libraries we install go into the virtual environment rather than the computer's main Python, so different projects can't interfere with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this on the projector. The (.venv) at the start of the prompt means the virtual environment is switched on. That's the checkpoint for every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cause of most ModuleNotFoundError problems later. If a new terminal still has no (.venv) on Windows,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some Windows computers do this, often school-managed ones. We don't change the computer's settings; we switch the terminal to Command Prompt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Prompt switches on the virtual environment without a PowerShell script, so no settings need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every terminal shows (.venv) before anyone runs pip.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type the command and press Enter. It can take a minute or two on school Wi-Fi. If anyone gets an error, check for (.venv)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version number is fine. An error such as command not found means marimo went into the wrong Python: check for (.venv) and run pip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back to the release candidate term. If students' code later behaves differently from the site, a different Polars version is one thing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download links are on the Setting Up page of the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steam_games.csv is our classroom copy of the Steam data. README.txt explains where the data came from and includes its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check the Explorer panel now. This causes a file not found error next lesson if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visual check around the room. A common mistake is dropping the files onto the project folder instead of the data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student has already opened and saved it in Excel, have them download a fresh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step: start marimo, see the empty notebook, then stop marimo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no browser tab opens, students can copy the web address from the terminal into their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checkpoint. Everyone should see this before stopping marimo.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marimo asks first so we don't stop it by accident. Mac users often press Cmd+C out of habit, which copies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hit this the first time their notebook stops responding. The fix is always: open a terminal, check (.venv), run marimo edit clean_steam.py.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computer is ready. Next, we find out what makes a good data story.
Answers:
1. A private copy of Python just for this project. Libraries go into it instead of the main Python, so projects can't interfere with each other.
2. The terminal prompt starts with (.venv).
3. Excel can quietly change values, such as dates, so our original data would no longer be the original.
4. marimo isn't running in the terminal any more (the terminal was closed or Ctrl+C was pressed). Start it again with marimo edit clean_steam.py.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START</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Before Lesson 1</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Setting Up</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On this page we will learn</a:t>
            </a:r>
            <a:endParaRPr lang="en-US" sz="2800" dirty="0"/>
          </a:p>
        </p:txBody>
      </p:sp>
      <p:sp>
        <p:nvSpPr>
          <p:cNvPr id="3" name="learn box"/>
          <p:cNvSpPr/>
          <p:nvPr/>
        </p:nvSpPr>
        <p:spPr>
          <a:xfrm>
            <a:off x="457200" y="1097280"/>
            <a:ext cx="8229600" cy="3154680"/>
          </a:xfrm>
          <a:prstGeom prst="roundRect">
            <a:avLst>
              <a:gd name="adj" fmla="val 2319"/>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24688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how to install Python and VS Code</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create a project folder and a virtual environment</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install Polars, Plotly and marimo</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download the Steam data</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open our first marimo notebook</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3429000"/>
          </a:xfrm>
          <a:prstGeom prst="roundRect">
            <a:avLst>
              <a:gd name="adj" fmla="val 2133"/>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274320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release candidate</a:t>
            </a:r>
            <a:r>
              <a:rPr lang="en-US" sz="2000" dirty="0">
                <a:solidFill>
                  <a:srgbClr val="2B1D19"/>
                </a:solidFill>
              </a:rPr>
              <a:t> – a version of a program that's almost finished and being tested before its official release.</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PowerShell</a:t>
            </a:r>
            <a:r>
              <a:rPr lang="en-US" sz="2000" dirty="0">
                <a:solidFill>
                  <a:srgbClr val="2B1D19"/>
                </a:solidFill>
              </a:rPr>
              <a:t> – the program VS Code uses for its terminal on Windows unless we choose another one.</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Command Prompt</a:t>
            </a:r>
            <a:r>
              <a:rPr lang="en-US" sz="2000" dirty="0">
                <a:solidFill>
                  <a:srgbClr val="2B1D19"/>
                </a:solidFill>
              </a:rPr>
              <a:t> – an older Windows terminal program that can switch on a virtual environment without running a PowerShell script.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BEFORE WE START</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We'll work in a project folder on our own computer</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b="1" dirty="0">
                <a:solidFill>
                  <a:srgbClr val="F7EFE6"/>
                </a:solidFill>
              </a:rPr>
              <a:t>VS Code</a:t>
            </a:r>
            <a:r>
              <a:rPr lang="en-US" sz="1600" dirty="0">
                <a:solidFill>
                  <a:srgbClr val="F7EFE6"/>
                </a:solidFill>
              </a:rPr>
              <a:t> manages our files and </a:t>
            </a:r>
            <a:r>
              <a:rPr lang="en-US" sz="1600" b="1" dirty="0">
                <a:solidFill>
                  <a:srgbClr val="F7EFE6"/>
                </a:solidFill>
              </a:rPr>
              <a:t>marimo</a:t>
            </a:r>
            <a:r>
              <a:rPr lang="en-US" sz="1600" dirty="0">
                <a:solidFill>
                  <a:srgbClr val="F7EFE6"/>
                </a:solidFill>
              </a:rPr>
              <a:t> runs our code. Most steps are the same on Windows and macOS; where they differ, follow the steps for your computer.</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Install Python and VS Code</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All our code is Python, and the libraries we use are Python libraries.</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Install Python from python.org</a:t>
            </a:r>
            <a:endParaRPr lang="en-US" sz="2800" dirty="0"/>
          </a:p>
        </p:txBody>
      </p:sp>
      <p:sp>
        <p:nvSpPr>
          <p:cNvPr id="3" name="Shape 1"/>
          <p:cNvSpPr/>
          <p:nvPr/>
        </p:nvSpPr>
        <p:spPr>
          <a:xfrm>
            <a:off x="457200" y="1051560"/>
            <a:ext cx="3977640" cy="3429000"/>
          </a:xfrm>
          <a:prstGeom prst="roundRect">
            <a:avLst>
              <a:gd name="adj" fmla="val 2133"/>
            </a:avLst>
          </a:prstGeom>
          <a:solidFill>
            <a:srgbClr val="FBF7F2"/>
          </a:solidFill>
          <a:ln w="12700">
            <a:solidFill>
              <a:srgbClr val="E5DBD2"/>
            </a:solidFill>
            <a:prstDash val="solid"/>
          </a:ln>
        </p:spPr>
      </p:sp>
      <p:sp>
        <p:nvSpPr>
          <p:cNvPr id="4" name="Text 2"/>
          <p:cNvSpPr txBox="1"/>
          <p:nvPr/>
        </p:nvSpPr>
        <p:spPr>
          <a:xfrm>
            <a:off x="640080" y="1188720"/>
            <a:ext cx="3611880" cy="411480"/>
          </a:xfrm>
          <a:prstGeom prst="rect">
            <a:avLst/>
          </a:prstGeom>
          <a:noFill/>
          <a:ln/>
        </p:spPr>
        <p:txBody>
          <a:bodyPr wrap="square" lIns="0" tIns="0" rIns="0" bIns="0" rtlCol="0" anchor="ctr">
            <a:normAutofit/>
          </a:bodyPr>
          <a:lstStyle/>
          <a:p>
            <a:pPr indent="0" marL="0">
              <a:buNone/>
            </a:pPr>
            <a:r>
              <a:rPr lang="en-US" sz="1800" b="1" dirty="0">
                <a:solidFill>
                  <a:srgbClr val="4E342E"/>
                </a:solidFill>
              </a:rPr>
              <a:t>Windows</a:t>
            </a:r>
            <a:endParaRPr lang="en-US" sz="1800" dirty="0"/>
          </a:p>
        </p:txBody>
      </p:sp>
      <p:sp>
        <p:nvSpPr>
          <p:cNvPr id="5" name="Text 3"/>
          <p:cNvSpPr txBox="1"/>
          <p:nvPr/>
        </p:nvSpPr>
        <p:spPr>
          <a:xfrm>
            <a:off x="640080" y="1691640"/>
            <a:ext cx="3611880" cy="2651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500" dirty="0">
                <a:solidFill>
                  <a:srgbClr val="2B1D19"/>
                </a:solidFill>
              </a:rPr>
              <a:t>check </a:t>
            </a:r>
            <a:r>
              <a:rPr lang="en-US" sz="1500" b="1" dirty="0">
                <a:solidFill>
                  <a:srgbClr val="2B1D19"/>
                </a:solidFill>
              </a:rPr>
              <a:t>Settings</a:t>
            </a:r>
            <a:r>
              <a:rPr lang="en-US" sz="1500" dirty="0">
                <a:solidFill>
                  <a:srgbClr val="2B1D19"/>
                </a:solidFill>
              </a:rPr>
              <a:t> → </a:t>
            </a:r>
            <a:r>
              <a:rPr lang="en-US" sz="1500" b="1" dirty="0">
                <a:solidFill>
                  <a:srgbClr val="2B1D19"/>
                </a:solidFill>
              </a:rPr>
              <a:t>System</a:t>
            </a:r>
            <a:r>
              <a:rPr lang="en-US" sz="1500" dirty="0">
                <a:solidFill>
                  <a:srgbClr val="2B1D19"/>
                </a:solidFill>
              </a:rPr>
              <a:t> → </a:t>
            </a:r>
            <a:r>
              <a:rPr lang="en-US" sz="1500" b="1" dirty="0">
                <a:solidFill>
                  <a:srgbClr val="2B1D19"/>
                </a:solidFill>
              </a:rPr>
              <a:t>About</a:t>
            </a:r>
            <a:r>
              <a:rPr lang="en-US" sz="1500" dirty="0">
                <a:solidFill>
                  <a:srgbClr val="2B1D19"/>
                </a:solidFill>
              </a:rPr>
              <a:t> → </a:t>
            </a:r>
            <a:r>
              <a:rPr lang="en-US" sz="1500" b="1" dirty="0">
                <a:solidFill>
                  <a:srgbClr val="2B1D19"/>
                </a:solidFill>
              </a:rPr>
              <a:t>System type</a:t>
            </a:r>
            <a:endParaRPr lang="en-US" sz="1500" dirty="0"/>
          </a:p>
          <a:p>
            <a:pPr marL="342900" indent="-342900">
              <a:spcAft>
                <a:spcPts val="600"/>
              </a:spcAft>
              <a:buSzPct val="100000"/>
              <a:buChar char="•"/>
            </a:pPr>
            <a:r>
              <a:rPr lang="en-US" sz="1500" dirty="0">
                <a:solidFill>
                  <a:srgbClr val="2B1D19"/>
                </a:solidFill>
              </a:rPr>
              <a:t>​</a:t>
            </a:r>
            <a:r>
              <a:rPr lang="en-US" sz="1500" b="1" dirty="0">
                <a:solidFill>
                  <a:srgbClr val="2B1D19"/>
                </a:solidFill>
              </a:rPr>
              <a:t>x64</a:t>
            </a:r>
            <a:r>
              <a:rPr lang="en-US" sz="1500" dirty="0">
                <a:solidFill>
                  <a:srgbClr val="2B1D19"/>
                </a:solidFill>
              </a:rPr>
              <a:t> → Windows installer (64-bit); </a:t>
            </a:r>
            <a:r>
              <a:rPr lang="en-US" sz="1500" b="1" dirty="0">
                <a:solidFill>
                  <a:srgbClr val="2B1D19"/>
                </a:solidFill>
              </a:rPr>
              <a:t>ARM</a:t>
            </a:r>
            <a:r>
              <a:rPr lang="en-US" sz="1500" dirty="0">
                <a:solidFill>
                  <a:srgbClr val="2B1D19"/>
                </a:solidFill>
              </a:rPr>
              <a:t> → Windows installer (ARM64)</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tick </a:t>
            </a:r>
            <a:r>
              <a:rPr lang="en-US" sz="1500" b="1" dirty="0">
                <a:solidFill>
                  <a:srgbClr val="2B1D19"/>
                </a:solidFill>
              </a:rPr>
              <a:t>Add python.exe to PATH</a:t>
            </a:r>
            <a:r>
              <a:rPr lang="en-US" sz="1500" dirty="0">
                <a:solidFill>
                  <a:srgbClr val="2B1D19"/>
                </a:solidFill>
              </a:rPr>
              <a:t>, then </a:t>
            </a:r>
            <a:r>
              <a:rPr lang="en-US" sz="1500" b="1" dirty="0">
                <a:solidFill>
                  <a:srgbClr val="2B1D19"/>
                </a:solidFill>
              </a:rPr>
              <a:t>Install Now</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finishes with "Setup was successful"</a:t>
            </a:r>
            <a:endParaRPr lang="en-US" sz="1500" dirty="0"/>
          </a:p>
        </p:txBody>
      </p:sp>
      <p:sp>
        <p:nvSpPr>
          <p:cNvPr id="6" name="Shape 4"/>
          <p:cNvSpPr/>
          <p:nvPr/>
        </p:nvSpPr>
        <p:spPr>
          <a:xfrm>
            <a:off x="4709160" y="1051560"/>
            <a:ext cx="3977640" cy="3429000"/>
          </a:xfrm>
          <a:prstGeom prst="roundRect">
            <a:avLst>
              <a:gd name="adj" fmla="val 2133"/>
            </a:avLst>
          </a:prstGeom>
          <a:solidFill>
            <a:srgbClr val="F3ECE6"/>
          </a:solidFill>
          <a:ln w="12700">
            <a:solidFill>
              <a:srgbClr val="E5DBD2"/>
            </a:solidFill>
            <a:prstDash val="solid"/>
          </a:ln>
        </p:spPr>
      </p:sp>
      <p:sp>
        <p:nvSpPr>
          <p:cNvPr id="7" name="Text 5"/>
          <p:cNvSpPr txBox="1"/>
          <p:nvPr/>
        </p:nvSpPr>
        <p:spPr>
          <a:xfrm>
            <a:off x="4892040" y="1188720"/>
            <a:ext cx="3611880" cy="411480"/>
          </a:xfrm>
          <a:prstGeom prst="rect">
            <a:avLst/>
          </a:prstGeom>
          <a:noFill/>
          <a:ln/>
        </p:spPr>
        <p:txBody>
          <a:bodyPr wrap="square" lIns="0" tIns="0" rIns="0" bIns="0" rtlCol="0" anchor="ctr">
            <a:normAutofit/>
          </a:bodyPr>
          <a:lstStyle/>
          <a:p>
            <a:pPr indent="0" marL="0">
              <a:buNone/>
            </a:pPr>
            <a:r>
              <a:rPr lang="en-US" sz="1800" b="1" dirty="0">
                <a:solidFill>
                  <a:srgbClr val="4E342E"/>
                </a:solidFill>
              </a:rPr>
              <a:t>macOS</a:t>
            </a:r>
            <a:endParaRPr lang="en-US" sz="1800" dirty="0"/>
          </a:p>
        </p:txBody>
      </p:sp>
      <p:sp>
        <p:nvSpPr>
          <p:cNvPr id="8" name="Text 6"/>
          <p:cNvSpPr txBox="1"/>
          <p:nvPr/>
        </p:nvSpPr>
        <p:spPr>
          <a:xfrm>
            <a:off x="4892040" y="1691640"/>
            <a:ext cx="3611880" cy="2651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500" dirty="0">
                <a:solidFill>
                  <a:srgbClr val="2B1D19"/>
                </a:solidFill>
              </a:rPr>
              <a:t>download the </a:t>
            </a:r>
            <a:r>
              <a:rPr lang="en-US" sz="1500" b="1" dirty="0">
                <a:solidFill>
                  <a:srgbClr val="2B1D19"/>
                </a:solidFill>
              </a:rPr>
              <a:t>macOS 64-bit universal2 installer</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open the </a:t>
            </a:r>
            <a:r>
              <a:rPr lang="en-US" sz="1300" b="1" dirty="0">
                <a:solidFill>
                  <a:srgbClr val="B86E1E"/>
                </a:solidFill>
                <a:latin typeface="Courier New" pitchFamily="34" charset="0"/>
                <a:ea typeface="Courier New" pitchFamily="34" charset="-122"/>
                <a:cs typeface="Courier New" pitchFamily="34" charset="-120"/>
              </a:rPr>
              <a:t>.pkg</a:t>
            </a:r>
            <a:r>
              <a:rPr lang="en-US" sz="1500" dirty="0">
                <a:solidFill>
                  <a:srgbClr val="2B1D19"/>
                </a:solidFill>
              </a:rPr>
              <a:t> file and click </a:t>
            </a:r>
            <a:r>
              <a:rPr lang="en-US" sz="1500" b="1" dirty="0">
                <a:solidFill>
                  <a:srgbClr val="2B1D19"/>
                </a:solidFill>
              </a:rPr>
              <a:t>Continue</a:t>
            </a:r>
            <a:r>
              <a:rPr lang="en-US" sz="1500" dirty="0">
                <a:solidFill>
                  <a:srgbClr val="2B1D19"/>
                </a:solidFill>
              </a:rPr>
              <a:t> through each screen</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finishes with "The installation was successful"</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a </a:t>
            </a:r>
            <a:r>
              <a:rPr lang="en-US" sz="1500" b="1" dirty="0">
                <a:solidFill>
                  <a:srgbClr val="2B1D19"/>
                </a:solidFill>
              </a:rPr>
              <a:t>Python</a:t>
            </a:r>
            <a:r>
              <a:rPr lang="en-US" sz="1500" dirty="0">
                <a:solidFill>
                  <a:srgbClr val="2B1D19"/>
                </a:solidFill>
              </a:rPr>
              <a:t> folder opens in Finder, which we can close</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Install VS Code and the Python extension</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Download and install VS Code from </a:t>
            </a:r>
            <a:r>
              <a:rPr lang="en-US" sz="1700" b="1" dirty="0">
                <a:solidFill>
                  <a:srgbClr val="2B1D19"/>
                </a:solidFill>
              </a:rPr>
              <a:t>code.visualstudio.com</a:t>
            </a:r>
            <a:r>
              <a:rPr lang="en-US" sz="1700" dirty="0">
                <a:solidFill>
                  <a:srgbClr val="2B1D19"/>
                </a:solidFill>
              </a:rPr>
              <a:t>.</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Windows with an </a:t>
            </a:r>
            <a:r>
              <a:rPr lang="en-US" sz="1700" b="1" dirty="0">
                <a:solidFill>
                  <a:srgbClr val="2B1D19"/>
                </a:solidFill>
              </a:rPr>
              <a:t>ARM-based processor</a:t>
            </a:r>
            <a:r>
              <a:rPr lang="en-US" sz="1700" dirty="0">
                <a:solidFill>
                  <a:srgbClr val="2B1D19"/>
                </a:solidFill>
              </a:rPr>
              <a:t>: choose the </a:t>
            </a:r>
            <a:r>
              <a:rPr lang="en-US" sz="1700" b="1" dirty="0">
                <a:solidFill>
                  <a:srgbClr val="2B1D19"/>
                </a:solidFill>
              </a:rPr>
              <a:t>Arm64</a:t>
            </a:r>
            <a:r>
              <a:rPr lang="en-US" sz="1700" dirty="0">
                <a:solidFill>
                  <a:srgbClr val="2B1D19"/>
                </a:solidFill>
              </a:rPr>
              <a:t> download.</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Mac: drag </a:t>
            </a:r>
            <a:r>
              <a:rPr lang="en-US" sz="1700" b="1" dirty="0">
                <a:solidFill>
                  <a:srgbClr val="2B1D19"/>
                </a:solidFill>
              </a:rPr>
              <a:t>Visual Studio Code</a:t>
            </a:r>
            <a:r>
              <a:rPr lang="en-US" sz="1700" dirty="0">
                <a:solidFill>
                  <a:srgbClr val="2B1D19"/>
                </a:solidFill>
              </a:rPr>
              <a:t> into the </a:t>
            </a:r>
            <a:r>
              <a:rPr lang="en-US" sz="1700" b="1" dirty="0">
                <a:solidFill>
                  <a:srgbClr val="2B1D19"/>
                </a:solidFill>
              </a:rPr>
              <a:t>Applications</a:t>
            </a:r>
            <a:r>
              <a:rPr lang="en-US" sz="1700" dirty="0">
                <a:solidFill>
                  <a:srgbClr val="2B1D19"/>
                </a:solidFill>
              </a:rPr>
              <a:t> folder.</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In VS Code, click </a:t>
            </a:r>
            <a:r>
              <a:rPr lang="en-US" sz="1700" b="1" dirty="0">
                <a:solidFill>
                  <a:srgbClr val="2B1D19"/>
                </a:solidFill>
              </a:rPr>
              <a:t>Extensions</a:t>
            </a:r>
            <a:r>
              <a:rPr lang="en-US" sz="1700" dirty="0">
                <a:solidFill>
                  <a:srgbClr val="2B1D19"/>
                </a:solidFill>
              </a:rPr>
              <a:t>, search for </a:t>
            </a:r>
            <a:r>
              <a:rPr lang="en-US" sz="1700" b="1" dirty="0">
                <a:solidFill>
                  <a:srgbClr val="2B1D19"/>
                </a:solidFill>
              </a:rPr>
              <a:t>Python</a:t>
            </a:r>
            <a:r>
              <a:rPr lang="en-US" sz="1700" dirty="0">
                <a:solidFill>
                  <a:srgbClr val="2B1D19"/>
                </a:solidFill>
              </a:rPr>
              <a:t> and install the one by Microsoft.</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Create the project folder</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Our data and both of our notebooks will live in one folder.</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Make and open steam_data_stories</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Create a folder called </a:t>
            </a:r>
            <a:r>
              <a:rPr lang="en-US" sz="1500" b="1" dirty="0">
                <a:solidFill>
                  <a:srgbClr val="B86E1E"/>
                </a:solidFill>
                <a:latin typeface="Courier New" pitchFamily="34" charset="0"/>
                <a:ea typeface="Courier New" pitchFamily="34" charset="-122"/>
                <a:cs typeface="Courier New" pitchFamily="34" charset="-120"/>
              </a:rPr>
              <a:t>steam_data_stories</a:t>
            </a:r>
            <a:r>
              <a:rPr lang="en-US" sz="1700" dirty="0">
                <a:solidFill>
                  <a:srgbClr val="2B1D19"/>
                </a:solidFill>
              </a:rPr>
              <a:t> somewhere easy to find, such as </a:t>
            </a:r>
            <a:r>
              <a:rPr lang="en-US" sz="1700" b="1" dirty="0">
                <a:solidFill>
                  <a:srgbClr val="2B1D19"/>
                </a:solidFill>
              </a:rPr>
              <a:t>Documents</a:t>
            </a:r>
            <a:r>
              <a:rPr lang="en-US" sz="1700" dirty="0">
                <a:solidFill>
                  <a:srgbClr val="2B1D19"/>
                </a:solidFill>
              </a:rPr>
              <a:t>.</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In VS Code, choose </a:t>
            </a:r>
            <a:r>
              <a:rPr lang="en-US" sz="1700" b="1" dirty="0">
                <a:solidFill>
                  <a:srgbClr val="2B1D19"/>
                </a:solidFill>
              </a:rPr>
              <a:t>File</a:t>
            </a:r>
            <a:r>
              <a:rPr lang="en-US" sz="1700" dirty="0">
                <a:solidFill>
                  <a:srgbClr val="2B1D19"/>
                </a:solidFill>
              </a:rPr>
              <a:t> → </a:t>
            </a:r>
            <a:r>
              <a:rPr lang="en-US" sz="1700" b="1" dirty="0">
                <a:solidFill>
                  <a:srgbClr val="2B1D19"/>
                </a:solidFill>
              </a:rPr>
              <a:t>Open Folder…</a:t>
            </a:r>
            <a:r>
              <a:rPr lang="en-US" sz="1700" dirty="0">
                <a:solidFill>
                  <a:srgbClr val="2B1D19"/>
                </a:solidFill>
              </a:rPr>
              <a:t> and open it.</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If VS Code asks whether we trust the authors, choose </a:t>
            </a:r>
            <a:r>
              <a:rPr lang="en-US" sz="1700" b="1" dirty="0">
                <a:solidFill>
                  <a:srgbClr val="2B1D19"/>
                </a:solidFill>
              </a:rPr>
              <a:t>Yes</a:t>
            </a:r>
            <a:r>
              <a:rPr lang="en-US" sz="1700" dirty="0">
                <a:solidFill>
                  <a:srgbClr val="2B1D19"/>
                </a:solidFill>
              </a:rPr>
              <a:t>.</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The Explorer panel now shows </a:t>
            </a:r>
            <a:r>
              <a:rPr lang="en-US" sz="1700" b="1" i="1" dirty="0">
                <a:solidFill>
                  <a:srgbClr val="2B1D19"/>
                </a:solidFill>
              </a:rPr>
              <a:t>steam_data_stories</a:t>
            </a:r>
            <a:r>
              <a:rPr lang="en-US" sz="1700" dirty="0">
                <a:solidFill>
                  <a:srgbClr val="2B1D19"/>
                </a:solidFill>
              </a:rPr>
              <a:t> with no files.</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Create a virtual environment</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A </a:t>
            </a:r>
            <a:r>
              <a:rPr lang="en-US" sz="1800" b="1" dirty="0">
                <a:solidFill>
                  <a:srgbClr val="F7EFE6"/>
                </a:solidFill>
              </a:rPr>
              <a:t>virtual environment</a:t>
            </a:r>
            <a:r>
              <a:rPr lang="en-US" sz="1800" dirty="0">
                <a:solidFill>
                  <a:srgbClr val="F7EFE6"/>
                </a:solidFill>
              </a:rPr>
              <a:t> is a private copy of Python just for this project.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Create and switch on the environment</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Press </a:t>
            </a:r>
            <a:r>
              <a:rPr lang="en-US" sz="1700" b="1" dirty="0">
                <a:solidFill>
                  <a:srgbClr val="2B1D19"/>
                </a:solidFill>
              </a:rPr>
              <a:t>Ctrl+Shift+P</a:t>
            </a:r>
            <a:r>
              <a:rPr lang="en-US" sz="1700" dirty="0">
                <a:solidFill>
                  <a:srgbClr val="2B1D19"/>
                </a:solidFill>
              </a:rPr>
              <a:t> (</a:t>
            </a:r>
            <a:r>
              <a:rPr lang="en-US" sz="1700" b="1" dirty="0">
                <a:solidFill>
                  <a:srgbClr val="2B1D19"/>
                </a:solidFill>
              </a:rPr>
              <a:t>Cmd+Shift+P</a:t>
            </a:r>
            <a:r>
              <a:rPr lang="en-US" sz="1700" dirty="0">
                <a:solidFill>
                  <a:srgbClr val="2B1D19"/>
                </a:solidFill>
              </a:rPr>
              <a:t> on a Mac) and type </a:t>
            </a:r>
            <a:r>
              <a:rPr lang="en-US" sz="1700" b="1" dirty="0">
                <a:solidFill>
                  <a:srgbClr val="2B1D19"/>
                </a:solidFill>
              </a:rPr>
              <a:t>Python: Create Environment</a:t>
            </a:r>
            <a:r>
              <a:rPr lang="en-US" sz="1700" dirty="0">
                <a:solidFill>
                  <a:srgbClr val="2B1D19"/>
                </a:solidFill>
              </a:rPr>
              <a:t>.</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Choose </a:t>
            </a:r>
            <a:r>
              <a:rPr lang="en-US" sz="1700" b="1" dirty="0">
                <a:solidFill>
                  <a:srgbClr val="2B1D19"/>
                </a:solidFill>
              </a:rPr>
              <a:t>Venv</a:t>
            </a:r>
            <a:r>
              <a:rPr lang="en-US" sz="1700" dirty="0">
                <a:solidFill>
                  <a:srgbClr val="2B1D19"/>
                </a:solidFill>
              </a:rPr>
              <a:t>, then the Python version we installed.</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After a few seconds a </a:t>
            </a:r>
            <a:r>
              <a:rPr lang="en-US" sz="1500" b="1" dirty="0">
                <a:solidFill>
                  <a:srgbClr val="B86E1E"/>
                </a:solidFill>
                <a:latin typeface="Courier New" pitchFamily="34" charset="0"/>
                <a:ea typeface="Courier New" pitchFamily="34" charset="-122"/>
                <a:cs typeface="Courier New" pitchFamily="34" charset="-120"/>
              </a:rPr>
              <a:t>.venv</a:t>
            </a:r>
            <a:r>
              <a:rPr lang="en-US" sz="1700" dirty="0">
                <a:solidFill>
                  <a:srgbClr val="2B1D19"/>
                </a:solidFill>
              </a:rPr>
              <a:t> folder appears in the Explorer panel.</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Choose </a:t>
            </a:r>
            <a:r>
              <a:rPr lang="en-US" sz="1700" b="1" dirty="0">
                <a:solidFill>
                  <a:srgbClr val="2B1D19"/>
                </a:solidFill>
              </a:rPr>
              <a:t>Terminal</a:t>
            </a:r>
            <a:r>
              <a:rPr lang="en-US" sz="1700" dirty="0">
                <a:solidFill>
                  <a:srgbClr val="2B1D19"/>
                </a:solidFill>
              </a:rPr>
              <a:t> → </a:t>
            </a:r>
            <a:r>
              <a:rPr lang="en-US" sz="1700" b="1" dirty="0">
                <a:solidFill>
                  <a:srgbClr val="2B1D19"/>
                </a:solidFill>
              </a:rPr>
              <a:t>New Terminal</a:t>
            </a:r>
            <a:r>
              <a:rPr lang="en-US" sz="1700" dirty="0">
                <a:solidFill>
                  <a:srgbClr val="2B1D19"/>
                </a:solidFill>
              </a:rPr>
              <a:t>. The prompt starts with </a:t>
            </a:r>
            <a:r>
              <a:rPr lang="en-US" sz="1500" b="1" dirty="0">
                <a:solidFill>
                  <a:srgbClr val="B86E1E"/>
                </a:solidFill>
                <a:latin typeface="Courier New" pitchFamily="34" charset="0"/>
                <a:ea typeface="Courier New" pitchFamily="34" charset="-122"/>
                <a:cs typeface="Courier New" pitchFamily="34" charset="-120"/>
              </a:rPr>
              <a:t>(.venv)</a:t>
            </a:r>
            <a:r>
              <a:rPr lang="en-US" sz="1700" dirty="0">
                <a:solidFill>
                  <a:srgbClr val="2B1D19"/>
                </a:solidFill>
              </a:rPr>
              <a:t>.</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No (.venv) in the terminal</a:t>
            </a:r>
            <a:endParaRPr lang="en-US" sz="2800" dirty="0"/>
          </a:p>
        </p:txBody>
      </p:sp>
      <p:sp>
        <p:nvSpPr>
          <p:cNvPr id="3" name="warning box"/>
          <p:cNvSpPr/>
          <p:nvPr/>
        </p:nvSpPr>
        <p:spPr>
          <a:xfrm>
            <a:off x="457200" y="1051560"/>
            <a:ext cx="8229600" cy="2214880"/>
          </a:xfrm>
          <a:prstGeom prst="roundRect">
            <a:avLst>
              <a:gd name="adj" fmla="val 33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If the prompt doesn't start with </a:t>
            </a:r>
            <a:r>
              <a:rPr lang="en-US" sz="1800" b="1" dirty="0">
                <a:solidFill>
                  <a:srgbClr val="B86E1E"/>
                </a:solidFill>
                <a:latin typeface="Courier New" pitchFamily="34" charset="0"/>
                <a:ea typeface="Courier New" pitchFamily="34" charset="-122"/>
                <a:cs typeface="Courier New" pitchFamily="34" charset="-120"/>
              </a:rPr>
              <a:t>(.venv)</a:t>
            </a:r>
            <a:r>
              <a:rPr lang="en-US" sz="2000" dirty="0">
                <a:solidFill>
                  <a:srgbClr val="2B1D19"/>
                </a:solidFill>
              </a:rPr>
              <a:t>, close the terminal with the bin icon and open a new one. Libraries installed without </a:t>
            </a:r>
            <a:r>
              <a:rPr lang="en-US" sz="1800" b="1" dirty="0">
                <a:solidFill>
                  <a:srgbClr val="B86E1E"/>
                </a:solidFill>
                <a:latin typeface="Courier New" pitchFamily="34" charset="0"/>
                <a:ea typeface="Courier New" pitchFamily="34" charset="-122"/>
                <a:cs typeface="Courier New" pitchFamily="34" charset="-120"/>
              </a:rPr>
              <a:t>(.venv)</a:t>
            </a:r>
            <a:r>
              <a:rPr lang="en-US" sz="2000" dirty="0">
                <a:solidFill>
                  <a:srgbClr val="2B1D19"/>
                </a:solidFill>
              </a:rPr>
              <a:t> go into the wrong Python, and marimo won't be able to find them.</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Running scripts is disabled (Windows)</a:t>
            </a:r>
            <a:endParaRPr lang="en-US" sz="2800" dirty="0"/>
          </a:p>
        </p:txBody>
      </p:sp>
      <p:sp>
        <p:nvSpPr>
          <p:cNvPr id="3" name="Code panel"/>
          <p:cNvSpPr/>
          <p:nvPr/>
        </p:nvSpPr>
        <p:spPr>
          <a:xfrm>
            <a:off x="457200" y="1051560"/>
            <a:ext cx="822960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terminal — error</a:t>
            </a:r>
            <a:endParaRPr lang="en-US" sz="1200" dirty="0"/>
          </a:p>
        </p:txBody>
      </p:sp>
      <p:sp>
        <p:nvSpPr>
          <p:cNvPr id="5" name="Code"/>
          <p:cNvSpPr txBox="1"/>
          <p:nvPr/>
        </p:nvSpPr>
        <p:spPr>
          <a:xfrm>
            <a:off x="594360" y="1508760"/>
            <a:ext cx="795528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Activate.ps1 cannot be loaded because running scripts is disabled</a:t>
            </a:r>
            <a:endParaRPr lang="en-US" sz="1400" dirty="0"/>
          </a:p>
        </p:txBody>
      </p:sp>
      <p:sp>
        <p:nvSpPr>
          <p:cNvPr id="6" name="Text 4"/>
          <p:cNvSpPr txBox="1"/>
          <p:nvPr/>
        </p:nvSpPr>
        <p:spPr>
          <a:xfrm>
            <a:off x="457200" y="1929765"/>
            <a:ext cx="8229600" cy="12801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On some Windows computers, the new terminal shows this error instead of the </a:t>
            </a:r>
            <a:r>
              <a:rPr lang="en-US" sz="1300" b="1" dirty="0">
                <a:solidFill>
                  <a:srgbClr val="B86E1E"/>
                </a:solidFill>
                <a:latin typeface="Courier New" pitchFamily="34" charset="0"/>
                <a:ea typeface="Courier New" pitchFamily="34" charset="-122"/>
                <a:cs typeface="Courier New" pitchFamily="34" charset="-120"/>
              </a:rPr>
              <a:t>(.venv)</a:t>
            </a:r>
            <a:r>
              <a:rPr lang="en-US" sz="1500" dirty="0">
                <a:solidFill>
                  <a:srgbClr val="2B1D19"/>
                </a:solidFill>
              </a:rPr>
              <a:t> prompt.</a:t>
            </a:r>
            <a:endParaRPr lang="en-US" sz="1500" dirty="0"/>
          </a:p>
          <a:p>
            <a:pPr marL="342900" indent="-342900">
              <a:spcAft>
                <a:spcPts val="600"/>
              </a:spcAft>
              <a:buSzPct val="100000"/>
              <a:buChar char="•"/>
            </a:pPr>
            <a:r>
              <a:rPr lang="en-US" sz="1500" dirty="0">
                <a:solidFill>
                  <a:srgbClr val="2B1D19"/>
                </a:solidFill>
              </a:rPr>
              <a:t>​</a:t>
            </a:r>
            <a:r>
              <a:rPr lang="en-US" sz="1300" b="1" dirty="0">
                <a:solidFill>
                  <a:srgbClr val="B86E1E"/>
                </a:solidFill>
                <a:latin typeface="Courier New" pitchFamily="34" charset="0"/>
                <a:ea typeface="Courier New" pitchFamily="34" charset="-122"/>
                <a:cs typeface="Courier New" pitchFamily="34" charset="-120"/>
              </a:rPr>
              <a:t>Activate.ps1</a:t>
            </a:r>
            <a:r>
              <a:rPr lang="en-US" sz="1500" dirty="0">
                <a:solidFill>
                  <a:srgbClr val="2B1D19"/>
                </a:solidFill>
              </a:rPr>
              <a:t> is the script that switches on our virtual environment in </a:t>
            </a:r>
            <a:r>
              <a:rPr lang="en-US" sz="1500" b="1" dirty="0">
                <a:solidFill>
                  <a:srgbClr val="2B1D19"/>
                </a:solidFill>
              </a:rPr>
              <a:t>PowerShell</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the computer's settings don't let PowerShell run scripts, so the environment stays off</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Fix: use Command Prompt instead</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Press </a:t>
            </a:r>
            <a:r>
              <a:rPr lang="en-US" sz="1700" b="1" dirty="0">
                <a:solidFill>
                  <a:srgbClr val="2B1D19"/>
                </a:solidFill>
              </a:rPr>
              <a:t>Ctrl+Shift+P</a:t>
            </a:r>
            <a:r>
              <a:rPr lang="en-US" sz="1700" dirty="0">
                <a:solidFill>
                  <a:srgbClr val="2B1D19"/>
                </a:solidFill>
              </a:rPr>
              <a:t>, type </a:t>
            </a:r>
            <a:r>
              <a:rPr lang="en-US" sz="1700" b="1" dirty="0">
                <a:solidFill>
                  <a:srgbClr val="2B1D19"/>
                </a:solidFill>
              </a:rPr>
              <a:t>Terminal: Select Default Profile</a:t>
            </a:r>
            <a:r>
              <a:rPr lang="en-US" sz="1700" dirty="0">
                <a:solidFill>
                  <a:srgbClr val="2B1D19"/>
                </a:solidFill>
              </a:rPr>
              <a:t> and choose </a:t>
            </a:r>
            <a:r>
              <a:rPr lang="en-US" sz="1700" b="1" dirty="0">
                <a:solidFill>
                  <a:srgbClr val="2B1D19"/>
                </a:solidFill>
              </a:rPr>
              <a:t>Command Prompt</a:t>
            </a:r>
            <a:r>
              <a:rPr lang="en-US" sz="1700" dirty="0">
                <a:solidFill>
                  <a:srgbClr val="2B1D19"/>
                </a:solidFill>
              </a:rPr>
              <a:t>.</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Every new terminal now opens as Command Prompt instead of PowerShell.</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Close the terminal with the bin icon, then choose </a:t>
            </a:r>
            <a:r>
              <a:rPr lang="en-US" sz="1700" b="1" dirty="0">
                <a:solidFill>
                  <a:srgbClr val="2B1D19"/>
                </a:solidFill>
              </a:rPr>
              <a:t>Terminal</a:t>
            </a:r>
            <a:r>
              <a:rPr lang="en-US" sz="1700" dirty="0">
                <a:solidFill>
                  <a:srgbClr val="2B1D19"/>
                </a:solidFill>
              </a:rPr>
              <a:t> → </a:t>
            </a:r>
            <a:r>
              <a:rPr lang="en-US" sz="1700" b="1" dirty="0">
                <a:solidFill>
                  <a:srgbClr val="2B1D19"/>
                </a:solidFill>
              </a:rPr>
              <a:t>New Terminal</a:t>
            </a:r>
            <a:r>
              <a:rPr lang="en-US" sz="1700" dirty="0">
                <a:solidFill>
                  <a:srgbClr val="2B1D19"/>
                </a:solidFill>
              </a:rPr>
              <a:t>.</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The prompt starts with </a:t>
            </a:r>
            <a:r>
              <a:rPr lang="en-US" sz="1500" b="1" dirty="0">
                <a:solidFill>
                  <a:srgbClr val="B86E1E"/>
                </a:solidFill>
                <a:latin typeface="Courier New" pitchFamily="34" charset="0"/>
                <a:ea typeface="Courier New" pitchFamily="34" charset="-122"/>
                <a:cs typeface="Courier New" pitchFamily="34" charset="-120"/>
              </a:rPr>
              <a:t>(.venv)</a:t>
            </a:r>
            <a:r>
              <a:rPr lang="en-US" sz="1700" dirty="0">
                <a:solidFill>
                  <a:srgbClr val="2B1D19"/>
                </a:solidFill>
              </a:rPr>
              <a:t> and ends with our folder's path and a </a:t>
            </a:r>
            <a:r>
              <a:rPr lang="en-US" sz="1500" b="1" dirty="0">
                <a:solidFill>
                  <a:srgbClr val="B86E1E"/>
                </a:solidFill>
                <a:latin typeface="Courier New" pitchFamily="34" charset="0"/>
                <a:ea typeface="Courier New" pitchFamily="34" charset="-122"/>
                <a:cs typeface="Courier New" pitchFamily="34" charset="-120"/>
              </a:rPr>
              <a:t>&gt;</a:t>
            </a:r>
            <a:r>
              <a:rPr lang="en-US" sz="1700" dirty="0">
                <a:solidFill>
                  <a:srgbClr val="2B1D19"/>
                </a:solidFill>
              </a:rPr>
              <a:t>.</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Install the libraries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marimo for notebooks, Polars for tables of data, Plotly for charts.</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Install marimo, Polars, Plotly and NumPy</a:t>
            </a:r>
            <a:endParaRPr lang="en-US" sz="2800" dirty="0"/>
          </a:p>
        </p:txBody>
      </p:sp>
      <p:sp>
        <p:nvSpPr>
          <p:cNvPr id="3" name="Code panel"/>
          <p:cNvSpPr/>
          <p:nvPr/>
        </p:nvSpPr>
        <p:spPr>
          <a:xfrm>
            <a:off x="457200" y="1051560"/>
            <a:ext cx="512064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4754880" cy="274320"/>
          </a:xfrm>
          <a:prstGeom prst="rect">
            <a:avLst/>
          </a:prstGeom>
          <a:noFill/>
          <a:ln/>
        </p:spPr>
        <p:txBody>
          <a:bodyPr wrap="square" lIns="0" tIns="0" rIns="0" bIns="0" rtlCol="0" anchor="ctr"/>
          <a:lstStyle/>
          <a:p>
            <a:pPr indent="0" marL="0">
              <a:buNone/>
            </a:pPr>
            <a:r>
              <a:rPr lang="en-US" sz="1200" b="1" dirty="0">
                <a:solidFill>
                  <a:srgbClr val="E8A55A"/>
                </a:solidFill>
              </a:rPr>
              <a:t>terminal</a:t>
            </a:r>
            <a:endParaRPr lang="en-US" sz="1200" dirty="0"/>
          </a:p>
        </p:txBody>
      </p:sp>
      <p:sp>
        <p:nvSpPr>
          <p:cNvPr id="5" name="Code"/>
          <p:cNvSpPr txBox="1"/>
          <p:nvPr/>
        </p:nvSpPr>
        <p:spPr>
          <a:xfrm>
            <a:off x="594360" y="1508760"/>
            <a:ext cx="4846320" cy="236220"/>
          </a:xfrm>
          <a:prstGeom prst="rect">
            <a:avLst/>
          </a:prstGeom>
          <a:noFill/>
          <a:ln/>
        </p:spPr>
        <p:txBody>
          <a:bodyPr wrap="square" lIns="0" tIns="0" rIns="0" bIns="0" rtlCol="0" anchor="t"/>
          <a:lstStyle/>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1  </a:t>
            </a:r>
            <a:r>
              <a:rPr lang="en-US" sz="1200" dirty="0">
                <a:solidFill>
                  <a:srgbClr val="F7EFE6"/>
                </a:solidFill>
                <a:latin typeface="Courier New" pitchFamily="34" charset="0"/>
                <a:ea typeface="Courier New" pitchFamily="34" charset="-122"/>
                <a:cs typeface="Courier New" pitchFamily="34" charset="-120"/>
              </a:rPr>
              <a:t>pip install marimo polars==2.0.0rc2 plotly numpy</a:t>
            </a:r>
            <a:endParaRPr lang="en-US" sz="1200" dirty="0"/>
          </a:p>
        </p:txBody>
      </p:sp>
      <p:sp>
        <p:nvSpPr>
          <p:cNvPr id="6" name="Text 4"/>
          <p:cNvSpPr txBox="1"/>
          <p:nvPr/>
        </p:nvSpPr>
        <p:spPr>
          <a:xfrm>
            <a:off x="457200" y="1929765"/>
            <a:ext cx="512064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When it finishes, the last line starts with </a:t>
            </a:r>
            <a:r>
              <a:rPr lang="en-US" sz="1500" b="1" dirty="0">
                <a:solidFill>
                  <a:srgbClr val="2B1D19"/>
                </a:solidFill>
              </a:rPr>
              <a:t>Successfully installed</a:t>
            </a:r>
            <a:r>
              <a:rPr lang="en-US" sz="1500" dirty="0">
                <a:solidFill>
                  <a:srgbClr val="2B1D19"/>
                </a:solidFill>
              </a:rPr>
              <a:t>.</a:t>
            </a:r>
            <a:endParaRPr lang="en-US" sz="1500" dirty="0"/>
          </a:p>
        </p:txBody>
      </p:sp>
      <p:sp>
        <p:nvSpPr>
          <p:cNvPr id="7" name="Text 5"/>
          <p:cNvSpPr txBox="1"/>
          <p:nvPr/>
        </p:nvSpPr>
        <p:spPr>
          <a:xfrm>
            <a:off x="5852160" y="1051560"/>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8" name="Text 6"/>
          <p:cNvSpPr txBox="1"/>
          <p:nvPr/>
        </p:nvSpPr>
        <p:spPr>
          <a:xfrm>
            <a:off x="5852160" y="1399032"/>
            <a:ext cx="283464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This installs marimo (our notebook), Polars (for tables of data), Plotly (for charts) and NumPy, which Plotly needs to draw charts from Polars data.</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Check marimo installed correctly</a:t>
            </a:r>
            <a:endParaRPr lang="en-US" sz="2800" dirty="0"/>
          </a:p>
        </p:txBody>
      </p:sp>
      <p:sp>
        <p:nvSpPr>
          <p:cNvPr id="3" name="Code panel"/>
          <p:cNvSpPr/>
          <p:nvPr/>
        </p:nvSpPr>
        <p:spPr>
          <a:xfrm>
            <a:off x="457200" y="1051560"/>
            <a:ext cx="384048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terminal</a:t>
            </a:r>
            <a:endParaRPr lang="en-US" sz="1200" dirty="0"/>
          </a:p>
        </p:txBody>
      </p:sp>
      <p:sp>
        <p:nvSpPr>
          <p:cNvPr id="5" name="Code"/>
          <p:cNvSpPr txBox="1"/>
          <p:nvPr/>
        </p:nvSpPr>
        <p:spPr>
          <a:xfrm>
            <a:off x="594360" y="1508760"/>
            <a:ext cx="356616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marimo --version</a:t>
            </a:r>
            <a:endParaRPr lang="en-US" sz="1400" dirty="0"/>
          </a:p>
        </p:txBody>
      </p:sp>
      <p:sp>
        <p:nvSpPr>
          <p:cNvPr id="6" name="Text 4"/>
          <p:cNvSpPr txBox="1"/>
          <p:nvPr/>
        </p:nvSpPr>
        <p:spPr>
          <a:xfrm>
            <a:off x="457200" y="1929765"/>
            <a:ext cx="384048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It shows a version number such as </a:t>
            </a:r>
            <a:r>
              <a:rPr lang="en-US" sz="1500" b="1" dirty="0">
                <a:solidFill>
                  <a:srgbClr val="2B1D19"/>
                </a:solidFill>
              </a:rPr>
              <a:t>0.25.1</a:t>
            </a:r>
            <a:r>
              <a:rPr lang="en-US" sz="1500" dirty="0">
                <a:solidFill>
                  <a:srgbClr val="2B1D19"/>
                </a:solidFill>
              </a:rPr>
              <a:t>. Ours might be a little different.</a:t>
            </a:r>
            <a:endParaRPr lang="en-US" sz="1500" dirty="0"/>
          </a:p>
        </p:txBody>
      </p:sp>
      <p:sp>
        <p:nvSpPr>
          <p:cNvPr id="7" name="Text 5"/>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8" name="Text 6"/>
          <p:cNvSpPr txBox="1"/>
          <p:nvPr/>
        </p:nvSpPr>
        <p:spPr>
          <a:xfrm>
            <a:off x="4572000" y="1399032"/>
            <a:ext cx="411480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If marimo installed into our virtual environment, the terminal can find it and tell us its version.</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Why polars==2.0.0rc2?</a:t>
            </a:r>
            <a:endParaRPr lang="en-US" sz="2800" dirty="0"/>
          </a:p>
        </p:txBody>
      </p:sp>
      <p:sp>
        <p:nvSpPr>
          <p:cNvPr id="3" name="tip box"/>
          <p:cNvSpPr/>
          <p:nvPr/>
        </p:nvSpPr>
        <p:spPr>
          <a:xfrm>
            <a:off x="457200" y="1051560"/>
            <a:ext cx="8229600" cy="2519680"/>
          </a:xfrm>
          <a:prstGeom prst="roundRect">
            <a:avLst>
              <a:gd name="adj" fmla="val 29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8338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The </a:t>
            </a:r>
            <a:r>
              <a:rPr lang="en-US" sz="1800" b="1" dirty="0">
                <a:solidFill>
                  <a:srgbClr val="B86E1E"/>
                </a:solidFill>
                <a:latin typeface="Courier New" pitchFamily="34" charset="0"/>
                <a:ea typeface="Courier New" pitchFamily="34" charset="-122"/>
                <a:cs typeface="Courier New" pitchFamily="34" charset="-120"/>
              </a:rPr>
              <a:t>==2.0.0rc2</a:t>
            </a:r>
            <a:r>
              <a:rPr lang="en-US" sz="2000" dirty="0">
                <a:solidFill>
                  <a:srgbClr val="2B1D19"/>
                </a:solidFill>
              </a:rPr>
              <a:t> part asks for one exact version of Polars. </a:t>
            </a:r>
            <a:r>
              <a:rPr lang="en-US" sz="2000" b="1" dirty="0">
                <a:solidFill>
                  <a:srgbClr val="2B1D19"/>
                </a:solidFill>
              </a:rPr>
              <a:t>rc</a:t>
            </a:r>
            <a:r>
              <a:rPr lang="en-US" sz="2000" dirty="0">
                <a:solidFill>
                  <a:srgbClr val="2B1D19"/>
                </a:solidFill>
              </a:rPr>
              <a:t> stands for </a:t>
            </a:r>
            <a:r>
              <a:rPr lang="en-US" sz="2000" b="1" dirty="0">
                <a:solidFill>
                  <a:srgbClr val="2B1D19"/>
                </a:solidFill>
              </a:rPr>
              <a:t>release candidate</a:t>
            </a:r>
            <a:r>
              <a:rPr lang="en-US" sz="2000" dirty="0">
                <a:solidFill>
                  <a:srgbClr val="2B1D19"/>
                </a:solidFill>
              </a:rPr>
              <a:t>: a version that's almost finished and being tested before its official release. Polars 2.0 changes a few commands, and this course uses the new versions, so we all need the same one.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Download the data</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Our notebooks will look for the data in a folder called </a:t>
            </a:r>
            <a:r>
              <a:rPr lang="en-US" sz="1600" b="1" dirty="0">
                <a:solidFill>
                  <a:srgbClr val="E8A55A"/>
                </a:solidFill>
                <a:latin typeface="Courier New" pitchFamily="34" charset="0"/>
                <a:ea typeface="Courier New" pitchFamily="34" charset="-122"/>
                <a:cs typeface="Courier New" pitchFamily="34" charset="-120"/>
              </a:rPr>
              <a:t>data</a:t>
            </a:r>
            <a:r>
              <a:rPr lang="en-US" sz="1800" dirty="0">
                <a:solidFill>
                  <a:srgbClr val="F7EFE6"/>
                </a:solidFill>
              </a:rPr>
              <a:t> inside our project.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Put the data in our project</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In the Explorer panel, hover over </a:t>
            </a:r>
            <a:r>
              <a:rPr lang="en-US" sz="1700" b="1" i="1" dirty="0">
                <a:solidFill>
                  <a:srgbClr val="2B1D19"/>
                </a:solidFill>
              </a:rPr>
              <a:t>steam_data_stories</a:t>
            </a:r>
            <a:r>
              <a:rPr lang="en-US" sz="1700" dirty="0">
                <a:solidFill>
                  <a:srgbClr val="2B1D19"/>
                </a:solidFill>
              </a:rPr>
              <a:t>, click </a:t>
            </a:r>
            <a:r>
              <a:rPr lang="en-US" sz="1700" b="1" dirty="0">
                <a:solidFill>
                  <a:srgbClr val="2B1D19"/>
                </a:solidFill>
              </a:rPr>
              <a:t>New Folder</a:t>
            </a:r>
            <a:r>
              <a:rPr lang="en-US" sz="1700" dirty="0">
                <a:solidFill>
                  <a:srgbClr val="2B1D19"/>
                </a:solidFill>
              </a:rPr>
              <a:t> and name it </a:t>
            </a:r>
            <a:r>
              <a:rPr lang="en-US" sz="1500" b="1" dirty="0">
                <a:solidFill>
                  <a:srgbClr val="B86E1E"/>
                </a:solidFill>
                <a:latin typeface="Courier New" pitchFamily="34" charset="0"/>
                <a:ea typeface="Courier New" pitchFamily="34" charset="-122"/>
                <a:cs typeface="Courier New" pitchFamily="34" charset="-120"/>
              </a:rPr>
              <a:t>data</a:t>
            </a:r>
            <a:r>
              <a:rPr lang="en-US" sz="1700" dirty="0">
                <a:solidFill>
                  <a:srgbClr val="2B1D19"/>
                </a:solidFill>
              </a:rPr>
              <a:t>.</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Download </a:t>
            </a:r>
            <a:r>
              <a:rPr lang="en-US" sz="1500" b="1" dirty="0">
                <a:solidFill>
                  <a:srgbClr val="B86E1E"/>
                </a:solidFill>
                <a:latin typeface="Courier New" pitchFamily="34" charset="0"/>
                <a:ea typeface="Courier New" pitchFamily="34" charset="-122"/>
                <a:cs typeface="Courier New" pitchFamily="34" charset="-120"/>
              </a:rPr>
              <a:t>steam_games.csv</a:t>
            </a:r>
            <a:r>
              <a:rPr lang="en-US" sz="1700" dirty="0">
                <a:solidFill>
                  <a:srgbClr val="2B1D19"/>
                </a:solidFill>
              </a:rPr>
              <a:t> and </a:t>
            </a:r>
            <a:r>
              <a:rPr lang="en-US" sz="1500" b="1" dirty="0">
                <a:solidFill>
                  <a:srgbClr val="B86E1E"/>
                </a:solidFill>
                <a:latin typeface="Courier New" pitchFamily="34" charset="0"/>
                <a:ea typeface="Courier New" pitchFamily="34" charset="-122"/>
                <a:cs typeface="Courier New" pitchFamily="34" charset="-120"/>
              </a:rPr>
              <a:t>README.txt</a:t>
            </a:r>
            <a:r>
              <a:rPr lang="en-US" sz="1700" dirty="0">
                <a:solidFill>
                  <a:srgbClr val="2B1D19"/>
                </a:solidFill>
              </a:rPr>
              <a:t> from the Setting Up page.</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Open </a:t>
            </a:r>
            <a:r>
              <a:rPr lang="en-US" sz="1700" b="1" dirty="0">
                <a:solidFill>
                  <a:srgbClr val="2B1D19"/>
                </a:solidFill>
              </a:rPr>
              <a:t>Downloads</a:t>
            </a:r>
            <a:r>
              <a:rPr lang="en-US" sz="1700" dirty="0">
                <a:solidFill>
                  <a:srgbClr val="2B1D19"/>
                </a:solidFill>
              </a:rPr>
              <a:t> in File Explorer (Finder on a Mac).</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Drag both files onto the </a:t>
            </a:r>
            <a:r>
              <a:rPr lang="en-US" sz="1500" b="1" dirty="0">
                <a:solidFill>
                  <a:srgbClr val="B86E1E"/>
                </a:solidFill>
                <a:latin typeface="Courier New" pitchFamily="34" charset="0"/>
                <a:ea typeface="Courier New" pitchFamily="34" charset="-122"/>
                <a:cs typeface="Courier New" pitchFamily="34" charset="-120"/>
              </a:rPr>
              <a:t>data</a:t>
            </a:r>
            <a:r>
              <a:rPr lang="en-US" sz="1700" dirty="0">
                <a:solidFill>
                  <a:srgbClr val="2B1D19"/>
                </a:solidFill>
              </a:rPr>
              <a:t> folder in VS Code. If asked, choose </a:t>
            </a:r>
            <a:r>
              <a:rPr lang="en-US" sz="1700" b="1" dirty="0">
                <a:solidFill>
                  <a:srgbClr val="2B1D19"/>
                </a:solidFill>
              </a:rPr>
              <a:t>Copy</a:t>
            </a:r>
            <a:r>
              <a:rPr lang="en-US" sz="1700" dirty="0">
                <a:solidFill>
                  <a:srgbClr val="2B1D19"/>
                </a:solidFill>
              </a:rPr>
              <a:t>.</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Check the file names</a:t>
            </a:r>
            <a:endParaRPr lang="en-US" sz="2800" dirty="0"/>
          </a:p>
        </p:txBody>
      </p:sp>
      <p:sp>
        <p:nvSpPr>
          <p:cNvPr id="3" name="warning box"/>
          <p:cNvSpPr/>
          <p:nvPr/>
        </p:nvSpPr>
        <p:spPr>
          <a:xfrm>
            <a:off x="457200" y="1051560"/>
            <a:ext cx="8229600" cy="2214880"/>
          </a:xfrm>
          <a:prstGeom prst="roundRect">
            <a:avLst>
              <a:gd name="adj" fmla="val 33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If we download a file more than once, the browser may rename it, such as </a:t>
            </a:r>
            <a:r>
              <a:rPr lang="en-US" sz="1800" b="1" dirty="0">
                <a:solidFill>
                  <a:srgbClr val="B86E1E"/>
                </a:solidFill>
                <a:latin typeface="Courier New" pitchFamily="34" charset="0"/>
                <a:ea typeface="Courier New" pitchFamily="34" charset="-122"/>
                <a:cs typeface="Courier New" pitchFamily="34" charset="-120"/>
              </a:rPr>
              <a:t>steam_games (1).csv</a:t>
            </a:r>
            <a:r>
              <a:rPr lang="en-US" sz="2000" dirty="0">
                <a:solidFill>
                  <a:srgbClr val="2B1D19"/>
                </a:solidFill>
              </a:rPr>
              <a:t>. Our code looks for </a:t>
            </a:r>
            <a:r>
              <a:rPr lang="en-US" sz="1800" b="1" dirty="0">
                <a:solidFill>
                  <a:srgbClr val="B86E1E"/>
                </a:solidFill>
                <a:latin typeface="Courier New" pitchFamily="34" charset="0"/>
                <a:ea typeface="Courier New" pitchFamily="34" charset="-122"/>
                <a:cs typeface="Courier New" pitchFamily="34" charset="-120"/>
              </a:rPr>
              <a:t>steam_games.csv</a:t>
            </a:r>
            <a:r>
              <a:rPr lang="en-US" sz="2000" dirty="0">
                <a:solidFill>
                  <a:srgbClr val="2B1D19"/>
                </a:solidFill>
              </a:rPr>
              <a:t> exactly, so rename the file or delete the extra copy.</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Our project folder now</a:t>
            </a:r>
            <a:endParaRPr lang="en-US" sz="2800" dirty="0"/>
          </a:p>
        </p:txBody>
      </p:sp>
      <p:sp>
        <p:nvSpPr>
          <p:cNvPr id="3" name="Code panel"/>
          <p:cNvSpPr/>
          <p:nvPr/>
        </p:nvSpPr>
        <p:spPr>
          <a:xfrm>
            <a:off x="457200" y="1051560"/>
            <a:ext cx="3840480" cy="1739265"/>
          </a:xfrm>
          <a:prstGeom prst="roundRect">
            <a:avLst>
              <a:gd name="adj" fmla="val 3154"/>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project folder</a:t>
            </a:r>
            <a:endParaRPr lang="en-US" sz="1200" dirty="0"/>
          </a:p>
        </p:txBody>
      </p:sp>
      <p:sp>
        <p:nvSpPr>
          <p:cNvPr id="5" name="Code"/>
          <p:cNvSpPr txBox="1"/>
          <p:nvPr/>
        </p:nvSpPr>
        <p:spPr>
          <a:xfrm>
            <a:off x="594360" y="1508760"/>
            <a:ext cx="3566160" cy="1156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steam_data_stories/</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.venv/</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    data/</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        README.txt</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5  </a:t>
            </a:r>
            <a:r>
              <a:rPr lang="en-US" sz="1400" dirty="0">
                <a:solidFill>
                  <a:srgbClr val="F7EFE6"/>
                </a:solidFill>
                <a:latin typeface="Courier New" pitchFamily="34" charset="0"/>
                <a:ea typeface="Courier New" pitchFamily="34" charset="-122"/>
                <a:cs typeface="Courier New" pitchFamily="34" charset="-120"/>
              </a:rPr>
              <a:t>        steam_games.csv</a:t>
            </a:r>
            <a:endParaRPr lang="en-US" sz="1400" dirty="0"/>
          </a:p>
        </p:txBody>
      </p:sp>
      <p:sp>
        <p:nvSpPr>
          <p:cNvPr id="6" name="Text 4"/>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7" name="Text 5"/>
          <p:cNvSpPr txBox="1"/>
          <p:nvPr/>
        </p:nvSpPr>
        <p:spPr>
          <a:xfrm>
            <a:off x="4572000" y="1399032"/>
            <a:ext cx="411480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Check the Explorer panel matches this. Both data files must be inside </a:t>
            </a:r>
            <a:r>
              <a:rPr lang="en-US" sz="1300" b="1" dirty="0">
                <a:solidFill>
                  <a:srgbClr val="B86E1E"/>
                </a:solidFill>
                <a:latin typeface="Courier New" pitchFamily="34" charset="0"/>
                <a:ea typeface="Courier New" pitchFamily="34" charset="-122"/>
                <a:cs typeface="Courier New" pitchFamily="34" charset="-120"/>
              </a:rPr>
              <a:t>data</a:t>
            </a:r>
            <a:r>
              <a:rPr lang="en-US" sz="1500" dirty="0">
                <a:solidFill>
                  <a:srgbClr val="2B1D19"/>
                </a:solidFill>
              </a:rPr>
              <a:t>, not loose in the project folder.</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Don't change steam_games.csv</a:t>
            </a:r>
            <a:endParaRPr lang="en-US" sz="2800" dirty="0"/>
          </a:p>
        </p:txBody>
      </p:sp>
      <p:sp>
        <p:nvSpPr>
          <p:cNvPr id="3" name="warning box"/>
          <p:cNvSpPr/>
          <p:nvPr/>
        </p:nvSpPr>
        <p:spPr>
          <a:xfrm>
            <a:off x="457200" y="1051560"/>
            <a:ext cx="8229600" cy="2519680"/>
          </a:xfrm>
          <a:prstGeom prst="roundRect">
            <a:avLst>
              <a:gd name="adj" fmla="val 29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8338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1800" b="1" dirty="0">
                <a:solidFill>
                  <a:srgbClr val="B86E1E"/>
                </a:solidFill>
                <a:latin typeface="Courier New" pitchFamily="34" charset="0"/>
                <a:ea typeface="Courier New" pitchFamily="34" charset="-122"/>
                <a:cs typeface="Courier New" pitchFamily="34" charset="-120"/>
              </a:rPr>
              <a:t>steam_games.csv</a:t>
            </a:r>
            <a:r>
              <a:rPr lang="en-US" sz="2000" dirty="0">
                <a:solidFill>
                  <a:srgbClr val="2B1D19"/>
                </a:solidFill>
              </a:rPr>
              <a:t> is our original data. If we open it in Excel or Numbers and save it, the program can quietly change values, such as turning dates into a different format. We'll only ever read it with code, and save our cleaned data as a new file.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Open our first notebook</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600" b="1" dirty="0">
                <a:solidFill>
                  <a:srgbClr val="E8A55A"/>
                </a:solidFill>
                <a:latin typeface="Courier New" pitchFamily="34" charset="0"/>
                <a:ea typeface="Courier New" pitchFamily="34" charset="-122"/>
                <a:cs typeface="Courier New" pitchFamily="34" charset="-120"/>
              </a:rPr>
              <a:t>clean_steam.py</a:t>
            </a:r>
            <a:r>
              <a:rPr lang="en-US" sz="1800" dirty="0">
                <a:solidFill>
                  <a:srgbClr val="F7EFE6"/>
                </a:solidFill>
              </a:rPr>
              <a:t> is where we'll explore and clean our data.</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Start marimo</a:t>
            </a:r>
            <a:endParaRPr lang="en-US" sz="2800" dirty="0"/>
          </a:p>
        </p:txBody>
      </p:sp>
      <p:sp>
        <p:nvSpPr>
          <p:cNvPr id="3" name="Code panel"/>
          <p:cNvSpPr/>
          <p:nvPr/>
        </p:nvSpPr>
        <p:spPr>
          <a:xfrm>
            <a:off x="457200" y="1051560"/>
            <a:ext cx="384048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terminal</a:t>
            </a:r>
            <a:endParaRPr lang="en-US" sz="1200" dirty="0"/>
          </a:p>
        </p:txBody>
      </p:sp>
      <p:sp>
        <p:nvSpPr>
          <p:cNvPr id="5" name="Code"/>
          <p:cNvSpPr txBox="1"/>
          <p:nvPr/>
        </p:nvSpPr>
        <p:spPr>
          <a:xfrm>
            <a:off x="594360" y="1508760"/>
            <a:ext cx="356616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marimo edit clean_steam.py</a:t>
            </a:r>
            <a:endParaRPr lang="en-US" sz="1400" dirty="0"/>
          </a:p>
        </p:txBody>
      </p:sp>
      <p:sp>
        <p:nvSpPr>
          <p:cNvPr id="6" name="Text 4"/>
          <p:cNvSpPr txBox="1"/>
          <p:nvPr/>
        </p:nvSpPr>
        <p:spPr>
          <a:xfrm>
            <a:off x="457200" y="1929765"/>
            <a:ext cx="384048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The terminal shows </a:t>
            </a:r>
            <a:r>
              <a:rPr lang="en-US" sz="1500" b="1" dirty="0">
                <a:solidFill>
                  <a:srgbClr val="2B1D19"/>
                </a:solidFill>
              </a:rPr>
              <a:t>Edit clean_steam.py in your browser</a:t>
            </a:r>
            <a:r>
              <a:rPr lang="en-US" sz="1500" dirty="0">
                <a:solidFill>
                  <a:srgbClr val="2B1D19"/>
                </a:solidFill>
              </a:rPr>
              <a:t> and a browser tab opens.</a:t>
            </a:r>
            <a:endParaRPr lang="en-US" sz="1500" dirty="0"/>
          </a:p>
        </p:txBody>
      </p:sp>
      <p:sp>
        <p:nvSpPr>
          <p:cNvPr id="7" name="Text 5"/>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8" name="Text 6"/>
          <p:cNvSpPr txBox="1"/>
          <p:nvPr/>
        </p:nvSpPr>
        <p:spPr>
          <a:xfrm>
            <a:off x="4572000" y="1399032"/>
            <a:ext cx="411480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This starts marimo and creates a new notebook called </a:t>
            </a:r>
            <a:r>
              <a:rPr lang="en-US" sz="1300" b="1" dirty="0">
                <a:solidFill>
                  <a:srgbClr val="B86E1E"/>
                </a:solidFill>
                <a:latin typeface="Courier New" pitchFamily="34" charset="0"/>
                <a:ea typeface="Courier New" pitchFamily="34" charset="-122"/>
                <a:cs typeface="Courier New" pitchFamily="34" charset="-120"/>
              </a:rPr>
              <a:t>clean_steam.py</a:t>
            </a:r>
            <a:r>
              <a:rPr lang="en-US" sz="1500" dirty="0">
                <a:solidFill>
                  <a:srgbClr val="2B1D19"/>
                </a:solidFill>
              </a:rPr>
              <a:t>, which we'll use to explore and clean our data.</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Our first, empty notebook</a:t>
            </a:r>
            <a:endParaRPr lang="en-US" sz="2800" dirty="0"/>
          </a:p>
        </p:txBody>
      </p:sp>
      <p:pic>
        <p:nvPicPr>
          <p:cNvPr id="3" name="Image 0" descr="A new, empty marimo notebook called clean_steam.py open in a web browser">    </p:cNvPr>
          <p:cNvPicPr>
            <a:picLocks noChangeAspect="1"/>
          </p:cNvPicPr>
          <p:nvPr/>
        </p:nvPicPr>
        <p:blipFill>
          <a:blip r:embed="rId1"/>
          <a:stretch>
            <a:fillRect/>
          </a:stretch>
        </p:blipFill>
        <p:spPr>
          <a:xfrm>
            <a:off x="1930400" y="1051560"/>
            <a:ext cx="5283200" cy="2971800"/>
          </a:xfrm>
          <a:prstGeom prst="rect">
            <a:avLst/>
          </a:prstGeom>
        </p:spPr>
      </p:pic>
      <p:sp>
        <p:nvSpPr>
          <p:cNvPr id="4" name="Text 1"/>
          <p:cNvSpPr txBox="1"/>
          <p:nvPr/>
        </p:nvSpPr>
        <p:spPr>
          <a:xfrm>
            <a:off x="457200" y="4069080"/>
            <a:ext cx="8229600" cy="411480"/>
          </a:xfrm>
          <a:prstGeom prst="rect">
            <a:avLst/>
          </a:prstGeom>
          <a:noFill/>
          <a:ln/>
        </p:spPr>
        <p:txBody>
          <a:bodyPr wrap="square" lIns="0" tIns="0" rIns="0" bIns="0" rtlCol="0" anchor="ctr"/>
          <a:lstStyle/>
          <a:p>
            <a:pPr algn="ctr" indent="0" marL="0">
              <a:spcAft>
                <a:spcPts val="800"/>
              </a:spcAft>
              <a:buNone/>
            </a:pPr>
            <a:r>
              <a:rPr lang="en-US" sz="1300" i="1" dirty="0">
                <a:solidFill>
                  <a:srgbClr val="6B6B6B"/>
                </a:solidFill>
              </a:rPr>
              <a:t>​</a:t>
            </a:r>
            <a:r>
              <a:rPr lang="en-US" sz="1300" i="1" dirty="0">
                <a:solidFill>
                  <a:srgbClr val="6B6B6B"/>
                </a:solidFill>
              </a:rPr>
              <a:t>A new, empty marimo notebook called </a:t>
            </a:r>
            <a:r>
              <a:rPr lang="en-US" sz="1100" b="1" i="1" dirty="0">
                <a:solidFill>
                  <a:srgbClr val="B86E1E"/>
                </a:solidFill>
                <a:latin typeface="Courier New" pitchFamily="34" charset="0"/>
                <a:ea typeface="Courier New" pitchFamily="34" charset="-122"/>
                <a:cs typeface="Courier New" pitchFamily="34" charset="-120"/>
              </a:rPr>
              <a:t>clean_steam.py</a:t>
            </a:r>
            <a:r>
              <a:rPr lang="en-US" sz="1300" i="1" dirty="0">
                <a:solidFill>
                  <a:srgbClr val="6B6B6B"/>
                </a:solidFill>
              </a:rPr>
              <a:t> in the browser.</a:t>
            </a:r>
            <a:endParaRPr lang="en-US" sz="13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Stop marimo</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Back in VS Code, click in the terminal and press </a:t>
            </a:r>
            <a:r>
              <a:rPr lang="en-US" sz="1700" b="1" dirty="0">
                <a:solidFill>
                  <a:srgbClr val="2B1D19"/>
                </a:solidFill>
              </a:rPr>
              <a:t>Ctrl+C</a:t>
            </a:r>
            <a:r>
              <a:rPr lang="en-US" sz="1700" dirty="0">
                <a:solidFill>
                  <a:srgbClr val="2B1D19"/>
                </a:solidFill>
              </a:rPr>
              <a:t> (also </a:t>
            </a:r>
            <a:r>
              <a:rPr lang="en-US" sz="1700" b="1" dirty="0">
                <a:solidFill>
                  <a:srgbClr val="2B1D19"/>
                </a:solidFill>
              </a:rPr>
              <a:t>Ctrl+C</a:t>
            </a:r>
            <a:r>
              <a:rPr lang="en-US" sz="1700" dirty="0">
                <a:solidFill>
                  <a:srgbClr val="2B1D19"/>
                </a:solidFill>
              </a:rPr>
              <a:t> on a Mac, not </a:t>
            </a:r>
            <a:r>
              <a:rPr lang="en-US" sz="1700" b="1" dirty="0">
                <a:solidFill>
                  <a:srgbClr val="2B1D19"/>
                </a:solidFill>
              </a:rPr>
              <a:t>Cmd+C</a:t>
            </a:r>
            <a:r>
              <a:rPr lang="en-US" sz="1700" dirty="0">
                <a:solidFill>
                  <a:srgbClr val="2B1D19"/>
                </a:solidFill>
              </a:rPr>
              <a:t>).</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marimo asks "Are you sure you want to quit? (y/N)".</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Type </a:t>
            </a:r>
            <a:r>
              <a:rPr lang="en-US" sz="1500" b="1" dirty="0">
                <a:solidFill>
                  <a:srgbClr val="B86E1E"/>
                </a:solidFill>
                <a:latin typeface="Courier New" pitchFamily="34" charset="0"/>
                <a:ea typeface="Courier New" pitchFamily="34" charset="-122"/>
                <a:cs typeface="Courier New" pitchFamily="34" charset="-120"/>
              </a:rPr>
              <a:t>y</a:t>
            </a:r>
            <a:r>
              <a:rPr lang="en-US" sz="1700" dirty="0">
                <a:solidFill>
                  <a:srgbClr val="2B1D19"/>
                </a:solidFill>
              </a:rPr>
              <a:t> and press </a:t>
            </a:r>
            <a:r>
              <a:rPr lang="en-US" sz="1700" b="1" dirty="0">
                <a:solidFill>
                  <a:srgbClr val="2B1D19"/>
                </a:solidFill>
              </a:rPr>
              <a:t>Enter</a:t>
            </a:r>
            <a:r>
              <a:rPr lang="en-US" sz="1700" dirty="0">
                <a:solidFill>
                  <a:srgbClr val="2B1D19"/>
                </a:solidFill>
              </a:rPr>
              <a:t>.</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The terminal shows the </a:t>
            </a:r>
            <a:r>
              <a:rPr lang="en-US" sz="1500" b="1" dirty="0">
                <a:solidFill>
                  <a:srgbClr val="B86E1E"/>
                </a:solidFill>
                <a:latin typeface="Courier New" pitchFamily="34" charset="0"/>
                <a:ea typeface="Courier New" pitchFamily="34" charset="-122"/>
                <a:cs typeface="Courier New" pitchFamily="34" charset="-120"/>
              </a:rPr>
              <a:t>(.venv)</a:t>
            </a:r>
            <a:r>
              <a:rPr lang="en-US" sz="1700" dirty="0">
                <a:solidFill>
                  <a:srgbClr val="2B1D19"/>
                </a:solidFill>
              </a:rPr>
              <a:t> prompt again.</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Keep the terminal open</a:t>
            </a:r>
            <a:endParaRPr lang="en-US" sz="2800" dirty="0"/>
          </a:p>
        </p:txBody>
      </p:sp>
      <p:sp>
        <p:nvSpPr>
          <p:cNvPr id="3" name="warning box"/>
          <p:cNvSpPr/>
          <p:nvPr/>
        </p:nvSpPr>
        <p:spPr>
          <a:xfrm>
            <a:off x="457200" y="1051560"/>
            <a:ext cx="8229600" cy="3205480"/>
          </a:xfrm>
          <a:prstGeom prst="roundRect">
            <a:avLst>
              <a:gd name="adj" fmla="val 2282"/>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25196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2000" dirty="0">
                <a:solidFill>
                  <a:srgbClr val="2B1D19"/>
                </a:solidFill>
              </a:rPr>
              <a:t>​</a:t>
            </a:r>
            <a:r>
              <a:rPr lang="en-US" sz="2000" dirty="0">
                <a:solidFill>
                  <a:srgbClr val="2B1D19"/>
                </a:solidFill>
              </a:rPr>
              <a:t>The notebook only works while marimo is running in the VS Code terminal.</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Closing the terminal or pressing </a:t>
            </a:r>
            <a:r>
              <a:rPr lang="en-US" sz="2000" b="1" dirty="0">
                <a:solidFill>
                  <a:srgbClr val="2B1D19"/>
                </a:solidFill>
              </a:rPr>
              <a:t>Ctrl+C</a:t>
            </a:r>
            <a:r>
              <a:rPr lang="en-US" sz="2000" dirty="0">
                <a:solidFill>
                  <a:srgbClr val="2B1D19"/>
                </a:solidFill>
              </a:rPr>
              <a:t> stops it.</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On a Mac, closing VS Code or pressing </a:t>
            </a:r>
            <a:r>
              <a:rPr lang="en-US" sz="2000" b="1" dirty="0">
                <a:solidFill>
                  <a:srgbClr val="2B1D19"/>
                </a:solidFill>
              </a:rPr>
              <a:t>Cmd+Q</a:t>
            </a:r>
            <a:r>
              <a:rPr lang="en-US" sz="2000" dirty="0">
                <a:solidFill>
                  <a:srgbClr val="2B1D19"/>
                </a:solidFill>
              </a:rPr>
              <a:t> also stops it.</a:t>
            </a:r>
            <a:endParaRPr lang="en-US" sz="2000" dirty="0"/>
          </a:p>
          <a:p>
            <a:pPr marL="342900" indent="-342900">
              <a:spcAft>
                <a:spcPts val="1000"/>
              </a:spcAft>
              <a:buSzPct val="100000"/>
              <a:buChar char="•"/>
            </a:pPr>
            <a:r>
              <a:rPr lang="en-US" sz="2000" dirty="0">
                <a:solidFill>
                  <a:srgbClr val="2B1D19"/>
                </a:solidFill>
              </a:rPr>
              <a:t>​</a:t>
            </a:r>
            <a:r>
              <a:rPr lang="en-US" sz="2000" dirty="0">
                <a:solidFill>
                  <a:srgbClr val="2B1D19"/>
                </a:solidFill>
              </a:rPr>
              <a:t>Our code is saved in </a:t>
            </a:r>
            <a:r>
              <a:rPr lang="en-US" sz="1800" b="1" dirty="0">
                <a:solidFill>
                  <a:srgbClr val="B86E1E"/>
                </a:solidFill>
                <a:latin typeface="Courier New" pitchFamily="34" charset="0"/>
                <a:ea typeface="Courier New" pitchFamily="34" charset="-122"/>
                <a:cs typeface="Courier New" pitchFamily="34" charset="-120"/>
              </a:rPr>
              <a:t>clean_steam.py</a:t>
            </a:r>
            <a:r>
              <a:rPr lang="en-US" sz="2000" dirty="0">
                <a:solidFill>
                  <a:srgbClr val="2B1D19"/>
                </a:solidFill>
              </a:rPr>
              <a:t>, so we can run the same command and carry on.</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What is a virtual environment, and why do we use one?</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How can we tell the virtual environment is switched on?</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must we never open and save steam_games.csv in Excel?</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Our marimo notebook stops responding. What's the most likely cause?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Setting Up</dc:title>
  <dc:subject>PptxGenJS Presentation</dc:subject>
  <dc:creator>Steam Data Stories</dc:creator>
  <cp:lastModifiedBy>Steam Data Stories</cp:lastModifiedBy>
  <cp:revision>1</cp:revision>
  <dcterms:created xsi:type="dcterms:W3CDTF">2026-10-13T11:22:22Z</dcterms:created>
  <dcterms:modified xsi:type="dcterms:W3CDTF">2026-10-13T11:22:22Z</dcterms:modified>
</cp:coreProperties>
</file>