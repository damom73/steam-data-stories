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48e6572-6a2f-0c17-df69-e442ca832e5a}">
          <p14:sldIdLst>
            <p14:sldId id="256"/>
            <p14:sldId id="257"/>
            <p14:sldId id="258"/>
            <p14:sldId id="259"/>
            <p14:sldId id="260"/>
          </p14:sldIdLst>
        </p14:section>
        <p14:section name="Making one line stand out" id="{15ad045b-68b9-f512-35cd-56a07969521f}">
          <p14:sldIdLst>
            <p14:sldId id="261"/>
            <p14:sldId id="262"/>
            <p14:sldId id="263"/>
            <p14:sldId id="264"/>
            <p14:sldId id="265"/>
            <p14:sldId id="266"/>
            <p14:sldId id="267"/>
            <p14:sldId id="268"/>
          </p14:sldIdLst>
        </p14:section>
        <p14:section name="Letting our audience explore" id="{2792df3d-eb5b-689b-81f8-6969568b6934}">
          <p14:sldIdLst>
            <p14:sldId id="269"/>
            <p14:sldId id="270"/>
            <p14:sldId id="271"/>
            <p14:sldId id="272"/>
            <p14:sldId id="273"/>
            <p14:sldId id="274"/>
            <p14:sldId id="275"/>
            <p14:sldId id="276"/>
            <p14:sldId id="277"/>
            <p14:sldId id="278"/>
            <p14:sldId id="279"/>
            <p14:sldId id="280"/>
            <p14:sldId id="281"/>
          </p14:sldIdLst>
        </p14:section>
        <p14:section name="Wrap up" id="{3b6e8867-a93d-136d-bdde-c55c2d9e5ca5}">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Aha Moment lesson: we design the one chart that answers our question, then add controls so our audience can explore. About 60 minutes: 5 min hook, 20 min designing the Aha chart, 25 min UI elements, 10 min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The first three are about design; the last is about letting the audience check our finding for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where they've seen range sliders before (price filters on shopping sites are a good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insight they chose when they planned their own insights. For our example story it's the line chart of review scores over time: since 2017, Indie games have reviewed better every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rules are the success criteria for today's Aha chart, and for the arc checklist when students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marimo with marimo edit steam_story.py and press Ctrl+Shift+R to run the earlier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annotation is new vocabulary: a note on the chart that points at the exact spot our audience should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storing step: until now our chart cells ended with px.line(...). Now we keep the chart in a variable so we can add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run, investigate. Ask: which line will be coloured? What will the arrow point at? Walk through lines 6, 8 and 11 to 17: these are the new parts. Line 13's 87.05 is where the Indie line is in 2018; ax and ay are in pixels, and negative ay moves the text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first line chart up beside it if you can. Our audience doesn't have to work anything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who finish early can try other colour names. Remind them negative ay moves the text up and negative ax moves it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need to find their own value for their own Aha chart, from their own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would happen if we coloured both lines bright and added a third? (Nothing would stand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marimo calls these controls UI elements: sliders, dropdowns, buttons and text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change the first cell, not add a new one. A common mistake is adding the import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students understand value before the next slide: the whole technique depends on reading years.value and measure.value in another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keeps the controls right above the chart they change. Students who try to create and use a slider in one cell will get an error. Showing the controls in the same cell as the table and chart also keeps everything that belongs together in one spot, instead of the controls in one place and the chart somewhere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appears under the cell, and that's what we want: the last line is part of an assignment, so the cell has no output. Students often think it's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hstack and vstack as boxes on the board: a row of two boxes, inside a column with the table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what will appear, then run. Line 3 keeps games between the start year and the end year. Line 6 finds the median of the chosen column and names it Median. Line 9 shows the controls side by side, above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met reactivity when they explored their data. This is the payoff: no button to press, the table just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run, investigate. A line chart suits this for the same reason as our Aha chart. Line 14 uses the same colours, so Indie is always blue. Line 16 builds the title with an f-string from measure.value, and lower makes it lower case. Line 18 shows controls, then chart, then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each option is a column name in scored, adding a column name is all it 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Exploring has found something new: prices of both groups have gone up since 2020, but the other games have gone up faster. The $1.15 is from when we summarised our groups. It's a good extra insight, but only once it's been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checks from when we planned our own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who run short of time should prioritise the Aha chart over the explore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Colour should point at one thing. Grey keeps the other line for comparison without pulling attention away from the Indie line.
2. We can only add an annotation to a chart we've stored.
3. A cell can't use the value of a UI element it creates; marimo needs to know which cells to re-run when the control moves.
4. [2010, 2024]
5. Check it like our other insights: enough games in each group, the right average, and an honest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last 10 minutes. The five-second test is the real measure of an Aha chart: if the viewer can't say the finding, the design needs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AHA MOMENT</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14</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The Aha Moment</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3002280"/>
          </a:xfrm>
          <a:prstGeom prst="roundRect">
            <a:avLst>
              <a:gd name="adj" fmla="val 2437"/>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3164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what makes a good Aha Moment</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make one part of a chart stand out with colour</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add an annotation that points to our finding</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add a slider and a dropdown so our audience can explore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2392680"/>
          </a:xfrm>
          <a:prstGeom prst="roundRect">
            <a:avLst>
              <a:gd name="adj" fmla="val 3057"/>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1706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UI element</a:t>
            </a:r>
            <a:r>
              <a:rPr lang="en-US" sz="2000" dirty="0">
                <a:solidFill>
                  <a:srgbClr val="2B1D19"/>
                </a:solidFill>
              </a:rPr>
              <a:t> – a control, such as a slider or dropdown, that our audience can use to change what a notebook shows.</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range slider</a:t>
            </a:r>
            <a:r>
              <a:rPr lang="en-US" sz="2000" dirty="0">
                <a:solidFill>
                  <a:srgbClr val="2B1D19"/>
                </a:solidFill>
              </a:rPr>
              <a:t> – a slider with two handles, used to choose a start value and an end value.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REMEMBER</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Every part of our story has been building to this point</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The Hook asked the question, Behind the Scenes got the data ready, and Rising Insights collected the evidence. The </a:t>
            </a:r>
            <a:r>
              <a:rPr lang="en-US" sz="1600" b="1" dirty="0">
                <a:solidFill>
                  <a:srgbClr val="F7EFE6"/>
                </a:solidFill>
              </a:rPr>
              <a:t>Aha Moment</a:t>
            </a:r>
            <a:r>
              <a:rPr lang="en-US" sz="1600" dirty="0">
                <a:solidFill>
                  <a:srgbClr val="F7EFE6"/>
                </a:solidFill>
              </a:rPr>
              <a:t> is the one chart where our audience finally sees the answer.</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A good Aha chart</a:t>
            </a:r>
            <a:endParaRPr lang="en-US" sz="2800" dirty="0"/>
          </a:p>
        </p:txBody>
      </p:sp>
      <p:sp>
        <p:nvSpPr>
          <p:cNvPr id="3" name="Text 1"/>
          <p:cNvSpPr txBox="1"/>
          <p:nvPr/>
        </p:nvSpPr>
        <p:spPr>
          <a:xfrm>
            <a:off x="457200" y="1097280"/>
            <a:ext cx="8229600" cy="685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2B1D19"/>
                </a:solidFill>
              </a:rPr>
              <a:t>​</a:t>
            </a:r>
            <a:r>
              <a:rPr lang="en-US" sz="1600" dirty="0">
                <a:solidFill>
                  <a:srgbClr val="2B1D19"/>
                </a:solidFill>
              </a:rPr>
              <a:t>Right now our line chart shows the finding, but our audience still has to work it out. A good Aha chart:</a:t>
            </a:r>
            <a:endParaRPr lang="en-US" sz="1600" dirty="0"/>
          </a:p>
        </p:txBody>
      </p:sp>
      <p:sp>
        <p:nvSpPr>
          <p:cNvPr id="4" name="Text 2"/>
          <p:cNvSpPr txBox="1"/>
          <p:nvPr/>
        </p:nvSpPr>
        <p:spPr>
          <a:xfrm>
            <a:off x="457200" y="1874520"/>
            <a:ext cx="8229600" cy="260604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answers our question </a:t>
            </a:r>
            <a:r>
              <a:rPr lang="en-US" sz="2000" b="1" dirty="0">
                <a:solidFill>
                  <a:srgbClr val="2B1D19"/>
                </a:solidFill>
              </a:rPr>
              <a:t>in one look</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uses </a:t>
            </a:r>
            <a:r>
              <a:rPr lang="en-US" sz="2000" b="1" dirty="0">
                <a:solidFill>
                  <a:srgbClr val="2B1D19"/>
                </a:solidFill>
              </a:rPr>
              <a:t>colour</a:t>
            </a:r>
            <a:r>
              <a:rPr lang="en-US" sz="2000" dirty="0">
                <a:solidFill>
                  <a:srgbClr val="2B1D19"/>
                </a:solidFill>
              </a:rPr>
              <a:t> to point at the part that matters, and </a:t>
            </a:r>
            <a:r>
              <a:rPr lang="en-US" sz="2000" b="1" dirty="0">
                <a:solidFill>
                  <a:srgbClr val="2B1D19"/>
                </a:solidFill>
              </a:rPr>
              <a:t>grey</a:t>
            </a:r>
            <a:r>
              <a:rPr lang="en-US" sz="2000" dirty="0">
                <a:solidFill>
                  <a:srgbClr val="2B1D19"/>
                </a:solidFill>
              </a:rPr>
              <a:t> for everything else</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says the finding in its </a:t>
            </a:r>
            <a:r>
              <a:rPr lang="en-US" sz="2000" b="1" dirty="0">
                <a:solidFill>
                  <a:srgbClr val="2B1D19"/>
                </a:solidFill>
              </a:rPr>
              <a:t>headline title</a:t>
            </a:r>
            <a:r>
              <a:rPr lang="en-US" sz="2000" dirty="0">
                <a:solidFill>
                  <a:srgbClr val="2B1D19"/>
                </a:solidFill>
              </a:rPr>
              <a:t>, and points to it with a </a:t>
            </a:r>
            <a:r>
              <a:rPr lang="en-US" sz="2000" b="1" dirty="0">
                <a:solidFill>
                  <a:srgbClr val="2B1D19"/>
                </a:solidFill>
              </a:rPr>
              <a:t>note</a:t>
            </a:r>
            <a:r>
              <a:rPr lang="en-US" sz="2000" dirty="0">
                <a:solidFill>
                  <a:srgbClr val="2B1D19"/>
                </a:solidFill>
              </a:rPr>
              <a:t> on the chart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Making one line stand out</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In our first line chart, both lines are bright, so they both shout for attention. Our story is about Indie games.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Our plan for the Aha chart</a:t>
            </a:r>
            <a:endParaRPr lang="en-US" sz="2800" dirty="0"/>
          </a:p>
        </p:txBody>
      </p:sp>
      <p:sp>
        <p:nvSpPr>
          <p:cNvPr id="3" name="Shape 1"/>
          <p:cNvSpPr/>
          <p:nvPr/>
        </p:nvSpPr>
        <p:spPr>
          <a:xfrm>
            <a:off x="457200" y="1051560"/>
            <a:ext cx="3977640" cy="3429000"/>
          </a:xfrm>
          <a:prstGeom prst="roundRect">
            <a:avLst>
              <a:gd name="adj" fmla="val 2133"/>
            </a:avLst>
          </a:prstGeom>
          <a:solidFill>
            <a:srgbClr val="FBF7F2"/>
          </a:solidFill>
          <a:ln w="12700">
            <a:solidFill>
              <a:srgbClr val="E5DBD2"/>
            </a:solidFill>
            <a:prstDash val="solid"/>
          </a:ln>
        </p:spPr>
      </p:sp>
      <p:sp>
        <p:nvSpPr>
          <p:cNvPr id="4" name="Text 2"/>
          <p:cNvSpPr txBox="1"/>
          <p:nvPr/>
        </p:nvSpPr>
        <p:spPr>
          <a:xfrm>
            <a:off x="64008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Colour</a:t>
            </a:r>
            <a:endParaRPr lang="en-US" sz="1800" dirty="0"/>
          </a:p>
        </p:txBody>
      </p:sp>
      <p:sp>
        <p:nvSpPr>
          <p:cNvPr id="5" name="Text 3"/>
          <p:cNvSpPr txBox="1"/>
          <p:nvPr/>
        </p:nvSpPr>
        <p:spPr>
          <a:xfrm>
            <a:off x="64008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dirty="0">
                <a:solidFill>
                  <a:srgbClr val="2B1D19"/>
                </a:solidFill>
              </a:rPr>
              <a:t>the </a:t>
            </a:r>
            <a:r>
              <a:rPr lang="en-US" sz="1500" b="1" dirty="0">
                <a:solidFill>
                  <a:srgbClr val="2B1D19"/>
                </a:solidFill>
              </a:rPr>
              <a:t>Indie</a:t>
            </a:r>
            <a:r>
              <a:rPr lang="en-US" sz="1500" dirty="0">
                <a:solidFill>
                  <a:srgbClr val="2B1D19"/>
                </a:solidFill>
              </a:rPr>
              <a:t> line is the only coloured line</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the other line turns </a:t>
            </a:r>
            <a:r>
              <a:rPr lang="en-US" sz="1500" b="1" dirty="0">
                <a:solidFill>
                  <a:srgbClr val="2B1D19"/>
                </a:solidFill>
              </a:rPr>
              <a:t>grey</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it stays for comparison, but our eyes go to the colour</a:t>
            </a:r>
            <a:endParaRPr lang="en-US" sz="1500" dirty="0"/>
          </a:p>
        </p:txBody>
      </p:sp>
      <p:sp>
        <p:nvSpPr>
          <p:cNvPr id="6" name="Shape 4"/>
          <p:cNvSpPr/>
          <p:nvPr/>
        </p:nvSpPr>
        <p:spPr>
          <a:xfrm>
            <a:off x="4709160" y="1051560"/>
            <a:ext cx="3977640" cy="3429000"/>
          </a:xfrm>
          <a:prstGeom prst="roundRect">
            <a:avLst>
              <a:gd name="adj" fmla="val 2133"/>
            </a:avLst>
          </a:prstGeom>
          <a:solidFill>
            <a:srgbClr val="F3ECE6"/>
          </a:solidFill>
          <a:ln w="12700">
            <a:solidFill>
              <a:srgbClr val="E5DBD2"/>
            </a:solidFill>
            <a:prstDash val="solid"/>
          </a:ln>
        </p:spPr>
      </p:sp>
      <p:sp>
        <p:nvSpPr>
          <p:cNvPr id="7" name="Text 5"/>
          <p:cNvSpPr txBox="1"/>
          <p:nvPr/>
        </p:nvSpPr>
        <p:spPr>
          <a:xfrm>
            <a:off x="489204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Annotation</a:t>
            </a:r>
            <a:endParaRPr lang="en-US" sz="1800" dirty="0"/>
          </a:p>
        </p:txBody>
      </p:sp>
      <p:sp>
        <p:nvSpPr>
          <p:cNvPr id="8" name="Text 6"/>
          <p:cNvSpPr txBox="1"/>
          <p:nvPr/>
        </p:nvSpPr>
        <p:spPr>
          <a:xfrm>
            <a:off x="489204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dirty="0">
                <a:solidFill>
                  <a:srgbClr val="2B1D19"/>
                </a:solidFill>
              </a:rPr>
              <a:t>a note on the chart, with an </a:t>
            </a:r>
            <a:r>
              <a:rPr lang="en-US" sz="1500" b="1" dirty="0">
                <a:solidFill>
                  <a:srgbClr val="2B1D19"/>
                </a:solidFill>
              </a:rPr>
              <a:t>arrow</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it points at </a:t>
            </a:r>
            <a:r>
              <a:rPr lang="en-US" sz="1500" b="1" dirty="0">
                <a:solidFill>
                  <a:srgbClr val="2B1D19"/>
                </a:solidFill>
              </a:rPr>
              <a:t>2018</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that's where the gap jumps to 4 points or more and stays there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Three changes to our line chart</a:t>
            </a:r>
            <a:endParaRPr lang="en-US" sz="2800" dirty="0"/>
          </a:p>
        </p:txBody>
      </p:sp>
      <p:sp>
        <p:nvSpPr>
          <p:cNvPr id="3" name="Text 1"/>
          <p:cNvSpPr txBox="1"/>
          <p:nvPr/>
        </p:nvSpPr>
        <p:spPr>
          <a:xfrm>
            <a:off x="457200" y="1097280"/>
            <a:ext cx="8229600" cy="685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2B1D19"/>
                </a:solidFill>
              </a:rPr>
              <a:t>​</a:t>
            </a:r>
            <a:r>
              <a:rPr lang="en-US" sz="1600" dirty="0">
                <a:solidFill>
                  <a:srgbClr val="2B1D19"/>
                </a:solidFill>
              </a:rPr>
              <a:t>We make the chart the same way as before, and store it in </a:t>
            </a:r>
            <a:r>
              <a:rPr lang="en-US" sz="1400" b="1" dirty="0">
                <a:solidFill>
                  <a:srgbClr val="B86E1E"/>
                </a:solidFill>
                <a:latin typeface="Courier New" pitchFamily="34" charset="0"/>
                <a:ea typeface="Courier New" pitchFamily="34" charset="-122"/>
                <a:cs typeface="Courier New" pitchFamily="34" charset="-120"/>
              </a:rPr>
              <a:t>aha_chart</a:t>
            </a:r>
            <a:r>
              <a:rPr lang="en-US" sz="1600" dirty="0">
                <a:solidFill>
                  <a:srgbClr val="2B1D19"/>
                </a:solidFill>
              </a:rPr>
              <a:t>, because we can only add an annotation to a chart we've stored.</a:t>
            </a:r>
            <a:endParaRPr lang="en-US" sz="1600" dirty="0"/>
          </a:p>
        </p:txBody>
      </p:sp>
      <p:sp>
        <p:nvSpPr>
          <p:cNvPr id="4" name="Text 2"/>
          <p:cNvSpPr txBox="1"/>
          <p:nvPr/>
        </p:nvSpPr>
        <p:spPr>
          <a:xfrm>
            <a:off x="457200" y="1874520"/>
            <a:ext cx="8229600" cy="26060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2000" dirty="0">
                <a:solidFill>
                  <a:srgbClr val="2B1D19"/>
                </a:solidFill>
              </a:rPr>
              <a:t>​</a:t>
            </a:r>
            <a:r>
              <a:rPr lang="en-US" sz="1800" b="1" dirty="0">
                <a:solidFill>
                  <a:srgbClr val="B86E1E"/>
                </a:solidFill>
                <a:latin typeface="Courier New" pitchFamily="34" charset="0"/>
                <a:ea typeface="Courier New" pitchFamily="34" charset="-122"/>
                <a:cs typeface="Courier New" pitchFamily="34" charset="-120"/>
              </a:rPr>
              <a:t>color_discrete_map</a:t>
            </a:r>
            <a:r>
              <a:rPr lang="en-US" sz="2000" dirty="0">
                <a:solidFill>
                  <a:srgbClr val="2B1D19"/>
                </a:solidFill>
              </a:rPr>
              <a:t> sets the colour of each line</a:t>
            </a:r>
            <a:endParaRPr lang="en-US" sz="2000" dirty="0"/>
          </a:p>
          <a:p>
            <a:pPr marL="342900" indent="-342900">
              <a:spcAft>
                <a:spcPts val="800"/>
              </a:spcAft>
              <a:buSzPct val="100000"/>
              <a:buChar char="•"/>
            </a:pPr>
            <a:r>
              <a:rPr lang="en-US" sz="2000" dirty="0">
                <a:solidFill>
                  <a:srgbClr val="2B1D19"/>
                </a:solidFill>
              </a:rPr>
              <a:t>​</a:t>
            </a:r>
            <a:r>
              <a:rPr lang="en-US" sz="1800" b="1" dirty="0">
                <a:solidFill>
                  <a:srgbClr val="B86E1E"/>
                </a:solidFill>
                <a:latin typeface="Courier New" pitchFamily="34" charset="0"/>
                <a:ea typeface="Courier New" pitchFamily="34" charset="-122"/>
                <a:cs typeface="Courier New" pitchFamily="34" charset="-120"/>
              </a:rPr>
              <a:t>labels</a:t>
            </a:r>
            <a:r>
              <a:rPr lang="en-US" sz="2000" dirty="0">
                <a:solidFill>
                  <a:srgbClr val="2B1D19"/>
                </a:solidFill>
              </a:rPr>
              <a:t> gives the y-axis a name our audience understands</a:t>
            </a:r>
            <a:endParaRPr lang="en-US" sz="2000" dirty="0"/>
          </a:p>
          <a:p>
            <a:pPr marL="342900" indent="-342900">
              <a:spcAft>
                <a:spcPts val="800"/>
              </a:spcAft>
              <a:buSzPct val="100000"/>
              <a:buChar char="•"/>
            </a:pPr>
            <a:r>
              <a:rPr lang="en-US" sz="2000" dirty="0">
                <a:solidFill>
                  <a:srgbClr val="2B1D19"/>
                </a:solidFill>
              </a:rPr>
              <a:t>​</a:t>
            </a:r>
            <a:r>
              <a:rPr lang="en-US" sz="1800" b="1" dirty="0">
                <a:solidFill>
                  <a:srgbClr val="B86E1E"/>
                </a:solidFill>
                <a:latin typeface="Courier New" pitchFamily="34" charset="0"/>
                <a:ea typeface="Courier New" pitchFamily="34" charset="-122"/>
                <a:cs typeface="Courier New" pitchFamily="34" charset="-120"/>
              </a:rPr>
              <a:t>add_annotation</a:t>
            </a:r>
            <a:r>
              <a:rPr lang="en-US" sz="2000" dirty="0">
                <a:solidFill>
                  <a:srgbClr val="2B1D19"/>
                </a:solidFill>
              </a:rPr>
              <a:t> adds the arrow</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Our Aha chart</a:t>
            </a:r>
            <a:endParaRPr lang="en-US" sz="2800" dirty="0"/>
          </a:p>
        </p:txBody>
      </p:sp>
      <p:sp>
        <p:nvSpPr>
          <p:cNvPr id="3" name="Code panel"/>
          <p:cNvSpPr/>
          <p:nvPr/>
        </p:nvSpPr>
        <p:spPr>
          <a:xfrm>
            <a:off x="457200" y="1051560"/>
            <a:ext cx="8229600" cy="3474720"/>
          </a:xfrm>
          <a:prstGeom prst="roundRect">
            <a:avLst>
              <a:gd name="adj" fmla="val 1579"/>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2903220"/>
          </a:xfrm>
          <a:prstGeom prst="rect">
            <a:avLst/>
          </a:prstGeom>
          <a:noFill/>
          <a:ln/>
        </p:spPr>
        <p:txBody>
          <a:bodyPr wrap="square" lIns="0" tIns="0" rIns="0" bIns="0" rtlCol="0" anchor="t"/>
          <a:lstStyle/>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1  </a:t>
            </a:r>
            <a:r>
              <a:rPr lang="en-US" sz="1000" dirty="0">
                <a:solidFill>
                  <a:srgbClr val="F7EFE6"/>
                </a:solidFill>
                <a:latin typeface="Courier New" pitchFamily="34" charset="0"/>
                <a:ea typeface="Courier New" pitchFamily="34" charset="-122"/>
                <a:cs typeface="Courier New" pitchFamily="34" charset="-120"/>
              </a:rPr>
              <a:t>aha_chart = px.line(</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2  </a:t>
            </a:r>
            <a:r>
              <a:rPr lang="en-US" sz="1000" dirty="0">
                <a:solidFill>
                  <a:srgbClr val="F7EFE6"/>
                </a:solidFill>
                <a:latin typeface="Courier New" pitchFamily="34" charset="0"/>
                <a:ea typeface="Courier New" pitchFamily="34" charset="-122"/>
                <a:cs typeface="Courier New" pitchFamily="34" charset="-120"/>
              </a:rPr>
              <a:t>    per_year_group,</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3  </a:t>
            </a:r>
            <a:r>
              <a:rPr lang="en-US" sz="1000" dirty="0">
                <a:solidFill>
                  <a:srgbClr val="F7EFE6"/>
                </a:solidFill>
                <a:latin typeface="Courier New" pitchFamily="34" charset="0"/>
                <a:ea typeface="Courier New" pitchFamily="34" charset="-122"/>
                <a:cs typeface="Courier New" pitchFamily="34" charset="-120"/>
              </a:rPr>
              <a:t>    x="Release year",</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4  </a:t>
            </a:r>
            <a:r>
              <a:rPr lang="en-US" sz="1000" dirty="0">
                <a:solidFill>
                  <a:srgbClr val="F7EFE6"/>
                </a:solidFill>
                <a:latin typeface="Courier New" pitchFamily="34" charset="0"/>
                <a:ea typeface="Courier New" pitchFamily="34" charset="-122"/>
                <a:cs typeface="Courier New" pitchFamily="34" charset="-120"/>
              </a:rPr>
              <a:t>    y="Median review score",</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5  </a:t>
            </a:r>
            <a:r>
              <a:rPr lang="en-US" sz="1000" dirty="0">
                <a:solidFill>
                  <a:srgbClr val="F7EFE6"/>
                </a:solidFill>
                <a:latin typeface="Courier New" pitchFamily="34" charset="0"/>
                <a:ea typeface="Courier New" pitchFamily="34" charset="-122"/>
                <a:cs typeface="Courier New" pitchFamily="34" charset="-120"/>
              </a:rPr>
              <a:t>    color="Group",</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6  </a:t>
            </a:r>
            <a:r>
              <a:rPr lang="en-US" sz="1000" dirty="0">
                <a:solidFill>
                  <a:srgbClr val="F7EFE6"/>
                </a:solidFill>
                <a:latin typeface="Courier New" pitchFamily="34" charset="0"/>
                <a:ea typeface="Courier New" pitchFamily="34" charset="-122"/>
                <a:cs typeface="Courier New" pitchFamily="34" charset="-120"/>
              </a:rPr>
              <a:t>    color_discrete_map={"Indie": "royalblue", "Not Indie": "lightgrey"},</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7  </a:t>
            </a:r>
            <a:r>
              <a:rPr lang="en-US" sz="1000" dirty="0">
                <a:solidFill>
                  <a:srgbClr val="F7EFE6"/>
                </a:solidFill>
                <a:latin typeface="Courier New" pitchFamily="34" charset="0"/>
                <a:ea typeface="Courier New" pitchFamily="34" charset="-122"/>
                <a:cs typeface="Courier New" pitchFamily="34" charset="-120"/>
              </a:rPr>
              <a:t>    markers=True,</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8  </a:t>
            </a:r>
            <a:r>
              <a:rPr lang="en-US" sz="1000" dirty="0">
                <a:solidFill>
                  <a:srgbClr val="F7EFE6"/>
                </a:solidFill>
                <a:latin typeface="Courier New" pitchFamily="34" charset="0"/>
                <a:ea typeface="Courier New" pitchFamily="34" charset="-122"/>
                <a:cs typeface="Courier New" pitchFamily="34" charset="-120"/>
              </a:rPr>
              <a:t>    labels={"Release year": "", "Median review score": "Positive reviews (%)"},</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9  </a:t>
            </a:r>
            <a:r>
              <a:rPr lang="en-US" sz="1000" dirty="0">
                <a:solidFill>
                  <a:srgbClr val="F7EFE6"/>
                </a:solidFill>
                <a:latin typeface="Courier New" pitchFamily="34" charset="0"/>
                <a:ea typeface="Courier New" pitchFamily="34" charset="-122"/>
                <a:cs typeface="Courier New" pitchFamily="34" charset="-120"/>
              </a:rPr>
              <a:t>    title="Since 2017, Indie games have reviewed better every year",</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10  </a:t>
            </a:r>
            <a:r>
              <a:rPr lang="en-US" sz="1000" dirty="0">
                <a:solidFill>
                  <a:srgbClr val="F7EFE6"/>
                </a:solidFill>
                <a:latin typeface="Courier New" pitchFamily="34" charset="0"/>
                <a:ea typeface="Courier New" pitchFamily="34" charset="-122"/>
                <a:cs typeface="Courier New" pitchFamily="34" charset="-120"/>
              </a:rPr>
              <a:t>)</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11  </a:t>
            </a:r>
            <a:r>
              <a:rPr lang="en-US" sz="1000" dirty="0">
                <a:solidFill>
                  <a:srgbClr val="F7EFE6"/>
                </a:solidFill>
                <a:latin typeface="Courier New" pitchFamily="34" charset="0"/>
                <a:ea typeface="Courier New" pitchFamily="34" charset="-122"/>
                <a:cs typeface="Courier New" pitchFamily="34" charset="-120"/>
              </a:rPr>
              <a:t>aha_chart.add_annotation(</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12  </a:t>
            </a:r>
            <a:r>
              <a:rPr lang="en-US" sz="1000" dirty="0">
                <a:solidFill>
                  <a:srgbClr val="F7EFE6"/>
                </a:solidFill>
                <a:latin typeface="Courier New" pitchFamily="34" charset="0"/>
                <a:ea typeface="Courier New" pitchFamily="34" charset="-122"/>
                <a:cs typeface="Courier New" pitchFamily="34" charset="-120"/>
              </a:rPr>
              <a:t>    x=2018,</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13  </a:t>
            </a:r>
            <a:r>
              <a:rPr lang="en-US" sz="1000" dirty="0">
                <a:solidFill>
                  <a:srgbClr val="F7EFE6"/>
                </a:solidFill>
                <a:latin typeface="Courier New" pitchFamily="34" charset="0"/>
                <a:ea typeface="Courier New" pitchFamily="34" charset="-122"/>
                <a:cs typeface="Courier New" pitchFamily="34" charset="-120"/>
              </a:rPr>
              <a:t>    y=87.05,</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14  </a:t>
            </a:r>
            <a:r>
              <a:rPr lang="en-US" sz="1000" dirty="0">
                <a:solidFill>
                  <a:srgbClr val="F7EFE6"/>
                </a:solidFill>
                <a:latin typeface="Courier New" pitchFamily="34" charset="0"/>
                <a:ea typeface="Courier New" pitchFamily="34" charset="-122"/>
                <a:cs typeface="Courier New" pitchFamily="34" charset="-120"/>
              </a:rPr>
              <a:t>    text="From 2018, Indie games stay about 4 to 8 points ahead",</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15  </a:t>
            </a:r>
            <a:r>
              <a:rPr lang="en-US" sz="1000" dirty="0">
                <a:solidFill>
                  <a:srgbClr val="F7EFE6"/>
                </a:solidFill>
                <a:latin typeface="Courier New" pitchFamily="34" charset="0"/>
                <a:ea typeface="Courier New" pitchFamily="34" charset="-122"/>
                <a:cs typeface="Courier New" pitchFamily="34" charset="-120"/>
              </a:rPr>
              <a:t>    ax=-120,</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16  </a:t>
            </a:r>
            <a:r>
              <a:rPr lang="en-US" sz="1000" dirty="0">
                <a:solidFill>
                  <a:srgbClr val="F7EFE6"/>
                </a:solidFill>
                <a:latin typeface="Courier New" pitchFamily="34" charset="0"/>
                <a:ea typeface="Courier New" pitchFamily="34" charset="-122"/>
                <a:cs typeface="Courier New" pitchFamily="34" charset="-120"/>
              </a:rPr>
              <a:t>    ay=-40,</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17  </a:t>
            </a:r>
            <a:r>
              <a:rPr lang="en-US" sz="1000" dirty="0">
                <a:solidFill>
                  <a:srgbClr val="F7EFE6"/>
                </a:solidFill>
                <a:latin typeface="Courier New" pitchFamily="34" charset="0"/>
                <a:ea typeface="Courier New" pitchFamily="34" charset="-122"/>
                <a:cs typeface="Courier New" pitchFamily="34" charset="-120"/>
              </a:rPr>
              <a:t>)</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18  </a:t>
            </a:r>
            <a:r>
              <a:rPr lang="en-US" sz="1000" dirty="0">
                <a:solidFill>
                  <a:srgbClr val="F7EFE6"/>
                </a:solidFill>
                <a:latin typeface="Courier New" pitchFamily="34" charset="0"/>
                <a:ea typeface="Courier New" pitchFamily="34" charset="-122"/>
                <a:cs typeface="Courier New" pitchFamily="34" charset="-120"/>
              </a:rPr>
              <a:t>aha_chart</a:t>
            </a:r>
            <a:endParaRPr lang="en-US" sz="1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The finding is impossible to miss</a:t>
            </a:r>
            <a:endParaRPr lang="en-US" sz="2800" dirty="0"/>
          </a:p>
        </p:txBody>
      </p:sp>
      <p:pic>
        <p:nvPicPr>
          <p:cNvPr id="3" name="Image 0" descr="Line chart titled Since 2017, Indie games have reviewed better every year, with a royal blue Indie line and a light grey Not Indie line from 2010 to 2024, and an arrow labelled From 2018, Indie games stay about 4 to 8 points ahead">    </p:cNvPr>
          <p:cNvPicPr>
            <a:picLocks noChangeAspect="1"/>
          </p:cNvPicPr>
          <p:nvPr/>
        </p:nvPicPr>
        <p:blipFill>
          <a:blip r:embed="rId1"/>
          <a:stretch>
            <a:fillRect/>
          </a:stretch>
        </p:blipFill>
        <p:spPr>
          <a:xfrm>
            <a:off x="1897380" y="1051560"/>
            <a:ext cx="5349240" cy="2971800"/>
          </a:xfrm>
          <a:prstGeom prst="rect">
            <a:avLst/>
          </a:prstGeom>
        </p:spPr>
      </p:pic>
      <p:sp>
        <p:nvSpPr>
          <p:cNvPr id="4" name="Text 1"/>
          <p:cNvSpPr txBox="1"/>
          <p:nvPr/>
        </p:nvSpPr>
        <p:spPr>
          <a:xfrm>
            <a:off x="457200" y="4069080"/>
            <a:ext cx="8229600" cy="411480"/>
          </a:xfrm>
          <a:prstGeom prst="rect">
            <a:avLst/>
          </a:prstGeom>
          <a:noFill/>
          <a:ln/>
        </p:spPr>
        <p:txBody>
          <a:bodyPr wrap="square" lIns="0" tIns="0" rIns="0" bIns="0" rtlCol="0" anchor="ctr"/>
          <a:lstStyle/>
          <a:p>
            <a:pPr algn="ctr" indent="0" marL="0">
              <a:spcAft>
                <a:spcPts val="800"/>
              </a:spcAft>
              <a:buNone/>
            </a:pPr>
            <a:r>
              <a:rPr lang="en-US" sz="1300" i="1" dirty="0">
                <a:solidFill>
                  <a:srgbClr val="6B6B6B"/>
                </a:solidFill>
              </a:rPr>
              <a:t>​</a:t>
            </a:r>
            <a:r>
              <a:rPr lang="en-US" sz="1300" i="1" dirty="0">
                <a:solidFill>
                  <a:srgbClr val="6B6B6B"/>
                </a:solidFill>
              </a:rPr>
              <a:t>Same data as our first line chart, but our eyes go to the blue line, the title says what it shows, and the arrow shows where it starts.</a:t>
            </a:r>
            <a:endParaRPr lang="en-US" sz="13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Modify the Aha chart</a:t>
            </a:r>
            <a:endParaRPr lang="en-US" sz="2800" dirty="0"/>
          </a:p>
        </p:txBody>
      </p:sp>
      <p:sp>
        <p:nvSpPr>
          <p:cNvPr id="3" name="primm box"/>
          <p:cNvSpPr/>
          <p:nvPr/>
        </p:nvSpPr>
        <p:spPr>
          <a:xfrm>
            <a:off x="457200" y="1051560"/>
            <a:ext cx="8229600" cy="2341880"/>
          </a:xfrm>
          <a:prstGeom prst="roundRect">
            <a:avLst>
              <a:gd name="adj" fmla="val 3124"/>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6560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a:t>
            </a:r>
            <a:r>
              <a:rPr lang="en-US" sz="1800" b="1" dirty="0">
                <a:solidFill>
                  <a:srgbClr val="B86E1E"/>
                </a:solidFill>
                <a:latin typeface="Courier New" pitchFamily="34" charset="0"/>
                <a:ea typeface="Courier New" pitchFamily="34" charset="-122"/>
                <a:cs typeface="Courier New" pitchFamily="34" charset="-120"/>
              </a:rPr>
              <a:t>"royalblue"</a:t>
            </a:r>
            <a:r>
              <a:rPr lang="en-US" sz="2000" dirty="0">
                <a:solidFill>
                  <a:srgbClr val="2B1D19"/>
                </a:solidFill>
              </a:rPr>
              <a:t> to another colour name, such as </a:t>
            </a:r>
            <a:r>
              <a:rPr lang="en-US" sz="1800" b="1" dirty="0">
                <a:solidFill>
                  <a:srgbClr val="B86E1E"/>
                </a:solidFill>
                <a:latin typeface="Courier New" pitchFamily="34" charset="0"/>
                <a:ea typeface="Courier New" pitchFamily="34" charset="-122"/>
                <a:cs typeface="Courier New" pitchFamily="34" charset="-120"/>
              </a:rPr>
              <a:t>"darkorange"</a:t>
            </a:r>
            <a:r>
              <a:rPr lang="en-US" sz="2000" dirty="0">
                <a:solidFill>
                  <a:srgbClr val="2B1D19"/>
                </a:solidFill>
              </a:rPr>
              <a:t>.</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a:t>
            </a:r>
            <a:r>
              <a:rPr lang="en-US" sz="1800" b="1" dirty="0">
                <a:solidFill>
                  <a:srgbClr val="B86E1E"/>
                </a:solidFill>
                <a:latin typeface="Courier New" pitchFamily="34" charset="0"/>
                <a:ea typeface="Courier New" pitchFamily="34" charset="-122"/>
                <a:cs typeface="Courier New" pitchFamily="34" charset="-120"/>
              </a:rPr>
              <a:t>ax</a:t>
            </a:r>
            <a:r>
              <a:rPr lang="en-US" sz="2000" dirty="0">
                <a:solidFill>
                  <a:srgbClr val="2B1D19"/>
                </a:solidFill>
              </a:rPr>
              <a:t> and </a:t>
            </a:r>
            <a:r>
              <a:rPr lang="en-US" sz="1800" b="1" dirty="0">
                <a:solidFill>
                  <a:srgbClr val="B86E1E"/>
                </a:solidFill>
                <a:latin typeface="Courier New" pitchFamily="34" charset="0"/>
                <a:ea typeface="Courier New" pitchFamily="34" charset="-122"/>
                <a:cs typeface="Courier New" pitchFamily="34" charset="-120"/>
              </a:rPr>
              <a:t>ay</a:t>
            </a:r>
            <a:r>
              <a:rPr lang="en-US" sz="2000" dirty="0">
                <a:solidFill>
                  <a:srgbClr val="2B1D19"/>
                </a:solidFill>
              </a:rPr>
              <a:t> to move the annotation's text to a clearer spot.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Where did 87.05 come from?</a:t>
            </a:r>
            <a:endParaRPr lang="en-US" sz="2800" dirty="0"/>
          </a:p>
        </p:txBody>
      </p:sp>
      <p:sp>
        <p:nvSpPr>
          <p:cNvPr id="3" name="tip box"/>
          <p:cNvSpPr/>
          <p:nvPr/>
        </p:nvSpPr>
        <p:spPr>
          <a:xfrm>
            <a:off x="457200" y="1051560"/>
            <a:ext cx="8229600" cy="2519680"/>
          </a:xfrm>
          <a:prstGeom prst="roundRect">
            <a:avLst>
              <a:gd name="adj" fmla="val 29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8338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It's the median review score of the Indie games from 2018, in the </a:t>
            </a:r>
            <a:r>
              <a:rPr lang="en-US" sz="1800" b="1" dirty="0">
                <a:solidFill>
                  <a:srgbClr val="B86E1E"/>
                </a:solidFill>
                <a:latin typeface="Courier New" pitchFamily="34" charset="0"/>
                <a:ea typeface="Courier New" pitchFamily="34" charset="-122"/>
                <a:cs typeface="Courier New" pitchFamily="34" charset="-120"/>
              </a:rPr>
              <a:t>per_year_group</a:t>
            </a:r>
            <a:r>
              <a:rPr lang="en-US" sz="2000" dirty="0">
                <a:solidFill>
                  <a:srgbClr val="2B1D19"/>
                </a:solidFill>
              </a:rPr>
              <a:t> table. We can also hover over the 2018 point to see it. An annotation's </a:t>
            </a:r>
            <a:r>
              <a:rPr lang="en-US" sz="1800" b="1" dirty="0">
                <a:solidFill>
                  <a:srgbClr val="B86E1E"/>
                </a:solidFill>
                <a:latin typeface="Courier New" pitchFamily="34" charset="0"/>
                <a:ea typeface="Courier New" pitchFamily="34" charset="-122"/>
                <a:cs typeface="Courier New" pitchFamily="34" charset="-120"/>
              </a:rPr>
              <a:t>x</a:t>
            </a:r>
            <a:r>
              <a:rPr lang="en-US" sz="2000" dirty="0">
                <a:solidFill>
                  <a:srgbClr val="2B1D19"/>
                </a:solidFill>
              </a:rPr>
              <a:t> and </a:t>
            </a:r>
            <a:r>
              <a:rPr lang="en-US" sz="1800" b="1" dirty="0">
                <a:solidFill>
                  <a:srgbClr val="B86E1E"/>
                </a:solidFill>
                <a:latin typeface="Courier New" pitchFamily="34" charset="0"/>
                <a:ea typeface="Courier New" pitchFamily="34" charset="-122"/>
                <a:cs typeface="Courier New" pitchFamily="34" charset="-120"/>
              </a:rPr>
              <a:t>y</a:t>
            </a:r>
            <a:r>
              <a:rPr lang="en-US" sz="2000" dirty="0">
                <a:solidFill>
                  <a:srgbClr val="2B1D19"/>
                </a:solidFill>
              </a:rPr>
              <a:t> use the same values as the chart's axes, so the arrow always points at the right spot.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One colour, one message</a:t>
            </a:r>
            <a:endParaRPr lang="en-US" sz="2800" dirty="0"/>
          </a:p>
        </p:txBody>
      </p:sp>
      <p:sp>
        <p:nvSpPr>
          <p:cNvPr id="3" name="tip box"/>
          <p:cNvSpPr/>
          <p:nvPr/>
        </p:nvSpPr>
        <p:spPr>
          <a:xfrm>
            <a:off x="457200" y="1051560"/>
            <a:ext cx="8229600" cy="2214880"/>
          </a:xfrm>
          <a:prstGeom prst="roundRect">
            <a:avLst>
              <a:gd name="adj" fmla="val 33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Colour is the first thing our eyes notice, so we use it for </a:t>
            </a:r>
            <a:r>
              <a:rPr lang="en-US" sz="2000" b="1" dirty="0">
                <a:solidFill>
                  <a:srgbClr val="2B1D19"/>
                </a:solidFill>
              </a:rPr>
              <a:t>one thing only</a:t>
            </a:r>
            <a:r>
              <a:rPr lang="en-US" sz="2000" dirty="0">
                <a:solidFill>
                  <a:srgbClr val="2B1D19"/>
                </a:solidFill>
              </a:rPr>
              <a:t>. If every line is bright, nothing stands out. Grey keeps the other lines for comparison, without pulling attention away.</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Letting our audience explore</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"Does it still hold if I only look at recent years?" "What about prices?" Instead of a chart for every question, we give our audience </a:t>
            </a:r>
            <a:r>
              <a:rPr lang="en-US" sz="1800" b="1" dirty="0">
                <a:solidFill>
                  <a:srgbClr val="F7EFE6"/>
                </a:solidFill>
              </a:rPr>
              <a:t>controls</a:t>
            </a:r>
            <a:r>
              <a:rPr lang="en-US" sz="1800" dirty="0">
                <a:solidFill>
                  <a:srgbClr val="F7EFE6"/>
                </a:solidFill>
              </a:rPr>
              <a: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Import marimo</a:t>
            </a:r>
            <a:endParaRPr lang="en-US" sz="2800" dirty="0"/>
          </a:p>
        </p:txBody>
      </p:sp>
      <p:sp>
        <p:nvSpPr>
          <p:cNvPr id="3" name="Code panel"/>
          <p:cNvSpPr/>
          <p:nvPr/>
        </p:nvSpPr>
        <p:spPr>
          <a:xfrm>
            <a:off x="457200" y="1051560"/>
            <a:ext cx="3840480" cy="1263015"/>
          </a:xfrm>
          <a:prstGeom prst="roundRect">
            <a:avLst>
              <a:gd name="adj" fmla="val 4344"/>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change first cell</a:t>
            </a:r>
            <a:endParaRPr lang="en-US" sz="1200" dirty="0"/>
          </a:p>
        </p:txBody>
      </p:sp>
      <p:sp>
        <p:nvSpPr>
          <p:cNvPr id="5" name="Highlight"/>
          <p:cNvSpPr/>
          <p:nvPr/>
        </p:nvSpPr>
        <p:spPr>
          <a:xfrm>
            <a:off x="530352" y="1508760"/>
            <a:ext cx="3694176" cy="238125"/>
          </a:xfrm>
          <a:prstGeom prst="rect">
            <a:avLst/>
          </a:prstGeom>
          <a:solidFill>
            <a:srgbClr val="5A3A1E"/>
          </a:solidFill>
          <a:ln w="12700">
            <a:solidFill>
              <a:srgbClr val="5A3A1E"/>
            </a:solidFill>
            <a:prstDash val="solid"/>
          </a:ln>
        </p:spPr>
      </p:sp>
      <p:sp>
        <p:nvSpPr>
          <p:cNvPr id="6" name="Code"/>
          <p:cNvSpPr txBox="1"/>
          <p:nvPr/>
        </p:nvSpPr>
        <p:spPr>
          <a:xfrm>
            <a:off x="594360" y="1508760"/>
            <a:ext cx="3566160" cy="760095"/>
          </a:xfrm>
          <a:prstGeom prst="rect">
            <a:avLst/>
          </a:prstGeom>
          <a:noFill/>
          <a:ln/>
        </p:spPr>
        <p:txBody>
          <a:bodyPr wrap="square" lIns="0" tIns="0" rIns="0" bIns="0" rtlCol="0" anchor="t"/>
          <a:lstStyle/>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1  </a:t>
            </a:r>
            <a:r>
              <a:rPr lang="en-US" sz="1500" dirty="0">
                <a:solidFill>
                  <a:srgbClr val="F7EFE6"/>
                </a:solidFill>
                <a:latin typeface="Courier New" pitchFamily="34" charset="0"/>
                <a:ea typeface="Courier New" pitchFamily="34" charset="-122"/>
                <a:cs typeface="Courier New" pitchFamily="34" charset="-120"/>
              </a:rPr>
              <a:t>import marimo as mo</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2  </a:t>
            </a:r>
            <a:r>
              <a:rPr lang="en-US" sz="1500" dirty="0">
                <a:solidFill>
                  <a:srgbClr val="F7EFE6"/>
                </a:solidFill>
                <a:latin typeface="Courier New" pitchFamily="34" charset="0"/>
                <a:ea typeface="Courier New" pitchFamily="34" charset="-122"/>
                <a:cs typeface="Courier New" pitchFamily="34" charset="-120"/>
              </a:rPr>
              <a:t>import plotly.express as px</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3  </a:t>
            </a:r>
            <a:r>
              <a:rPr lang="en-US" sz="1500" dirty="0">
                <a:solidFill>
                  <a:srgbClr val="F7EFE6"/>
                </a:solidFill>
                <a:latin typeface="Courier New" pitchFamily="34" charset="0"/>
                <a:ea typeface="Courier New" pitchFamily="34" charset="-122"/>
                <a:cs typeface="Courier New" pitchFamily="34" charset="-120"/>
              </a:rPr>
              <a:t>import polars as pl</a:t>
            </a:r>
            <a:endParaRPr lang="en-US" sz="1500" dirty="0"/>
          </a:p>
        </p:txBody>
      </p:sp>
      <p:sp>
        <p:nvSpPr>
          <p:cNvPr id="7" name="Text 5"/>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8" name="Text 6"/>
          <p:cNvSpPr txBox="1"/>
          <p:nvPr/>
        </p:nvSpPr>
        <p:spPr>
          <a:xfrm>
            <a:off x="4572000" y="1399032"/>
            <a:ext cx="4114800" cy="8686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UI elements are part of the </a:t>
            </a:r>
            <a:r>
              <a:rPr lang="en-US" sz="1300" b="1" dirty="0">
                <a:solidFill>
                  <a:srgbClr val="B86E1E"/>
                </a:solidFill>
                <a:latin typeface="Courier New" pitchFamily="34" charset="0"/>
                <a:ea typeface="Courier New" pitchFamily="34" charset="-122"/>
                <a:cs typeface="Courier New" pitchFamily="34" charset="-120"/>
              </a:rPr>
              <a:t>marimo</a:t>
            </a:r>
            <a:r>
              <a:rPr lang="en-US" sz="1500" dirty="0">
                <a:solidFill>
                  <a:srgbClr val="2B1D19"/>
                </a:solidFill>
              </a:rPr>
              <a:t> library, so we need to import it. Change the </a:t>
            </a:r>
            <a:r>
              <a:rPr lang="en-US" sz="1500" b="1" dirty="0">
                <a:solidFill>
                  <a:srgbClr val="2B1D19"/>
                </a:solidFill>
              </a:rPr>
              <a:t>first</a:t>
            </a:r>
            <a:r>
              <a:rPr lang="en-US" sz="1500" dirty="0">
                <a:solidFill>
                  <a:srgbClr val="2B1D19"/>
                </a:solidFill>
              </a:rPr>
              <a:t> cell, the one with our imports.</a:t>
            </a:r>
            <a:endParaRPr lang="en-US" sz="1500" dirty="0"/>
          </a:p>
        </p:txBody>
      </p:sp>
      <p:sp>
        <p:nvSpPr>
          <p:cNvPr id="9" name="Text 7"/>
          <p:cNvSpPr txBox="1"/>
          <p:nvPr/>
        </p:nvSpPr>
        <p:spPr>
          <a:xfrm>
            <a:off x="4572000" y="2450592"/>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10" name="Text 8"/>
          <p:cNvSpPr txBox="1"/>
          <p:nvPr/>
        </p:nvSpPr>
        <p:spPr>
          <a:xfrm>
            <a:off x="4572000" y="2798064"/>
            <a:ext cx="4114800" cy="17282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 1</a:t>
            </a:r>
            <a:r>
              <a:rPr lang="en-US" sz="1400" dirty="0">
                <a:solidFill>
                  <a:srgbClr val="2B1D19"/>
                </a:solidFill>
              </a:rPr>
              <a:t> → imports </a:t>
            </a:r>
            <a:r>
              <a:rPr lang="en-US" sz="1200" b="1" dirty="0">
                <a:solidFill>
                  <a:srgbClr val="B86E1E"/>
                </a:solidFill>
                <a:latin typeface="Courier New" pitchFamily="34" charset="0"/>
                <a:ea typeface="Courier New" pitchFamily="34" charset="-122"/>
                <a:cs typeface="Courier New" pitchFamily="34" charset="-120"/>
              </a:rPr>
              <a:t>marimo</a:t>
            </a:r>
            <a:r>
              <a:rPr lang="en-US" sz="1400" dirty="0">
                <a:solidFill>
                  <a:srgbClr val="2B1D19"/>
                </a:solidFill>
              </a:rPr>
              <a:t> with the short name </a:t>
            </a:r>
            <a:r>
              <a:rPr lang="en-US" sz="1200" b="1" dirty="0">
                <a:solidFill>
                  <a:srgbClr val="B86E1E"/>
                </a:solidFill>
                <a:latin typeface="Courier New" pitchFamily="34" charset="0"/>
                <a:ea typeface="Courier New" pitchFamily="34" charset="-122"/>
                <a:cs typeface="Courier New" pitchFamily="34" charset="-120"/>
              </a:rPr>
              <a:t>mo</a:t>
            </a:r>
            <a:r>
              <a:rPr lang="en-US" sz="1400" dirty="0">
                <a:solidFill>
                  <a:srgbClr val="2B1D19"/>
                </a:solidFill>
              </a:rPr>
              <a:t>, so we can use its UI elements</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Two controls for our audience</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800" dirty="0">
                <a:solidFill>
                  <a:srgbClr val="2B1D19"/>
                </a:solidFill>
              </a:rPr>
              <a:t>​</a:t>
            </a:r>
            <a:r>
              <a:rPr lang="en-US" sz="1800" dirty="0">
                <a:solidFill>
                  <a:srgbClr val="2B1D19"/>
                </a:solidFill>
              </a:rPr>
              <a:t>a </a:t>
            </a:r>
            <a:r>
              <a:rPr lang="en-US" sz="1800" b="1" dirty="0">
                <a:solidFill>
                  <a:srgbClr val="2B1D19"/>
                </a:solidFill>
              </a:rPr>
              <a:t>range slider</a:t>
            </a:r>
            <a:r>
              <a:rPr lang="en-US" sz="1800" dirty="0">
                <a:solidFill>
                  <a:srgbClr val="2B1D19"/>
                </a:solidFill>
              </a:rPr>
              <a:t> chooses a start year and an end year, so we can check the gap in recent years</a:t>
            </a:r>
            <a:endParaRPr lang="en-US" sz="1800" dirty="0"/>
          </a:p>
          <a:p>
            <a:pPr marL="342900" indent="-342900">
              <a:spcAft>
                <a:spcPts val="800"/>
              </a:spcAft>
              <a:buSzPct val="100000"/>
              <a:buChar char="•"/>
            </a:pPr>
            <a:r>
              <a:rPr lang="en-US" sz="1800" dirty="0">
                <a:solidFill>
                  <a:srgbClr val="2B1D19"/>
                </a:solidFill>
              </a:rPr>
              <a:t>​</a:t>
            </a:r>
            <a:r>
              <a:rPr lang="en-US" sz="1800" dirty="0">
                <a:solidFill>
                  <a:srgbClr val="2B1D19"/>
                </a:solidFill>
              </a:rPr>
              <a:t>a </a:t>
            </a:r>
            <a:r>
              <a:rPr lang="en-US" sz="1800" b="1" dirty="0">
                <a:solidFill>
                  <a:srgbClr val="2B1D19"/>
                </a:solidFill>
              </a:rPr>
              <a:t>dropdown</a:t>
            </a:r>
            <a:r>
              <a:rPr lang="en-US" sz="1800" dirty="0">
                <a:solidFill>
                  <a:srgbClr val="2B1D19"/>
                </a:solidFill>
              </a:rPr>
              <a:t> chooses one option from a list: review scores or prices</a:t>
            </a:r>
            <a:endParaRPr lang="en-US" sz="1800" dirty="0"/>
          </a:p>
          <a:p>
            <a:pPr marL="342900" indent="-342900">
              <a:spcAft>
                <a:spcPts val="800"/>
              </a:spcAft>
              <a:buSzPct val="100000"/>
              <a:buChar char="•"/>
            </a:pPr>
            <a:r>
              <a:rPr lang="en-US" sz="1800" dirty="0">
                <a:solidFill>
                  <a:srgbClr val="2B1D19"/>
                </a:solidFill>
              </a:rPr>
              <a:t>​</a:t>
            </a:r>
            <a:r>
              <a:rPr lang="en-US" sz="1800" dirty="0">
                <a:solidFill>
                  <a:srgbClr val="2B1D19"/>
                </a:solidFill>
              </a:rPr>
              <a:t>each dropdown option is a column name in </a:t>
            </a:r>
            <a:r>
              <a:rPr lang="en-US" sz="1600" b="1" dirty="0">
                <a:solidFill>
                  <a:srgbClr val="B86E1E"/>
                </a:solidFill>
                <a:latin typeface="Courier New" pitchFamily="34" charset="0"/>
                <a:ea typeface="Courier New" pitchFamily="34" charset="-122"/>
                <a:cs typeface="Courier New" pitchFamily="34" charset="-120"/>
              </a:rPr>
              <a:t>scored</a:t>
            </a:r>
            <a:r>
              <a:rPr lang="en-US" sz="1800" dirty="0">
                <a:solidFill>
                  <a:srgbClr val="2B1D19"/>
                </a:solidFill>
              </a:rPr>
              <a:t>, so we can use it straight in Polars</a:t>
            </a:r>
            <a:endParaRPr lang="en-US" sz="1800" dirty="0"/>
          </a:p>
          <a:p>
            <a:pPr marL="342900" indent="-342900">
              <a:spcAft>
                <a:spcPts val="800"/>
              </a:spcAft>
              <a:buSzPct val="100000"/>
              <a:buChar char="•"/>
            </a:pPr>
            <a:r>
              <a:rPr lang="en-US" sz="1800" dirty="0">
                <a:solidFill>
                  <a:srgbClr val="2B1D19"/>
                </a:solidFill>
              </a:rPr>
              <a:t>​</a:t>
            </a:r>
            <a:r>
              <a:rPr lang="en-US" sz="1800" dirty="0">
                <a:solidFill>
                  <a:srgbClr val="2B1D19"/>
                </a:solidFill>
              </a:rPr>
              <a:t>every UI element has a </a:t>
            </a:r>
            <a:r>
              <a:rPr lang="en-US" sz="1600" b="1" dirty="0">
                <a:solidFill>
                  <a:srgbClr val="B86E1E"/>
                </a:solidFill>
                <a:latin typeface="Courier New" pitchFamily="34" charset="0"/>
                <a:ea typeface="Courier New" pitchFamily="34" charset="-122"/>
                <a:cs typeface="Courier New" pitchFamily="34" charset="-120"/>
              </a:rPr>
              <a:t>value</a:t>
            </a:r>
            <a:r>
              <a:rPr lang="en-US" sz="1800" dirty="0">
                <a:solidFill>
                  <a:srgbClr val="2B1D19"/>
                </a:solidFill>
              </a:rPr>
              <a:t>: what the audience has chosen right now</a:t>
            </a:r>
            <a:endParaRPr lang="en-US" sz="1800" dirty="0"/>
          </a:p>
          <a:p>
            <a:pPr marL="342900" indent="-342900">
              <a:spcAft>
                <a:spcPts val="800"/>
              </a:spcAft>
              <a:buSzPct val="100000"/>
              <a:buChar char="•"/>
            </a:pPr>
            <a:r>
              <a:rPr lang="en-US" sz="1800" dirty="0">
                <a:solidFill>
                  <a:srgbClr val="2B1D19"/>
                </a:solidFill>
              </a:rPr>
              <a:t>​</a:t>
            </a:r>
            <a:r>
              <a:rPr lang="en-US" sz="1600" b="1" dirty="0">
                <a:solidFill>
                  <a:srgbClr val="B86E1E"/>
                </a:solidFill>
                <a:latin typeface="Courier New" pitchFamily="34" charset="0"/>
                <a:ea typeface="Courier New" pitchFamily="34" charset="-122"/>
                <a:cs typeface="Courier New" pitchFamily="34" charset="-120"/>
              </a:rPr>
              <a:t>years.value</a:t>
            </a:r>
            <a:r>
              <a:rPr lang="en-US" sz="1800" dirty="0">
                <a:solidFill>
                  <a:srgbClr val="2B1D19"/>
                </a:solidFill>
              </a:rPr>
              <a:t> is like </a:t>
            </a:r>
            <a:r>
              <a:rPr lang="en-US" sz="1600" b="1" dirty="0">
                <a:solidFill>
                  <a:srgbClr val="B86E1E"/>
                </a:solidFill>
                <a:latin typeface="Courier New" pitchFamily="34" charset="0"/>
                <a:ea typeface="Courier New" pitchFamily="34" charset="-122"/>
                <a:cs typeface="Courier New" pitchFamily="34" charset="-120"/>
              </a:rPr>
              <a:t>[2010, 2024]</a:t>
            </a:r>
            <a:r>
              <a:rPr lang="en-US" sz="1800" dirty="0">
                <a:solidFill>
                  <a:srgbClr val="2B1D19"/>
                </a:solidFill>
              </a:rPr>
              <a:t>; </a:t>
            </a:r>
            <a:r>
              <a:rPr lang="en-US" sz="1600" b="1" dirty="0">
                <a:solidFill>
                  <a:srgbClr val="B86E1E"/>
                </a:solidFill>
                <a:latin typeface="Courier New" pitchFamily="34" charset="0"/>
                <a:ea typeface="Courier New" pitchFamily="34" charset="-122"/>
                <a:cs typeface="Courier New" pitchFamily="34" charset="-120"/>
              </a:rPr>
              <a:t>measure.value</a:t>
            </a:r>
            <a:r>
              <a:rPr lang="en-US" sz="1800" dirty="0">
                <a:solidFill>
                  <a:srgbClr val="2B1D19"/>
                </a:solidFill>
              </a:rPr>
              <a:t> is like </a:t>
            </a:r>
            <a:r>
              <a:rPr lang="en-US" sz="1600" b="1" dirty="0">
                <a:solidFill>
                  <a:srgbClr val="B86E1E"/>
                </a:solidFill>
                <a:latin typeface="Courier New" pitchFamily="34" charset="0"/>
                <a:ea typeface="Courier New" pitchFamily="34" charset="-122"/>
                <a:cs typeface="Courier New" pitchFamily="34" charset="-120"/>
              </a:rPr>
              <a:t>"Review score"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Make the control in one cell, use it in another</a:t>
            </a:r>
            <a:endParaRPr lang="en-US" sz="2800" dirty="0"/>
          </a:p>
        </p:txBody>
      </p:sp>
      <p:sp>
        <p:nvSpPr>
          <p:cNvPr id="3" name="warning box"/>
          <p:cNvSpPr/>
          <p:nvPr/>
        </p:nvSpPr>
        <p:spPr>
          <a:xfrm>
            <a:off x="457200" y="1051560"/>
            <a:ext cx="8229600" cy="2519680"/>
          </a:xfrm>
          <a:prstGeom prst="roundRect">
            <a:avLst>
              <a:gd name="adj" fmla="val 29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marimo rule</a:t>
            </a:r>
            <a:endParaRPr lang="en-US" sz="1600" dirty="0"/>
          </a:p>
        </p:txBody>
      </p:sp>
      <p:sp>
        <p:nvSpPr>
          <p:cNvPr id="5" name="Text 3"/>
          <p:cNvSpPr txBox="1"/>
          <p:nvPr/>
        </p:nvSpPr>
        <p:spPr>
          <a:xfrm>
            <a:off x="685800" y="1600200"/>
            <a:ext cx="7772400" cy="18338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A cell </a:t>
            </a:r>
            <a:r>
              <a:rPr lang="en-US" sz="2000" b="1" dirty="0">
                <a:solidFill>
                  <a:srgbClr val="2B1D19"/>
                </a:solidFill>
              </a:rPr>
              <a:t>can't use the value</a:t>
            </a:r>
            <a:r>
              <a:rPr lang="en-US" sz="2000" dirty="0">
                <a:solidFill>
                  <a:srgbClr val="2B1D19"/>
                </a:solidFill>
              </a:rPr>
              <a:t> of a UI element that it creates. marimo needs to know which cells to re-run when the audience moves a control. So we create both controls in one cell, without showing them, then show them in the cell that uses them.</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Create the controls</a:t>
            </a:r>
            <a:endParaRPr lang="en-US" sz="2800" dirty="0"/>
          </a:p>
        </p:txBody>
      </p:sp>
      <p:sp>
        <p:nvSpPr>
          <p:cNvPr id="3" name="Code panel"/>
          <p:cNvSpPr/>
          <p:nvPr/>
        </p:nvSpPr>
        <p:spPr>
          <a:xfrm>
            <a:off x="457200" y="1051560"/>
            <a:ext cx="4846320" cy="3406140"/>
          </a:xfrm>
          <a:prstGeom prst="roundRect">
            <a:avLst>
              <a:gd name="adj" fmla="val 1611"/>
            </a:avLst>
          </a:prstGeom>
          <a:solidFill>
            <a:srgbClr val="2B1D19"/>
          </a:solidFill>
          <a:ln w="12700">
            <a:solidFill>
              <a:srgbClr val="2B1D19"/>
            </a:solidFill>
            <a:prstDash val="solid"/>
          </a:ln>
        </p:spPr>
      </p:sp>
      <p:sp>
        <p:nvSpPr>
          <p:cNvPr id="4" name="Text 2"/>
          <p:cNvSpPr txBox="1"/>
          <p:nvPr/>
        </p:nvSpPr>
        <p:spPr>
          <a:xfrm>
            <a:off x="640080" y="1161288"/>
            <a:ext cx="448056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4572000" cy="271272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years = mo.ui.range_slider(</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start=2010,</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    stop=2024,</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    value=[2010, 2024],</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5  </a:t>
            </a:r>
            <a:r>
              <a:rPr lang="en-US" sz="1400" dirty="0">
                <a:solidFill>
                  <a:srgbClr val="F7EFE6"/>
                </a:solidFill>
                <a:latin typeface="Courier New" pitchFamily="34" charset="0"/>
                <a:ea typeface="Courier New" pitchFamily="34" charset="-122"/>
                <a:cs typeface="Courier New" pitchFamily="34" charset="-120"/>
              </a:rPr>
              <a:t>    label="Years",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6  </a:t>
            </a:r>
            <a:r>
              <a:rPr lang="en-US" sz="1400" dirty="0">
                <a:solidFill>
                  <a:srgbClr val="F7EFE6"/>
                </a:solidFill>
                <a:latin typeface="Courier New" pitchFamily="34" charset="0"/>
                <a:ea typeface="Courier New" pitchFamily="34" charset="-122"/>
                <a:cs typeface="Courier New" pitchFamily="34" charset="-120"/>
              </a:rPr>
              <a:t>    show_value=True,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7  </a:t>
            </a:r>
            <a:r>
              <a:rPr lang="en-US" sz="1400" dirty="0">
                <a:solidFill>
                  <a:srgbClr val="F7EFE6"/>
                </a:solidFill>
                <a:latin typeface="Courier New" pitchFamily="34" charset="0"/>
                <a:ea typeface="Courier New" pitchFamily="34" charset="-122"/>
                <a:cs typeface="Courier New" pitchFamily="34" charset="-120"/>
              </a:rPr>
              <a:t>)</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8  </a:t>
            </a:r>
            <a:r>
              <a:rPr lang="en-US" sz="1400" dirty="0">
                <a:solidFill>
                  <a:srgbClr val="F7EFE6"/>
                </a:solidFill>
                <a:latin typeface="Courier New" pitchFamily="34" charset="0"/>
                <a:ea typeface="Courier New" pitchFamily="34" charset="-122"/>
                <a:cs typeface="Courier New" pitchFamily="34" charset="-120"/>
              </a:rPr>
              <a:t>measure = mo.ui.dropdown(</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9  </a:t>
            </a:r>
            <a:r>
              <a:rPr lang="en-US" sz="1400" dirty="0">
                <a:solidFill>
                  <a:srgbClr val="F7EFE6"/>
                </a:solidFill>
                <a:latin typeface="Courier New" pitchFamily="34" charset="0"/>
                <a:ea typeface="Courier New" pitchFamily="34" charset="-122"/>
                <a:cs typeface="Courier New" pitchFamily="34" charset="-120"/>
              </a:rPr>
              <a:t>    options=["Review score", "Price"],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10  </a:t>
            </a:r>
            <a:r>
              <a:rPr lang="en-US" sz="1400" dirty="0">
                <a:solidFill>
                  <a:srgbClr val="F7EFE6"/>
                </a:solidFill>
                <a:latin typeface="Courier New" pitchFamily="34" charset="0"/>
                <a:ea typeface="Courier New" pitchFamily="34" charset="-122"/>
                <a:cs typeface="Courier New" pitchFamily="34" charset="-120"/>
              </a:rPr>
              <a:t>    value="Review score",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11  </a:t>
            </a:r>
            <a:r>
              <a:rPr lang="en-US" sz="1400" dirty="0">
                <a:solidFill>
                  <a:srgbClr val="F7EFE6"/>
                </a:solidFill>
                <a:latin typeface="Courier New" pitchFamily="34" charset="0"/>
                <a:ea typeface="Courier New" pitchFamily="34" charset="-122"/>
                <a:cs typeface="Courier New" pitchFamily="34" charset="-120"/>
              </a:rPr>
              <a:t>    label="Measure",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12  </a:t>
            </a:r>
            <a:r>
              <a:rPr lang="en-US" sz="1400" dirty="0">
                <a:solidFill>
                  <a:srgbClr val="F7EFE6"/>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5577840" y="1051560"/>
            <a:ext cx="310896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7" name="Text 5"/>
          <p:cNvSpPr txBox="1"/>
          <p:nvPr/>
        </p:nvSpPr>
        <p:spPr>
          <a:xfrm>
            <a:off x="5577840" y="1399032"/>
            <a:ext cx="3108960" cy="8686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We create the slider and the dropdown together, without showing them.</a:t>
            </a:r>
            <a:endParaRPr lang="en-US" sz="1500" dirty="0"/>
          </a:p>
        </p:txBody>
      </p:sp>
      <p:sp>
        <p:nvSpPr>
          <p:cNvPr id="8" name="Text 6"/>
          <p:cNvSpPr txBox="1"/>
          <p:nvPr/>
        </p:nvSpPr>
        <p:spPr>
          <a:xfrm>
            <a:off x="5577840" y="2450592"/>
            <a:ext cx="310896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9" name="Text 7"/>
          <p:cNvSpPr txBox="1"/>
          <p:nvPr/>
        </p:nvSpPr>
        <p:spPr>
          <a:xfrm>
            <a:off x="5577840" y="2798064"/>
            <a:ext cx="3108960" cy="17282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lines 1–7</a:t>
            </a:r>
            <a:r>
              <a:rPr lang="en-US" sz="1400" dirty="0">
                <a:solidFill>
                  <a:srgbClr val="2B1D19"/>
                </a:solidFill>
              </a:rPr>
              <a:t> → a range slider from 2010 to 2024, stored in </a:t>
            </a:r>
            <a:r>
              <a:rPr lang="en-US" sz="1200" b="1" dirty="0">
                <a:solidFill>
                  <a:srgbClr val="B86E1E"/>
                </a:solidFill>
                <a:latin typeface="Courier New" pitchFamily="34" charset="0"/>
                <a:ea typeface="Courier New" pitchFamily="34" charset="-122"/>
                <a:cs typeface="Courier New" pitchFamily="34" charset="-120"/>
              </a:rPr>
              <a:t>years</a:t>
            </a:r>
            <a:endParaRPr lang="en-US" sz="1400" dirty="0"/>
          </a:p>
          <a:p>
            <a:pPr marL="342900" indent="-342900">
              <a:spcAft>
                <a:spcPts val="400"/>
              </a:spcAft>
              <a:buSzPct val="100000"/>
              <a:buChar char="•"/>
            </a:pPr>
            <a:r>
              <a:rPr lang="en-US" sz="1400" dirty="0">
                <a:solidFill>
                  <a:srgbClr val="2B1D19"/>
                </a:solidFill>
              </a:rPr>
              <a:t>​</a:t>
            </a:r>
            <a:r>
              <a:rPr lang="en-US" sz="1400" b="1" dirty="0">
                <a:solidFill>
                  <a:srgbClr val="2B1D19"/>
                </a:solidFill>
              </a:rPr>
              <a:t>line 4</a:t>
            </a:r>
            <a:r>
              <a:rPr lang="en-US" sz="1400" dirty="0">
                <a:solidFill>
                  <a:srgbClr val="2B1D19"/>
                </a:solidFill>
              </a:rPr>
              <a:t> → both handles start at the ends</a:t>
            </a:r>
            <a:endParaRPr lang="en-US" sz="1400" dirty="0"/>
          </a:p>
          <a:p>
            <a:pPr marL="342900" indent="-342900">
              <a:spcAft>
                <a:spcPts val="400"/>
              </a:spcAft>
              <a:buSzPct val="100000"/>
              <a:buChar char="•"/>
            </a:pPr>
            <a:r>
              <a:rPr lang="en-US" sz="1400" dirty="0">
                <a:solidFill>
                  <a:srgbClr val="2B1D19"/>
                </a:solidFill>
              </a:rPr>
              <a:t>​</a:t>
            </a:r>
            <a:r>
              <a:rPr lang="en-US" sz="1400" b="1" dirty="0">
                <a:solidFill>
                  <a:srgbClr val="2B1D19"/>
                </a:solidFill>
              </a:rPr>
              <a:t>lines 8–12</a:t>
            </a:r>
            <a:r>
              <a:rPr lang="en-US" sz="1400" dirty="0">
                <a:solidFill>
                  <a:srgbClr val="2B1D19"/>
                </a:solidFill>
              </a:rPr>
              <a:t> → a dropdown stored in </a:t>
            </a:r>
            <a:r>
              <a:rPr lang="en-US" sz="1200" b="1" dirty="0">
                <a:solidFill>
                  <a:srgbClr val="B86E1E"/>
                </a:solidFill>
                <a:latin typeface="Courier New" pitchFamily="34" charset="0"/>
                <a:ea typeface="Courier New" pitchFamily="34" charset="-122"/>
                <a:cs typeface="Courier New" pitchFamily="34" charset="-120"/>
              </a:rPr>
              <a:t>measure</a:t>
            </a:r>
            <a:r>
              <a:rPr lang="en-US" sz="1400" dirty="0">
                <a:solidFill>
                  <a:srgbClr val="2B1D19"/>
                </a:solidFill>
              </a:rPr>
              <a:t>, starting on </a:t>
            </a:r>
            <a:r>
              <a:rPr lang="en-US" sz="1200" b="1" dirty="0">
                <a:solidFill>
                  <a:srgbClr val="B86E1E"/>
                </a:solidFill>
                <a:latin typeface="Courier New" pitchFamily="34" charset="0"/>
                <a:ea typeface="Courier New" pitchFamily="34" charset="-122"/>
                <a:cs typeface="Courier New" pitchFamily="34" charset="-120"/>
              </a:rPr>
              <a:t>Review score</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Connecting the controls</a:t>
            </a:r>
            <a:endParaRPr lang="en-US" sz="2800" dirty="0"/>
          </a:p>
        </p:txBody>
      </p:sp>
      <p:sp>
        <p:nvSpPr>
          <p:cNvPr id="3" name="Text 1"/>
          <p:cNvSpPr txBox="1"/>
          <p:nvPr/>
        </p:nvSpPr>
        <p:spPr>
          <a:xfrm>
            <a:off x="457200" y="1097280"/>
            <a:ext cx="8229600" cy="685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2B1D19"/>
                </a:solidFill>
              </a:rPr>
              <a:t>​</a:t>
            </a:r>
            <a:r>
              <a:rPr lang="en-US" sz="1600" dirty="0">
                <a:solidFill>
                  <a:srgbClr val="2B1D19"/>
                </a:solidFill>
              </a:rPr>
              <a:t>We make a table like </a:t>
            </a:r>
            <a:r>
              <a:rPr lang="en-US" sz="1400" b="1" dirty="0">
                <a:solidFill>
                  <a:srgbClr val="B86E1E"/>
                </a:solidFill>
                <a:latin typeface="Courier New" pitchFamily="34" charset="0"/>
                <a:ea typeface="Courier New" pitchFamily="34" charset="-122"/>
                <a:cs typeface="Courier New" pitchFamily="34" charset="-120"/>
              </a:rPr>
              <a:t>per_year_group</a:t>
            </a:r>
            <a:r>
              <a:rPr lang="en-US" sz="1600" dirty="0">
                <a:solidFill>
                  <a:srgbClr val="2B1D19"/>
                </a:solidFill>
              </a:rPr>
              <a:t>, called </a:t>
            </a:r>
            <a:r>
              <a:rPr lang="en-US" sz="1400" b="1" dirty="0">
                <a:solidFill>
                  <a:srgbClr val="B86E1E"/>
                </a:solidFill>
                <a:latin typeface="Courier New" pitchFamily="34" charset="0"/>
                <a:ea typeface="Courier New" pitchFamily="34" charset="-122"/>
                <a:cs typeface="Courier New" pitchFamily="34" charset="-120"/>
              </a:rPr>
              <a:t>explore</a:t>
            </a:r>
            <a:r>
              <a:rPr lang="en-US" sz="1600" dirty="0">
                <a:solidFill>
                  <a:srgbClr val="2B1D19"/>
                </a:solidFill>
              </a:rPr>
              <a:t>, with two changes:</a:t>
            </a:r>
            <a:endParaRPr lang="en-US" sz="1600" dirty="0"/>
          </a:p>
        </p:txBody>
      </p:sp>
      <p:sp>
        <p:nvSpPr>
          <p:cNvPr id="4" name="Text 2"/>
          <p:cNvSpPr txBox="1"/>
          <p:nvPr/>
        </p:nvSpPr>
        <p:spPr>
          <a:xfrm>
            <a:off x="457200" y="1874520"/>
            <a:ext cx="8229600" cy="26060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800" dirty="0">
                <a:solidFill>
                  <a:srgbClr val="2B1D19"/>
                </a:solidFill>
              </a:rPr>
              <a:t>​</a:t>
            </a:r>
            <a:r>
              <a:rPr lang="en-US" sz="1800" dirty="0">
                <a:solidFill>
                  <a:srgbClr val="2B1D19"/>
                </a:solidFill>
              </a:rPr>
              <a:t>keep only the years between the slider's handles</a:t>
            </a:r>
            <a:endParaRPr lang="en-US" sz="1800" dirty="0"/>
          </a:p>
          <a:p>
            <a:pPr marL="342900" indent="-342900">
              <a:spcAft>
                <a:spcPts val="800"/>
              </a:spcAft>
              <a:buSzPct val="100000"/>
              <a:buChar char="•"/>
            </a:pPr>
            <a:r>
              <a:rPr lang="en-US" sz="1800" dirty="0">
                <a:solidFill>
                  <a:srgbClr val="2B1D19"/>
                </a:solidFill>
              </a:rPr>
              <a:t>​</a:t>
            </a:r>
            <a:r>
              <a:rPr lang="en-US" sz="1800" dirty="0">
                <a:solidFill>
                  <a:srgbClr val="2B1D19"/>
                </a:solidFill>
              </a:rPr>
              <a:t>find the median of whichever column the dropdown has chosen</a:t>
            </a:r>
            <a:endParaRPr lang="en-US" sz="1800" dirty="0"/>
          </a:p>
          <a:p>
            <a:pPr marL="342900" indent="-342900">
              <a:spcAft>
                <a:spcPts val="800"/>
              </a:spcAft>
              <a:buSzPct val="100000"/>
              <a:buChar char="•"/>
            </a:pPr>
            <a:r>
              <a:rPr lang="en-US" sz="1800" dirty="0">
                <a:solidFill>
                  <a:srgbClr val="2B1D19"/>
                </a:solidFill>
              </a:rPr>
              <a:t>​</a:t>
            </a:r>
            <a:r>
              <a:rPr lang="en-US" sz="1600" b="1" dirty="0">
                <a:solidFill>
                  <a:srgbClr val="B86E1E"/>
                </a:solidFill>
                <a:latin typeface="Courier New" pitchFamily="34" charset="0"/>
                <a:ea typeface="Courier New" pitchFamily="34" charset="-122"/>
                <a:cs typeface="Courier New" pitchFamily="34" charset="-120"/>
              </a:rPr>
              <a:t>mo.hstack</a:t>
            </a:r>
            <a:r>
              <a:rPr lang="en-US" sz="1800" dirty="0">
                <a:solidFill>
                  <a:srgbClr val="2B1D19"/>
                </a:solidFill>
              </a:rPr>
              <a:t> puts things </a:t>
            </a:r>
            <a:r>
              <a:rPr lang="en-US" sz="1800" b="1" dirty="0">
                <a:solidFill>
                  <a:srgbClr val="2B1D19"/>
                </a:solidFill>
              </a:rPr>
              <a:t>side by side</a:t>
            </a:r>
            <a:r>
              <a:rPr lang="en-US" sz="1800" dirty="0">
                <a:solidFill>
                  <a:srgbClr val="2B1D19"/>
                </a:solidFill>
              </a:rPr>
              <a:t>: the slider and dropdown sit on one row</a:t>
            </a:r>
            <a:endParaRPr lang="en-US" sz="1800" dirty="0"/>
          </a:p>
          <a:p>
            <a:pPr marL="342900" indent="-342900">
              <a:spcAft>
                <a:spcPts val="800"/>
              </a:spcAft>
              <a:buSzPct val="100000"/>
              <a:buChar char="•"/>
            </a:pPr>
            <a:r>
              <a:rPr lang="en-US" sz="1800" dirty="0">
                <a:solidFill>
                  <a:srgbClr val="2B1D19"/>
                </a:solidFill>
              </a:rPr>
              <a:t>​</a:t>
            </a:r>
            <a:r>
              <a:rPr lang="en-US" sz="1600" b="1" dirty="0">
                <a:solidFill>
                  <a:srgbClr val="B86E1E"/>
                </a:solidFill>
                <a:latin typeface="Courier New" pitchFamily="34" charset="0"/>
                <a:ea typeface="Courier New" pitchFamily="34" charset="-122"/>
                <a:cs typeface="Courier New" pitchFamily="34" charset="-120"/>
              </a:rPr>
              <a:t>mo.vstack</a:t>
            </a:r>
            <a:r>
              <a:rPr lang="en-US" sz="1800" dirty="0">
                <a:solidFill>
                  <a:srgbClr val="2B1D19"/>
                </a:solidFill>
              </a:rPr>
              <a:t> puts things </a:t>
            </a:r>
            <a:r>
              <a:rPr lang="en-US" sz="1800" b="1" dirty="0">
                <a:solidFill>
                  <a:srgbClr val="2B1D19"/>
                </a:solidFill>
              </a:rPr>
              <a:t>one under the other</a:t>
            </a:r>
            <a:r>
              <a:rPr lang="en-US" sz="1800" dirty="0">
                <a:solidFill>
                  <a:srgbClr val="2B1D19"/>
                </a:solidFill>
              </a:rPr>
              <a:t>: the controls sit above the table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Use the controls in our table</a:t>
            </a:r>
            <a:endParaRPr lang="en-US" sz="2800" dirty="0"/>
          </a:p>
        </p:txBody>
      </p:sp>
      <p:sp>
        <p:nvSpPr>
          <p:cNvPr id="3" name="Code panel"/>
          <p:cNvSpPr/>
          <p:nvPr/>
        </p:nvSpPr>
        <p:spPr>
          <a:xfrm>
            <a:off x="457200" y="1051560"/>
            <a:ext cx="8229600" cy="2691765"/>
          </a:xfrm>
          <a:prstGeom prst="roundRect">
            <a:avLst>
              <a:gd name="adj" fmla="val 2038"/>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1903095"/>
          </a:xfrm>
          <a:prstGeom prst="rect">
            <a:avLst/>
          </a:prstGeom>
          <a:noFill/>
          <a:ln/>
        </p:spPr>
        <p:txBody>
          <a:bodyPr wrap="square" lIns="0" tIns="0" rIns="0" bIns="0" rtlCol="0" anchor="t"/>
          <a:lstStyle/>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1  </a:t>
            </a:r>
            <a:r>
              <a:rPr lang="en-US" sz="1300" dirty="0">
                <a:solidFill>
                  <a:srgbClr val="F7EFE6"/>
                </a:solidFill>
                <a:latin typeface="Courier New" pitchFamily="34" charset="0"/>
                <a:ea typeface="Courier New" pitchFamily="34" charset="-122"/>
                <a:cs typeface="Courier New" pitchFamily="34" charset="-120"/>
              </a:rPr>
              <a:t>explore = (</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2  </a:t>
            </a:r>
            <a:r>
              <a:rPr lang="en-US" sz="1300" dirty="0">
                <a:solidFill>
                  <a:srgbClr val="F7EFE6"/>
                </a:solidFill>
                <a:latin typeface="Courier New" pitchFamily="34" charset="0"/>
                <a:ea typeface="Courier New" pitchFamily="34" charset="-122"/>
                <a:cs typeface="Courier New" pitchFamily="34" charset="-120"/>
              </a:rPr>
              <a:t>    scored.filter(</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3  </a:t>
            </a:r>
            <a:r>
              <a:rPr lang="en-US" sz="1300" dirty="0">
                <a:solidFill>
                  <a:srgbClr val="F7EFE6"/>
                </a:solidFill>
                <a:latin typeface="Courier New" pitchFamily="34" charset="0"/>
                <a:ea typeface="Courier New" pitchFamily="34" charset="-122"/>
                <a:cs typeface="Courier New" pitchFamily="34" charset="-120"/>
              </a:rPr>
              <a:t>        pl.col("Release year").is_between(years.value[0], years.value[1])</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4  </a:t>
            </a:r>
            <a:r>
              <a:rPr lang="en-US" sz="1300" dirty="0">
                <a:solidFill>
                  <a:srgbClr val="F7EFE6"/>
                </a:solidFill>
                <a:latin typeface="Courier New" pitchFamily="34" charset="0"/>
                <a:ea typeface="Courier New" pitchFamily="34" charset="-122"/>
                <a:cs typeface="Courier New" pitchFamily="34" charset="-120"/>
              </a:rPr>
              <a:t>    )</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5  </a:t>
            </a:r>
            <a:r>
              <a:rPr lang="en-US" sz="1300" dirty="0">
                <a:solidFill>
                  <a:srgbClr val="F7EFE6"/>
                </a:solidFill>
                <a:latin typeface="Courier New" pitchFamily="34" charset="0"/>
                <a:ea typeface="Courier New" pitchFamily="34" charset="-122"/>
                <a:cs typeface="Courier New" pitchFamily="34" charset="-120"/>
              </a:rPr>
              <a:t>    .group_by("Release year", "Group")</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6  </a:t>
            </a:r>
            <a:r>
              <a:rPr lang="en-US" sz="1300" dirty="0">
                <a:solidFill>
                  <a:srgbClr val="F7EFE6"/>
                </a:solidFill>
                <a:latin typeface="Courier New" pitchFamily="34" charset="0"/>
                <a:ea typeface="Courier New" pitchFamily="34" charset="-122"/>
                <a:cs typeface="Courier New" pitchFamily="34" charset="-120"/>
              </a:rPr>
              <a:t>    .agg(pl.col(measure.value).median().alias("Median"))</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7  </a:t>
            </a:r>
            <a:r>
              <a:rPr lang="en-US" sz="1300" dirty="0">
                <a:solidFill>
                  <a:srgbClr val="F7EFE6"/>
                </a:solidFill>
                <a:latin typeface="Courier New" pitchFamily="34" charset="0"/>
                <a:ea typeface="Courier New" pitchFamily="34" charset="-122"/>
                <a:cs typeface="Courier New" pitchFamily="34" charset="-120"/>
              </a:rPr>
              <a:t>    .sort("Release year", "Group")</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8  </a:t>
            </a:r>
            <a:r>
              <a:rPr lang="en-US" sz="1300" dirty="0">
                <a:solidFill>
                  <a:srgbClr val="F7EFE6"/>
                </a:solidFill>
                <a:latin typeface="Courier New" pitchFamily="34" charset="0"/>
                <a:ea typeface="Courier New" pitchFamily="34" charset="-122"/>
                <a:cs typeface="Courier New" pitchFamily="34" charset="-120"/>
              </a:rPr>
              <a:t>)</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9  </a:t>
            </a:r>
            <a:r>
              <a:rPr lang="en-US" sz="1300" dirty="0">
                <a:solidFill>
                  <a:srgbClr val="F7EFE6"/>
                </a:solidFill>
                <a:latin typeface="Courier New" pitchFamily="34" charset="0"/>
                <a:ea typeface="Courier New" pitchFamily="34" charset="-122"/>
                <a:cs typeface="Courier New" pitchFamily="34" charset="-120"/>
              </a:rPr>
              <a:t>mo.vstack([mo.hstack([years, measure]), explore])</a:t>
            </a:r>
            <a:endParaRPr lang="en-US" sz="1300" dirty="0"/>
          </a:p>
        </p:txBody>
      </p:sp>
      <p:sp>
        <p:nvSpPr>
          <p:cNvPr id="6" name="Text 4"/>
          <p:cNvSpPr txBox="1"/>
          <p:nvPr/>
        </p:nvSpPr>
        <p:spPr>
          <a:xfrm>
            <a:off x="457200" y="3834765"/>
            <a:ext cx="8229600" cy="4419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Line 3 uses </a:t>
            </a:r>
            <a:r>
              <a:rPr lang="en-US" sz="1300" b="1" dirty="0">
                <a:solidFill>
                  <a:srgbClr val="B86E1E"/>
                </a:solidFill>
                <a:latin typeface="Courier New" pitchFamily="34" charset="0"/>
                <a:ea typeface="Courier New" pitchFamily="34" charset="-122"/>
                <a:cs typeface="Courier New" pitchFamily="34" charset="-120"/>
              </a:rPr>
              <a:t>years.value[0]</a:t>
            </a:r>
            <a:r>
              <a:rPr lang="en-US" sz="1500" dirty="0">
                <a:solidFill>
                  <a:srgbClr val="2B1D19"/>
                </a:solidFill>
              </a:rPr>
              <a:t> and </a:t>
            </a:r>
            <a:r>
              <a:rPr lang="en-US" sz="1300" b="1" dirty="0">
                <a:solidFill>
                  <a:srgbClr val="B86E1E"/>
                </a:solidFill>
                <a:latin typeface="Courier New" pitchFamily="34" charset="0"/>
                <a:ea typeface="Courier New" pitchFamily="34" charset="-122"/>
                <a:cs typeface="Courier New" pitchFamily="34" charset="-120"/>
              </a:rPr>
              <a:t>years.value[1]</a:t>
            </a:r>
            <a:r>
              <a:rPr lang="en-US" sz="1500" dirty="0">
                <a:solidFill>
                  <a:srgbClr val="2B1D19"/>
                </a:solidFill>
              </a:rPr>
              <a:t>; line 6 uses </a:t>
            </a:r>
            <a:r>
              <a:rPr lang="en-US" sz="1300" b="1" dirty="0">
                <a:solidFill>
                  <a:srgbClr val="B86E1E"/>
                </a:solidFill>
                <a:latin typeface="Courier New" pitchFamily="34" charset="0"/>
                <a:ea typeface="Courier New" pitchFamily="34" charset="-122"/>
                <a:cs typeface="Courier New" pitchFamily="34" charset="-120"/>
              </a:rPr>
              <a:t>measure.value</a:t>
            </a:r>
            <a:r>
              <a:rPr lang="en-US" sz="1500" dirty="0">
                <a:solidFill>
                  <a:srgbClr val="2B1D19"/>
                </a:solidFill>
              </a:rPr>
              <a:t>.</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Move the slider and watch</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2000" dirty="0">
                <a:solidFill>
                  <a:srgbClr val="2B1D19"/>
                </a:solidFill>
              </a:rPr>
              <a:t>​</a:t>
            </a:r>
            <a:r>
              <a:rPr lang="en-US" sz="2000" dirty="0">
                <a:solidFill>
                  <a:srgbClr val="2B1D19"/>
                </a:solidFill>
              </a:rPr>
              <a:t>the slider and dropdown appear, with the </a:t>
            </a:r>
            <a:r>
              <a:rPr lang="en-US" sz="1800" b="1" dirty="0">
                <a:solidFill>
                  <a:srgbClr val="B86E1E"/>
                </a:solidFill>
                <a:latin typeface="Courier New" pitchFamily="34" charset="0"/>
                <a:ea typeface="Courier New" pitchFamily="34" charset="-122"/>
                <a:cs typeface="Courier New" pitchFamily="34" charset="-120"/>
              </a:rPr>
              <a:t>explore</a:t>
            </a:r>
            <a:r>
              <a:rPr lang="en-US" sz="2000" dirty="0">
                <a:solidFill>
                  <a:srgbClr val="2B1D19"/>
                </a:solidFill>
              </a:rPr>
              <a:t> table under them</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drag the slider's left handle to </a:t>
            </a:r>
            <a:r>
              <a:rPr lang="en-US" sz="2000" b="1" dirty="0">
                <a:solidFill>
                  <a:srgbClr val="2B1D19"/>
                </a:solidFill>
              </a:rPr>
              <a:t>2018</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the table changes straight away</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marimo is </a:t>
            </a:r>
            <a:r>
              <a:rPr lang="en-US" sz="2000" b="1" dirty="0">
                <a:solidFill>
                  <a:srgbClr val="2B1D19"/>
                </a:solidFill>
              </a:rPr>
              <a:t>reactive</a:t>
            </a:r>
            <a:r>
              <a:rPr lang="en-US" sz="2000" dirty="0">
                <a:solidFill>
                  <a:srgbClr val="2B1D19"/>
                </a:solidFill>
              </a:rPr>
              <a:t>: when </a:t>
            </a:r>
            <a:r>
              <a:rPr lang="en-US" sz="1800" b="1" dirty="0">
                <a:solidFill>
                  <a:srgbClr val="B86E1E"/>
                </a:solidFill>
                <a:latin typeface="Courier New" pitchFamily="34" charset="0"/>
                <a:ea typeface="Courier New" pitchFamily="34" charset="-122"/>
                <a:cs typeface="Courier New" pitchFamily="34" charset="-120"/>
              </a:rPr>
              <a:t>years</a:t>
            </a:r>
            <a:r>
              <a:rPr lang="en-US" sz="2000" dirty="0">
                <a:solidFill>
                  <a:srgbClr val="2B1D19"/>
                </a:solidFill>
              </a:rPr>
              <a:t> changes, it re-runs every cell that uses it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Chart the explore table</a:t>
            </a:r>
            <a:endParaRPr lang="en-US" sz="2800" dirty="0"/>
          </a:p>
        </p:txBody>
      </p:sp>
      <p:sp>
        <p:nvSpPr>
          <p:cNvPr id="3" name="Code panel"/>
          <p:cNvSpPr/>
          <p:nvPr/>
        </p:nvSpPr>
        <p:spPr>
          <a:xfrm>
            <a:off x="457200" y="1051560"/>
            <a:ext cx="8229600" cy="3474720"/>
          </a:xfrm>
          <a:prstGeom prst="roundRect">
            <a:avLst>
              <a:gd name="adj" fmla="val 1579"/>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change existing cell</a:t>
            </a:r>
            <a:endParaRPr lang="en-US" sz="1200" dirty="0"/>
          </a:p>
        </p:txBody>
      </p:sp>
      <p:sp>
        <p:nvSpPr>
          <p:cNvPr id="5" name="Highlight"/>
          <p:cNvSpPr/>
          <p:nvPr/>
        </p:nvSpPr>
        <p:spPr>
          <a:xfrm>
            <a:off x="530352" y="2778760"/>
            <a:ext cx="8083296" cy="158750"/>
          </a:xfrm>
          <a:prstGeom prst="rect">
            <a:avLst/>
          </a:prstGeom>
          <a:solidFill>
            <a:srgbClr val="5A3A1E"/>
          </a:solidFill>
          <a:ln w="12700">
            <a:solidFill>
              <a:srgbClr val="5A3A1E"/>
            </a:solidFill>
            <a:prstDash val="solid"/>
          </a:ln>
        </p:spPr>
      </p:sp>
      <p:sp>
        <p:nvSpPr>
          <p:cNvPr id="6" name="Highlight"/>
          <p:cNvSpPr/>
          <p:nvPr/>
        </p:nvSpPr>
        <p:spPr>
          <a:xfrm>
            <a:off x="530352" y="2937510"/>
            <a:ext cx="8083296" cy="158750"/>
          </a:xfrm>
          <a:prstGeom prst="rect">
            <a:avLst/>
          </a:prstGeom>
          <a:solidFill>
            <a:srgbClr val="5A3A1E"/>
          </a:solidFill>
          <a:ln w="12700">
            <a:solidFill>
              <a:srgbClr val="5A3A1E"/>
            </a:solidFill>
            <a:prstDash val="solid"/>
          </a:ln>
        </p:spPr>
      </p:sp>
      <p:sp>
        <p:nvSpPr>
          <p:cNvPr id="7" name="Highlight"/>
          <p:cNvSpPr/>
          <p:nvPr/>
        </p:nvSpPr>
        <p:spPr>
          <a:xfrm>
            <a:off x="530352" y="3096260"/>
            <a:ext cx="8083296" cy="158750"/>
          </a:xfrm>
          <a:prstGeom prst="rect">
            <a:avLst/>
          </a:prstGeom>
          <a:solidFill>
            <a:srgbClr val="5A3A1E"/>
          </a:solidFill>
          <a:ln w="12700">
            <a:solidFill>
              <a:srgbClr val="5A3A1E"/>
            </a:solidFill>
            <a:prstDash val="solid"/>
          </a:ln>
        </p:spPr>
      </p:sp>
      <p:sp>
        <p:nvSpPr>
          <p:cNvPr id="8" name="Highlight"/>
          <p:cNvSpPr/>
          <p:nvPr/>
        </p:nvSpPr>
        <p:spPr>
          <a:xfrm>
            <a:off x="530352" y="3255010"/>
            <a:ext cx="8083296" cy="158750"/>
          </a:xfrm>
          <a:prstGeom prst="rect">
            <a:avLst/>
          </a:prstGeom>
          <a:solidFill>
            <a:srgbClr val="5A3A1E"/>
          </a:solidFill>
          <a:ln w="12700">
            <a:solidFill>
              <a:srgbClr val="5A3A1E"/>
            </a:solidFill>
            <a:prstDash val="solid"/>
          </a:ln>
        </p:spPr>
      </p:sp>
      <p:sp>
        <p:nvSpPr>
          <p:cNvPr id="9" name="Highlight"/>
          <p:cNvSpPr/>
          <p:nvPr/>
        </p:nvSpPr>
        <p:spPr>
          <a:xfrm>
            <a:off x="530352" y="3413760"/>
            <a:ext cx="8083296" cy="158750"/>
          </a:xfrm>
          <a:prstGeom prst="rect">
            <a:avLst/>
          </a:prstGeom>
          <a:solidFill>
            <a:srgbClr val="5A3A1E"/>
          </a:solidFill>
          <a:ln w="12700">
            <a:solidFill>
              <a:srgbClr val="5A3A1E"/>
            </a:solidFill>
            <a:prstDash val="solid"/>
          </a:ln>
        </p:spPr>
      </p:sp>
      <p:sp>
        <p:nvSpPr>
          <p:cNvPr id="10" name="Highlight"/>
          <p:cNvSpPr/>
          <p:nvPr/>
        </p:nvSpPr>
        <p:spPr>
          <a:xfrm>
            <a:off x="530352" y="3572510"/>
            <a:ext cx="8083296" cy="158750"/>
          </a:xfrm>
          <a:prstGeom prst="rect">
            <a:avLst/>
          </a:prstGeom>
          <a:solidFill>
            <a:srgbClr val="5A3A1E"/>
          </a:solidFill>
          <a:ln w="12700">
            <a:solidFill>
              <a:srgbClr val="5A3A1E"/>
            </a:solidFill>
            <a:prstDash val="solid"/>
          </a:ln>
        </p:spPr>
      </p:sp>
      <p:sp>
        <p:nvSpPr>
          <p:cNvPr id="11" name="Highlight"/>
          <p:cNvSpPr/>
          <p:nvPr/>
        </p:nvSpPr>
        <p:spPr>
          <a:xfrm>
            <a:off x="530352" y="3731260"/>
            <a:ext cx="8083296" cy="158750"/>
          </a:xfrm>
          <a:prstGeom prst="rect">
            <a:avLst/>
          </a:prstGeom>
          <a:solidFill>
            <a:srgbClr val="5A3A1E"/>
          </a:solidFill>
          <a:ln w="12700">
            <a:solidFill>
              <a:srgbClr val="5A3A1E"/>
            </a:solidFill>
            <a:prstDash val="solid"/>
          </a:ln>
        </p:spPr>
      </p:sp>
      <p:sp>
        <p:nvSpPr>
          <p:cNvPr id="12" name="Highlight"/>
          <p:cNvSpPr/>
          <p:nvPr/>
        </p:nvSpPr>
        <p:spPr>
          <a:xfrm>
            <a:off x="530352" y="3890010"/>
            <a:ext cx="8083296" cy="158750"/>
          </a:xfrm>
          <a:prstGeom prst="rect">
            <a:avLst/>
          </a:prstGeom>
          <a:solidFill>
            <a:srgbClr val="5A3A1E"/>
          </a:solidFill>
          <a:ln w="12700">
            <a:solidFill>
              <a:srgbClr val="5A3A1E"/>
            </a:solidFill>
            <a:prstDash val="solid"/>
          </a:ln>
        </p:spPr>
      </p:sp>
      <p:sp>
        <p:nvSpPr>
          <p:cNvPr id="13" name="Highlight"/>
          <p:cNvSpPr/>
          <p:nvPr/>
        </p:nvSpPr>
        <p:spPr>
          <a:xfrm>
            <a:off x="530352" y="4048760"/>
            <a:ext cx="8083296" cy="158750"/>
          </a:xfrm>
          <a:prstGeom prst="rect">
            <a:avLst/>
          </a:prstGeom>
          <a:solidFill>
            <a:srgbClr val="5A3A1E"/>
          </a:solidFill>
          <a:ln w="12700">
            <a:solidFill>
              <a:srgbClr val="5A3A1E"/>
            </a:solidFill>
            <a:prstDash val="solid"/>
          </a:ln>
        </p:spPr>
      </p:sp>
      <p:sp>
        <p:nvSpPr>
          <p:cNvPr id="14" name="Highlight"/>
          <p:cNvSpPr/>
          <p:nvPr/>
        </p:nvSpPr>
        <p:spPr>
          <a:xfrm>
            <a:off x="530352" y="4207510"/>
            <a:ext cx="8083296" cy="158750"/>
          </a:xfrm>
          <a:prstGeom prst="rect">
            <a:avLst/>
          </a:prstGeom>
          <a:solidFill>
            <a:srgbClr val="5A3A1E"/>
          </a:solidFill>
          <a:ln w="12700">
            <a:solidFill>
              <a:srgbClr val="5A3A1E"/>
            </a:solidFill>
            <a:prstDash val="solid"/>
          </a:ln>
        </p:spPr>
      </p:sp>
      <p:sp>
        <p:nvSpPr>
          <p:cNvPr id="15" name="Code"/>
          <p:cNvSpPr txBox="1"/>
          <p:nvPr/>
        </p:nvSpPr>
        <p:spPr>
          <a:xfrm>
            <a:off x="594360" y="1508760"/>
            <a:ext cx="7955280" cy="2903220"/>
          </a:xfrm>
          <a:prstGeom prst="rect">
            <a:avLst/>
          </a:prstGeom>
          <a:noFill/>
          <a:ln/>
        </p:spPr>
        <p:txBody>
          <a:bodyPr wrap="square" lIns="0" tIns="0" rIns="0" bIns="0" rtlCol="0" anchor="t"/>
          <a:lstStyle/>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1  </a:t>
            </a:r>
            <a:r>
              <a:rPr lang="en-US" sz="1000" dirty="0">
                <a:solidFill>
                  <a:srgbClr val="F7EFE6"/>
                </a:solidFill>
                <a:latin typeface="Courier New" pitchFamily="34" charset="0"/>
                <a:ea typeface="Courier New" pitchFamily="34" charset="-122"/>
                <a:cs typeface="Courier New" pitchFamily="34" charset="-120"/>
              </a:rPr>
              <a:t>explore = (</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2  </a:t>
            </a:r>
            <a:r>
              <a:rPr lang="en-US" sz="1000" dirty="0">
                <a:solidFill>
                  <a:srgbClr val="F7EFE6"/>
                </a:solidFill>
                <a:latin typeface="Courier New" pitchFamily="34" charset="0"/>
                <a:ea typeface="Courier New" pitchFamily="34" charset="-122"/>
                <a:cs typeface="Courier New" pitchFamily="34" charset="-120"/>
              </a:rPr>
              <a:t>    scored.filter(</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3  </a:t>
            </a:r>
            <a:r>
              <a:rPr lang="en-US" sz="1000" dirty="0">
                <a:solidFill>
                  <a:srgbClr val="F7EFE6"/>
                </a:solidFill>
                <a:latin typeface="Courier New" pitchFamily="34" charset="0"/>
                <a:ea typeface="Courier New" pitchFamily="34" charset="-122"/>
                <a:cs typeface="Courier New" pitchFamily="34" charset="-120"/>
              </a:rPr>
              <a:t>        pl.col("Release year").is_between(years.value[0], years.value[1])</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4  </a:t>
            </a:r>
            <a:r>
              <a:rPr lang="en-US" sz="1000" dirty="0">
                <a:solidFill>
                  <a:srgbClr val="F7EFE6"/>
                </a:solidFill>
                <a:latin typeface="Courier New" pitchFamily="34" charset="0"/>
                <a:ea typeface="Courier New" pitchFamily="34" charset="-122"/>
                <a:cs typeface="Courier New" pitchFamily="34" charset="-120"/>
              </a:rPr>
              <a:t>    )</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5  </a:t>
            </a:r>
            <a:r>
              <a:rPr lang="en-US" sz="1000" dirty="0">
                <a:solidFill>
                  <a:srgbClr val="F7EFE6"/>
                </a:solidFill>
                <a:latin typeface="Courier New" pitchFamily="34" charset="0"/>
                <a:ea typeface="Courier New" pitchFamily="34" charset="-122"/>
                <a:cs typeface="Courier New" pitchFamily="34" charset="-120"/>
              </a:rPr>
              <a:t>    .group_by("Release year", "Group")</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6  </a:t>
            </a:r>
            <a:r>
              <a:rPr lang="en-US" sz="1000" dirty="0">
                <a:solidFill>
                  <a:srgbClr val="F7EFE6"/>
                </a:solidFill>
                <a:latin typeface="Courier New" pitchFamily="34" charset="0"/>
                <a:ea typeface="Courier New" pitchFamily="34" charset="-122"/>
                <a:cs typeface="Courier New" pitchFamily="34" charset="-120"/>
              </a:rPr>
              <a:t>    .agg(pl.col(measure.value).median().alias("Median"))</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7  </a:t>
            </a:r>
            <a:r>
              <a:rPr lang="en-US" sz="1000" dirty="0">
                <a:solidFill>
                  <a:srgbClr val="F7EFE6"/>
                </a:solidFill>
                <a:latin typeface="Courier New" pitchFamily="34" charset="0"/>
                <a:ea typeface="Courier New" pitchFamily="34" charset="-122"/>
                <a:cs typeface="Courier New" pitchFamily="34" charset="-120"/>
              </a:rPr>
              <a:t>    .sort("Release year", "Group")</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8  </a:t>
            </a:r>
            <a:r>
              <a:rPr lang="en-US" sz="1000" dirty="0">
                <a:solidFill>
                  <a:srgbClr val="F7EFE6"/>
                </a:solidFill>
                <a:latin typeface="Courier New" pitchFamily="34" charset="0"/>
                <a:ea typeface="Courier New" pitchFamily="34" charset="-122"/>
                <a:cs typeface="Courier New" pitchFamily="34" charset="-120"/>
              </a:rPr>
              <a:t>)</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 9  </a:t>
            </a:r>
            <a:r>
              <a:rPr lang="en-US" sz="1000" dirty="0">
                <a:solidFill>
                  <a:srgbClr val="F7EFE6"/>
                </a:solidFill>
                <a:latin typeface="Courier New" pitchFamily="34" charset="0"/>
                <a:ea typeface="Courier New" pitchFamily="34" charset="-122"/>
                <a:cs typeface="Courier New" pitchFamily="34" charset="-120"/>
              </a:rPr>
              <a:t>explore_chart = px.line(</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10  </a:t>
            </a:r>
            <a:r>
              <a:rPr lang="en-US" sz="1000" dirty="0">
                <a:solidFill>
                  <a:srgbClr val="F7EFE6"/>
                </a:solidFill>
                <a:latin typeface="Courier New" pitchFamily="34" charset="0"/>
                <a:ea typeface="Courier New" pitchFamily="34" charset="-122"/>
                <a:cs typeface="Courier New" pitchFamily="34" charset="-120"/>
              </a:rPr>
              <a:t>    explore,</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11  </a:t>
            </a:r>
            <a:r>
              <a:rPr lang="en-US" sz="1000" dirty="0">
                <a:solidFill>
                  <a:srgbClr val="F7EFE6"/>
                </a:solidFill>
                <a:latin typeface="Courier New" pitchFamily="34" charset="0"/>
                <a:ea typeface="Courier New" pitchFamily="34" charset="-122"/>
                <a:cs typeface="Courier New" pitchFamily="34" charset="-120"/>
              </a:rPr>
              <a:t>    x="Release year",</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12  </a:t>
            </a:r>
            <a:r>
              <a:rPr lang="en-US" sz="1000" dirty="0">
                <a:solidFill>
                  <a:srgbClr val="F7EFE6"/>
                </a:solidFill>
                <a:latin typeface="Courier New" pitchFamily="34" charset="0"/>
                <a:ea typeface="Courier New" pitchFamily="34" charset="-122"/>
                <a:cs typeface="Courier New" pitchFamily="34" charset="-120"/>
              </a:rPr>
              <a:t>    y="Median",</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13  </a:t>
            </a:r>
            <a:r>
              <a:rPr lang="en-US" sz="1000" dirty="0">
                <a:solidFill>
                  <a:srgbClr val="F7EFE6"/>
                </a:solidFill>
                <a:latin typeface="Courier New" pitchFamily="34" charset="0"/>
                <a:ea typeface="Courier New" pitchFamily="34" charset="-122"/>
                <a:cs typeface="Courier New" pitchFamily="34" charset="-120"/>
              </a:rPr>
              <a:t>    color="Group",</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14  </a:t>
            </a:r>
            <a:r>
              <a:rPr lang="en-US" sz="1000" dirty="0">
                <a:solidFill>
                  <a:srgbClr val="F7EFE6"/>
                </a:solidFill>
                <a:latin typeface="Courier New" pitchFamily="34" charset="0"/>
                <a:ea typeface="Courier New" pitchFamily="34" charset="-122"/>
                <a:cs typeface="Courier New" pitchFamily="34" charset="-120"/>
              </a:rPr>
              <a:t>    color_discrete_map={"Indie": "royalblue", "Not Indie": "lightgrey"},</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15  </a:t>
            </a:r>
            <a:r>
              <a:rPr lang="en-US" sz="1000" dirty="0">
                <a:solidFill>
                  <a:srgbClr val="F7EFE6"/>
                </a:solidFill>
                <a:latin typeface="Courier New" pitchFamily="34" charset="0"/>
                <a:ea typeface="Courier New" pitchFamily="34" charset="-122"/>
                <a:cs typeface="Courier New" pitchFamily="34" charset="-120"/>
              </a:rPr>
              <a:t>    markers=True,</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16  </a:t>
            </a:r>
            <a:r>
              <a:rPr lang="en-US" sz="1000" dirty="0">
                <a:solidFill>
                  <a:srgbClr val="F7EFE6"/>
                </a:solidFill>
                <a:latin typeface="Courier New" pitchFamily="34" charset="0"/>
                <a:ea typeface="Courier New" pitchFamily="34" charset="-122"/>
                <a:cs typeface="Courier New" pitchFamily="34" charset="-120"/>
              </a:rPr>
              <a:t>    title=f"Median {measure.value.lower()} of Indie and other games",</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17  </a:t>
            </a:r>
            <a:r>
              <a:rPr lang="en-US" sz="1000" dirty="0">
                <a:solidFill>
                  <a:srgbClr val="F7EFE6"/>
                </a:solidFill>
                <a:latin typeface="Courier New" pitchFamily="34" charset="0"/>
                <a:ea typeface="Courier New" pitchFamily="34" charset="-122"/>
                <a:cs typeface="Courier New" pitchFamily="34" charset="-120"/>
              </a:rPr>
              <a:t>)</a:t>
            </a:r>
            <a:endParaRPr lang="en-US" sz="1000" dirty="0"/>
          </a:p>
          <a:p>
            <a:pPr indent="0" marL="0">
              <a:lnSpc>
                <a:spcPts val="1250"/>
              </a:lnSpc>
              <a:buNone/>
            </a:pPr>
            <a:r>
              <a:rPr lang="en-US" sz="1000" dirty="0">
                <a:solidFill>
                  <a:srgbClr val="9C8A80"/>
                </a:solidFill>
                <a:latin typeface="Courier New" pitchFamily="34" charset="0"/>
                <a:ea typeface="Courier New" pitchFamily="34" charset="-122"/>
                <a:cs typeface="Courier New" pitchFamily="34" charset="-120"/>
              </a:rPr>
              <a:t>18  </a:t>
            </a:r>
            <a:r>
              <a:rPr lang="en-US" sz="1000" dirty="0">
                <a:solidFill>
                  <a:srgbClr val="F7EFE6"/>
                </a:solidFill>
                <a:latin typeface="Courier New" pitchFamily="34" charset="0"/>
                <a:ea typeface="Courier New" pitchFamily="34" charset="-122"/>
                <a:cs typeface="Courier New" pitchFamily="34" charset="-120"/>
              </a:rPr>
              <a:t>mo.vstack([mo.hstack([years, measure]), explore_chart, explore])</a:t>
            </a:r>
            <a:endParaRPr lang="en-US" sz="1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Modify the controls</a:t>
            </a:r>
            <a:endParaRPr lang="en-US" sz="2800" dirty="0"/>
          </a:p>
        </p:txBody>
      </p:sp>
      <p:sp>
        <p:nvSpPr>
          <p:cNvPr id="3" name="primm box"/>
          <p:cNvSpPr/>
          <p:nvPr/>
        </p:nvSpPr>
        <p:spPr>
          <a:xfrm>
            <a:off x="457200" y="1051560"/>
            <a:ext cx="8229600" cy="2037080"/>
          </a:xfrm>
          <a:prstGeom prst="roundRect">
            <a:avLst>
              <a:gd name="adj" fmla="val 3591"/>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351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Add </a:t>
            </a:r>
            <a:r>
              <a:rPr lang="en-US" sz="1800" b="1" dirty="0">
                <a:solidFill>
                  <a:srgbClr val="B86E1E"/>
                </a:solidFill>
                <a:latin typeface="Courier New" pitchFamily="34" charset="0"/>
                <a:ea typeface="Courier New" pitchFamily="34" charset="-122"/>
                <a:cs typeface="Courier New" pitchFamily="34" charset="-120"/>
              </a:rPr>
              <a:t>"Recommendations"</a:t>
            </a:r>
            <a:r>
              <a:rPr lang="en-US" sz="2000" dirty="0">
                <a:solidFill>
                  <a:srgbClr val="2B1D19"/>
                </a:solidFill>
              </a:rPr>
              <a:t> to the dropdown's options in the cell that creates the controls.</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What does the chart show when we choose it?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Slider at 2018 to 2024, dropdown on Price</a:t>
            </a:r>
            <a:endParaRPr lang="en-US" sz="2800" dirty="0"/>
          </a:p>
        </p:txBody>
      </p:sp>
      <p:pic>
        <p:nvPicPr>
          <p:cNvPr id="3" name="Image 0" descr="Line chart titled Median price of Indie and other games from 2018 to 2024, with the grey Not Indie line rising from about $4 to about $13.60 and the blue Indie line rising from about $3 to about $7.80">    </p:cNvPr>
          <p:cNvPicPr>
            <a:picLocks noChangeAspect="1"/>
          </p:cNvPicPr>
          <p:nvPr/>
        </p:nvPicPr>
        <p:blipFill>
          <a:blip r:embed="rId1"/>
          <a:stretch>
            <a:fillRect/>
          </a:stretch>
        </p:blipFill>
        <p:spPr>
          <a:xfrm>
            <a:off x="1897380" y="1051560"/>
            <a:ext cx="5349240" cy="2971800"/>
          </a:xfrm>
          <a:prstGeom prst="rect">
            <a:avLst/>
          </a:prstGeom>
        </p:spPr>
      </p:pic>
      <p:sp>
        <p:nvSpPr>
          <p:cNvPr id="4" name="Text 1"/>
          <p:cNvSpPr txBox="1"/>
          <p:nvPr/>
        </p:nvSpPr>
        <p:spPr>
          <a:xfrm>
            <a:off x="457200" y="4069080"/>
            <a:ext cx="8229600" cy="411480"/>
          </a:xfrm>
          <a:prstGeom prst="rect">
            <a:avLst/>
          </a:prstGeom>
          <a:noFill/>
          <a:ln/>
        </p:spPr>
        <p:txBody>
          <a:bodyPr wrap="square" lIns="0" tIns="0" rIns="0" bIns="0" rtlCol="0" anchor="ctr"/>
          <a:lstStyle/>
          <a:p>
            <a:pPr algn="ctr" indent="0" marL="0">
              <a:spcAft>
                <a:spcPts val="800"/>
              </a:spcAft>
              <a:buNone/>
            </a:pPr>
            <a:r>
              <a:rPr lang="en-US" sz="1300" i="1" dirty="0">
                <a:solidFill>
                  <a:srgbClr val="6B6B6B"/>
                </a:solidFill>
              </a:rPr>
              <a:t>​</a:t>
            </a:r>
            <a:r>
              <a:rPr lang="en-US" sz="1300" i="1" dirty="0">
                <a:solidFill>
                  <a:srgbClr val="6B6B6B"/>
                </a:solidFill>
              </a:rPr>
              <a:t>In 2024 a typical non-Indie game cost about </a:t>
            </a:r>
            <a:r>
              <a:rPr lang="en-US" sz="1300" b="1" i="1" dirty="0">
                <a:solidFill>
                  <a:srgbClr val="6B6B6B"/>
                </a:solidFill>
              </a:rPr>
              <a:t>US$13.60</a:t>
            </a:r>
            <a:r>
              <a:rPr lang="en-US" sz="1300" i="1" dirty="0">
                <a:solidFill>
                  <a:srgbClr val="6B6B6B"/>
                </a:solidFill>
              </a:rPr>
              <a:t> and a typical Indie game </a:t>
            </a:r>
            <a:r>
              <a:rPr lang="en-US" sz="1300" b="1" i="1" dirty="0">
                <a:solidFill>
                  <a:srgbClr val="6B6B6B"/>
                </a:solidFill>
              </a:rPr>
              <a:t>US$7.79</a:t>
            </a:r>
            <a:r>
              <a:rPr lang="en-US" sz="1300" i="1" dirty="0">
                <a:solidFill>
                  <a:srgbClr val="6B6B6B"/>
                </a:solidFill>
              </a:rPr>
              <a:t>: much bigger than the </a:t>
            </a:r>
            <a:r>
              <a:rPr lang="en-US" sz="1300" b="1" i="1" dirty="0">
                <a:solidFill>
                  <a:srgbClr val="6B6B6B"/>
                </a:solidFill>
              </a:rPr>
              <a:t>$1.15</a:t>
            </a:r>
            <a:r>
              <a:rPr lang="en-US" sz="1300" i="1" dirty="0">
                <a:solidFill>
                  <a:srgbClr val="6B6B6B"/>
                </a:solidFill>
              </a:rPr>
              <a:t> gap across all years.</a:t>
            </a:r>
            <a:endParaRPr lang="en-US" sz="13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Explore, then check</a:t>
            </a:r>
            <a:endParaRPr lang="en-US" sz="2800" dirty="0"/>
          </a:p>
        </p:txBody>
      </p:sp>
      <p:sp>
        <p:nvSpPr>
          <p:cNvPr id="3" name="warning box"/>
          <p:cNvSpPr/>
          <p:nvPr/>
        </p:nvSpPr>
        <p:spPr>
          <a:xfrm>
            <a:off x="457200" y="1051560"/>
            <a:ext cx="8229600" cy="2519680"/>
          </a:xfrm>
          <a:prstGeom prst="roundRect">
            <a:avLst>
              <a:gd name="adj" fmla="val 29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8338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Controls make it easy to find patterns, and just as easy to find patterns that aren't real. Before anything we found by exploring goes into our story, we check it like our other insights: </a:t>
            </a:r>
            <a:r>
              <a:rPr lang="en-US" sz="2000" b="1" dirty="0">
                <a:solidFill>
                  <a:srgbClr val="2B1D19"/>
                </a:solidFill>
              </a:rPr>
              <a:t>enough games</a:t>
            </a:r>
            <a:r>
              <a:rPr lang="en-US" sz="2000" dirty="0">
                <a:solidFill>
                  <a:srgbClr val="2B1D19"/>
                </a:solidFill>
              </a:rPr>
              <a:t> in each group, the </a:t>
            </a:r>
            <a:r>
              <a:rPr lang="en-US" sz="2000" b="1" dirty="0">
                <a:solidFill>
                  <a:srgbClr val="2B1D19"/>
                </a:solidFill>
              </a:rPr>
              <a:t>right average</a:t>
            </a:r>
            <a:r>
              <a:rPr lang="en-US" sz="2000" dirty="0">
                <a:solidFill>
                  <a:srgbClr val="2B1D19"/>
                </a:solidFill>
              </a:rPr>
              <a:t>, and an </a:t>
            </a:r>
            <a:r>
              <a:rPr lang="en-US" sz="2000" b="1" dirty="0">
                <a:solidFill>
                  <a:srgbClr val="2B1D19"/>
                </a:solidFill>
              </a:rPr>
              <a:t>honest claim</a:t>
            </a:r>
            <a:r>
              <a:rPr lang="en-US" sz="2000" dirty="0">
                <a:solidFill>
                  <a:srgbClr val="2B1D19"/>
                </a:solidFill>
              </a:rPr>
              <a: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Two charts, two jobs</a:t>
            </a:r>
            <a:endParaRPr lang="en-US" sz="2800" dirty="0"/>
          </a:p>
        </p:txBody>
      </p:sp>
      <p:sp>
        <p:nvSpPr>
          <p:cNvPr id="3" name="Shape 1"/>
          <p:cNvSpPr/>
          <p:nvPr/>
        </p:nvSpPr>
        <p:spPr>
          <a:xfrm>
            <a:off x="457200" y="1051560"/>
            <a:ext cx="3977640" cy="3429000"/>
          </a:xfrm>
          <a:prstGeom prst="roundRect">
            <a:avLst>
              <a:gd name="adj" fmla="val 2133"/>
            </a:avLst>
          </a:prstGeom>
          <a:solidFill>
            <a:srgbClr val="FBF7F2"/>
          </a:solidFill>
          <a:ln w="12700">
            <a:solidFill>
              <a:srgbClr val="E5DBD2"/>
            </a:solidFill>
            <a:prstDash val="solid"/>
          </a:ln>
        </p:spPr>
      </p:sp>
      <p:sp>
        <p:nvSpPr>
          <p:cNvPr id="4" name="Text 2"/>
          <p:cNvSpPr txBox="1"/>
          <p:nvPr/>
        </p:nvSpPr>
        <p:spPr>
          <a:xfrm>
            <a:off x="64008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Aha chart</a:t>
            </a:r>
            <a:endParaRPr lang="en-US" sz="1800" dirty="0"/>
          </a:p>
        </p:txBody>
      </p:sp>
      <p:sp>
        <p:nvSpPr>
          <p:cNvPr id="5" name="Text 3"/>
          <p:cNvSpPr txBox="1"/>
          <p:nvPr/>
        </p:nvSpPr>
        <p:spPr>
          <a:xfrm>
            <a:off x="64008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b="1" dirty="0">
                <a:solidFill>
                  <a:srgbClr val="2B1D19"/>
                </a:solidFill>
              </a:rPr>
              <a:t>designed</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we chose its years, colours, title and annotation</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tells our audience one thing</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every data story needs one</a:t>
            </a:r>
            <a:endParaRPr lang="en-US" sz="1500" dirty="0"/>
          </a:p>
        </p:txBody>
      </p:sp>
      <p:sp>
        <p:nvSpPr>
          <p:cNvPr id="6" name="Shape 4"/>
          <p:cNvSpPr/>
          <p:nvPr/>
        </p:nvSpPr>
        <p:spPr>
          <a:xfrm>
            <a:off x="4709160" y="1051560"/>
            <a:ext cx="3977640" cy="3429000"/>
          </a:xfrm>
          <a:prstGeom prst="roundRect">
            <a:avLst>
              <a:gd name="adj" fmla="val 2133"/>
            </a:avLst>
          </a:prstGeom>
          <a:solidFill>
            <a:srgbClr val="F3ECE6"/>
          </a:solidFill>
          <a:ln w="12700">
            <a:solidFill>
              <a:srgbClr val="E5DBD2"/>
            </a:solidFill>
            <a:prstDash val="solid"/>
          </a:ln>
        </p:spPr>
      </p:sp>
      <p:sp>
        <p:nvSpPr>
          <p:cNvPr id="7" name="Text 5"/>
          <p:cNvSpPr txBox="1"/>
          <p:nvPr/>
        </p:nvSpPr>
        <p:spPr>
          <a:xfrm>
            <a:off x="489204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Explore chart</a:t>
            </a:r>
            <a:endParaRPr lang="en-US" sz="1800" dirty="0"/>
          </a:p>
        </p:txBody>
      </p:sp>
      <p:sp>
        <p:nvSpPr>
          <p:cNvPr id="8" name="Text 6"/>
          <p:cNvSpPr txBox="1"/>
          <p:nvPr/>
        </p:nvSpPr>
        <p:spPr>
          <a:xfrm>
            <a:off x="489204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dirty="0">
                <a:solidFill>
                  <a:srgbClr val="2B1D19"/>
                </a:solidFill>
              </a:rPr>
              <a:t>for </a:t>
            </a:r>
            <a:r>
              <a:rPr lang="en-US" sz="1500" b="1" dirty="0">
                <a:solidFill>
                  <a:srgbClr val="2B1D19"/>
                </a:solidFill>
              </a:rPr>
              <a:t>checking</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lets our audience ask their own questions</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a bonus</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is the Not Indie line grey instead of another bright colour?</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 we store the chart in </a:t>
            </a:r>
            <a:r>
              <a:rPr lang="en-US" sz="1800" b="1" dirty="0">
                <a:solidFill>
                  <a:srgbClr val="E8A55A"/>
                </a:solidFill>
                <a:latin typeface="Courier New" pitchFamily="34" charset="0"/>
                <a:ea typeface="Courier New" pitchFamily="34" charset="-122"/>
                <a:cs typeface="Courier New" pitchFamily="34" charset="-120"/>
              </a:rPr>
              <a:t>aha_chart</a:t>
            </a:r>
            <a:r>
              <a:rPr lang="en-US" sz="2000" dirty="0">
                <a:solidFill>
                  <a:srgbClr val="FFFFFF"/>
                </a:solidFill>
              </a:rPr>
              <a:t> before showing it?</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 we create the slider in one cell and use it in another?</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is </a:t>
            </a:r>
            <a:r>
              <a:rPr lang="en-US" sz="1800" b="1" dirty="0">
                <a:solidFill>
                  <a:srgbClr val="E8A55A"/>
                </a:solidFill>
                <a:latin typeface="Courier New" pitchFamily="34" charset="0"/>
                <a:ea typeface="Courier New" pitchFamily="34" charset="-122"/>
                <a:cs typeface="Courier New" pitchFamily="34" charset="-120"/>
              </a:rPr>
              <a:t>years.value</a:t>
            </a:r>
            <a:r>
              <a:rPr lang="en-US" sz="2000" dirty="0">
                <a:solidFill>
                  <a:srgbClr val="FFFFFF"/>
                </a:solidFill>
              </a:rPr>
              <a:t> when both handles are at the ends?</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We find a new pattern by exploring. What must we do before it goes in our story?</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Aha Moment</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Redesign your chosen insight as your Aha chart: one colour for what matters, grey for the rest, a headline title and an annotation. Write down the title and annotation text.</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Show your Aha chart to someone for five seconds, then ask what it shows. Record what they said, and what you changed.</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Add at least one UI element in the same cell as the table or chart it changes. Write down one thing you found by exploring, and whether it passed the checks.</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Aha Moment</dc:title>
  <dc:subject>PptxGenJS Presentation</dc:subject>
  <dc:creator>Steam Data Stories</dc:creator>
  <cp:lastModifiedBy>Steam Data Stories</cp:lastModifiedBy>
  <cp:revision>1</cp:revision>
  <dcterms:created xsi:type="dcterms:W3CDTF">2026-10-13T11:23:10Z</dcterms:created>
  <dcterms:modified xsi:type="dcterms:W3CDTF">2026-10-13T11:23:10Z</dcterms:modified>
</cp:coreProperties>
</file>