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37e50e1-c286-5066-d605-e1d589b93c28}">
          <p14:sldIdLst>
            <p14:sldId id="256"/>
            <p14:sldId id="257"/>
            <p14:sldId id="258"/>
            <p14:sldId id="259"/>
            <p14:sldId id="260"/>
          </p14:sldIdLst>
        </p14:section>
        <p14:section name="Notebooks and cells" id="{284a81c6-adfd-fff3-d8ba-2b2fabd2fa17}">
          <p14:sldIdLst>
            <p14:sldId id="261"/>
            <p14:sldId id="262"/>
            <p14:sldId id="263"/>
            <p14:sldId id="264"/>
          </p14:sldIdLst>
        </p14:section>
        <p14:section name="Import Polars" id="{5855ee4d-93bb-20c1-c36c-cef24c30460a}">
          <p14:sldIdLst>
            <p14:sldId id="265"/>
            <p14:sldId id="266"/>
          </p14:sldIdLst>
        </p14:section>
        <p14:section name="Load the data" id="{bc61788b-970f-b4e0-810f-f2bac39f2637}">
          <p14:sldIdLst>
            <p14:sldId id="267"/>
            <p14:sldId id="268"/>
            <p14:sldId id="269"/>
          </p14:sldIdLst>
        </p14:section>
        <p14:section name="How big is our data?" id="{6891dde6-777b-8665-231e-d99339fa3c02}">
          <p14:sldIdLst>
            <p14:sldId id="270"/>
            <p14:sldId id="271"/>
          </p14:sldIdLst>
        </p14:section>
        <p14:section name="What kind of data is in each column?" id="{240d5517-917e-1154-a471-0852410e0b98}">
          <p14:sldIdLst>
            <p14:sldId id="272"/>
            <p14:sldId id="273"/>
            <p14:sldId id="274"/>
            <p14:sldId id="275"/>
            <p14:sldId id="276"/>
            <p14:sldId id="277"/>
          </p14:sldIdLst>
        </p14:section>
        <p14:section name="Reactive cells" id="{a21a4935-abed-81e4-2b5f-e5bb4e02803c}">
          <p14:sldIdLst>
            <p14:sldId id="278"/>
            <p14:sldId id="279"/>
            <p14:sldId id="280"/>
            <p14:sldId id="281"/>
            <p14:sldId id="282"/>
          </p14:sldIdLst>
        </p14:section>
        <p14:section name="Exploring with the table viewer" id="{49fef23b-a406-ee23-4224-93444fa163a5}">
          <p14:sldIdLst>
            <p14:sldId id="283"/>
            <p14:sldId id="284"/>
            <p14:sldId id="285"/>
            <p14:sldId id="286"/>
          </p14:sldIdLst>
        </p14:section>
        <p14:section name="Wrap up" id="{7d9f2520-65b2-7dc9-529f-79d45a9ba55c}">
          <p14:sldIdLst>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Hook lesson and our first code. We open the Steam data in marimo, check its size and data types, see reactive cells in action and explore with the table viewer. About 60 minutes: 5 min hook, 10 min notebooks and cells, 15 min loading and checking the data, 15 min reactive cells, 15 min table viewer and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Today is about getting comfortable in marimo: every later lesson builds on this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new terms today, split over two slides. Each comes up as we use it, so a quick read-through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Reactive is the big new idea today. Ask students to guess what it might mean before reading the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many games are in our dataset? (10,250.) What does one row represent? (One game.) Why not just open it in a spreadsheet? (Code checks every row and repeats every step exactly; and we never save over the original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Notebooks are great for exploring data because each cell's result appears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every terminal shows (.venv) first. If not, close it and open a new one, as we did when we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one on the projector. Point out where the output appears: directly below the cell's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need this at the start of every lesson from now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always put imports in the first cell, so anyone reading our notebook can see which libraries 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most students predict some output. If a cell shows a red ModuleNotFoundError, Polars isn't installed in the virtual environment, so go back to installing the libraries.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in steam_games.csv, inside our data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A file not found error usually means the CSV isn't in the data folder or has been renamed by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what CSV means: comma-separated values, a plain text file where each line is one row. It's one of the most common ways to share data, because almost any program can read it. We'll explore this table properly at the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DataFrame's shape gives us both numbers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students who remember the dataset should predict 10,250 games and 13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use any column, we check its data type with the DataFrame's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the predict question sets up the surprise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can you see every column's data type? (No, only the first few.) How could we show each column on its own line? Students know for loops and dictionaries from the Turtle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changes the existing schema cell. Remind students that print output appears below the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clue that real data is messy. Ask students to add it to their list of strange things for the Your data story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another example of each from the schema. For instance, Negative is Int64 and Developers is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store a number in one cell, then use it in another cell to decide how many rows to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quick: the interesting part is the next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step 4: students change 5 to 10 in the sample_size cell, not this one. marimo knows the head cell uses sample_size, so we never have to remember which cells to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add a new cell with sample_size = 10 to see this. Reactivity only works if marimo knows exactly which cell creates each variable. The fix: hover over the new cell and click the delete (bin) button, then change the original cell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use this pattern a lot when we clean our data, so make sure students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from loading games is now far up the notebook, and head only shows a few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students worry this breaks the one variable, one cell rule. It doesn't: showing a variable isn't creating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each feature on the projector before students try the modify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Hollow Knight has 403,641 positive and 12,305 negative reviews. For task 3, don't give the answer yet: we look into those 0 scores next lesson. Free games really do cost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Below its code.
2. The number of rows (10,250 games) and columns (13).
3. We can't sort text dates into the right order or work out which year a game came out.
4. Changing a cell automatically re-runs every cell that uses its variables.
5. Each variable can only be created in one cell, otherwise marimo can't tell which value it should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use the table viewer for this. The strange things they note are clues for Behind the Scenes.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HOOK</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2</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Exploring Our Data</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3154680"/>
          </a:xfrm>
          <a:prstGeom prst="roundRect">
            <a:avLst>
              <a:gd name="adj" fmla="val 2319"/>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468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marimo notebooks and cells work</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load the Steam dataset with Polars</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check the size, columns and data types of a DataFrame</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marimo's reactive cells update automatically</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explore data with marimo's table viewer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429000"/>
          </a:xfrm>
          <a:prstGeom prst="roundRect">
            <a:avLst>
              <a:gd name="adj" fmla="val 2133"/>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74320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notebook</a:t>
            </a:r>
            <a:r>
              <a:rPr lang="en-US" sz="2000" dirty="0">
                <a:solidFill>
                  <a:srgbClr val="2B1D19"/>
                </a:solidFill>
              </a:rPr>
              <a:t> – a file where we write code in small blocks called cells and see each cell's result straight away.</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cell</a:t>
            </a:r>
            <a:r>
              <a:rPr lang="en-US" sz="2000" dirty="0">
                <a:solidFill>
                  <a:srgbClr val="2B1D19"/>
                </a:solidFill>
              </a:rPr>
              <a:t> – one block of code in a notebook, which we can run on its own.</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DataFrame</a:t>
            </a:r>
            <a:r>
              <a:rPr lang="en-US" sz="2000" dirty="0">
                <a:solidFill>
                  <a:srgbClr val="2B1D19"/>
                </a:solidFill>
              </a:rPr>
              <a:t> – a table of data with rows and columns, stored in our code.</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CSV</a:t>
            </a:r>
            <a:r>
              <a:rPr lang="en-US" sz="2000" dirty="0">
                <a:solidFill>
                  <a:srgbClr val="2B1D19"/>
                </a:solidFill>
              </a:rPr>
              <a:t> – comma-separated values: a plain text file where each line is one row and the values are separated by commas.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154680"/>
          </a:xfrm>
          <a:prstGeom prst="roundRect">
            <a:avLst>
              <a:gd name="adj" fmla="val 2319"/>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468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shape</a:t>
            </a:r>
            <a:r>
              <a:rPr lang="en-US" sz="2000" dirty="0">
                <a:solidFill>
                  <a:srgbClr val="2B1D19"/>
                </a:solidFill>
              </a:rPr>
              <a:t> – the number of rows and the number of columns in a DataFrame.</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schema</a:t>
            </a:r>
            <a:r>
              <a:rPr lang="en-US" sz="2000" dirty="0">
                <a:solidFill>
                  <a:srgbClr val="2B1D19"/>
                </a:solidFill>
              </a:rPr>
              <a:t> – the name and data type of every column in a DataFrame.</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reactive</a:t>
            </a:r>
            <a:r>
              <a:rPr lang="en-US" sz="2000" dirty="0">
                <a:solidFill>
                  <a:srgbClr val="2B1D19"/>
                </a:solidFill>
              </a:rPr>
              <a:t> – describes a notebook where changing a cell automatically re-runs every cell that uses its variables.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REMEMBER</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We met the Steam dataset on paper. Now it's time to open it.</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Code lets us check every row in seconds and repeat every step exactly. We'll use </a:t>
            </a:r>
            <a:r>
              <a:rPr lang="en-US" sz="1600" b="1" dirty="0">
                <a:solidFill>
                  <a:srgbClr val="F7EFE6"/>
                </a:solidFill>
              </a:rPr>
              <a:t>Polars</a:t>
            </a:r>
            <a:r>
              <a:rPr lang="en-US" sz="1600" dirty="0">
                <a:solidFill>
                  <a:srgbClr val="F7EFE6"/>
                </a:solidFill>
              </a:rPr>
              <a:t> to load the data and </a:t>
            </a:r>
            <a:r>
              <a:rPr lang="en-US" sz="1600" b="1" dirty="0">
                <a:solidFill>
                  <a:srgbClr val="F7EFE6"/>
                </a:solidFill>
              </a:rPr>
              <a:t>marimo</a:t>
            </a:r>
            <a:r>
              <a:rPr lang="en-US" sz="1600" dirty="0">
                <a:solidFill>
                  <a:srgbClr val="F7EFE6"/>
                </a:solidFill>
              </a:rPr>
              <a:t> to run our code.</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Notebooks and cells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We try something, look at the result, then decide what to try next.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Open our notebook</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terminal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marimo edit clean_steam.py</a:t>
            </a:r>
            <a:endParaRPr lang="en-US" sz="1400" dirty="0"/>
          </a:p>
        </p:txBody>
      </p:sp>
      <p:sp>
        <p:nvSpPr>
          <p:cNvPr id="6" name="Text 4"/>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7" name="Text 5"/>
          <p:cNvSpPr txBox="1"/>
          <p:nvPr/>
        </p:nvSpPr>
        <p:spPr>
          <a:xfrm>
            <a:off x="4572000" y="1399032"/>
            <a:ext cx="4114800" cy="10972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marimo notebooks are saved as ordinary Python files. </a:t>
            </a:r>
            <a:r>
              <a:rPr lang="en-US" sz="1300" b="1" dirty="0">
                <a:solidFill>
                  <a:srgbClr val="B86E1E"/>
                </a:solidFill>
                <a:latin typeface="Courier New" pitchFamily="34" charset="0"/>
                <a:ea typeface="Courier New" pitchFamily="34" charset="-122"/>
                <a:cs typeface="Courier New" pitchFamily="34" charset="-120"/>
              </a:rPr>
              <a:t>clean_steam.py</a:t>
            </a:r>
            <a:r>
              <a:rPr lang="en-US" sz="1500" dirty="0">
                <a:solidFill>
                  <a:srgbClr val="2B1D19"/>
                </a:solidFill>
              </a:rPr>
              <a:t> is the one we made when we set up, and we'll use it to explore and clean our data.</a:t>
            </a:r>
            <a:endParaRPr lang="en-US" sz="1500" dirty="0"/>
          </a:p>
        </p:txBody>
      </p:sp>
      <p:sp>
        <p:nvSpPr>
          <p:cNvPr id="8" name="Text 6"/>
          <p:cNvSpPr txBox="1"/>
          <p:nvPr/>
        </p:nvSpPr>
        <p:spPr>
          <a:xfrm>
            <a:off x="4572000" y="2679192"/>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Steps</a:t>
            </a:r>
            <a:endParaRPr lang="en-US" sz="1400" dirty="0"/>
          </a:p>
        </p:txBody>
      </p:sp>
      <p:sp>
        <p:nvSpPr>
          <p:cNvPr id="9" name="Text 7"/>
          <p:cNvSpPr txBox="1"/>
          <p:nvPr/>
        </p:nvSpPr>
        <p:spPr>
          <a:xfrm>
            <a:off x="4572000" y="3026664"/>
            <a:ext cx="4114800" cy="14996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dirty="0">
                <a:solidFill>
                  <a:srgbClr val="2B1D19"/>
                </a:solidFill>
              </a:rPr>
              <a:t>open </a:t>
            </a:r>
            <a:r>
              <a:rPr lang="en-US" sz="1200" b="1" dirty="0">
                <a:solidFill>
                  <a:srgbClr val="B86E1E"/>
                </a:solidFill>
                <a:latin typeface="Courier New" pitchFamily="34" charset="0"/>
                <a:ea typeface="Courier New" pitchFamily="34" charset="-122"/>
                <a:cs typeface="Courier New" pitchFamily="34" charset="-120"/>
              </a:rPr>
              <a:t>steam_data_stories</a:t>
            </a:r>
            <a:r>
              <a:rPr lang="en-US" sz="1400" dirty="0">
                <a:solidFill>
                  <a:srgbClr val="2B1D19"/>
                </a:solidFill>
              </a:rPr>
              <a:t> in VS Code and open a new terminal</a:t>
            </a:r>
            <a:endParaRPr lang="en-US" sz="1400" dirty="0"/>
          </a:p>
          <a:p>
            <a:pPr marL="342900" indent="-342900">
              <a:spcAft>
                <a:spcPts val="400"/>
              </a:spcAft>
              <a:buSzPct val="100000"/>
              <a:buChar char="•"/>
            </a:pPr>
            <a:r>
              <a:rPr lang="en-US" sz="1400" dirty="0">
                <a:solidFill>
                  <a:srgbClr val="2B1D19"/>
                </a:solidFill>
              </a:rPr>
              <a:t>​</a:t>
            </a:r>
            <a:r>
              <a:rPr lang="en-US" sz="1400" dirty="0">
                <a:solidFill>
                  <a:srgbClr val="2B1D19"/>
                </a:solidFill>
              </a:rPr>
              <a:t>check the prompt starts with </a:t>
            </a:r>
            <a:r>
              <a:rPr lang="en-US" sz="1200" b="1" dirty="0">
                <a:solidFill>
                  <a:srgbClr val="B86E1E"/>
                </a:solidFill>
                <a:latin typeface="Courier New" pitchFamily="34" charset="0"/>
                <a:ea typeface="Courier New" pitchFamily="34" charset="-122"/>
                <a:cs typeface="Courier New" pitchFamily="34" charset="-120"/>
              </a:rPr>
              <a:t>(.venv)</a:t>
            </a:r>
            <a:endParaRPr lang="en-US" sz="1400" dirty="0"/>
          </a:p>
          <a:p>
            <a:pPr marL="342900" indent="-342900">
              <a:spcAft>
                <a:spcPts val="400"/>
              </a:spcAft>
              <a:buSzPct val="100000"/>
              <a:buChar char="•"/>
            </a:pPr>
            <a:r>
              <a:rPr lang="en-US" sz="1400" dirty="0">
                <a:solidFill>
                  <a:srgbClr val="2B1D19"/>
                </a:solidFill>
              </a:rPr>
              <a:t>​</a:t>
            </a:r>
            <a:r>
              <a:rPr lang="en-US" sz="1400" dirty="0">
                <a:solidFill>
                  <a:srgbClr val="2B1D19"/>
                </a:solidFill>
              </a:rPr>
              <a:t>the notebook opens in a browser tab, with one empty cell</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Working with cells</a:t>
            </a:r>
            <a:endParaRPr lang="en-US" sz="2800" dirty="0"/>
          </a:p>
        </p:txBody>
      </p:sp>
      <p:pic>
        <p:nvPicPr>
          <p:cNvPr id="3" name="Image 0" descr="A marimo cell with labels pointing to the Add cell before and Add cell after buttons on its left, and the Run button on its right">    </p:cNvPr>
          <p:cNvPicPr>
            <a:picLocks noChangeAspect="1"/>
          </p:cNvPicPr>
          <p:nvPr/>
        </p:nvPicPr>
        <p:blipFill>
          <a:blip r:embed="rId1"/>
          <a:stretch>
            <a:fillRect/>
          </a:stretch>
        </p:blipFill>
        <p:spPr>
          <a:xfrm>
            <a:off x="457200" y="1005840"/>
            <a:ext cx="8229600" cy="1464162"/>
          </a:xfrm>
          <a:prstGeom prst="rect">
            <a:avLst/>
          </a:prstGeom>
        </p:spPr>
      </p:pic>
      <p:sp>
        <p:nvSpPr>
          <p:cNvPr id="4" name="Text 1"/>
          <p:cNvSpPr txBox="1"/>
          <p:nvPr/>
        </p:nvSpPr>
        <p:spPr>
          <a:xfrm>
            <a:off x="457200" y="2579730"/>
            <a:ext cx="8229600" cy="1946550"/>
          </a:xfrm>
          <a:prstGeom prst="rect">
            <a:avLst/>
          </a:prstGeom>
          <a:noFill/>
          <a:ln/>
        </p:spPr>
        <p:txBody>
          <a:bodyPr wrap="square" lIns="0" tIns="0" rIns="0" bIns="0" rtlCol="0" anchor="t">
            <a:normAutofit/>
          </a:bodyPr>
          <a:lstStyle/>
          <a:p>
            <a:pPr marL="342900" indent="-342900">
              <a:spcAft>
                <a:spcPts val="300"/>
              </a:spcAft>
              <a:buSzPct val="100000"/>
              <a:buChar char="•"/>
            </a:pPr>
            <a:r>
              <a:rPr lang="en-US" sz="1500" dirty="0">
                <a:solidFill>
                  <a:srgbClr val="2B1D19"/>
                </a:solidFill>
              </a:rPr>
              <a:t>​</a:t>
            </a:r>
            <a:r>
              <a:rPr lang="en-US" sz="1500" b="1" dirty="0">
                <a:solidFill>
                  <a:srgbClr val="2B1D19"/>
                </a:solidFill>
              </a:rPr>
              <a:t>run a cell</a:t>
            </a:r>
            <a:r>
              <a:rPr lang="en-US" sz="1500" dirty="0">
                <a:solidFill>
                  <a:srgbClr val="2B1D19"/>
                </a:solidFill>
              </a:rPr>
              <a:t> with its ▶ button or </a:t>
            </a:r>
            <a:r>
              <a:rPr lang="en-US" sz="1500" b="1" dirty="0">
                <a:solidFill>
                  <a:srgbClr val="2B1D19"/>
                </a:solidFill>
              </a:rPr>
              <a:t>Ctrl+Enter</a:t>
            </a:r>
            <a:r>
              <a:rPr lang="en-US" sz="1500" dirty="0">
                <a:solidFill>
                  <a:srgbClr val="2B1D19"/>
                </a:solidFill>
              </a:rPr>
              <a:t> (</a:t>
            </a:r>
            <a:r>
              <a:rPr lang="en-US" sz="1500" b="1" dirty="0">
                <a:solidFill>
                  <a:srgbClr val="2B1D19"/>
                </a:solidFill>
              </a:rPr>
              <a:t>Cmd+Enter</a:t>
            </a:r>
            <a:r>
              <a:rPr lang="en-US" sz="1500" dirty="0">
                <a:solidFill>
                  <a:srgbClr val="2B1D19"/>
                </a:solidFill>
              </a:rPr>
              <a:t> on a Mac)</a:t>
            </a:r>
            <a:endParaRPr lang="en-US" sz="1500" dirty="0"/>
          </a:p>
          <a:p>
            <a:pPr marL="342900" indent="-342900">
              <a:spcAft>
                <a:spcPts val="300"/>
              </a:spcAft>
              <a:buSzPct val="100000"/>
              <a:buChar char="•"/>
            </a:pPr>
            <a:r>
              <a:rPr lang="en-US" sz="1500" dirty="0">
                <a:solidFill>
                  <a:srgbClr val="2B1D19"/>
                </a:solidFill>
              </a:rPr>
              <a:t>​</a:t>
            </a:r>
            <a:r>
              <a:rPr lang="en-US" sz="1500" b="1" dirty="0">
                <a:solidFill>
                  <a:srgbClr val="2B1D19"/>
                </a:solidFill>
              </a:rPr>
              <a:t>Shift+Enter</a:t>
            </a:r>
            <a:r>
              <a:rPr lang="en-US" sz="1500" dirty="0">
                <a:solidFill>
                  <a:srgbClr val="2B1D19"/>
                </a:solidFill>
              </a:rPr>
              <a:t> runs a cell and starts a new one below it</a:t>
            </a:r>
            <a:endParaRPr lang="en-US" sz="1500" dirty="0"/>
          </a:p>
          <a:p>
            <a:pPr marL="342900" indent="-342900">
              <a:spcAft>
                <a:spcPts val="300"/>
              </a:spcAft>
              <a:buSzPct val="100000"/>
              <a:buChar char="•"/>
            </a:pPr>
            <a:r>
              <a:rPr lang="en-US" sz="1500" dirty="0">
                <a:solidFill>
                  <a:srgbClr val="2B1D19"/>
                </a:solidFill>
              </a:rPr>
              <a:t>​</a:t>
            </a:r>
            <a:r>
              <a:rPr lang="en-US" sz="1500" b="1" dirty="0">
                <a:solidFill>
                  <a:srgbClr val="2B1D19"/>
                </a:solidFill>
              </a:rPr>
              <a:t>add a cell</a:t>
            </a:r>
            <a:r>
              <a:rPr lang="en-US" sz="1500" dirty="0">
                <a:solidFill>
                  <a:srgbClr val="2B1D19"/>
                </a:solidFill>
              </a:rPr>
              <a:t> with the </a:t>
            </a:r>
            <a:r>
              <a:rPr lang="en-US" sz="1500" b="1" dirty="0">
                <a:solidFill>
                  <a:srgbClr val="2B1D19"/>
                </a:solidFill>
              </a:rPr>
              <a:t>+</a:t>
            </a:r>
            <a:r>
              <a:rPr lang="en-US" sz="1500" dirty="0">
                <a:solidFill>
                  <a:srgbClr val="2B1D19"/>
                </a:solidFill>
              </a:rPr>
              <a:t> button above or below a cell</a:t>
            </a:r>
            <a:endParaRPr lang="en-US" sz="1500" dirty="0"/>
          </a:p>
          <a:p>
            <a:pPr marL="342900" indent="-342900">
              <a:spcAft>
                <a:spcPts val="300"/>
              </a:spcAft>
              <a:buSzPct val="100000"/>
              <a:buChar char="•"/>
            </a:pPr>
            <a:r>
              <a:rPr lang="en-US" sz="1500" dirty="0">
                <a:solidFill>
                  <a:srgbClr val="2B1D19"/>
                </a:solidFill>
              </a:rPr>
              <a:t>​</a:t>
            </a:r>
            <a:r>
              <a:rPr lang="en-US" sz="1500" dirty="0">
                <a:solidFill>
                  <a:srgbClr val="2B1D19"/>
                </a:solidFill>
              </a:rPr>
              <a:t>a cell's </a:t>
            </a:r>
            <a:r>
              <a:rPr lang="en-US" sz="1500" b="1" dirty="0">
                <a:solidFill>
                  <a:srgbClr val="2B1D19"/>
                </a:solidFill>
              </a:rPr>
              <a:t>output</a:t>
            </a:r>
            <a:r>
              <a:rPr lang="en-US" sz="1500" dirty="0">
                <a:solidFill>
                  <a:srgbClr val="2B1D19"/>
                </a:solidFill>
              </a:rPr>
              <a:t> appears </a:t>
            </a:r>
            <a:r>
              <a:rPr lang="en-US" sz="1500" b="1" dirty="0">
                <a:solidFill>
                  <a:srgbClr val="2B1D19"/>
                </a:solidFill>
              </a:rPr>
              <a:t>below</a:t>
            </a:r>
            <a:r>
              <a:rPr lang="en-US" sz="1500" dirty="0">
                <a:solidFill>
                  <a:srgbClr val="2B1D19"/>
                </a:solidFill>
              </a:rPr>
              <a:t> its code, and marimo </a:t>
            </a:r>
            <a:r>
              <a:rPr lang="en-US" sz="1500" b="1" dirty="0">
                <a:solidFill>
                  <a:srgbClr val="2B1D19"/>
                </a:solidFill>
              </a:rPr>
              <a:t>saves</a:t>
            </a:r>
            <a:r>
              <a:rPr lang="en-US" sz="1500" dirty="0">
                <a:solidFill>
                  <a:srgbClr val="2B1D19"/>
                </a:solidFill>
              </a:rPr>
              <a:t> automatically</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Reopening a notebook</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When we reopen a notebook, marimo shows our code but doesn't run it, so none of the outputs appear. Press </a:t>
            </a:r>
            <a:r>
              <a:rPr lang="en-US" sz="2000" b="1" dirty="0">
                <a:solidFill>
                  <a:srgbClr val="2B1D19"/>
                </a:solidFill>
              </a:rPr>
              <a:t>Ctrl+Shift+R</a:t>
            </a:r>
            <a:r>
              <a:rPr lang="en-US" sz="2000" dirty="0">
                <a:solidFill>
                  <a:srgbClr val="2B1D19"/>
                </a:solidFill>
              </a:rPr>
              <a:t> (</a:t>
            </a:r>
            <a:r>
              <a:rPr lang="en-US" sz="2000" b="1" dirty="0">
                <a:solidFill>
                  <a:srgbClr val="2B1D19"/>
                </a:solidFill>
              </a:rPr>
              <a:t>Cmd+Shift+R</a:t>
            </a:r>
            <a:r>
              <a:rPr lang="en-US" sz="2000" dirty="0">
                <a:solidFill>
                  <a:srgbClr val="2B1D19"/>
                </a:solidFill>
              </a:rPr>
              <a:t> on a Mac) to </a:t>
            </a:r>
            <a:r>
              <a:rPr lang="en-US" sz="2000" b="1" dirty="0">
                <a:solidFill>
                  <a:srgbClr val="2B1D19"/>
                </a:solidFill>
              </a:rPr>
              <a:t>run all stale cells</a:t>
            </a:r>
            <a:r>
              <a:rPr lang="en-US" sz="2000" dirty="0">
                <a:solidFill>
                  <a:srgbClr val="2B1D19"/>
                </a:solidFill>
              </a:rPr>
              <a:t>: every cell that hasn't been run yet.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Import Polars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Importing loads a library so our notebook can use its commands.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Import Polars in the first cell</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first cell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import polars as pl</a:t>
            </a:r>
            <a:endParaRPr lang="en-US" sz="1400" dirty="0"/>
          </a:p>
        </p:txBody>
      </p:sp>
      <p:sp>
        <p:nvSpPr>
          <p:cNvPr id="6" name="Text 4"/>
          <p:cNvSpPr txBox="1"/>
          <p:nvPr/>
        </p:nvSpPr>
        <p:spPr>
          <a:xfrm>
            <a:off x="457200" y="1929765"/>
            <a:ext cx="384048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Nothing appears, and that's what we want: importing just makes the library ready.</a:t>
            </a:r>
            <a:endParaRPr lang="en-US" sz="1500" dirty="0"/>
          </a:p>
        </p:txBody>
      </p:sp>
      <p:sp>
        <p:nvSpPr>
          <p:cNvPr id="7" name="primm box"/>
          <p:cNvSpPr/>
          <p:nvPr/>
        </p:nvSpPr>
        <p:spPr>
          <a:xfrm>
            <a:off x="457200" y="2432685"/>
            <a:ext cx="3840480" cy="1285240"/>
          </a:xfrm>
          <a:prstGeom prst="roundRect">
            <a:avLst>
              <a:gd name="adj" fmla="val 5692"/>
            </a:avLst>
          </a:prstGeom>
          <a:solidFill>
            <a:srgbClr val="E6F2E6"/>
          </a:solidFill>
          <a:ln w="12700">
            <a:solidFill>
              <a:srgbClr val="E6F2E6"/>
            </a:solidFill>
            <a:prstDash val="solid"/>
          </a:ln>
        </p:spPr>
      </p:sp>
      <p:sp>
        <p:nvSpPr>
          <p:cNvPr id="8" name="Text 6"/>
          <p:cNvSpPr txBox="1"/>
          <p:nvPr/>
        </p:nvSpPr>
        <p:spPr>
          <a:xfrm>
            <a:off x="685800" y="2569845"/>
            <a:ext cx="338328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9" name="Text 7"/>
          <p:cNvSpPr txBox="1"/>
          <p:nvPr/>
        </p:nvSpPr>
        <p:spPr>
          <a:xfrm>
            <a:off x="685800" y="2935605"/>
            <a:ext cx="338328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What do you think will appear when we run this cell?</a:t>
            </a:r>
            <a:endParaRPr lang="en-US" sz="1500" dirty="0"/>
          </a:p>
        </p:txBody>
      </p:sp>
      <p:sp>
        <p:nvSpPr>
          <p:cNvPr id="10" name="Text 8"/>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1" name="Text 9"/>
          <p:cNvSpPr txBox="1"/>
          <p:nvPr/>
        </p:nvSpPr>
        <p:spPr>
          <a:xfrm>
            <a:off x="4572000" y="1399032"/>
            <a:ext cx="4114800" cy="10972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Before we can use Polars, we have to import it. Imports always go in the first cell, so anyone reading our notebook can see which libraries it needs.</a:t>
            </a:r>
            <a:endParaRPr lang="en-US" sz="1500" dirty="0"/>
          </a:p>
        </p:txBody>
      </p:sp>
      <p:sp>
        <p:nvSpPr>
          <p:cNvPr id="12" name="Text 10"/>
          <p:cNvSpPr txBox="1"/>
          <p:nvPr/>
        </p:nvSpPr>
        <p:spPr>
          <a:xfrm>
            <a:off x="4572000" y="2679192"/>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3" name="Text 11"/>
          <p:cNvSpPr txBox="1"/>
          <p:nvPr/>
        </p:nvSpPr>
        <p:spPr>
          <a:xfrm>
            <a:off x="4572000" y="3026664"/>
            <a:ext cx="4114800" cy="14996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1</a:t>
            </a:r>
            <a:r>
              <a:rPr lang="en-US" sz="1400" dirty="0">
                <a:solidFill>
                  <a:srgbClr val="2B1D19"/>
                </a:solidFill>
              </a:rPr>
              <a:t> → imports Polars with the short name </a:t>
            </a:r>
            <a:r>
              <a:rPr lang="en-US" sz="1200" b="1" dirty="0">
                <a:solidFill>
                  <a:srgbClr val="B86E1E"/>
                </a:solidFill>
                <a:latin typeface="Courier New" pitchFamily="34" charset="0"/>
                <a:ea typeface="Courier New" pitchFamily="34" charset="-122"/>
                <a:cs typeface="Courier New" pitchFamily="34" charset="-120"/>
              </a:rPr>
              <a:t>pl</a:t>
            </a:r>
            <a:r>
              <a:rPr lang="en-US" sz="1400" dirty="0">
                <a:solidFill>
                  <a:srgbClr val="2B1D19"/>
                </a:solidFill>
              </a:rPr>
              <a:t>, so we type </a:t>
            </a:r>
            <a:r>
              <a:rPr lang="en-US" sz="1200" b="1" dirty="0">
                <a:solidFill>
                  <a:srgbClr val="B86E1E"/>
                </a:solidFill>
                <a:latin typeface="Courier New" pitchFamily="34" charset="0"/>
                <a:ea typeface="Courier New" pitchFamily="34" charset="-122"/>
                <a:cs typeface="Courier New" pitchFamily="34" charset="-120"/>
              </a:rPr>
              <a:t>pl</a:t>
            </a:r>
            <a:r>
              <a:rPr lang="en-US" sz="1400" dirty="0">
                <a:solidFill>
                  <a:srgbClr val="2B1D19"/>
                </a:solidFill>
              </a:rPr>
              <a:t> instead of </a:t>
            </a:r>
            <a:r>
              <a:rPr lang="en-US" sz="1200" b="1" dirty="0">
                <a:solidFill>
                  <a:srgbClr val="B86E1E"/>
                </a:solidFill>
                <a:latin typeface="Courier New" pitchFamily="34" charset="0"/>
                <a:ea typeface="Courier New" pitchFamily="34" charset="-122"/>
                <a:cs typeface="Courier New" pitchFamily="34" charset="-120"/>
              </a:rPr>
              <a:t>polars</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Load the data</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Polars stores a table of data in a </a:t>
            </a:r>
            <a:r>
              <a:rPr lang="en-US" sz="1800" b="1" dirty="0">
                <a:solidFill>
                  <a:srgbClr val="F7EFE6"/>
                </a:solidFill>
              </a:rPr>
              <a:t>DataFrame</a:t>
            </a:r>
            <a:r>
              <a:rPr lang="en-US" sz="1800" dirty="0">
                <a:solidFill>
                  <a:srgbClr val="F7EFE6"/>
                </a:solidFill>
              </a:rPr>
              <a:t>: rows and columns, like a spreadsheet, but in our code.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Read the CSV into a DataFrame</a:t>
            </a:r>
            <a:endParaRPr lang="en-US" sz="2800" dirty="0"/>
          </a:p>
        </p:txBody>
      </p:sp>
      <p:sp>
        <p:nvSpPr>
          <p:cNvPr id="3" name="Code panel"/>
          <p:cNvSpPr/>
          <p:nvPr/>
        </p:nvSpPr>
        <p:spPr>
          <a:xfrm>
            <a:off x="457200" y="1051560"/>
            <a:ext cx="5120640" cy="1024890"/>
          </a:xfrm>
          <a:prstGeom prst="roundRect">
            <a:avLst>
              <a:gd name="adj" fmla="val 5353"/>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4846320" cy="458470"/>
          </a:xfrm>
          <a:prstGeom prst="rect">
            <a:avLst/>
          </a:prstGeom>
          <a:noFill/>
          <a:ln/>
        </p:spPr>
        <p:txBody>
          <a:bodyPr wrap="square" lIns="0" tIns="0" rIns="0" bIns="0" rtlCol="0" anchor="t"/>
          <a:lstStyle/>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1  </a:t>
            </a:r>
            <a:r>
              <a:rPr lang="en-US" sz="1300" dirty="0">
                <a:solidFill>
                  <a:srgbClr val="F7EFE6"/>
                </a:solidFill>
                <a:latin typeface="Courier New" pitchFamily="34" charset="0"/>
                <a:ea typeface="Courier New" pitchFamily="34" charset="-122"/>
                <a:cs typeface="Courier New" pitchFamily="34" charset="-120"/>
              </a:rPr>
              <a:t>games = pl.read_csv("data/steam_games.csv")</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2  </a:t>
            </a:r>
            <a:r>
              <a:rPr lang="en-US" sz="1300" dirty="0">
                <a:solidFill>
                  <a:srgbClr val="F7EFE6"/>
                </a:solidFill>
                <a:latin typeface="Courier New" pitchFamily="34" charset="0"/>
                <a:ea typeface="Courier New" pitchFamily="34" charset="-122"/>
                <a:cs typeface="Courier New" pitchFamily="34" charset="-120"/>
              </a:rPr>
              <a:t>games</a:t>
            </a:r>
            <a:endParaRPr lang="en-US" sz="1300" dirty="0"/>
          </a:p>
        </p:txBody>
      </p:sp>
      <p:sp>
        <p:nvSpPr>
          <p:cNvPr id="6" name="primm box"/>
          <p:cNvSpPr/>
          <p:nvPr/>
        </p:nvSpPr>
        <p:spPr>
          <a:xfrm>
            <a:off x="457200" y="2213610"/>
            <a:ext cx="5120640" cy="1056640"/>
          </a:xfrm>
          <a:prstGeom prst="roundRect">
            <a:avLst>
              <a:gd name="adj" fmla="val 6923"/>
            </a:avLst>
          </a:prstGeom>
          <a:solidFill>
            <a:srgbClr val="E6F2E6"/>
          </a:solidFill>
          <a:ln w="12700">
            <a:solidFill>
              <a:srgbClr val="E6F2E6"/>
            </a:solidFill>
            <a:prstDash val="solid"/>
          </a:ln>
        </p:spPr>
      </p:sp>
      <p:sp>
        <p:nvSpPr>
          <p:cNvPr id="7" name="Text 5"/>
          <p:cNvSpPr txBox="1"/>
          <p:nvPr/>
        </p:nvSpPr>
        <p:spPr>
          <a:xfrm>
            <a:off x="685800" y="2350770"/>
            <a:ext cx="466344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8" name="Text 6"/>
          <p:cNvSpPr txBox="1"/>
          <p:nvPr/>
        </p:nvSpPr>
        <p:spPr>
          <a:xfrm>
            <a:off x="685800" y="2716530"/>
            <a:ext cx="4663440" cy="3708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What will appear below the cell when we run it?</a:t>
            </a:r>
            <a:endParaRPr lang="en-US" sz="1500" dirty="0"/>
          </a:p>
        </p:txBody>
      </p:sp>
      <p:sp>
        <p:nvSpPr>
          <p:cNvPr id="9" name="Text 7"/>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0" name="Text 8"/>
          <p:cNvSpPr txBox="1"/>
          <p:nvPr/>
        </p:nvSpPr>
        <p:spPr>
          <a:xfrm>
            <a:off x="5852160" y="1399032"/>
            <a:ext cx="2834640" cy="10972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Polars' </a:t>
            </a:r>
            <a:r>
              <a:rPr lang="en-US" sz="1300" b="1" dirty="0">
                <a:solidFill>
                  <a:srgbClr val="B86E1E"/>
                </a:solidFill>
                <a:latin typeface="Courier New" pitchFamily="34" charset="0"/>
                <a:ea typeface="Courier New" pitchFamily="34" charset="-122"/>
                <a:cs typeface="Courier New" pitchFamily="34" charset="-120"/>
              </a:rPr>
              <a:t>read_csv</a:t>
            </a:r>
            <a:r>
              <a:rPr lang="en-US" sz="1500" dirty="0">
                <a:solidFill>
                  <a:srgbClr val="2B1D19"/>
                </a:solidFill>
              </a:rPr>
              <a:t> reads </a:t>
            </a:r>
            <a:r>
              <a:rPr lang="en-US" sz="1300" b="1" dirty="0">
                <a:solidFill>
                  <a:srgbClr val="B86E1E"/>
                </a:solidFill>
                <a:latin typeface="Courier New" pitchFamily="34" charset="0"/>
                <a:ea typeface="Courier New" pitchFamily="34" charset="-122"/>
                <a:cs typeface="Courier New" pitchFamily="34" charset="-120"/>
              </a:rPr>
              <a:t>steam_games.csv</a:t>
            </a:r>
            <a:r>
              <a:rPr lang="en-US" sz="1500" dirty="0">
                <a:solidFill>
                  <a:srgbClr val="2B1D19"/>
                </a:solidFill>
              </a:rPr>
              <a:t> into a DataFrame. We call it </a:t>
            </a:r>
            <a:r>
              <a:rPr lang="en-US" sz="1300" b="1" dirty="0">
                <a:solidFill>
                  <a:srgbClr val="B86E1E"/>
                </a:solidFill>
                <a:latin typeface="Courier New" pitchFamily="34" charset="0"/>
                <a:ea typeface="Courier New" pitchFamily="34" charset="-122"/>
                <a:cs typeface="Courier New" pitchFamily="34" charset="-120"/>
              </a:rPr>
              <a:t>games</a:t>
            </a:r>
            <a:r>
              <a:rPr lang="en-US" sz="1500" dirty="0">
                <a:solidFill>
                  <a:srgbClr val="2B1D19"/>
                </a:solidFill>
              </a:rPr>
              <a:t>, because each row is one game.</a:t>
            </a:r>
            <a:endParaRPr lang="en-US" sz="1500" dirty="0"/>
          </a:p>
        </p:txBody>
      </p:sp>
      <p:sp>
        <p:nvSpPr>
          <p:cNvPr id="11" name="Text 9"/>
          <p:cNvSpPr txBox="1"/>
          <p:nvPr/>
        </p:nvSpPr>
        <p:spPr>
          <a:xfrm>
            <a:off x="5852160" y="2679192"/>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2" name="Text 10"/>
          <p:cNvSpPr txBox="1"/>
          <p:nvPr/>
        </p:nvSpPr>
        <p:spPr>
          <a:xfrm>
            <a:off x="5852160" y="3026664"/>
            <a:ext cx="2834640" cy="14996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1</a:t>
            </a:r>
            <a:r>
              <a:rPr lang="en-US" sz="1400" dirty="0">
                <a:solidFill>
                  <a:srgbClr val="2B1D19"/>
                </a:solidFill>
              </a:rPr>
              <a:t> → reads every row of </a:t>
            </a:r>
            <a:r>
              <a:rPr lang="en-US" sz="1200" b="1" dirty="0">
                <a:solidFill>
                  <a:srgbClr val="B86E1E"/>
                </a:solidFill>
                <a:latin typeface="Courier New" pitchFamily="34" charset="0"/>
                <a:ea typeface="Courier New" pitchFamily="34" charset="-122"/>
                <a:cs typeface="Courier New" pitchFamily="34" charset="-120"/>
              </a:rPr>
              <a:t>steam_games.csv</a:t>
            </a:r>
            <a:r>
              <a:rPr lang="en-US" sz="1400" dirty="0">
                <a:solidFill>
                  <a:srgbClr val="2B1D19"/>
                </a:solidFill>
              </a:rPr>
              <a:t> into a DataFrame called </a:t>
            </a:r>
            <a:r>
              <a:rPr lang="en-US" sz="1200" b="1" dirty="0">
                <a:solidFill>
                  <a:srgbClr val="B86E1E"/>
                </a:solidFill>
                <a:latin typeface="Courier New" pitchFamily="34" charset="0"/>
                <a:ea typeface="Courier New" pitchFamily="34" charset="-122"/>
                <a:cs typeface="Courier New" pitchFamily="34" charset="-120"/>
              </a:rPr>
              <a:t>games</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line 2</a:t>
            </a:r>
            <a:r>
              <a:rPr lang="en-US" sz="1400" dirty="0">
                <a:solidFill>
                  <a:srgbClr val="2B1D19"/>
                </a:solidFill>
              </a:rPr>
              <a:t> → shows </a:t>
            </a:r>
            <a:r>
              <a:rPr lang="en-US" sz="1200" b="1" dirty="0">
                <a:solidFill>
                  <a:srgbClr val="B86E1E"/>
                </a:solidFill>
                <a:latin typeface="Courier New" pitchFamily="34" charset="0"/>
                <a:ea typeface="Courier New" pitchFamily="34" charset="-122"/>
                <a:cs typeface="Courier New" pitchFamily="34" charset="-120"/>
              </a:rPr>
              <a:t>games</a:t>
            </a:r>
            <a:r>
              <a:rPr lang="en-US" sz="1400" dirty="0">
                <a:solidFill>
                  <a:srgbClr val="2B1D19"/>
                </a:solidFill>
              </a:rPr>
              <a:t>: marimo displays the value of a cell's last line</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data in marimo's table viewer</a:t>
            </a:r>
            <a:endParaRPr lang="en-US" sz="2800" dirty="0"/>
          </a:p>
        </p:txBody>
      </p:sp>
      <p:pic>
        <p:nvPicPr>
          <p:cNvPr id="3" name="Image 0" descr="marimo's table viewer showing the games DataFrame, with columns AppID, Name, Release date, Price and more, and a summary chart at the top of each column">    </p:cNvPr>
          <p:cNvPicPr>
            <a:picLocks noChangeAspect="1"/>
          </p:cNvPicPr>
          <p:nvPr/>
        </p:nvPicPr>
        <p:blipFill>
          <a:blip r:embed="rId1"/>
          <a:stretch>
            <a:fillRect/>
          </a:stretch>
        </p:blipFill>
        <p:spPr>
          <a:xfrm>
            <a:off x="1441908" y="1051560"/>
            <a:ext cx="6260184" cy="2971800"/>
          </a:xfrm>
          <a:prstGeom prst="rect">
            <a:avLst/>
          </a:prstGeom>
        </p:spPr>
      </p:pic>
      <p:sp>
        <p:nvSpPr>
          <p:cNvPr id="4" name="Text 1"/>
          <p:cNvSpPr txBox="1"/>
          <p:nvPr/>
        </p:nvSpPr>
        <p:spPr>
          <a:xfrm>
            <a:off x="457200" y="4069080"/>
            <a:ext cx="8229600" cy="411480"/>
          </a:xfrm>
          <a:prstGeom prst="rect">
            <a:avLst/>
          </a:prstGeom>
          <a:noFill/>
          <a:ln/>
        </p:spPr>
        <p:txBody>
          <a:bodyPr wrap="square" lIns="0" tIns="0" rIns="0" bIns="0" rtlCol="0" anchor="ctr"/>
          <a:lstStyle/>
          <a:p>
            <a:pPr algn="ctr" indent="0" marL="0">
              <a:spcAft>
                <a:spcPts val="800"/>
              </a:spcAft>
              <a:buNone/>
            </a:pPr>
            <a:r>
              <a:rPr lang="en-US" sz="1300" i="1" dirty="0">
                <a:solidFill>
                  <a:srgbClr val="6B6B6B"/>
                </a:solidFill>
              </a:rPr>
              <a:t>​</a:t>
            </a:r>
            <a:r>
              <a:rPr lang="en-US" sz="1300" i="1" dirty="0">
                <a:solidFill>
                  <a:srgbClr val="6B6B6B"/>
                </a:solidFill>
              </a:rPr>
              <a:t>marimo shows the DataFrame as an interactive table, with a summary chart at the top of each column.</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How big is our data?</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Rows tell us how many games we can compare; columns tell us how many facts we have about each.</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Check the shape</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games.shape</a:t>
            </a:r>
            <a:endParaRPr lang="en-US" sz="1400" dirty="0"/>
          </a:p>
        </p:txBody>
      </p:sp>
      <p:sp>
        <p:nvSpPr>
          <p:cNvPr id="6" name="Text 4"/>
          <p:cNvSpPr txBox="1"/>
          <p:nvPr/>
        </p:nvSpPr>
        <p:spPr>
          <a:xfrm>
            <a:off x="457200" y="1929765"/>
            <a:ext cx="384048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b="1" dirty="0">
                <a:solidFill>
                  <a:srgbClr val="2B1D19"/>
                </a:solidFill>
              </a:rPr>
              <a:t>10250</a:t>
            </a:r>
            <a:r>
              <a:rPr lang="en-US" sz="1500" dirty="0">
                <a:solidFill>
                  <a:srgbClr val="2B1D19"/>
                </a:solidFill>
              </a:rPr>
              <a:t> rows and </a:t>
            </a:r>
            <a:r>
              <a:rPr lang="en-US" sz="1500" b="1" dirty="0">
                <a:solidFill>
                  <a:srgbClr val="2B1D19"/>
                </a:solidFill>
              </a:rPr>
              <a:t>13</a:t>
            </a:r>
            <a:r>
              <a:rPr lang="en-US" sz="1500" dirty="0">
                <a:solidFill>
                  <a:srgbClr val="2B1D19"/>
                </a:solidFill>
              </a:rPr>
              <a:t> columns: 10,250 games, with 13 facts about each.</a:t>
            </a:r>
            <a:endParaRPr lang="en-US" sz="1500" dirty="0"/>
          </a:p>
        </p:txBody>
      </p:sp>
      <p:sp>
        <p:nvSpPr>
          <p:cNvPr id="7" name="primm box"/>
          <p:cNvSpPr/>
          <p:nvPr/>
        </p:nvSpPr>
        <p:spPr>
          <a:xfrm>
            <a:off x="457200" y="2432685"/>
            <a:ext cx="3840480" cy="1285240"/>
          </a:xfrm>
          <a:prstGeom prst="roundRect">
            <a:avLst>
              <a:gd name="adj" fmla="val 5692"/>
            </a:avLst>
          </a:prstGeom>
          <a:solidFill>
            <a:srgbClr val="E6F2E6"/>
          </a:solidFill>
          <a:ln w="12700">
            <a:solidFill>
              <a:srgbClr val="E6F2E6"/>
            </a:solidFill>
            <a:prstDash val="solid"/>
          </a:ln>
        </p:spPr>
      </p:sp>
      <p:sp>
        <p:nvSpPr>
          <p:cNvPr id="8" name="Text 6"/>
          <p:cNvSpPr txBox="1"/>
          <p:nvPr/>
        </p:nvSpPr>
        <p:spPr>
          <a:xfrm>
            <a:off x="685800" y="2569845"/>
            <a:ext cx="338328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9" name="Text 7"/>
          <p:cNvSpPr txBox="1"/>
          <p:nvPr/>
        </p:nvSpPr>
        <p:spPr>
          <a:xfrm>
            <a:off x="685800" y="2935605"/>
            <a:ext cx="338328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What two numbers do you expect to see?</a:t>
            </a:r>
            <a:endParaRPr lang="en-US" sz="1500" dirty="0"/>
          </a:p>
        </p:txBody>
      </p:sp>
      <p:sp>
        <p:nvSpPr>
          <p:cNvPr id="10" name="Text 8"/>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1" name="Text 9"/>
          <p:cNvSpPr txBox="1"/>
          <p:nvPr/>
        </p:nvSpPr>
        <p:spPr>
          <a:xfrm>
            <a:off x="4572000" y="1399032"/>
            <a:ext cx="4114800" cy="6400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A DataFrame's </a:t>
            </a:r>
            <a:r>
              <a:rPr lang="en-US" sz="1500" b="1" dirty="0">
                <a:solidFill>
                  <a:srgbClr val="2B1D19"/>
                </a:solidFill>
              </a:rPr>
              <a:t>shape</a:t>
            </a:r>
            <a:r>
              <a:rPr lang="en-US" sz="1500" dirty="0">
                <a:solidFill>
                  <a:srgbClr val="2B1D19"/>
                </a:solidFill>
              </a:rPr>
              <a:t> gives us the number of rows and the number of columns at once.</a:t>
            </a:r>
            <a:endParaRPr lang="en-US" sz="1500" dirty="0"/>
          </a:p>
        </p:txBody>
      </p:sp>
      <p:sp>
        <p:nvSpPr>
          <p:cNvPr id="12" name="Text 10"/>
          <p:cNvSpPr txBox="1"/>
          <p:nvPr/>
        </p:nvSpPr>
        <p:spPr>
          <a:xfrm>
            <a:off x="4572000" y="2221992"/>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3" name="Text 11"/>
          <p:cNvSpPr txBox="1"/>
          <p:nvPr/>
        </p:nvSpPr>
        <p:spPr>
          <a:xfrm>
            <a:off x="4572000" y="2569464"/>
            <a:ext cx="4114800" cy="19568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dirty="0">
                <a:solidFill>
                  <a:srgbClr val="2B1D19"/>
                </a:solidFill>
              </a:rPr>
              <a:t>this cell uses </a:t>
            </a:r>
            <a:r>
              <a:rPr lang="en-US" sz="1200" b="1" dirty="0">
                <a:solidFill>
                  <a:srgbClr val="B86E1E"/>
                </a:solidFill>
                <a:latin typeface="Courier New" pitchFamily="34" charset="0"/>
                <a:ea typeface="Courier New" pitchFamily="34" charset="-122"/>
                <a:cs typeface="Courier New" pitchFamily="34" charset="-120"/>
              </a:rPr>
              <a:t>games</a:t>
            </a:r>
            <a:r>
              <a:rPr lang="en-US" sz="1400" dirty="0">
                <a:solidFill>
                  <a:srgbClr val="2B1D19"/>
                </a:solidFill>
              </a:rPr>
              <a:t>, which we made in a different cell</a:t>
            </a:r>
            <a:endParaRPr lang="en-US" sz="1400" dirty="0"/>
          </a:p>
          <a:p>
            <a:pPr marL="342900" indent="-342900">
              <a:spcAft>
                <a:spcPts val="400"/>
              </a:spcAft>
              <a:buSzPct val="100000"/>
              <a:buChar char="•"/>
            </a:pPr>
            <a:r>
              <a:rPr lang="en-US" sz="1400" dirty="0">
                <a:solidFill>
                  <a:srgbClr val="2B1D19"/>
                </a:solidFill>
              </a:rPr>
              <a:t>​</a:t>
            </a:r>
            <a:r>
              <a:rPr lang="en-US" sz="1400" dirty="0">
                <a:solidFill>
                  <a:srgbClr val="2B1D19"/>
                </a:solidFill>
              </a:rPr>
              <a:t>once a cell creates a variable, every other cell can use it</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What kind of data is in each column?</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A column's </a:t>
            </a:r>
            <a:r>
              <a:rPr lang="en-US" sz="1800" b="1" dirty="0">
                <a:solidFill>
                  <a:srgbClr val="F7EFE6"/>
                </a:solidFill>
              </a:rPr>
              <a:t>data type</a:t>
            </a:r>
            <a:r>
              <a:rPr lang="en-US" sz="1800" dirty="0">
                <a:solidFill>
                  <a:srgbClr val="F7EFE6"/>
                </a:solidFill>
              </a:rPr>
              <a:t> decides what we can do with it: we can add up numbers, but not text.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Check the schema</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games.schema</a:t>
            </a:r>
            <a:endParaRPr lang="en-US" sz="1400" dirty="0"/>
          </a:p>
        </p:txBody>
      </p:sp>
      <p:sp>
        <p:nvSpPr>
          <p:cNvPr id="6" name="primm box"/>
          <p:cNvSpPr/>
          <p:nvPr/>
        </p:nvSpPr>
        <p:spPr>
          <a:xfrm>
            <a:off x="457200" y="1975485"/>
            <a:ext cx="3840480" cy="1285240"/>
          </a:xfrm>
          <a:prstGeom prst="roundRect">
            <a:avLst>
              <a:gd name="adj" fmla="val 5692"/>
            </a:avLst>
          </a:prstGeom>
          <a:solidFill>
            <a:srgbClr val="E6F2E6"/>
          </a:solidFill>
          <a:ln w="12700">
            <a:solidFill>
              <a:srgbClr val="E6F2E6"/>
            </a:solidFill>
            <a:prstDash val="solid"/>
          </a:ln>
        </p:spPr>
      </p:sp>
      <p:sp>
        <p:nvSpPr>
          <p:cNvPr id="7" name="Text 5"/>
          <p:cNvSpPr txBox="1"/>
          <p:nvPr/>
        </p:nvSpPr>
        <p:spPr>
          <a:xfrm>
            <a:off x="685800" y="2112645"/>
            <a:ext cx="338328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8" name="Text 6"/>
          <p:cNvSpPr txBox="1"/>
          <p:nvPr/>
        </p:nvSpPr>
        <p:spPr>
          <a:xfrm>
            <a:off x="685800" y="2478405"/>
            <a:ext cx="338328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What data type do you think </a:t>
            </a:r>
            <a:r>
              <a:rPr lang="en-US" sz="1300" b="1" dirty="0">
                <a:solidFill>
                  <a:srgbClr val="B86E1E"/>
                </a:solidFill>
                <a:latin typeface="Courier New" pitchFamily="34" charset="0"/>
                <a:ea typeface="Courier New" pitchFamily="34" charset="-122"/>
                <a:cs typeface="Courier New" pitchFamily="34" charset="-120"/>
              </a:rPr>
              <a:t>Release date</a:t>
            </a:r>
            <a:r>
              <a:rPr lang="en-US" sz="1500" dirty="0">
                <a:solidFill>
                  <a:srgbClr val="2B1D19"/>
                </a:solidFill>
              </a:rPr>
              <a:t> will have?</a:t>
            </a:r>
            <a:endParaRPr lang="en-US" sz="1500" dirty="0"/>
          </a:p>
        </p:txBody>
      </p:sp>
      <p:sp>
        <p:nvSpPr>
          <p:cNvPr id="9" name="Text 7"/>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0" name="Text 8"/>
          <p:cNvSpPr txBox="1"/>
          <p:nvPr/>
        </p:nvSpPr>
        <p:spPr>
          <a:xfrm>
            <a:off x="4572000" y="1399032"/>
            <a:ext cx="411480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The </a:t>
            </a:r>
            <a:r>
              <a:rPr lang="en-US" sz="1500" b="1" dirty="0">
                <a:solidFill>
                  <a:srgbClr val="2B1D19"/>
                </a:solidFill>
              </a:rPr>
              <a:t>schema</a:t>
            </a:r>
            <a:r>
              <a:rPr lang="en-US" sz="1500" dirty="0">
                <a:solidFill>
                  <a:srgbClr val="2B1D19"/>
                </a:solidFill>
              </a:rPr>
              <a:t> shows the name and data type of every column, so we can check what kind of values each one holds before we use it.</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schema runs off the edge</a:t>
            </a:r>
            <a:endParaRPr lang="en-US" sz="2800" dirty="0"/>
          </a:p>
        </p:txBody>
      </p:sp>
      <p:pic>
        <p:nvPicPr>
          <p:cNvPr id="3" name="Image 0" descr="The output of games.schema on one long line, cut off at the right edge after the first few columns">    </p:cNvPr>
          <p:cNvPicPr>
            <a:picLocks noChangeAspect="1"/>
          </p:cNvPicPr>
          <p:nvPr/>
        </p:nvPicPr>
        <p:blipFill>
          <a:blip r:embed="rId1"/>
          <a:stretch>
            <a:fillRect/>
          </a:stretch>
        </p:blipFill>
        <p:spPr>
          <a:xfrm>
            <a:off x="457200" y="1005840"/>
            <a:ext cx="8229600" cy="808144"/>
          </a:xfrm>
          <a:prstGeom prst="rect">
            <a:avLst/>
          </a:prstGeom>
        </p:spPr>
      </p:pic>
      <p:sp>
        <p:nvSpPr>
          <p:cNvPr id="4" name="Text 1"/>
          <p:cNvSpPr txBox="1"/>
          <p:nvPr/>
        </p:nvSpPr>
        <p:spPr>
          <a:xfrm>
            <a:off x="457200" y="1923712"/>
            <a:ext cx="8229600" cy="2602568"/>
          </a:xfrm>
          <a:prstGeom prst="rect">
            <a:avLst/>
          </a:prstGeom>
          <a:noFill/>
          <a:ln/>
        </p:spPr>
        <p:txBody>
          <a:bodyPr wrap="square" lIns="0" tIns="0" rIns="0" bIns="0" rtlCol="0" anchor="t">
            <a:normAutofit/>
          </a:bodyPr>
          <a:lstStyle/>
          <a:p>
            <a:pPr marL="342900" indent="-342900">
              <a:spcAft>
                <a:spcPts val="300"/>
              </a:spcAft>
              <a:buSzPct val="100000"/>
              <a:buChar char="•"/>
            </a:pPr>
            <a:r>
              <a:rPr lang="en-US" sz="1500" dirty="0">
                <a:solidFill>
                  <a:srgbClr val="2B1D19"/>
                </a:solidFill>
              </a:rPr>
              <a:t>​</a:t>
            </a:r>
            <a:r>
              <a:rPr lang="en-US" sz="1500" dirty="0">
                <a:solidFill>
                  <a:srgbClr val="2B1D19"/>
                </a:solidFill>
              </a:rPr>
              <a:t>the whole schema is on </a:t>
            </a:r>
            <a:r>
              <a:rPr lang="en-US" sz="1500" b="1" dirty="0">
                <a:solidFill>
                  <a:srgbClr val="2B1D19"/>
                </a:solidFill>
              </a:rPr>
              <a:t>one line</a:t>
            </a:r>
            <a:r>
              <a:rPr lang="en-US" sz="1500" dirty="0">
                <a:solidFill>
                  <a:srgbClr val="2B1D19"/>
                </a:solidFill>
              </a:rPr>
              <a:t>, so it runs off the right edge</a:t>
            </a:r>
            <a:endParaRPr lang="en-US" sz="1500" dirty="0"/>
          </a:p>
          <a:p>
            <a:pPr marL="342900" indent="-342900">
              <a:spcAft>
                <a:spcPts val="300"/>
              </a:spcAft>
              <a:buSzPct val="100000"/>
              <a:buChar char="•"/>
            </a:pPr>
            <a:r>
              <a:rPr lang="en-US" sz="1500" dirty="0">
                <a:solidFill>
                  <a:srgbClr val="2B1D19"/>
                </a:solidFill>
              </a:rPr>
              <a:t>​</a:t>
            </a:r>
            <a:r>
              <a:rPr lang="en-US" sz="1500" dirty="0">
                <a:solidFill>
                  <a:srgbClr val="2B1D19"/>
                </a:solidFill>
              </a:rPr>
              <a:t>we can scroll across, but it's hard to read</a:t>
            </a:r>
            <a:endParaRPr lang="en-US" sz="1500" dirty="0"/>
          </a:p>
          <a:p>
            <a:pPr marL="342900" indent="-342900">
              <a:spcAft>
                <a:spcPts val="300"/>
              </a:spcAft>
              <a:buSzPct val="100000"/>
              <a:buChar char="•"/>
            </a:pPr>
            <a:r>
              <a:rPr lang="en-US" sz="1500" dirty="0">
                <a:solidFill>
                  <a:srgbClr val="2B1D19"/>
                </a:solidFill>
              </a:rPr>
              <a:t>​</a:t>
            </a:r>
            <a:r>
              <a:rPr lang="en-US" sz="1500" dirty="0">
                <a:solidFill>
                  <a:srgbClr val="2B1D19"/>
                </a:solidFill>
              </a:rPr>
              <a:t>it would be easier with </a:t>
            </a:r>
            <a:r>
              <a:rPr lang="en-US" sz="1500" b="1" dirty="0">
                <a:solidFill>
                  <a:srgbClr val="2B1D19"/>
                </a:solidFill>
              </a:rPr>
              <a:t>each column on its own line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One column per line</a:t>
            </a:r>
            <a:endParaRPr lang="en-US" sz="2800" dirty="0"/>
          </a:p>
        </p:txBody>
      </p:sp>
      <p:sp>
        <p:nvSpPr>
          <p:cNvPr id="3" name="Code panel"/>
          <p:cNvSpPr/>
          <p:nvPr/>
        </p:nvSpPr>
        <p:spPr>
          <a:xfrm>
            <a:off x="457200" y="1051560"/>
            <a:ext cx="5059680" cy="1024890"/>
          </a:xfrm>
          <a:prstGeom prst="roundRect">
            <a:avLst>
              <a:gd name="adj" fmla="val 5353"/>
            </a:avLst>
          </a:prstGeom>
          <a:solidFill>
            <a:srgbClr val="2B1D19"/>
          </a:solidFill>
          <a:ln w="12700">
            <a:solidFill>
              <a:srgbClr val="2B1D19"/>
            </a:solidFill>
            <a:prstDash val="solid"/>
          </a:ln>
        </p:spPr>
      </p:sp>
      <p:sp>
        <p:nvSpPr>
          <p:cNvPr id="4" name="Text 2"/>
          <p:cNvSpPr txBox="1"/>
          <p:nvPr/>
        </p:nvSpPr>
        <p:spPr>
          <a:xfrm>
            <a:off x="640080" y="1161288"/>
            <a:ext cx="469392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change existing cell</a:t>
            </a:r>
            <a:endParaRPr lang="en-US" sz="1200" dirty="0"/>
          </a:p>
        </p:txBody>
      </p:sp>
      <p:sp>
        <p:nvSpPr>
          <p:cNvPr id="5" name="Code"/>
          <p:cNvSpPr txBox="1"/>
          <p:nvPr/>
        </p:nvSpPr>
        <p:spPr>
          <a:xfrm>
            <a:off x="594360" y="1508760"/>
            <a:ext cx="4785360" cy="49022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for name, dtype in games.schema.items():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print(name, dtype)</a:t>
            </a:r>
            <a:endParaRPr lang="en-US" sz="1400" dirty="0"/>
          </a:p>
        </p:txBody>
      </p:sp>
      <p:sp>
        <p:nvSpPr>
          <p:cNvPr id="6" name="Text 4"/>
          <p:cNvSpPr txBox="1"/>
          <p:nvPr/>
        </p:nvSpPr>
        <p:spPr>
          <a:xfrm>
            <a:off x="457200" y="2167890"/>
            <a:ext cx="505968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13 lines, from </a:t>
            </a:r>
            <a:r>
              <a:rPr lang="en-US" sz="1300" b="1" dirty="0">
                <a:solidFill>
                  <a:srgbClr val="B86E1E"/>
                </a:solidFill>
                <a:latin typeface="Courier New" pitchFamily="34" charset="0"/>
                <a:ea typeface="Courier New" pitchFamily="34" charset="-122"/>
                <a:cs typeface="Courier New" pitchFamily="34" charset="-120"/>
              </a:rPr>
              <a:t>AppID Int64</a:t>
            </a:r>
            <a:r>
              <a:rPr lang="en-US" sz="1500" dirty="0">
                <a:solidFill>
                  <a:srgbClr val="2B1D19"/>
                </a:solidFill>
              </a:rPr>
              <a:t> to </a:t>
            </a:r>
            <a:r>
              <a:rPr lang="en-US" sz="1300" b="1" dirty="0">
                <a:solidFill>
                  <a:srgbClr val="B86E1E"/>
                </a:solidFill>
                <a:latin typeface="Courier New" pitchFamily="34" charset="0"/>
                <a:ea typeface="Courier New" pitchFamily="34" charset="-122"/>
                <a:cs typeface="Courier New" pitchFamily="34" charset="-120"/>
              </a:rPr>
              <a:t>Support email String</a:t>
            </a:r>
            <a:r>
              <a:rPr lang="en-US" sz="1500" dirty="0">
                <a:solidFill>
                  <a:srgbClr val="2B1D19"/>
                </a:solidFill>
              </a:rPr>
              <a:t>.</a:t>
            </a:r>
            <a:endParaRPr lang="en-US" sz="1500" dirty="0"/>
          </a:p>
        </p:txBody>
      </p:sp>
      <p:sp>
        <p:nvSpPr>
          <p:cNvPr id="7" name="primm box"/>
          <p:cNvSpPr/>
          <p:nvPr/>
        </p:nvSpPr>
        <p:spPr>
          <a:xfrm>
            <a:off x="457200" y="2670810"/>
            <a:ext cx="5059680" cy="1056640"/>
          </a:xfrm>
          <a:prstGeom prst="roundRect">
            <a:avLst>
              <a:gd name="adj" fmla="val 6923"/>
            </a:avLst>
          </a:prstGeom>
          <a:solidFill>
            <a:srgbClr val="E6F2E6"/>
          </a:solidFill>
          <a:ln w="12700">
            <a:solidFill>
              <a:srgbClr val="E6F2E6"/>
            </a:solidFill>
            <a:prstDash val="solid"/>
          </a:ln>
        </p:spPr>
      </p:sp>
      <p:sp>
        <p:nvSpPr>
          <p:cNvPr id="8" name="Text 6"/>
          <p:cNvSpPr txBox="1"/>
          <p:nvPr/>
        </p:nvSpPr>
        <p:spPr>
          <a:xfrm>
            <a:off x="685800" y="2807970"/>
            <a:ext cx="460248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9" name="Text 7"/>
          <p:cNvSpPr txBox="1"/>
          <p:nvPr/>
        </p:nvSpPr>
        <p:spPr>
          <a:xfrm>
            <a:off x="685800" y="3173730"/>
            <a:ext cx="4602480" cy="3708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What will appear below the cell? How many lines?</a:t>
            </a:r>
            <a:endParaRPr lang="en-US" sz="1500" dirty="0"/>
          </a:p>
        </p:txBody>
      </p:sp>
      <p:sp>
        <p:nvSpPr>
          <p:cNvPr id="10" name="Text 8"/>
          <p:cNvSpPr txBox="1"/>
          <p:nvPr/>
        </p:nvSpPr>
        <p:spPr>
          <a:xfrm>
            <a:off x="5791200" y="1051560"/>
            <a:ext cx="28956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1" name="Text 9"/>
          <p:cNvSpPr txBox="1"/>
          <p:nvPr/>
        </p:nvSpPr>
        <p:spPr>
          <a:xfrm>
            <a:off x="5791200" y="1399032"/>
            <a:ext cx="2895600" cy="15544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The schema works like a dictionary: column names are the keys and data types are the values. </a:t>
            </a:r>
            <a:r>
              <a:rPr lang="en-US" sz="1300" b="1" dirty="0">
                <a:solidFill>
                  <a:srgbClr val="B86E1E"/>
                </a:solidFill>
                <a:latin typeface="Courier New" pitchFamily="34" charset="0"/>
                <a:ea typeface="Courier New" pitchFamily="34" charset="-122"/>
                <a:cs typeface="Courier New" pitchFamily="34" charset="-120"/>
              </a:rPr>
              <a:t>items()</a:t>
            </a:r>
            <a:r>
              <a:rPr lang="en-US" sz="1500" dirty="0">
                <a:solidFill>
                  <a:srgbClr val="2B1D19"/>
                </a:solidFill>
              </a:rPr>
              <a:t> gives each pair, so a </a:t>
            </a:r>
            <a:r>
              <a:rPr lang="en-US" sz="1300" b="1" dirty="0">
                <a:solidFill>
                  <a:srgbClr val="B86E1E"/>
                </a:solidFill>
                <a:latin typeface="Courier New" pitchFamily="34" charset="0"/>
                <a:ea typeface="Courier New" pitchFamily="34" charset="-122"/>
                <a:cs typeface="Courier New" pitchFamily="34" charset="-120"/>
              </a:rPr>
              <a:t>for</a:t>
            </a:r>
            <a:r>
              <a:rPr lang="en-US" sz="1500" dirty="0">
                <a:solidFill>
                  <a:srgbClr val="2B1D19"/>
                </a:solidFill>
              </a:rPr>
              <a:t> loop can </a:t>
            </a:r>
            <a:r>
              <a:rPr lang="en-US" sz="1300" b="1" dirty="0">
                <a:solidFill>
                  <a:srgbClr val="B86E1E"/>
                </a:solidFill>
                <a:latin typeface="Courier New" pitchFamily="34" charset="0"/>
                <a:ea typeface="Courier New" pitchFamily="34" charset="-122"/>
                <a:cs typeface="Courier New" pitchFamily="34" charset="-120"/>
              </a:rPr>
              <a:t>print</a:t>
            </a:r>
            <a:r>
              <a:rPr lang="en-US" sz="1500" dirty="0">
                <a:solidFill>
                  <a:srgbClr val="2B1D19"/>
                </a:solidFill>
              </a:rPr>
              <a:t> one column per line.</a:t>
            </a:r>
            <a:endParaRPr lang="en-US" sz="1500" dirty="0"/>
          </a:p>
        </p:txBody>
      </p:sp>
      <p:sp>
        <p:nvSpPr>
          <p:cNvPr id="12" name="Text 10"/>
          <p:cNvSpPr txBox="1"/>
          <p:nvPr/>
        </p:nvSpPr>
        <p:spPr>
          <a:xfrm>
            <a:off x="5791200" y="3136392"/>
            <a:ext cx="289560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3" name="Text 11"/>
          <p:cNvSpPr txBox="1"/>
          <p:nvPr/>
        </p:nvSpPr>
        <p:spPr>
          <a:xfrm>
            <a:off x="5791200" y="3483864"/>
            <a:ext cx="2895600" cy="10424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1</a:t>
            </a:r>
            <a:r>
              <a:rPr lang="en-US" sz="1400" dirty="0">
                <a:solidFill>
                  <a:srgbClr val="2B1D19"/>
                </a:solidFill>
              </a:rPr>
              <a:t> → loops through each column's name and data type</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line 2</a:t>
            </a:r>
            <a:r>
              <a:rPr lang="en-US" sz="1400" dirty="0">
                <a:solidFill>
                  <a:srgbClr val="2B1D19"/>
                </a:solidFill>
              </a:rPr>
              <a:t> → prints them on one line</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the schema tells us</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500" b="1" dirty="0">
                <a:solidFill>
                  <a:srgbClr val="B86E1E"/>
                </a:solidFill>
                <a:latin typeface="Courier New" pitchFamily="34" charset="0"/>
                <a:ea typeface="Courier New" pitchFamily="34" charset="-122"/>
                <a:cs typeface="Courier New" pitchFamily="34" charset="-120"/>
              </a:rPr>
              <a:t>Release date</a:t>
            </a:r>
            <a:r>
              <a:rPr lang="en-US" sz="1700" dirty="0">
                <a:solidFill>
                  <a:srgbClr val="2B1D19"/>
                </a:solidFill>
              </a:rPr>
              <a:t> is a </a:t>
            </a:r>
            <a:r>
              <a:rPr lang="en-US" sz="1700" b="1" dirty="0">
                <a:solidFill>
                  <a:srgbClr val="2B1D19"/>
                </a:solidFill>
              </a:rPr>
              <a:t>String</a:t>
            </a:r>
            <a:r>
              <a:rPr lang="en-US" sz="1700" dirty="0">
                <a:solidFill>
                  <a:srgbClr val="2B1D19"/>
                </a:solidFill>
              </a:rPr>
              <a:t>, not a date: Polars stored the dates as text</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we can't sort text dates into the right order or work out a game's year</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we'll need to fix this column in Behind the Scenes</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Three data types we'll meet again and again</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86000"/>
                <a:gridCol w="3657600"/>
                <a:gridCol w="2286000"/>
              </a:tblGrid>
              <a:tr h="0">
                <a:tc>
                  <a:txBody>
                    <a:bodyPr/>
                    <a:lstStyle/>
                    <a:p>
                      <a:pPr indent="0" marL="0">
                        <a:buNone/>
                      </a:pPr>
                      <a:r>
                        <a:rPr lang="en-US" sz="1400" b="1" dirty="0">
                          <a:solidFill>
                            <a:srgbClr val="FFFFFF"/>
                          </a:solidFill>
                        </a:rPr>
                        <a:t>Data type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What it holds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Example column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Int64</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whole numbers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Positive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Float64</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numbers with a decimal point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Price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String</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text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Name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Reactive cells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When we change a cell, marimo automatically re-runs every cell that uses its variables.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Store a number in its own cell</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sample_size = 5</a:t>
            </a:r>
            <a:endParaRPr lang="en-US" sz="1400" dirty="0"/>
          </a:p>
        </p:txBody>
      </p:sp>
      <p:sp>
        <p:nvSpPr>
          <p:cNvPr id="6" name="Text 4"/>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7" name="Text 5"/>
          <p:cNvSpPr txBox="1"/>
          <p:nvPr/>
        </p:nvSpPr>
        <p:spPr>
          <a:xfrm>
            <a:off x="4572000" y="1399032"/>
            <a:ext cx="4114800" cy="8686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We'll store a number in one cell, then use it in another cell to decide how many rows to show.</a:t>
            </a:r>
            <a:endParaRPr lang="en-US" sz="1500" dirty="0"/>
          </a:p>
        </p:txBody>
      </p:sp>
      <p:sp>
        <p:nvSpPr>
          <p:cNvPr id="8" name="Text 6"/>
          <p:cNvSpPr txBox="1"/>
          <p:nvPr/>
        </p:nvSpPr>
        <p:spPr>
          <a:xfrm>
            <a:off x="4572000" y="2450592"/>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9" name="Text 7"/>
          <p:cNvSpPr txBox="1"/>
          <p:nvPr/>
        </p:nvSpPr>
        <p:spPr>
          <a:xfrm>
            <a:off x="4572000" y="2798064"/>
            <a:ext cx="4114800" cy="17282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1</a:t>
            </a:r>
            <a:r>
              <a:rPr lang="en-US" sz="1400" dirty="0">
                <a:solidFill>
                  <a:srgbClr val="2B1D19"/>
                </a:solidFill>
              </a:rPr>
              <a:t> → creates a variable called </a:t>
            </a:r>
            <a:r>
              <a:rPr lang="en-US" sz="1200" b="1" dirty="0">
                <a:solidFill>
                  <a:srgbClr val="B86E1E"/>
                </a:solidFill>
                <a:latin typeface="Courier New" pitchFamily="34" charset="0"/>
                <a:ea typeface="Courier New" pitchFamily="34" charset="-122"/>
                <a:cs typeface="Courier New" pitchFamily="34" charset="-120"/>
              </a:rPr>
              <a:t>sample_size</a:t>
            </a:r>
            <a:r>
              <a:rPr lang="en-US" sz="1400" dirty="0">
                <a:solidFill>
                  <a:srgbClr val="2B1D19"/>
                </a:solidFill>
              </a:rPr>
              <a:t> that holds the number </a:t>
            </a:r>
            <a:r>
              <a:rPr lang="en-US" sz="1200" b="1" dirty="0">
                <a:solidFill>
                  <a:srgbClr val="B86E1E"/>
                </a:solidFill>
                <a:latin typeface="Courier New" pitchFamily="34" charset="0"/>
                <a:ea typeface="Courier New" pitchFamily="34" charset="-122"/>
                <a:cs typeface="Courier New" pitchFamily="34" charset="-120"/>
              </a:rPr>
              <a:t>5</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Use it to show the first rows</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games.head(sample_size)</a:t>
            </a:r>
            <a:endParaRPr lang="en-US" sz="1400" dirty="0"/>
          </a:p>
        </p:txBody>
      </p:sp>
      <p:sp>
        <p:nvSpPr>
          <p:cNvPr id="6" name="Text 4"/>
          <p:cNvSpPr txBox="1"/>
          <p:nvPr/>
        </p:nvSpPr>
        <p:spPr>
          <a:xfrm>
            <a:off x="457200" y="1929765"/>
            <a:ext cx="384048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a:t>
            </a:r>
            <a:r>
              <a:rPr lang="en-US" sz="1300" b="1" dirty="0">
                <a:solidFill>
                  <a:srgbClr val="B86E1E"/>
                </a:solidFill>
                <a:latin typeface="Courier New" pitchFamily="34" charset="0"/>
                <a:ea typeface="Courier New" pitchFamily="34" charset="-122"/>
                <a:cs typeface="Courier New" pitchFamily="34" charset="-120"/>
              </a:rPr>
              <a:t>head</a:t>
            </a:r>
            <a:r>
              <a:rPr lang="en-US" sz="1500" dirty="0">
                <a:solidFill>
                  <a:srgbClr val="2B1D19"/>
                </a:solidFill>
              </a:rPr>
              <a:t> cell re-runs by itself and shows </a:t>
            </a:r>
            <a:r>
              <a:rPr lang="en-US" sz="1500" b="1" dirty="0">
                <a:solidFill>
                  <a:srgbClr val="2B1D19"/>
                </a:solidFill>
              </a:rPr>
              <a:t>ten</a:t>
            </a:r>
            <a:r>
              <a:rPr lang="en-US" sz="1500" dirty="0">
                <a:solidFill>
                  <a:srgbClr val="2B1D19"/>
                </a:solidFill>
              </a:rPr>
              <a:t> rows.</a:t>
            </a:r>
            <a:endParaRPr lang="en-US" sz="1500" dirty="0"/>
          </a:p>
        </p:txBody>
      </p:sp>
      <p:sp>
        <p:nvSpPr>
          <p:cNvPr id="7" name="primm box"/>
          <p:cNvSpPr/>
          <p:nvPr/>
        </p:nvSpPr>
        <p:spPr>
          <a:xfrm>
            <a:off x="457200" y="2432685"/>
            <a:ext cx="3840480" cy="1285240"/>
          </a:xfrm>
          <a:prstGeom prst="roundRect">
            <a:avLst>
              <a:gd name="adj" fmla="val 5692"/>
            </a:avLst>
          </a:prstGeom>
          <a:solidFill>
            <a:srgbClr val="E6F2E6"/>
          </a:solidFill>
          <a:ln w="12700">
            <a:solidFill>
              <a:srgbClr val="E6F2E6"/>
            </a:solidFill>
            <a:prstDash val="solid"/>
          </a:ln>
        </p:spPr>
      </p:sp>
      <p:sp>
        <p:nvSpPr>
          <p:cNvPr id="8" name="Text 6"/>
          <p:cNvSpPr txBox="1"/>
          <p:nvPr/>
        </p:nvSpPr>
        <p:spPr>
          <a:xfrm>
            <a:off x="685800" y="2569845"/>
            <a:ext cx="338328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9" name="Text 7"/>
          <p:cNvSpPr txBox="1"/>
          <p:nvPr/>
        </p:nvSpPr>
        <p:spPr>
          <a:xfrm>
            <a:off x="685800" y="2935605"/>
            <a:ext cx="338328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Change </a:t>
            </a:r>
            <a:r>
              <a:rPr lang="en-US" sz="1300" b="1" dirty="0">
                <a:solidFill>
                  <a:srgbClr val="B86E1E"/>
                </a:solidFill>
                <a:latin typeface="Courier New" pitchFamily="34" charset="0"/>
                <a:ea typeface="Courier New" pitchFamily="34" charset="-122"/>
                <a:cs typeface="Courier New" pitchFamily="34" charset="-120"/>
              </a:rPr>
              <a:t>sample_size</a:t>
            </a:r>
            <a:r>
              <a:rPr lang="en-US" sz="1500" dirty="0">
                <a:solidFill>
                  <a:srgbClr val="2B1D19"/>
                </a:solidFill>
              </a:rPr>
              <a:t> to </a:t>
            </a:r>
            <a:r>
              <a:rPr lang="en-US" sz="1300" b="1" dirty="0">
                <a:solidFill>
                  <a:srgbClr val="B86E1E"/>
                </a:solidFill>
                <a:latin typeface="Courier New" pitchFamily="34" charset="0"/>
                <a:ea typeface="Courier New" pitchFamily="34" charset="-122"/>
                <a:cs typeface="Courier New" pitchFamily="34" charset="-120"/>
              </a:rPr>
              <a:t>10</a:t>
            </a:r>
            <a:r>
              <a:rPr lang="en-US" sz="1500" dirty="0">
                <a:solidFill>
                  <a:srgbClr val="2B1D19"/>
                </a:solidFill>
              </a:rPr>
              <a:t> and run that cell. What will happen to this cell?</a:t>
            </a:r>
            <a:endParaRPr lang="en-US" sz="1500" dirty="0"/>
          </a:p>
        </p:txBody>
      </p:sp>
      <p:sp>
        <p:nvSpPr>
          <p:cNvPr id="10" name="Text 8"/>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1" name="Text 9"/>
          <p:cNvSpPr txBox="1"/>
          <p:nvPr/>
        </p:nvSpPr>
        <p:spPr>
          <a:xfrm>
            <a:off x="4572000" y="1399032"/>
            <a:ext cx="411480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The </a:t>
            </a:r>
            <a:r>
              <a:rPr lang="en-US" sz="1300" b="1" dirty="0">
                <a:solidFill>
                  <a:srgbClr val="B86E1E"/>
                </a:solidFill>
                <a:latin typeface="Courier New" pitchFamily="34" charset="0"/>
                <a:ea typeface="Courier New" pitchFamily="34" charset="-122"/>
                <a:cs typeface="Courier New" pitchFamily="34" charset="-120"/>
              </a:rPr>
              <a:t>head</a:t>
            </a:r>
            <a:r>
              <a:rPr lang="en-US" sz="1500" dirty="0">
                <a:solidFill>
                  <a:srgbClr val="2B1D19"/>
                </a:solidFill>
              </a:rPr>
              <a:t> method shows the first few rows of a DataFrame. Here it shows the first </a:t>
            </a:r>
            <a:r>
              <a:rPr lang="en-US" sz="1300" b="1" dirty="0">
                <a:solidFill>
                  <a:srgbClr val="B86E1E"/>
                </a:solidFill>
                <a:latin typeface="Courier New" pitchFamily="34" charset="0"/>
                <a:ea typeface="Courier New" pitchFamily="34" charset="-122"/>
                <a:cs typeface="Courier New" pitchFamily="34" charset="-120"/>
              </a:rPr>
              <a:t>sample_size</a:t>
            </a:r>
            <a:r>
              <a:rPr lang="en-US" sz="1500" dirty="0">
                <a:solidFill>
                  <a:srgbClr val="2B1D19"/>
                </a:solidFill>
              </a:rPr>
              <a:t> rows of </a:t>
            </a:r>
            <a:r>
              <a:rPr lang="en-US" sz="1300" b="1" dirty="0">
                <a:solidFill>
                  <a:srgbClr val="B86E1E"/>
                </a:solidFill>
                <a:latin typeface="Courier New" pitchFamily="34" charset="0"/>
                <a:ea typeface="Courier New" pitchFamily="34" charset="-122"/>
                <a:cs typeface="Courier New" pitchFamily="34" charset="-120"/>
              </a:rPr>
              <a:t>games</a:t>
            </a:r>
            <a:r>
              <a:rPr lang="en-US" sz="1500" dirty="0">
                <a:solidFill>
                  <a:srgbClr val="2B1D19"/>
                </a:solidFill>
              </a:rPr>
              <a:t>.</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One variable, one cell</a:t>
            </a:r>
            <a:endParaRPr lang="en-US" sz="2800" dirty="0"/>
          </a:p>
        </p:txBody>
      </p:sp>
      <p:pic>
        <p:nvPicPr>
          <p:cNvPr id="3" name="Image 0" descr="marimo showing CELL NOT RUN under the cell sample_size = 10, with the message This cell redefines variables from other cells, 'sample_size' was also defined by cell-4, and a Fix: Wrap in a function button">    </p:cNvPr>
          <p:cNvPicPr>
            <a:picLocks noChangeAspect="1"/>
          </p:cNvPicPr>
          <p:nvPr/>
        </p:nvPicPr>
        <p:blipFill>
          <a:blip r:embed="rId1"/>
          <a:stretch>
            <a:fillRect/>
          </a:stretch>
        </p:blipFill>
        <p:spPr>
          <a:xfrm>
            <a:off x="457200" y="2078553"/>
            <a:ext cx="5394960" cy="1375014"/>
          </a:xfrm>
          <a:prstGeom prst="rect">
            <a:avLst/>
          </a:prstGeom>
        </p:spPr>
      </p:pic>
      <p:sp>
        <p:nvSpPr>
          <p:cNvPr id="4" name="warning box"/>
          <p:cNvSpPr/>
          <p:nvPr/>
        </p:nvSpPr>
        <p:spPr>
          <a:xfrm>
            <a:off x="6035040" y="1051560"/>
            <a:ext cx="2651760" cy="3429000"/>
          </a:xfrm>
          <a:prstGeom prst="roundRect">
            <a:avLst>
              <a:gd name="adj" fmla="val 2759"/>
            </a:avLst>
          </a:prstGeom>
          <a:solidFill>
            <a:srgbClr val="FDE4EF"/>
          </a:solidFill>
          <a:ln w="12700">
            <a:solidFill>
              <a:srgbClr val="FDE4EF"/>
            </a:solidFill>
            <a:prstDash val="solid"/>
          </a:ln>
        </p:spPr>
      </p:sp>
      <p:sp>
        <p:nvSpPr>
          <p:cNvPr id="5" name="Text 2"/>
          <p:cNvSpPr txBox="1"/>
          <p:nvPr/>
        </p:nvSpPr>
        <p:spPr>
          <a:xfrm>
            <a:off x="6263640" y="1188720"/>
            <a:ext cx="2194560" cy="365760"/>
          </a:xfrm>
          <a:prstGeom prst="rect">
            <a:avLst/>
          </a:prstGeom>
          <a:noFill/>
          <a:ln/>
        </p:spPr>
        <p:txBody>
          <a:bodyPr wrap="square" lIns="0" tIns="0" rIns="0" bIns="0" rtlCol="0" anchor="ctr"/>
          <a:lstStyle/>
          <a:p>
            <a:pPr indent="0" marL="0">
              <a:buNone/>
            </a:pPr>
            <a:r>
              <a:rPr lang="en-US" sz="1600" b="1" dirty="0">
                <a:solidFill>
                  <a:srgbClr val="B0185E"/>
                </a:solidFill>
              </a:rPr>
              <a:t>Reading the error</a:t>
            </a:r>
            <a:endParaRPr lang="en-US" sz="1600" dirty="0"/>
          </a:p>
        </p:txBody>
      </p:sp>
      <p:sp>
        <p:nvSpPr>
          <p:cNvPr id="6" name="Text 3"/>
          <p:cNvSpPr txBox="1"/>
          <p:nvPr/>
        </p:nvSpPr>
        <p:spPr>
          <a:xfrm>
            <a:off x="6263640" y="1600200"/>
            <a:ext cx="2194560" cy="274320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300" dirty="0">
                <a:solidFill>
                  <a:srgbClr val="2B1D19"/>
                </a:solidFill>
              </a:rPr>
              <a:t>​</a:t>
            </a:r>
            <a:r>
              <a:rPr lang="en-US" sz="1300" b="1" dirty="0">
                <a:solidFill>
                  <a:srgbClr val="2B1D19"/>
                </a:solidFill>
              </a:rPr>
              <a:t>CELL NOT RUN</a:t>
            </a:r>
            <a:r>
              <a:rPr lang="en-US" sz="1300" dirty="0">
                <a:solidFill>
                  <a:srgbClr val="2B1D19"/>
                </a:solidFill>
              </a:rPr>
              <a:t> → marimo has refused to run this cell</a:t>
            </a:r>
            <a:endParaRPr lang="en-US" sz="1300" dirty="0"/>
          </a:p>
          <a:p>
            <a:pPr marL="342900" indent="-342900">
              <a:spcAft>
                <a:spcPts val="600"/>
              </a:spcAft>
              <a:buSzPct val="100000"/>
              <a:buChar char="•"/>
            </a:pPr>
            <a:r>
              <a:rPr lang="en-US" sz="1300" dirty="0">
                <a:solidFill>
                  <a:srgbClr val="2B1D19"/>
                </a:solidFill>
              </a:rPr>
              <a:t>​</a:t>
            </a:r>
            <a:r>
              <a:rPr lang="en-US" sz="1300" b="1" dirty="0">
                <a:solidFill>
                  <a:srgbClr val="2B1D19"/>
                </a:solidFill>
              </a:rPr>
              <a:t>This cell redefines variables from other cells.</a:t>
            </a:r>
            <a:r>
              <a:rPr lang="en-US" sz="1300" dirty="0">
                <a:solidFill>
                  <a:srgbClr val="2B1D19"/>
                </a:solidFill>
              </a:rPr>
              <a:t> → it creates a variable another cell already creates</a:t>
            </a:r>
            <a:endParaRPr lang="en-US" sz="1300" dirty="0"/>
          </a:p>
          <a:p>
            <a:pPr marL="342900" indent="-342900">
              <a:spcAft>
                <a:spcPts val="600"/>
              </a:spcAft>
              <a:buSzPct val="100000"/>
              <a:buChar char="•"/>
            </a:pPr>
            <a:r>
              <a:rPr lang="en-US" sz="1300" dirty="0">
                <a:solidFill>
                  <a:srgbClr val="2B1D19"/>
                </a:solidFill>
              </a:rPr>
              <a:t>​</a:t>
            </a:r>
            <a:r>
              <a:rPr lang="en-US" sz="1300" b="1" dirty="0">
                <a:solidFill>
                  <a:srgbClr val="2B1D19"/>
                </a:solidFill>
              </a:rPr>
              <a:t>'sample_size' was also defined by: cell-4</a:t>
            </a:r>
            <a:r>
              <a:rPr lang="en-US" sz="1300" dirty="0">
                <a:solidFill>
                  <a:srgbClr val="2B1D19"/>
                </a:solidFill>
              </a:rPr>
              <a:t> → the variable, and the cell that made it first</a:t>
            </a:r>
            <a:endParaRPr lang="en-US" sz="1300" dirty="0"/>
          </a:p>
          <a:p>
            <a:pPr marL="342900" indent="-342900">
              <a:spcAft>
                <a:spcPts val="600"/>
              </a:spcAft>
              <a:buSzPct val="100000"/>
              <a:buChar char="•"/>
            </a:pPr>
            <a:r>
              <a:rPr lang="en-US" sz="1300" dirty="0">
                <a:solidFill>
                  <a:srgbClr val="2B1D19"/>
                </a:solidFill>
              </a:rPr>
              <a:t>​</a:t>
            </a:r>
            <a:r>
              <a:rPr lang="en-US" sz="1300" b="1" dirty="0">
                <a:solidFill>
                  <a:srgbClr val="2B1D19"/>
                </a:solidFill>
              </a:rPr>
              <a:t>Fix: Wrap in a function</a:t>
            </a:r>
            <a:r>
              <a:rPr lang="en-US" sz="1300" dirty="0">
                <a:solidFill>
                  <a:srgbClr val="2B1D19"/>
                </a:solidFill>
              </a:rPr>
              <a:t> → don't use it: it hides the problem</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Changing a variable in another cell</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In a normal Python program we often write </a:t>
            </a:r>
            <a:r>
              <a:rPr lang="en-US" sz="1800" b="1" dirty="0">
                <a:solidFill>
                  <a:srgbClr val="B86E1E"/>
                </a:solidFill>
                <a:latin typeface="Courier New" pitchFamily="34" charset="0"/>
                <a:ea typeface="Courier New" pitchFamily="34" charset="-122"/>
                <a:cs typeface="Courier New" pitchFamily="34" charset="-120"/>
              </a:rPr>
              <a:t>games = games.head()</a:t>
            </a:r>
            <a:r>
              <a:rPr lang="en-US" sz="2000" dirty="0">
                <a:solidFill>
                  <a:srgbClr val="2B1D19"/>
                </a:solidFill>
              </a:rPr>
              <a:t>. In marimo that creates </a:t>
            </a:r>
            <a:r>
              <a:rPr lang="en-US" sz="1800" b="1" dirty="0">
                <a:solidFill>
                  <a:srgbClr val="B86E1E"/>
                </a:solidFill>
                <a:latin typeface="Courier New" pitchFamily="34" charset="0"/>
                <a:ea typeface="Courier New" pitchFamily="34" charset="-122"/>
                <a:cs typeface="Courier New" pitchFamily="34" charset="-120"/>
              </a:rPr>
              <a:t>games</a:t>
            </a:r>
            <a:r>
              <a:rPr lang="en-US" sz="2000" dirty="0">
                <a:solidFill>
                  <a:srgbClr val="2B1D19"/>
                </a:solidFill>
              </a:rPr>
              <a:t> in a second cell, which breaks the rule. Instead, we give the new version a new name, such as </a:t>
            </a:r>
            <a:r>
              <a:rPr lang="en-US" sz="1800" b="1" dirty="0">
                <a:solidFill>
                  <a:srgbClr val="B86E1E"/>
                </a:solidFill>
                <a:latin typeface="Courier New" pitchFamily="34" charset="0"/>
                <a:ea typeface="Courier New" pitchFamily="34" charset="-122"/>
                <a:cs typeface="Courier New" pitchFamily="34" charset="-120"/>
              </a:rPr>
              <a:t>first_games = games.head()</a:t>
            </a:r>
            <a:r>
              <a:rPr lang="en-US" sz="2000" dirty="0">
                <a:solidFill>
                  <a:srgbClr val="2B1D19"/>
                </a:solidFill>
              </a:rPr>
              <a: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Exploring with the table viewer</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To explore the whole dataset, we bring the full </a:t>
            </a:r>
            <a:r>
              <a:rPr lang="en-US" sz="1600" b="1" dirty="0">
                <a:solidFill>
                  <a:srgbClr val="E8A55A"/>
                </a:solidFill>
                <a:latin typeface="Courier New" pitchFamily="34" charset="0"/>
                <a:ea typeface="Courier New" pitchFamily="34" charset="-122"/>
                <a:cs typeface="Courier New" pitchFamily="34" charset="-120"/>
              </a:rPr>
              <a:t>games</a:t>
            </a:r>
            <a:r>
              <a:rPr lang="en-US" sz="1800" dirty="0">
                <a:solidFill>
                  <a:srgbClr val="F7EFE6"/>
                </a:solidFill>
              </a:rPr>
              <a:t> table back right here.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Show the whole table again</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games</a:t>
            </a:r>
            <a:endParaRPr lang="en-US" sz="1400" dirty="0"/>
          </a:p>
        </p:txBody>
      </p:sp>
      <p:sp>
        <p:nvSpPr>
          <p:cNvPr id="6" name="Text 4"/>
          <p:cNvSpPr txBox="1"/>
          <p:nvPr/>
        </p:nvSpPr>
        <p:spPr>
          <a:xfrm>
            <a:off x="457200" y="1929765"/>
            <a:ext cx="384048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All 10,250 games appear in the table viewer below the cell.</a:t>
            </a:r>
            <a:endParaRPr lang="en-US" sz="1500" dirty="0"/>
          </a:p>
        </p:txBody>
      </p:sp>
      <p:sp>
        <p:nvSpPr>
          <p:cNvPr id="7" name="Text 5"/>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8" name="Text 6"/>
          <p:cNvSpPr txBox="1"/>
          <p:nvPr/>
        </p:nvSpPr>
        <p:spPr>
          <a:xfrm>
            <a:off x="4572000" y="1399032"/>
            <a:ext cx="411480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A cell's output is the value of its last line, so a cell holding just </a:t>
            </a:r>
            <a:r>
              <a:rPr lang="en-US" sz="1300" b="1" dirty="0">
                <a:solidFill>
                  <a:srgbClr val="B86E1E"/>
                </a:solidFill>
                <a:latin typeface="Courier New" pitchFamily="34" charset="0"/>
                <a:ea typeface="Courier New" pitchFamily="34" charset="-122"/>
                <a:cs typeface="Courier New" pitchFamily="34" charset="-120"/>
              </a:rPr>
              <a:t>games</a:t>
            </a:r>
            <a:r>
              <a:rPr lang="en-US" sz="1500" dirty="0">
                <a:solidFill>
                  <a:srgbClr val="2B1D19"/>
                </a:solidFill>
              </a:rPr>
              <a:t> shows the whole DataFrame. It doesn't create a variable, so marimo is happy for it to be in another cell.</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the table viewer can do</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b="1" dirty="0">
                <a:solidFill>
                  <a:srgbClr val="2B1D19"/>
                </a:solidFill>
              </a:rPr>
              <a:t>scroll</a:t>
            </a:r>
            <a:r>
              <a:rPr lang="en-US" sz="1700" dirty="0">
                <a:solidFill>
                  <a:srgbClr val="2B1D19"/>
                </a:solidFill>
              </a:rPr>
              <a:t> across all 13 columns; page buttons move through the rows</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sort</a:t>
            </a:r>
            <a:r>
              <a:rPr lang="en-US" sz="1700" dirty="0">
                <a:solidFill>
                  <a:srgbClr val="2B1D19"/>
                </a:solidFill>
              </a:rPr>
              <a:t> by a column, by clicking its heading</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search</a:t>
            </a:r>
            <a:r>
              <a:rPr lang="en-US" sz="1700" dirty="0">
                <a:solidFill>
                  <a:srgbClr val="2B1D19"/>
                </a:solidFill>
              </a:rPr>
              <a:t> for a value, using the search box above the table</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see a summary</a:t>
            </a:r>
            <a:r>
              <a:rPr lang="en-US" sz="1700" dirty="0">
                <a:solidFill>
                  <a:srgbClr val="2B1D19"/>
                </a:solidFill>
              </a:rPr>
              <a:t> of a column, such as its smallest and largest values</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Explore with the table viewer</a:t>
            </a:r>
            <a:endParaRPr lang="en-US" sz="2800" dirty="0"/>
          </a:p>
        </p:txBody>
      </p:sp>
      <p:sp>
        <p:nvSpPr>
          <p:cNvPr id="3" name="primm box"/>
          <p:cNvSpPr/>
          <p:nvPr/>
        </p:nvSpPr>
        <p:spPr>
          <a:xfrm>
            <a:off x="457200" y="1051560"/>
            <a:ext cx="8229600" cy="3078480"/>
          </a:xfrm>
          <a:prstGeom prst="roundRect">
            <a:avLst>
              <a:gd name="adj" fmla="val 2376"/>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23926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Sort by </a:t>
            </a:r>
            <a:r>
              <a:rPr lang="en-US" sz="1800" b="1" dirty="0">
                <a:solidFill>
                  <a:srgbClr val="B86E1E"/>
                </a:solidFill>
                <a:latin typeface="Courier New" pitchFamily="34" charset="0"/>
                <a:ea typeface="Courier New" pitchFamily="34" charset="-122"/>
                <a:cs typeface="Courier New" pitchFamily="34" charset="-120"/>
              </a:rPr>
              <a:t>Price</a:t>
            </a:r>
            <a:r>
              <a:rPr lang="en-US" sz="2000" dirty="0">
                <a:solidFill>
                  <a:srgbClr val="2B1D19"/>
                </a:solidFill>
              </a:rPr>
              <a:t>, highest then lowest. What do the games that cost 0 have in common?</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Search for </a:t>
            </a:r>
            <a:r>
              <a:rPr lang="en-US" sz="1800" b="1" dirty="0">
                <a:solidFill>
                  <a:srgbClr val="B86E1E"/>
                </a:solidFill>
                <a:latin typeface="Courier New" pitchFamily="34" charset="0"/>
                <a:ea typeface="Courier New" pitchFamily="34" charset="-122"/>
                <a:cs typeface="Courier New" pitchFamily="34" charset="-120"/>
              </a:rPr>
              <a:t>Hollow Knight</a:t>
            </a:r>
            <a:r>
              <a:rPr lang="en-US" sz="2000" dirty="0">
                <a:solidFill>
                  <a:srgbClr val="2B1D19"/>
                </a:solidFill>
              </a:rPr>
              <a:t>. How would we work out what share of its reviews are positive?</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Sort by </a:t>
            </a:r>
            <a:r>
              <a:rPr lang="en-US" sz="1800" b="1" dirty="0">
                <a:solidFill>
                  <a:srgbClr val="B86E1E"/>
                </a:solidFill>
                <a:latin typeface="Courier New" pitchFamily="34" charset="0"/>
                <a:ea typeface="Courier New" pitchFamily="34" charset="-122"/>
                <a:cs typeface="Courier New" pitchFamily="34" charset="-120"/>
              </a:rPr>
              <a:t>Metacritic score</a:t>
            </a:r>
            <a:r>
              <a:rPr lang="en-US" sz="2000" dirty="0">
                <a:solidFill>
                  <a:srgbClr val="2B1D19"/>
                </a:solidFill>
              </a:rPr>
              <a:t>. Are the games scoring 0 really that bad?</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Where does a marimo cell's output appear?</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does </a:t>
            </a:r>
            <a:r>
              <a:rPr lang="en-US" sz="1800" b="1" dirty="0">
                <a:solidFill>
                  <a:srgbClr val="E8A55A"/>
                </a:solidFill>
                <a:latin typeface="Courier New" pitchFamily="34" charset="0"/>
                <a:ea typeface="Courier New" pitchFamily="34" charset="-122"/>
                <a:cs typeface="Courier New" pitchFamily="34" charset="-120"/>
              </a:rPr>
              <a:t>games.shape</a:t>
            </a:r>
            <a:r>
              <a:rPr lang="en-US" sz="2000" dirty="0">
                <a:solidFill>
                  <a:srgbClr val="FFFFFF"/>
                </a:solidFill>
              </a:rPr>
              <a:t> tell us about our data?</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is it a problem that </a:t>
            </a:r>
            <a:r>
              <a:rPr lang="en-US" sz="1800" b="1" dirty="0">
                <a:solidFill>
                  <a:srgbClr val="E8A55A"/>
                </a:solidFill>
                <a:latin typeface="Courier New" pitchFamily="34" charset="0"/>
                <a:ea typeface="Courier New" pitchFamily="34" charset="-122"/>
                <a:cs typeface="Courier New" pitchFamily="34" charset="-120"/>
              </a:rPr>
              <a:t>Release date</a:t>
            </a:r>
            <a:r>
              <a:rPr lang="en-US" sz="2000" dirty="0">
                <a:solidFill>
                  <a:srgbClr val="FFFFFF"/>
                </a:solidFill>
              </a:rPr>
              <a:t> is a String?</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does it mean that marimo is reactive?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does marimo refuse to run a second cell that creates </a:t>
            </a:r>
            <a:r>
              <a:rPr lang="en-US" sz="1800" b="1" dirty="0">
                <a:solidFill>
                  <a:srgbClr val="E8A55A"/>
                </a:solidFill>
                <a:latin typeface="Courier New" pitchFamily="34" charset="0"/>
                <a:ea typeface="Courier New" pitchFamily="34" charset="-122"/>
                <a:cs typeface="Courier New" pitchFamily="34" charset="-120"/>
              </a:rPr>
              <a:t>sample_size</a:t>
            </a:r>
            <a:r>
              <a:rPr lang="en-US" sz="2000" dirty="0">
                <a:solidFill>
                  <a:srgbClr val="FFFFFF"/>
                </a:solidFill>
              </a:rPr>
              <a: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Exploring the data</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For each of your three questions from your story angles, write down which columns could help answer it.</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For each of those columns, write down its data type and two or three example values.</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Note anything that looks strange: empty values, impossible numbers, or numbers stored as text.</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Exploring Our Data</dc:title>
  <dc:subject>PptxGenJS Presentation</dc:subject>
  <dc:creator>Steam Data Stories</dc:creator>
  <cp:lastModifiedBy>Steam Data Stories</cp:lastModifiedBy>
  <cp:revision>1</cp:revision>
  <dcterms:created xsi:type="dcterms:W3CDTF">2026-10-13T11:49:34Z</dcterms:created>
  <dcterms:modified xsi:type="dcterms:W3CDTF">2026-10-13T11:49:34Z</dcterms:modified>
</cp:coreProperties>
</file>