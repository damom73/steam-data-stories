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505bf1-bd03-8142-53f2-a142df1f2f25}">
          <p14:sldIdLst>
            <p14:sldId id="256"/>
            <p14:sldId id="257"/>
            <p14:sldId id="258"/>
            <p14:sldId id="259"/>
            <p14:sldId id="260"/>
          </p14:sldIdLst>
        </p14:section>
        <p14:section name="Planning our talk" id="{a1d5b61b-684a-2c56-5a79-3215b68fb15d}">
          <p14:sldIdLst>
            <p14:sldId id="261"/>
            <p14:sldId id="262"/>
            <p14:sldId id="263"/>
            <p14:sldId id="264"/>
            <p14:sldId id="265"/>
          </p14:sldIdLst>
        </p14:section>
        <p14:section name="Rehearsing" id="{6ee0709d-2c2c-b976-18e8-4fe51e650ce5}">
          <p14:sldIdLst>
            <p14:sldId id="266"/>
            <p14:sldId id="267"/>
            <p14:sldId id="268"/>
          </p14:sldIdLst>
        </p14:section>
        <p14:section name="Giving feedback" id="{b336f2de-5683-cb84-99c1-4d59c0070340}">
          <p14:sldIdLst>
            <p14:sldId id="269"/>
            <p14:sldId id="270"/>
            <p14:sldId id="271"/>
            <p14:sldId id="272"/>
          </p14:sldIdLst>
        </p14:section>
        <p14:section name="Making our final edits" id="{833fb3e0-3a72-0e80-2699-ca698175f1e1}">
          <p14:sldIdLst>
            <p14:sldId id="273"/>
            <p14:sldId id="274"/>
          </p14:sldIdLst>
        </p14:section>
        <p14:section name="Wrap up" id="{b2460356-6017-2f18-d8cb-9c02a42c6ce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lesson of the Steam story: students present their data story in three minutes, give peer feedback and make final edits. About 60 minutes: 5 min intro, 10 min planning, 5 min rehearsing, 30 min presentations with feedback, 10 min final edits and reflection. With a large class, presentations may run over two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Set expectations for the presentation order and timing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agreed criteria today are the arc checklist. Students used a lighter version when they checked insights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student's story opens on the class server before the lesson,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different about listening to a story compared with reading it? (You can't go back, and you can't skip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add the ## Presenting heading to my_data_story.md for their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Behind the Scenes gets only 15 seconds, even though it took several lessons. The audience needs to know where the data came from, not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while pointing at the Aha chart, to model the pace. Time it: it should take well under 45 seconds, leaving room for the slider.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write a script tend to read it word for word. Dot points keep the talk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circle the one number per chart in their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Rehearsing in pairs works well: one talks, one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timing problem is spending too long on the Hook and Behind the Scenes, then rushing the Aha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page usually means the data file isn't in the data folder, or the path wasn't changed to use mo.notebook_dir().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display the checklist so students can fill it in during each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criteria come straight from the lessons on each stage of the arc. Students should recognise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each star and the wish names a specific chart or control and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see vague feedback, ask the writer: which chart? What exactly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person's opinion might be taste; three people saying the same thing is a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hand in the same two files as when they first handed in their story: steam_story.py and data/clean_games.parquet.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Behind the Scenes, 15 seconds. Our audience needs to know what data we used and one thing we cleaned, not every step.
2. Dot points keep the talk natural, with one or two points per stage and the numbers we'll mention, instead of reading word for word.
3. Words, not the Aha Moment.
4. Make it specific, e.g. "Your box plot's title told me the finding before I read the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reflection finishes their data story. It goes under the ## Presenting heading they already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Your Data Story Project page on the site. Students can start thinking about datasets and questions they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RESOLUTION</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16</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Presenting and Feedback</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307080"/>
          </a:xfrm>
          <a:prstGeom prst="roundRect">
            <a:avLst>
              <a:gd name="adj" fmla="val 22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6212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plan a three-minute talk that follows the data story arc</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present our story from the app view</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give useful feedback with the arc checklist and two stars and a wish</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use feedback to make our final edits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1630680"/>
          </a:xfrm>
          <a:prstGeom prst="roundRect">
            <a:avLst>
              <a:gd name="adj" fmla="val 4486"/>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944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peer review</a:t>
            </a:r>
            <a:r>
              <a:rPr lang="en-US" sz="2000" dirty="0">
                <a:solidFill>
                  <a:srgbClr val="2B1D19"/>
                </a:solidFill>
              </a:rPr>
              <a:t> – checking a classmate's work against agreed criteria and giving them feedback to improve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TODAY</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story is written and published. Now it's time to tell it.</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We present our data story to the class in </a:t>
            </a:r>
            <a:r>
              <a:rPr lang="en-US" sz="1600" b="1" dirty="0">
                <a:solidFill>
                  <a:srgbClr val="F7EFE6"/>
                </a:solidFill>
              </a:rPr>
              <a:t>three minutes</a:t>
            </a:r>
            <a:r>
              <a:rPr lang="en-US" sz="1600" dirty="0">
                <a:solidFill>
                  <a:srgbClr val="F7EFE6"/>
                </a:solidFill>
              </a:rPr>
              <a:t>, give feedback on each other's stories, and use the feedback to make our story as good as it can be.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Told out loud, not read</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Our audience can't scroll back up or read at their own pace, so we lead them through it:</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b="1" dirty="0">
                <a:solidFill>
                  <a:srgbClr val="2B1D19"/>
                </a:solidFill>
              </a:rPr>
              <a:t>one idea</a:t>
            </a:r>
            <a:r>
              <a:rPr lang="en-US" sz="2000" dirty="0">
                <a:solidFill>
                  <a:srgbClr val="2B1D19"/>
                </a:solidFill>
              </a:rPr>
              <a:t> at a time</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each chart </a:t>
            </a:r>
            <a:r>
              <a:rPr lang="en-US" sz="2000" b="1" dirty="0">
                <a:solidFill>
                  <a:srgbClr val="2B1D19"/>
                </a:solidFill>
              </a:rPr>
              <a:t>on screen</a:t>
            </a:r>
            <a:r>
              <a:rPr lang="en-US" sz="2000" dirty="0">
                <a:solidFill>
                  <a:srgbClr val="2B1D19"/>
                </a:solidFill>
              </a:rPr>
              <a:t> while we talk about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Planning our talk</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Three minutes isn't long, so we plan how to use it. Our talk follows the same arc as our story.</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Three minutes, five stages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1371600"/>
                <a:gridCol w="4846320"/>
              </a:tblGrid>
              <a:tr h="0">
                <a:tc>
                  <a:txBody>
                    <a:bodyPr/>
                    <a:lstStyle/>
                    <a:p>
                      <a:pPr indent="0" marL="0">
                        <a:buNone/>
                      </a:pPr>
                      <a:r>
                        <a:rPr lang="en-US" sz="1400" b="1" dirty="0">
                          <a:solidFill>
                            <a:srgbClr val="FFFFFF"/>
                          </a:solidFill>
                        </a:rPr>
                        <a:t>Stage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we do</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Hook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30 seconds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ask our question and say why it's interesting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Behind the Scenes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15 seconds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say what data we used, and one thing we had to clean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Rising Insights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60 seconds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show two or three insights, one chart at a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Aha Moment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45 seconds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show our Aha chart and point to the finding, then use a control to show it holds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Resolution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30 seconds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answer our question, and give our most important limitation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our Aha Moment might sound like</a:t>
            </a:r>
            <a:endParaRPr lang="en-US" sz="2800" dirty="0"/>
          </a:p>
        </p:txBody>
      </p:sp>
      <p:sp>
        <p:nvSpPr>
          <p:cNvPr id="3" name="Code panel"/>
          <p:cNvSpPr/>
          <p:nvPr/>
        </p:nvSpPr>
        <p:spPr>
          <a:xfrm>
            <a:off x="457200" y="1051560"/>
            <a:ext cx="8229600" cy="1739265"/>
          </a:xfrm>
          <a:prstGeom prst="roundRect">
            <a:avLst>
              <a:gd name="adj" fmla="val 3154"/>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Aha Moment (45 seconds)</a:t>
            </a:r>
            <a:endParaRPr lang="en-US" sz="1200" dirty="0"/>
          </a:p>
        </p:txBody>
      </p:sp>
      <p:sp>
        <p:nvSpPr>
          <p:cNvPr id="5" name="Code"/>
          <p:cNvSpPr txBox="1"/>
          <p:nvPr/>
        </p:nvSpPr>
        <p:spPr>
          <a:xfrm>
            <a:off x="594360" y="1508760"/>
            <a:ext cx="7955280" cy="1077595"/>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This is the chart that answers our question. The blue line is Indie</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games and the grey line is everything else. Look at 2017: from then on,</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3  </a:t>
            </a:r>
            <a:r>
              <a:rPr lang="en-US" sz="1300" dirty="0">
                <a:solidFill>
                  <a:srgbClr val="F7EFE6"/>
                </a:solidFill>
                <a:latin typeface="Courier New" pitchFamily="34" charset="0"/>
                <a:ea typeface="Courier New" pitchFamily="34" charset="-122"/>
                <a:cs typeface="Courier New" pitchFamily="34" charset="-120"/>
              </a:rPr>
              <a:t>the blue line stays above the grey line every single year, and from</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4  </a:t>
            </a:r>
            <a:r>
              <a:rPr lang="en-US" sz="1300" dirty="0">
                <a:solidFill>
                  <a:srgbClr val="F7EFE6"/>
                </a:solidFill>
                <a:latin typeface="Courier New" pitchFamily="34" charset="0"/>
                <a:ea typeface="Courier New" pitchFamily="34" charset="-122"/>
                <a:cs typeface="Courier New" pitchFamily="34" charset="-120"/>
              </a:rPr>
              <a:t>2018 it's about 4 to 8 points ahead. And if I drag the slider to start</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5  </a:t>
            </a:r>
            <a:r>
              <a:rPr lang="en-US" sz="1300" dirty="0">
                <a:solidFill>
                  <a:srgbClr val="F7EFE6"/>
                </a:solidFill>
                <a:latin typeface="Courier New" pitchFamily="34" charset="0"/>
                <a:ea typeface="Courier New" pitchFamily="34" charset="-122"/>
                <a:cs typeface="Courier New" pitchFamily="34" charset="-120"/>
              </a:rPr>
              <a:t>at 2017, the gap is still there in every year.</a:t>
            </a:r>
            <a:endParaRPr lang="en-US" sz="1300" dirty="0"/>
          </a:p>
        </p:txBody>
      </p:sp>
      <p:sp>
        <p:nvSpPr>
          <p:cNvPr id="6" name="Text 4"/>
          <p:cNvSpPr txBox="1"/>
          <p:nvPr/>
        </p:nvSpPr>
        <p:spPr>
          <a:xfrm>
            <a:off x="457200" y="2882265"/>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It says what the colours mean, points to where to look, gives the numbers, then uses a control to show the finding holds.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Write our plan</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Under a new heading </a:t>
            </a:r>
            <a:r>
              <a:rPr lang="en-US" sz="1400" dirty="0">
                <a:solidFill>
                  <a:srgbClr val="B86E1E"/>
                </a:solidFill>
                <a:latin typeface="Courier New" pitchFamily="34" charset="0"/>
                <a:ea typeface="Courier New" pitchFamily="34" charset="-122"/>
                <a:cs typeface="Courier New" pitchFamily="34" charset="-120"/>
              </a:rPr>
              <a:t>## Presenting</a:t>
            </a:r>
            <a:r>
              <a:rPr lang="en-US" sz="1600" dirty="0">
                <a:solidFill>
                  <a:srgbClr val="2B1D19"/>
                </a:solidFill>
              </a:rPr>
              <a:t> in </a:t>
            </a:r>
            <a:r>
              <a:rPr lang="en-US" sz="1600" b="1" dirty="0">
                <a:solidFill>
                  <a:srgbClr val="2B1D19"/>
                </a:solidFill>
              </a:rPr>
              <a:t>my_data_story.md</a:t>
            </a:r>
            <a:r>
              <a:rPr lang="en-US" sz="1600" dirty="0">
                <a:solidFill>
                  <a:srgbClr val="2B1D19"/>
                </a:solidFill>
              </a:rPr>
              <a:t>, plan each stage using the table.</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dirty="0">
                <a:solidFill>
                  <a:srgbClr val="2B1D19"/>
                </a:solidFill>
              </a:rPr>
              <a:t>write </a:t>
            </a:r>
            <a:r>
              <a:rPr lang="en-US" sz="2000" b="1" dirty="0">
                <a:solidFill>
                  <a:srgbClr val="2B1D19"/>
                </a:solidFill>
              </a:rPr>
              <a:t>dot points</a:t>
            </a:r>
            <a:r>
              <a:rPr lang="en-US" sz="2000" dirty="0">
                <a:solidFill>
                  <a:srgbClr val="2B1D19"/>
                </a:solidFill>
              </a:rPr>
              <a:t>, not a script</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one or two points per stage</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include the numbers we'll mention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number per chart</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Our audience will only remember a few numbers. For each chart, choose the </a:t>
            </a:r>
            <a:r>
              <a:rPr lang="en-US" sz="2000" b="1" dirty="0">
                <a:solidFill>
                  <a:srgbClr val="2B1D19"/>
                </a:solidFill>
              </a:rPr>
              <a:t>one</a:t>
            </a:r>
            <a:r>
              <a:rPr lang="en-US" sz="2000" dirty="0">
                <a:solidFill>
                  <a:srgbClr val="2B1D19"/>
                </a:solidFill>
              </a:rPr>
              <a:t> number that matters most, say it clearly, and point to it on the screen.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Rehearsing</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Open our story in app view, on the class server or with </a:t>
            </a:r>
            <a:r>
              <a:rPr lang="en-US" sz="1600" dirty="0">
                <a:solidFill>
                  <a:srgbClr val="E8A55A"/>
                </a:solidFill>
                <a:latin typeface="Courier New" pitchFamily="34" charset="0"/>
                <a:ea typeface="Courier New" pitchFamily="34" charset="-122"/>
                <a:cs typeface="Courier New" pitchFamily="34" charset="-120"/>
              </a:rPr>
              <a:t>marimo run steam_story.py</a:t>
            </a:r>
            <a:r>
              <a:rPr lang="en-US" sz="1800" dirty="0">
                <a:solidFill>
                  <a:srgbClr val="F7EFE6"/>
                </a:solidFill>
              </a:rPr>
              <a:t>, and practise out loud with a timer.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As we practise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Scroll so only the chart we're talking about is on the screen.</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Hover over the points we mention, so our audience sees the exact numbers.</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Practise using our controls during the Aha Moment, so we don't fumble them.</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If we go over three minutes, cut words, </a:t>
            </a:r>
            <a:r>
              <a:rPr lang="en-US" sz="2000" b="1" dirty="0">
                <a:solidFill>
                  <a:srgbClr val="2B1D19"/>
                </a:solidFill>
              </a:rPr>
              <a:t>not the Aha Moment</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class server first</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Before our talk, open our story on the class server and scroll through to the end. If it's slow or shows an empty page, tell our teacher straight away, and present from </a:t>
            </a:r>
            <a:r>
              <a:rPr lang="en-US" sz="1800" dirty="0">
                <a:solidFill>
                  <a:srgbClr val="B86E1E"/>
                </a:solidFill>
                <a:latin typeface="Courier New" pitchFamily="34" charset="0"/>
                <a:ea typeface="Courier New" pitchFamily="34" charset="-122"/>
                <a:cs typeface="Courier New" pitchFamily="34" charset="-120"/>
              </a:rPr>
              <a:t>marimo run</a:t>
            </a:r>
            <a:r>
              <a:rPr lang="en-US" sz="2000" dirty="0">
                <a:solidFill>
                  <a:srgbClr val="2B1D19"/>
                </a:solidFill>
              </a:rPr>
              <a:t> on our own computer instead.</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Giving feedback</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While each person presents, we give them a </a:t>
            </a:r>
            <a:r>
              <a:rPr lang="en-US" sz="1800" b="1" dirty="0">
                <a:solidFill>
                  <a:srgbClr val="F7EFE6"/>
                </a:solidFill>
              </a:rPr>
              <a:t>peer review</a:t>
            </a:r>
            <a:r>
              <a:rPr lang="en-US" sz="1800" dirty="0">
                <a:solidFill>
                  <a:srgbClr val="F7EFE6"/>
                </a:solidFill>
              </a:rPr>
              <a:t> in two parts: the arc checklist, then two stars and a wish.</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arc checklist</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For each stage, write </a:t>
            </a:r>
            <a:r>
              <a:rPr lang="en-US" sz="1500" b="1" dirty="0">
                <a:solidFill>
                  <a:srgbClr val="2B1D19"/>
                </a:solidFill>
              </a:rPr>
              <a:t>yes</a:t>
            </a:r>
            <a:r>
              <a:rPr lang="en-US" sz="1500" dirty="0">
                <a:solidFill>
                  <a:srgbClr val="2B1D19"/>
                </a:solidFill>
              </a:rPr>
              <a:t>, </a:t>
            </a:r>
            <a:r>
              <a:rPr lang="en-US" sz="1500" b="1" dirty="0">
                <a:solidFill>
                  <a:srgbClr val="2B1D19"/>
                </a:solidFill>
              </a:rPr>
              <a:t>partly</a:t>
            </a:r>
            <a:r>
              <a:rPr lang="en-US" sz="1500" dirty="0">
                <a:solidFill>
                  <a:srgbClr val="2B1D19"/>
                </a:solidFill>
              </a:rPr>
              <a:t> or </a:t>
            </a:r>
            <a:r>
              <a:rPr lang="en-US" sz="1500" b="1" dirty="0">
                <a:solidFill>
                  <a:srgbClr val="2B1D19"/>
                </a:solidFill>
              </a:rPr>
              <a:t>no</a:t>
            </a:r>
            <a:r>
              <a:rPr lang="en-US" sz="1500" dirty="0">
                <a:solidFill>
                  <a:srgbClr val="2B1D19"/>
                </a:solidFill>
              </a:rPr>
              <a:t>.</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2011680"/>
                <a:gridCol w="6217920"/>
              </a:tblGrid>
              <a:tr h="0">
                <a:tc>
                  <a:txBody>
                    <a:bodyPr/>
                    <a:lstStyle/>
                    <a:p>
                      <a:pPr indent="0" marL="0">
                        <a:buNone/>
                      </a:pPr>
                      <a:r>
                        <a:rPr lang="en-US" sz="1400" b="1" dirty="0">
                          <a:solidFill>
                            <a:srgbClr val="FFFFFF"/>
                          </a:solidFill>
                        </a:rPr>
                        <a:t>Stage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Did their story do this?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Hook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question was clear, and we wanted to know the answer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Behind the Scenes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we knew what data they used and where it came from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Rising Insights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each insight had a number and a chart, and they built towards the Aha Moment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Aha Moment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Aha chart answered the question in one look, with a headline title and the finding highlighted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Resolution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they answered the question and gave at least one honest limitation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Charts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every chart had clear labels and the right type of chart for its question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they finished within three minutes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Two stars and a wish</a:t>
            </a:r>
            <a:endParaRPr lang="en-US" sz="2800" dirty="0"/>
          </a:p>
        </p:txBody>
      </p:sp>
      <p:sp>
        <p:nvSpPr>
          <p:cNvPr id="3" name="Code panel"/>
          <p:cNvSpPr/>
          <p:nvPr/>
        </p:nvSpPr>
        <p:spPr>
          <a:xfrm>
            <a:off x="457200" y="1051560"/>
            <a:ext cx="8229600" cy="1739265"/>
          </a:xfrm>
          <a:prstGeom prst="roundRect">
            <a:avLst>
              <a:gd name="adj" fmla="val 3154"/>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Feedback for Sam</a:t>
            </a:r>
            <a:endParaRPr lang="en-US" sz="1200" dirty="0"/>
          </a:p>
        </p:txBody>
      </p:sp>
      <p:sp>
        <p:nvSpPr>
          <p:cNvPr id="5" name="Code"/>
          <p:cNvSpPr txBox="1"/>
          <p:nvPr/>
        </p:nvSpPr>
        <p:spPr>
          <a:xfrm>
            <a:off x="594360" y="1508760"/>
            <a:ext cx="7955280" cy="1156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Star: your Aha chart was really clear. The orange line made the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difference jump out straight away.</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Star: using the slider to show the gap started in 2020 was convincing.</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Wish: your scatter plot had no headline title, so I wasn't sure what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it was meant to show.</a:t>
            </a:r>
            <a:endParaRPr lang="en-US" sz="1400" dirty="0"/>
          </a:p>
        </p:txBody>
      </p:sp>
      <p:sp>
        <p:nvSpPr>
          <p:cNvPr id="6" name="Text 4"/>
          <p:cNvSpPr txBox="1"/>
          <p:nvPr/>
        </p:nvSpPr>
        <p:spPr>
          <a:xfrm>
            <a:off x="457200" y="2882265"/>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Two things that worked well, and one thing to improve. Make each one specific, so the presenter knows exactly what to keep and what to change.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Specific beats nice</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"Great job!" feels good, but it doesn't help anyone improve. "Your box plot's title told me the finding before I read the axes" tells the presenter exactly what to keep doing.</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Making our final edits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Read all our feedback, then look for the points that </a:t>
            </a:r>
            <a:r>
              <a:rPr lang="en-US" sz="1800" b="1" dirty="0">
                <a:solidFill>
                  <a:srgbClr val="F7EFE6"/>
                </a:solidFill>
              </a:rPr>
              <a:t>more than one person</a:t>
            </a:r>
            <a:r>
              <a:rPr lang="en-US" sz="1800" dirty="0">
                <a:solidFill>
                  <a:srgbClr val="F7EFE6"/>
                </a:solidFill>
              </a:rPr>
              <a:t> made. Those are the ones to fix first.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Final edits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Under </a:t>
            </a:r>
            <a:r>
              <a:rPr lang="en-US" sz="1800" dirty="0">
                <a:solidFill>
                  <a:srgbClr val="B86E1E"/>
                </a:solidFill>
                <a:latin typeface="Courier New" pitchFamily="34" charset="0"/>
                <a:ea typeface="Courier New" pitchFamily="34" charset="-122"/>
                <a:cs typeface="Courier New" pitchFamily="34" charset="-120"/>
              </a:rPr>
              <a:t>## Presenting</a:t>
            </a:r>
            <a:r>
              <a:rPr lang="en-US" sz="2000" dirty="0">
                <a:solidFill>
                  <a:srgbClr val="2B1D19"/>
                </a:solidFill>
              </a:rPr>
              <a:t> in </a:t>
            </a:r>
            <a:r>
              <a:rPr lang="en-US" sz="2000" b="1" dirty="0">
                <a:solidFill>
                  <a:srgbClr val="2B1D19"/>
                </a:solidFill>
              </a:rPr>
              <a:t>my_data_story.md</a:t>
            </a:r>
            <a:r>
              <a:rPr lang="en-US" sz="2000" dirty="0">
                <a:solidFill>
                  <a:srgbClr val="2B1D19"/>
                </a:solidFill>
              </a:rPr>
              <a:t>, copy in the feedback you got.</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Choose up to three changes to make, and write down why.</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Make the changes in </a:t>
            </a:r>
            <a:r>
              <a:rPr lang="en-US" sz="2000" b="1" dirty="0">
                <a:solidFill>
                  <a:srgbClr val="2B1D19"/>
                </a:solidFill>
              </a:rPr>
              <a:t>steam_story.py</a:t>
            </a:r>
            <a:r>
              <a:rPr lang="en-US" sz="2000" dirty="0">
                <a:solidFill>
                  <a:srgbClr val="2B1D19"/>
                </a:solidFill>
              </a:rPr>
              <a:t>, check with </a:t>
            </a:r>
            <a:r>
              <a:rPr lang="en-US" sz="1800" dirty="0">
                <a:solidFill>
                  <a:srgbClr val="B86E1E"/>
                </a:solidFill>
                <a:latin typeface="Courier New" pitchFamily="34" charset="0"/>
                <a:ea typeface="Courier New" pitchFamily="34" charset="-122"/>
                <a:cs typeface="Courier New" pitchFamily="34" charset="-120"/>
              </a:rPr>
              <a:t>marimo run</a:t>
            </a:r>
            <a:r>
              <a:rPr lang="en-US" sz="2000" dirty="0">
                <a:solidFill>
                  <a:srgbClr val="2B1D19"/>
                </a:solidFill>
              </a:rPr>
              <a:t>, then hand in the final version the same way as before.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Which stage of the talk gets the least time, and why?</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write dot points instead of a script?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We're running over three minutes. What do we cut?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Turn "Great job!" into useful feedback.</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Presenting</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What was the most interesting thing you found in your data, and how did you find it?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Which stage of the data story arc was hardest to get right, and what did you do about it?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If you had another week, what other question would you ask of your data?</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WHAT'S NEXT</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Next, we tell a whole data story with a dataset we choose ourselves</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We've now told a whole data story, from the Hook to the Resolution. The </a:t>
            </a:r>
            <a:r>
              <a:rPr lang="en-US" sz="1600" b="1" dirty="0">
                <a:solidFill>
                  <a:srgbClr val="F7EFE6"/>
                </a:solidFill>
              </a:rPr>
              <a:t>Your Data Story Project</a:t>
            </a:r>
            <a:r>
              <a:rPr lang="en-US" sz="1600" dirty="0">
                <a:solidFill>
                  <a:srgbClr val="F7EFE6"/>
                </a:solidFill>
              </a:rPr>
              <a:t> page takes us through each step.</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Presenting and Feedback</dc:title>
  <dc:subject>PptxGenJS Presentation</dc:subject>
  <dc:creator>Steam Data Stories</dc:creator>
  <cp:lastModifiedBy>Steam Data Stories</cp:lastModifiedBy>
  <cp:revision>1</cp:revision>
  <dcterms:created xsi:type="dcterms:W3CDTF">2026-10-12T04:53:05Z</dcterms:created>
  <dcterms:modified xsi:type="dcterms:W3CDTF">2026-10-12T04:53:05Z</dcterms:modified>
</cp:coreProperties>
</file>