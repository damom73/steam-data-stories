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ced9bf5-8a38-9a5c-8a05-bca0ddb47eb6}">
          <p14:sldIdLst>
            <p14:sldId id="256"/>
            <p14:sldId id="257"/>
            <p14:sldId id="258"/>
            <p14:sldId id="259"/>
          </p14:sldIdLst>
        </p14:section>
        <p14:section name="Importing Plotly Express" id="{467323bb-b516-8ab1-9801-9a78cd8f6df9}">
          <p14:sldIdLst>
            <p14:sldId id="260"/>
            <p14:sldId id="261"/>
            <p14:sldId id="262"/>
          </p14:sldIdLst>
        </p14:section>
        <p14:section name="Bar charts" id="{9da31c38-2dc3-23e5-9f73-213db4eb4c47}">
          <p14:sldIdLst>
            <p14:sldId id="263"/>
            <p14:sldId id="264"/>
            <p14:sldId id="265"/>
            <p14:sldId id="266"/>
            <p14:sldId id="267"/>
          </p14:sldIdLst>
        </p14:section>
        <p14:section name="Histograms" id="{3518c0bc-58e1-26ec-f00d-86bdc207593f}">
          <p14:sldIdLst>
            <p14:sldId id="268"/>
            <p14:sldId id="269"/>
            <p14:sldId id="270"/>
            <p14:sldId id="271"/>
            <p14:sldId id="272"/>
          </p14:sldIdLst>
        </p14:section>
        <p14:section name="Comparing two groups" id="{c0d4310e-2704-bc9c-8f32-019a1d648a44}">
          <p14:sldIdLst>
            <p14:sldId id="273"/>
            <p14:sldId id="274"/>
            <p14:sldId id="275"/>
            <p14:sldId id="276"/>
            <p14:sldId id="277"/>
            <p14:sldId id="278"/>
          </p14:sldIdLst>
        </p14:section>
        <p14:section name="Wrap up" id="{df8c9bd1-9221-ea7b-cabf-fa8d7d54df93}">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charting lesson in Rising Insights. Today we turn our group summaries into charts with Plotly Express. About 60 minutes: 5 min hook, 5 min importing Plotly, 15 min bar chart, 15 min histogram, 10 min comparing two groups, 10 min Your data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intentions aloud. Point out the third one: it's about fairness, which matters every time we compare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new terms. Students will see bins in action shortly, so keep this brief and come back to it when we change nbins.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if you showed a friend our per_group table for two seconds, what would they remember? A good chart makes the finding obvious in one look. Plotly Express charts are interactive: we can hover to see exact values and drag to zoom.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marimo with marimo edit steam_story.py and press Ctrl+Shift+R (Cmd+Shift+R on a Mac) to run the earlier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change the first cell, not the last one. Point to the title: change first cell. A common mistake is adding the import at the bottom of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why plotly comes before polars: p-l before 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where have you seen bar charts before? Most students will have seen them in maths and science.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chart type today gets a When to use it slide. Students will need these when they choose a chart for their own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predict, run, investigate. Line 2 uses the per_group DataFrame we made when summarising groups. Line 6 closes the brackets; the chart is the last value in the cell, so marimo shows it. Group goes along the x-axis and Median review score up the y-axis.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hover and zoom on their own chart. Then ask: does this chart make the difference obvious? (No.) A bar chart is good for showing that two groups are similar. To show how they differ, we need a chart that shows more of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prices table was made when we compared means and medians. Check students also update the title: a chart about prices with a title about review scores is a common slip.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terms: a histogram splits values into equal ranges called bins, and draws a bar for how many values land in each bin.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the bar chart slide: a bar chart has one number per group; a histogram uses every value in a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with every game in scored so we can see the shape before splitting it by group. Ask: why is there no y? (The histogram counts rows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when we compared means and medians: prices were skewed too, but with the long tail on the high side. Ask: which side is the tail on here? (The low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10 bins the shape is too blocky; with 200 the bars get thin and jumpy because each bin holds few games. 45 is a good middle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could we make the comparison fair? Lead students towards percentages of each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fix for the problem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predict first. Ask which group students expect to have taller bars at the high end. The other lines are the same as our first histogram.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the bar chart: same data, but this chart shows the difference. That's the key message: the right chart makes the finding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percentages the y-axis shows counts, and the Indie bars look taller almost everywhere just because there are more Indie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try it now on their split histogram.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or use mini whiteboards.
Answers:
1. When we have one number for each group, such as a count or median, and want to compare the groups.
2. It counts the rows in each bin for us.
3. Both bars start from 0, so a small gap is hard to see. Bar charts are good at showing groups are similar.
4. There are 6,243 Indie games but only 4,007 others, so counts would make the Indie bars taller just because there are more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last 10 minutes. Students whose groups are similar sizes can skip the percentages, but should say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5989320" y="914400"/>
            <a:ext cx="2743200" cy="27432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001000" y="4069080"/>
            <a:ext cx="777240" cy="77724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503920" y="4572000"/>
            <a:ext cx="411480" cy="41148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530352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RISING INSIGHTS</a:t>
            </a:r>
            <a:endParaRPr lang="en-US" sz="1400" dirty="0"/>
          </a:p>
        </p:txBody>
      </p:sp>
      <p:sp>
        <p:nvSpPr>
          <p:cNvPr id="3" name="Text 1"/>
          <p:cNvSpPr txBox="1"/>
          <p:nvPr/>
        </p:nvSpPr>
        <p:spPr>
          <a:xfrm>
            <a:off x="457200" y="1325880"/>
            <a:ext cx="5303520" cy="457200"/>
          </a:xfrm>
          <a:prstGeom prst="rect">
            <a:avLst/>
          </a:prstGeom>
          <a:noFill/>
          <a:ln/>
        </p:spPr>
        <p:txBody>
          <a:bodyPr wrap="square" lIns="0" tIns="0" rIns="0" bIns="0" rtlCol="0" anchor="ctr"/>
          <a:lstStyle/>
          <a:p>
            <a:pPr indent="0" marL="0">
              <a:buNone/>
            </a:pPr>
            <a:r>
              <a:rPr lang="en-US" sz="2000" dirty="0">
                <a:solidFill>
                  <a:srgbClr val="F7EFE6"/>
                </a:solidFill>
              </a:rPr>
              <a:t>Lesson 9</a:t>
            </a:r>
            <a:endParaRPr lang="en-US" sz="2000" dirty="0"/>
          </a:p>
        </p:txBody>
      </p:sp>
      <p:sp>
        <p:nvSpPr>
          <p:cNvPr id="4" name="Text 2"/>
          <p:cNvSpPr txBox="1"/>
          <p:nvPr/>
        </p:nvSpPr>
        <p:spPr>
          <a:xfrm>
            <a:off x="457200" y="1783080"/>
            <a:ext cx="5303520" cy="1463040"/>
          </a:xfrm>
          <a:prstGeom prst="rect">
            <a:avLst/>
          </a:prstGeom>
          <a:noFill/>
          <a:ln/>
        </p:spPr>
        <p:txBody>
          <a:bodyPr wrap="square" lIns="0" tIns="0" rIns="0" bIns="0" rtlCol="0" anchor="t">
            <a:normAutofit/>
          </a:bodyPr>
          <a:lstStyle/>
          <a:p>
            <a:pPr indent="0" marL="0">
              <a:buNone/>
            </a:pPr>
            <a:r>
              <a:rPr lang="en-US" sz="4000" b="1" dirty="0">
                <a:solidFill>
                  <a:srgbClr val="FFFFFF"/>
                </a:solidFill>
              </a:rPr>
              <a:t>Bar Charts and Histograms</a:t>
            </a:r>
            <a:endParaRPr lang="en-US" sz="4000" dirty="0"/>
          </a:p>
        </p:txBody>
      </p:sp>
      <p:sp>
        <p:nvSpPr>
          <p:cNvPr id="5" name="Text 3"/>
          <p:cNvSpPr txBox="1"/>
          <p:nvPr/>
        </p:nvSpPr>
        <p:spPr>
          <a:xfrm>
            <a:off x="457200" y="4206240"/>
            <a:ext cx="5303520" cy="365760"/>
          </a:xfrm>
          <a:prstGeom prst="rect">
            <a:avLst/>
          </a:prstGeom>
          <a:noFill/>
          <a:ln/>
        </p:spPr>
        <p:txBody>
          <a:bodyPr wrap="square" lIns="0" tIns="0" rIns="0" bIns="0" rtlCol="0" anchor="ctr"/>
          <a:lstStyle/>
          <a:p>
            <a:pPr indent="0" marL="0">
              <a:buNone/>
            </a:pPr>
            <a:r>
              <a:rPr lang="en-US" sz="1400" dirty="0">
                <a:solidFill>
                  <a:srgbClr val="F7EFE6"/>
                </a:solidFill>
              </a:rPr>
              <a:t>Steam Data Stories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In this lesson we will learn</a:t>
            </a:r>
            <a:endParaRPr lang="en-US" sz="2800" dirty="0"/>
          </a:p>
        </p:txBody>
      </p:sp>
      <p:sp>
        <p:nvSpPr>
          <p:cNvPr id="3" name="learn box"/>
          <p:cNvSpPr/>
          <p:nvPr/>
        </p:nvSpPr>
        <p:spPr>
          <a:xfrm>
            <a:off x="457200" y="1097280"/>
            <a:ext cx="8229600" cy="2240280"/>
          </a:xfrm>
          <a:prstGeom prst="roundRect">
            <a:avLst>
              <a:gd name="adj" fmla="val 3265"/>
            </a:avLst>
          </a:prstGeom>
          <a:solidFill>
            <a:srgbClr val="FFF4DC"/>
          </a:solidFill>
          <a:ln w="12700">
            <a:solidFill>
              <a:srgbClr val="FFF4DC"/>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8A5A00"/>
                </a:solidFill>
              </a:rPr>
              <a:t>Learning intentions</a:t>
            </a:r>
            <a:endParaRPr lang="en-US" sz="1600" dirty="0"/>
          </a:p>
        </p:txBody>
      </p:sp>
      <p:sp>
        <p:nvSpPr>
          <p:cNvPr id="5" name="Text 3"/>
          <p:cNvSpPr txBox="1"/>
          <p:nvPr/>
        </p:nvSpPr>
        <p:spPr>
          <a:xfrm>
            <a:off x="685800" y="1645920"/>
            <a:ext cx="7772400" cy="15544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dirty="0">
                <a:solidFill>
                  <a:srgbClr val="2B1D19"/>
                </a:solidFill>
              </a:rPr>
              <a:t>how to draw a bar chart with Plotly Express</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draw a histogram to see how values are spread out</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compare groups of different sizes with percentages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Terminology</a:t>
            </a:r>
            <a:endParaRPr lang="en-US" sz="2800" dirty="0"/>
          </a:p>
        </p:txBody>
      </p:sp>
      <p:sp>
        <p:nvSpPr>
          <p:cNvPr id="3" name="terms box"/>
          <p:cNvSpPr/>
          <p:nvPr/>
        </p:nvSpPr>
        <p:spPr>
          <a:xfrm>
            <a:off x="457200" y="1097280"/>
            <a:ext cx="8229600" cy="2392680"/>
          </a:xfrm>
          <a:prstGeom prst="roundRect">
            <a:avLst>
              <a:gd name="adj" fmla="val 3057"/>
            </a:avLst>
          </a:prstGeom>
          <a:solidFill>
            <a:srgbClr val="EEEEEE"/>
          </a:solidFill>
          <a:ln w="12700">
            <a:solidFill>
              <a:srgbClr val="EEEEEE"/>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424242"/>
                </a:solidFill>
              </a:rPr>
              <a:t>New terms</a:t>
            </a:r>
            <a:endParaRPr lang="en-US" sz="1600" dirty="0"/>
          </a:p>
        </p:txBody>
      </p:sp>
      <p:sp>
        <p:nvSpPr>
          <p:cNvPr id="5" name="Text 3"/>
          <p:cNvSpPr txBox="1"/>
          <p:nvPr/>
        </p:nvSpPr>
        <p:spPr>
          <a:xfrm>
            <a:off x="685800" y="1645920"/>
            <a:ext cx="7772400" cy="17068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b="1" dirty="0">
                <a:solidFill>
                  <a:srgbClr val="2B1D19"/>
                </a:solidFill>
              </a:rPr>
              <a:t>histogram</a:t>
            </a:r>
            <a:r>
              <a:rPr lang="en-US" sz="2000" dirty="0">
                <a:solidFill>
                  <a:srgbClr val="2B1D19"/>
                </a:solidFill>
              </a:rPr>
              <a:t> – a chart that splits values into equal ranges and draws a bar for how many values land in each one.</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bin</a:t>
            </a:r>
            <a:r>
              <a:rPr lang="en-US" sz="2000" dirty="0">
                <a:solidFill>
                  <a:srgbClr val="2B1D19"/>
                </a:solidFill>
              </a:rPr>
              <a:t> – one of the equal ranges of values that a histogram counts.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REMEMBER</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A table of numbers makes our audience do the work</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When we summarised groups, Indie games had a median review score of </a:t>
            </a:r>
            <a:r>
              <a:rPr lang="en-US" sz="1600" b="1" dirty="0">
                <a:solidFill>
                  <a:srgbClr val="F7EFE6"/>
                </a:solidFill>
              </a:rPr>
              <a:t>86.5%</a:t>
            </a:r>
            <a:r>
              <a:rPr lang="en-US" sz="1600" dirty="0">
                <a:solidFill>
                  <a:srgbClr val="F7EFE6"/>
                </a:solidFill>
              </a:rPr>
              <a:t> and other games </a:t>
            </a:r>
            <a:r>
              <a:rPr lang="en-US" sz="1600" b="1" dirty="0">
                <a:solidFill>
                  <a:srgbClr val="F7EFE6"/>
                </a:solidFill>
              </a:rPr>
              <a:t>83.2%</a:t>
            </a:r>
            <a:r>
              <a:rPr lang="en-US" sz="1600" dirty="0">
                <a:solidFill>
                  <a:srgbClr val="F7EFE6"/>
                </a:solidFill>
              </a:rPr>
              <a:t>. Today we turn those summaries into charts.</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Importing Plotly Express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Plotly Express is a library, just like Polars, so our notebook must import it before any cell can draw a chart.</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Add Plotly to our imports</a:t>
            </a:r>
            <a:endParaRPr lang="en-US" sz="2800" dirty="0"/>
          </a:p>
        </p:txBody>
      </p:sp>
      <p:sp>
        <p:nvSpPr>
          <p:cNvPr id="3" name="Code panel"/>
          <p:cNvSpPr/>
          <p:nvPr/>
        </p:nvSpPr>
        <p:spPr>
          <a:xfrm>
            <a:off x="457200" y="1051560"/>
            <a:ext cx="3840480" cy="1024890"/>
          </a:xfrm>
          <a:prstGeom prst="roundRect">
            <a:avLst>
              <a:gd name="adj" fmla="val 5353"/>
            </a:avLst>
          </a:prstGeom>
          <a:solidFill>
            <a:srgbClr val="2B1D19"/>
          </a:solidFill>
          <a:ln w="12700">
            <a:solidFill>
              <a:srgbClr val="2B1D19"/>
            </a:solidFill>
            <a:prstDash val="solid"/>
          </a:ln>
        </p:spPr>
      </p:sp>
      <p:sp>
        <p:nvSpPr>
          <p:cNvPr id="4" name="Text 2"/>
          <p:cNvSpPr txBox="1"/>
          <p:nvPr/>
        </p:nvSpPr>
        <p:spPr>
          <a:xfrm>
            <a:off x="640080" y="1161288"/>
            <a:ext cx="347472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change first cell</a:t>
            </a:r>
            <a:endParaRPr lang="en-US" sz="1200" dirty="0"/>
          </a:p>
        </p:txBody>
      </p:sp>
      <p:sp>
        <p:nvSpPr>
          <p:cNvPr id="5" name="Highlight"/>
          <p:cNvSpPr/>
          <p:nvPr/>
        </p:nvSpPr>
        <p:spPr>
          <a:xfrm>
            <a:off x="530352" y="1508760"/>
            <a:ext cx="3694176" cy="238125"/>
          </a:xfrm>
          <a:prstGeom prst="rect">
            <a:avLst/>
          </a:prstGeom>
          <a:solidFill>
            <a:srgbClr val="5A3A1E"/>
          </a:solidFill>
          <a:ln w="12700">
            <a:solidFill>
              <a:srgbClr val="5A3A1E"/>
            </a:solidFill>
            <a:prstDash val="solid"/>
          </a:ln>
        </p:spPr>
      </p:sp>
      <p:sp>
        <p:nvSpPr>
          <p:cNvPr id="6" name="Code"/>
          <p:cNvSpPr txBox="1"/>
          <p:nvPr/>
        </p:nvSpPr>
        <p:spPr>
          <a:xfrm>
            <a:off x="594360" y="1508760"/>
            <a:ext cx="3566160" cy="521970"/>
          </a:xfrm>
          <a:prstGeom prst="rect">
            <a:avLst/>
          </a:prstGeom>
          <a:noFill/>
          <a:ln/>
        </p:spPr>
        <p:txBody>
          <a:bodyPr wrap="square" lIns="0" tIns="0" rIns="0" bIns="0" rtlCol="0" anchor="t"/>
          <a:lstStyle/>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1  </a:t>
            </a:r>
            <a:r>
              <a:rPr lang="en-US" sz="1500" dirty="0">
                <a:solidFill>
                  <a:srgbClr val="F7EFE6"/>
                </a:solidFill>
                <a:latin typeface="Courier New" pitchFamily="34" charset="0"/>
                <a:ea typeface="Courier New" pitchFamily="34" charset="-122"/>
                <a:cs typeface="Courier New" pitchFamily="34" charset="-120"/>
              </a:rPr>
              <a:t>import plotly.express as px</a:t>
            </a:r>
            <a:endParaRPr lang="en-US" sz="1500" dirty="0"/>
          </a:p>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2  </a:t>
            </a:r>
            <a:r>
              <a:rPr lang="en-US" sz="1500" dirty="0">
                <a:solidFill>
                  <a:srgbClr val="F7EFE6"/>
                </a:solidFill>
                <a:latin typeface="Courier New" pitchFamily="34" charset="0"/>
                <a:ea typeface="Courier New" pitchFamily="34" charset="-122"/>
                <a:cs typeface="Courier New" pitchFamily="34" charset="-120"/>
              </a:rPr>
              <a:t>import polars as pl</a:t>
            </a:r>
            <a:endParaRPr lang="en-US" sz="1500" dirty="0"/>
          </a:p>
        </p:txBody>
      </p:sp>
      <p:sp>
        <p:nvSpPr>
          <p:cNvPr id="7" name="Text 5"/>
          <p:cNvSpPr txBox="1"/>
          <p:nvPr/>
        </p:nvSpPr>
        <p:spPr>
          <a:xfrm>
            <a:off x="4572000" y="1051560"/>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8" name="Text 6"/>
          <p:cNvSpPr txBox="1"/>
          <p:nvPr/>
        </p:nvSpPr>
        <p:spPr>
          <a:xfrm>
            <a:off x="4572000" y="1399032"/>
            <a:ext cx="4114800" cy="86868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We add Plotly Express to the cell that already imports Polars, rather than making a new cell.</a:t>
            </a:r>
            <a:endParaRPr lang="en-US" sz="1500" dirty="0"/>
          </a:p>
        </p:txBody>
      </p:sp>
      <p:sp>
        <p:nvSpPr>
          <p:cNvPr id="9" name="Text 7"/>
          <p:cNvSpPr txBox="1"/>
          <p:nvPr/>
        </p:nvSpPr>
        <p:spPr>
          <a:xfrm>
            <a:off x="4572000" y="2450592"/>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What it does</a:t>
            </a:r>
            <a:endParaRPr lang="en-US" sz="1400" dirty="0"/>
          </a:p>
        </p:txBody>
      </p:sp>
      <p:sp>
        <p:nvSpPr>
          <p:cNvPr id="10" name="Text 8"/>
          <p:cNvSpPr txBox="1"/>
          <p:nvPr/>
        </p:nvSpPr>
        <p:spPr>
          <a:xfrm>
            <a:off x="4572000" y="2798064"/>
            <a:ext cx="4114800" cy="1728216"/>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2B1D19"/>
                </a:solidFill>
              </a:rPr>
              <a:t>​</a:t>
            </a:r>
            <a:r>
              <a:rPr lang="en-US" sz="1400" b="1" dirty="0">
                <a:solidFill>
                  <a:srgbClr val="2B1D19"/>
                </a:solidFill>
              </a:rPr>
              <a:t>line 1</a:t>
            </a:r>
            <a:r>
              <a:rPr lang="en-US" sz="1400" dirty="0">
                <a:solidFill>
                  <a:srgbClr val="2B1D19"/>
                </a:solidFill>
              </a:rPr>
              <a:t> → imports Plotly Express with the short name </a:t>
            </a:r>
            <a:r>
              <a:rPr lang="en-US" sz="1200" b="1" dirty="0">
                <a:solidFill>
                  <a:srgbClr val="B86E1E"/>
                </a:solidFill>
                <a:latin typeface="Courier New" pitchFamily="34" charset="0"/>
                <a:ea typeface="Courier New" pitchFamily="34" charset="-122"/>
                <a:cs typeface="Courier New" pitchFamily="34" charset="-120"/>
              </a:rPr>
              <a:t>px</a:t>
            </a:r>
            <a:r>
              <a:rPr lang="en-US" sz="1400" dirty="0">
                <a:solidFill>
                  <a:srgbClr val="2B1D19"/>
                </a:solidFill>
              </a:rPr>
              <a:t>, which is what everyone who uses Plotly calls it</a:t>
            </a:r>
            <a:endParaRPr lang="en-US" sz="14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Keep imports together</a:t>
            </a:r>
            <a:endParaRPr lang="en-US" sz="2800" dirty="0"/>
          </a:p>
        </p:txBody>
      </p:sp>
      <p:sp>
        <p:nvSpPr>
          <p:cNvPr id="3" name="tip box"/>
          <p:cNvSpPr/>
          <p:nvPr/>
        </p:nvSpPr>
        <p:spPr>
          <a:xfrm>
            <a:off x="457200" y="1051560"/>
            <a:ext cx="8229600" cy="2214880"/>
          </a:xfrm>
          <a:prstGeom prst="roundRect">
            <a:avLst>
              <a:gd name="adj" fmla="val 3303"/>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Tip</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Keeping all our imports in the first cell means anyone reading our notebook can see every library it needs in one place. We sort them in alphabetical order, so they're easy to scan.</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Bar charts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A </a:t>
            </a:r>
            <a:r>
              <a:rPr lang="en-US" sz="1800" b="1" dirty="0">
                <a:solidFill>
                  <a:srgbClr val="F7EFE6"/>
                </a:solidFill>
              </a:rPr>
              <a:t>bar chart</a:t>
            </a:r>
            <a:r>
              <a:rPr lang="en-US" sz="1800" dirty="0">
                <a:solidFill>
                  <a:srgbClr val="F7EFE6"/>
                </a:solidFill>
              </a:rPr>
              <a:t> compares one number across groups, using the height of each bar.</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When to use a bar chart</a:t>
            </a:r>
            <a:endParaRPr lang="en-US" sz="2800" dirty="0"/>
          </a:p>
        </p:txBody>
      </p:sp>
      <p:sp>
        <p:nvSpPr>
          <p:cNvPr id="3" name="tip box"/>
          <p:cNvSpPr/>
          <p:nvPr/>
        </p:nvSpPr>
        <p:spPr>
          <a:xfrm>
            <a:off x="457200" y="1051560"/>
            <a:ext cx="8229600" cy="3429000"/>
          </a:xfrm>
          <a:prstGeom prst="roundRect">
            <a:avLst>
              <a:gd name="adj" fmla="val 2133"/>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When to use it</a:t>
            </a:r>
            <a:endParaRPr lang="en-US" sz="1600" dirty="0"/>
          </a:p>
        </p:txBody>
      </p:sp>
      <p:sp>
        <p:nvSpPr>
          <p:cNvPr id="5" name="Text 3"/>
          <p:cNvSpPr txBox="1"/>
          <p:nvPr/>
        </p:nvSpPr>
        <p:spPr>
          <a:xfrm>
            <a:off x="685800" y="1600200"/>
            <a:ext cx="7772400" cy="27432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2000" dirty="0">
                <a:solidFill>
                  <a:srgbClr val="2B1D19"/>
                </a:solidFill>
              </a:rPr>
              <a:t>​</a:t>
            </a:r>
            <a:r>
              <a:rPr lang="en-US" sz="2000" dirty="0">
                <a:solidFill>
                  <a:srgbClr val="2B1D19"/>
                </a:solidFill>
              </a:rPr>
              <a:t>we have </a:t>
            </a:r>
            <a:r>
              <a:rPr lang="en-US" sz="2000" b="1" dirty="0">
                <a:solidFill>
                  <a:srgbClr val="2B1D19"/>
                </a:solidFill>
              </a:rPr>
              <a:t>one number for each group</a:t>
            </a:r>
            <a:r>
              <a:rPr lang="en-US" sz="2000" dirty="0">
                <a:solidFill>
                  <a:srgbClr val="2B1D19"/>
                </a:solidFill>
              </a:rPr>
              <a:t>, such as a count, a median or a total</a:t>
            </a:r>
            <a:endParaRPr lang="en-US" sz="2000" dirty="0"/>
          </a:p>
          <a:p>
            <a:pPr marL="342900" indent="-342900">
              <a:spcAft>
                <a:spcPts val="1000"/>
              </a:spcAft>
              <a:buSzPct val="100000"/>
              <a:buChar char="•"/>
            </a:pPr>
            <a:r>
              <a:rPr lang="en-US" sz="2000" dirty="0">
                <a:solidFill>
                  <a:srgbClr val="2B1D19"/>
                </a:solidFill>
              </a:rPr>
              <a:t>​</a:t>
            </a:r>
            <a:r>
              <a:rPr lang="en-US" sz="2000" dirty="0">
                <a:solidFill>
                  <a:srgbClr val="2B1D19"/>
                </a:solidFill>
              </a:rPr>
              <a:t>we want to compare the groups</a:t>
            </a:r>
            <a:endParaRPr lang="en-US" sz="2000" dirty="0"/>
          </a:p>
          <a:p>
            <a:pPr marL="342900" indent="-342900">
              <a:spcAft>
                <a:spcPts val="1000"/>
              </a:spcAft>
              <a:buSzPct val="100000"/>
              <a:buChar char="•"/>
            </a:pPr>
            <a:r>
              <a:rPr lang="en-US" sz="2000" dirty="0">
                <a:solidFill>
                  <a:srgbClr val="2B1D19"/>
                </a:solidFill>
              </a:rPr>
              <a:t>​</a:t>
            </a:r>
            <a:r>
              <a:rPr lang="en-US" sz="2000" dirty="0">
                <a:solidFill>
                  <a:srgbClr val="2B1D19"/>
                </a:solidFill>
              </a:rPr>
              <a:t>bars are easy to read: our eyes compare heights that start from the same line</a:t>
            </a:r>
            <a:endParaRPr lang="en-US" sz="2000" dirty="0"/>
          </a:p>
          <a:p>
            <a:pPr marL="342900" indent="-342900">
              <a:spcAft>
                <a:spcPts val="1000"/>
              </a:spcAft>
              <a:buSzPct val="100000"/>
              <a:buChar char="•"/>
            </a:pPr>
            <a:r>
              <a:rPr lang="en-US" sz="2000" dirty="0">
                <a:solidFill>
                  <a:srgbClr val="2B1D19"/>
                </a:solidFill>
              </a:rPr>
              <a:t>​</a:t>
            </a:r>
            <a:r>
              <a:rPr lang="en-US" sz="2000" b="1" dirty="0">
                <a:solidFill>
                  <a:srgbClr val="2B1D19"/>
                </a:solidFill>
              </a:rPr>
              <a:t>not</a:t>
            </a:r>
            <a:r>
              <a:rPr lang="en-US" sz="2000" dirty="0">
                <a:solidFill>
                  <a:srgbClr val="2B1D19"/>
                </a:solidFill>
              </a:rPr>
              <a:t> for how values inside a group are spread out, or change over many years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Our first bar chart</a:t>
            </a:r>
            <a:endParaRPr lang="en-US" sz="2800" dirty="0"/>
          </a:p>
        </p:txBody>
      </p:sp>
      <p:sp>
        <p:nvSpPr>
          <p:cNvPr id="3" name="Code panel"/>
          <p:cNvSpPr/>
          <p:nvPr/>
        </p:nvSpPr>
        <p:spPr>
          <a:xfrm>
            <a:off x="457200" y="1051560"/>
            <a:ext cx="8229600" cy="1838960"/>
          </a:xfrm>
          <a:prstGeom prst="roundRect">
            <a:avLst>
              <a:gd name="adj" fmla="val 2983"/>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new cell</a:t>
            </a:r>
            <a:endParaRPr lang="en-US" sz="1200" dirty="0"/>
          </a:p>
        </p:txBody>
      </p:sp>
      <p:sp>
        <p:nvSpPr>
          <p:cNvPr id="5" name="Code"/>
          <p:cNvSpPr txBox="1"/>
          <p:nvPr/>
        </p:nvSpPr>
        <p:spPr>
          <a:xfrm>
            <a:off x="594360" y="1508760"/>
            <a:ext cx="7955280" cy="1283970"/>
          </a:xfrm>
          <a:prstGeom prst="rect">
            <a:avLst/>
          </a:prstGeom>
          <a:noFill/>
          <a:ln/>
        </p:spPr>
        <p:txBody>
          <a:bodyPr wrap="square" lIns="0" tIns="0" rIns="0" bIns="0" rtlCol="0" anchor="t"/>
          <a:lstStyle/>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1  </a:t>
            </a:r>
            <a:r>
              <a:rPr lang="en-US" sz="1300" dirty="0">
                <a:solidFill>
                  <a:srgbClr val="F7EFE6"/>
                </a:solidFill>
                <a:latin typeface="Courier New" pitchFamily="34" charset="0"/>
                <a:ea typeface="Courier New" pitchFamily="34" charset="-122"/>
                <a:cs typeface="Courier New" pitchFamily="34" charset="-120"/>
              </a:rPr>
              <a:t>px.bar(</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2  </a:t>
            </a:r>
            <a:r>
              <a:rPr lang="en-US" sz="1300" dirty="0">
                <a:solidFill>
                  <a:srgbClr val="F7EFE6"/>
                </a:solidFill>
                <a:latin typeface="Courier New" pitchFamily="34" charset="0"/>
                <a:ea typeface="Courier New" pitchFamily="34" charset="-122"/>
                <a:cs typeface="Courier New" pitchFamily="34" charset="-120"/>
              </a:rPr>
              <a:t>    per_group,</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3  </a:t>
            </a:r>
            <a:r>
              <a:rPr lang="en-US" sz="1300" dirty="0">
                <a:solidFill>
                  <a:srgbClr val="F7EFE6"/>
                </a:solidFill>
                <a:latin typeface="Courier New" pitchFamily="34" charset="0"/>
                <a:ea typeface="Courier New" pitchFamily="34" charset="-122"/>
                <a:cs typeface="Courier New" pitchFamily="34" charset="-120"/>
              </a:rPr>
              <a:t>    x="Group",</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4  </a:t>
            </a:r>
            <a:r>
              <a:rPr lang="en-US" sz="1300" dirty="0">
                <a:solidFill>
                  <a:srgbClr val="F7EFE6"/>
                </a:solidFill>
                <a:latin typeface="Courier New" pitchFamily="34" charset="0"/>
                <a:ea typeface="Courier New" pitchFamily="34" charset="-122"/>
                <a:cs typeface="Courier New" pitchFamily="34" charset="-120"/>
              </a:rPr>
              <a:t>    y="Median review score",</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5  </a:t>
            </a:r>
            <a:r>
              <a:rPr lang="en-US" sz="1300" dirty="0">
                <a:solidFill>
                  <a:srgbClr val="F7EFE6"/>
                </a:solidFill>
                <a:latin typeface="Courier New" pitchFamily="34" charset="0"/>
                <a:ea typeface="Courier New" pitchFamily="34" charset="-122"/>
                <a:cs typeface="Courier New" pitchFamily="34" charset="-120"/>
              </a:rPr>
              <a:t>    title="Median review score of Indie and other games",</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6  </a:t>
            </a:r>
            <a:r>
              <a:rPr lang="en-US" sz="1300" dirty="0">
                <a:solidFill>
                  <a:srgbClr val="F7EFE6"/>
                </a:solidFill>
                <a:latin typeface="Courier New" pitchFamily="34" charset="0"/>
                <a:ea typeface="Courier New" pitchFamily="34" charset="-122"/>
                <a:cs typeface="Courier New" pitchFamily="34" charset="-120"/>
              </a:rPr>
              <a:t>)</a:t>
            </a:r>
            <a:endParaRPr lang="en-US" sz="1300" dirty="0"/>
          </a:p>
        </p:txBody>
      </p:sp>
      <p:sp>
        <p:nvSpPr>
          <p:cNvPr id="6" name="Text 4"/>
          <p:cNvSpPr txBox="1"/>
          <p:nvPr/>
        </p:nvSpPr>
        <p:spPr>
          <a:xfrm>
            <a:off x="457200" y="2981960"/>
            <a:ext cx="8229600" cy="44196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a:t>
            </a:r>
            <a:r>
              <a:rPr lang="en-US" sz="1300" b="1" dirty="0">
                <a:solidFill>
                  <a:srgbClr val="B86E1E"/>
                </a:solidFill>
                <a:latin typeface="Courier New" pitchFamily="34" charset="0"/>
                <a:ea typeface="Courier New" pitchFamily="34" charset="-122"/>
                <a:cs typeface="Courier New" pitchFamily="34" charset="-120"/>
              </a:rPr>
              <a:t>per_group</a:t>
            </a:r>
            <a:r>
              <a:rPr lang="en-US" sz="1500" dirty="0">
                <a:solidFill>
                  <a:srgbClr val="2B1D19"/>
                </a:solidFill>
              </a:rPr>
              <a:t> has one median per group: just what a bar chart needs.</a:t>
            </a:r>
            <a:endParaRPr lang="en-US" sz="1500" dirty="0"/>
          </a:p>
        </p:txBody>
      </p:sp>
      <p:sp>
        <p:nvSpPr>
          <p:cNvPr id="7" name="primm box"/>
          <p:cNvSpPr/>
          <p:nvPr/>
        </p:nvSpPr>
        <p:spPr>
          <a:xfrm>
            <a:off x="457200" y="3469640"/>
            <a:ext cx="8229600" cy="1056640"/>
          </a:xfrm>
          <a:prstGeom prst="roundRect">
            <a:avLst>
              <a:gd name="adj" fmla="val 6923"/>
            </a:avLst>
          </a:prstGeom>
          <a:solidFill>
            <a:srgbClr val="E6F2E6"/>
          </a:solidFill>
          <a:ln w="12700">
            <a:solidFill>
              <a:srgbClr val="E6F2E6"/>
            </a:solidFill>
            <a:prstDash val="solid"/>
          </a:ln>
        </p:spPr>
      </p:sp>
      <p:sp>
        <p:nvSpPr>
          <p:cNvPr id="8" name="Text 6"/>
          <p:cNvSpPr txBox="1"/>
          <p:nvPr/>
        </p:nvSpPr>
        <p:spPr>
          <a:xfrm>
            <a:off x="685800" y="3606800"/>
            <a:ext cx="7772400" cy="365760"/>
          </a:xfrm>
          <a:prstGeom prst="rect">
            <a:avLst/>
          </a:prstGeom>
          <a:noFill/>
          <a:ln/>
        </p:spPr>
        <p:txBody>
          <a:bodyPr wrap="square" lIns="0" tIns="0" rIns="0" bIns="0" rtlCol="0" anchor="ctr"/>
          <a:lstStyle/>
          <a:p>
            <a:pPr indent="0" marL="0">
              <a:buNone/>
            </a:pPr>
            <a:r>
              <a:rPr lang="en-US" sz="1600" b="1" dirty="0">
                <a:solidFill>
                  <a:srgbClr val="2E6B30"/>
                </a:solidFill>
              </a:rPr>
              <a:t>Predict</a:t>
            </a:r>
            <a:endParaRPr lang="en-US" sz="1600" dirty="0"/>
          </a:p>
        </p:txBody>
      </p:sp>
      <p:sp>
        <p:nvSpPr>
          <p:cNvPr id="9" name="Text 7"/>
          <p:cNvSpPr txBox="1"/>
          <p:nvPr/>
        </p:nvSpPr>
        <p:spPr>
          <a:xfrm>
            <a:off x="685800" y="3972560"/>
            <a:ext cx="7772400" cy="37084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What will the chart look like? Which bar will be taller, and by how much?</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Two bars, almost the same height</a:t>
            </a:r>
            <a:endParaRPr lang="en-US" sz="2800" dirty="0"/>
          </a:p>
        </p:txBody>
      </p:sp>
      <p:pic>
        <p:nvPicPr>
          <p:cNvPr id="3" name="Image 0" descr="Bar chart titled Median review score of Indie and other games, with two bars of almost the same height: Indie at about 86 and Not Indie at about 83">    </p:cNvPr>
          <p:cNvPicPr>
            <a:picLocks noChangeAspect="1"/>
          </p:cNvPicPr>
          <p:nvPr/>
        </p:nvPicPr>
        <p:blipFill>
          <a:blip r:embed="rId1"/>
          <a:stretch>
            <a:fillRect/>
          </a:stretch>
        </p:blipFill>
        <p:spPr>
          <a:xfrm>
            <a:off x="3931920" y="1468120"/>
            <a:ext cx="4754880" cy="2641600"/>
          </a:xfrm>
          <a:prstGeom prst="rect">
            <a:avLst/>
          </a:prstGeom>
        </p:spPr>
      </p:pic>
      <p:sp>
        <p:nvSpPr>
          <p:cNvPr id="4" name="Text 1"/>
          <p:cNvSpPr txBox="1"/>
          <p:nvPr/>
        </p:nvSpPr>
        <p:spPr>
          <a:xfrm>
            <a:off x="457200" y="1097280"/>
            <a:ext cx="32004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2B1D19"/>
                </a:solidFill>
              </a:rPr>
              <a:t>​</a:t>
            </a:r>
            <a:r>
              <a:rPr lang="en-US" sz="1700" dirty="0">
                <a:solidFill>
                  <a:srgbClr val="2B1D19"/>
                </a:solidFill>
              </a:rPr>
              <a:t>hover over a bar to see its exact value</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drag across the chart to zoom in; the </a:t>
            </a:r>
            <a:r>
              <a:rPr lang="en-US" sz="1700" b="1" dirty="0">
                <a:solidFill>
                  <a:srgbClr val="2B1D19"/>
                </a:solidFill>
              </a:rPr>
              <a:t>Reset axes</a:t>
            </a:r>
            <a:r>
              <a:rPr lang="en-US" sz="1700" dirty="0">
                <a:solidFill>
                  <a:srgbClr val="2B1D19"/>
                </a:solidFill>
              </a:rPr>
              <a:t> (house) button zooms out</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the gap between </a:t>
            </a:r>
            <a:r>
              <a:rPr lang="en-US" sz="1700" b="1" dirty="0">
                <a:solidFill>
                  <a:srgbClr val="2B1D19"/>
                </a:solidFill>
              </a:rPr>
              <a:t>86.5</a:t>
            </a:r>
            <a:r>
              <a:rPr lang="en-US" sz="1700" dirty="0">
                <a:solidFill>
                  <a:srgbClr val="2B1D19"/>
                </a:solidFill>
              </a:rPr>
              <a:t> and </a:t>
            </a:r>
            <a:r>
              <a:rPr lang="en-US" sz="1700" b="1" dirty="0">
                <a:solidFill>
                  <a:srgbClr val="2B1D19"/>
                </a:solidFill>
              </a:rPr>
              <a:t>83.2</a:t>
            </a:r>
            <a:r>
              <a:rPr lang="en-US" sz="1700" dirty="0">
                <a:solidFill>
                  <a:srgbClr val="2B1D19"/>
                </a:solidFill>
              </a:rPr>
              <a:t> is real, but hard to see</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both bars start from 0, so they look the same</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Modify: a bar chart of prices</a:t>
            </a:r>
            <a:endParaRPr lang="en-US" sz="2800" dirty="0"/>
          </a:p>
        </p:txBody>
      </p:sp>
      <p:sp>
        <p:nvSpPr>
          <p:cNvPr id="3" name="primm box"/>
          <p:cNvSpPr/>
          <p:nvPr/>
        </p:nvSpPr>
        <p:spPr>
          <a:xfrm>
            <a:off x="457200" y="1051560"/>
            <a:ext cx="8229600" cy="2164080"/>
          </a:xfrm>
          <a:prstGeom prst="roundRect">
            <a:avLst>
              <a:gd name="adj" fmla="val 3380"/>
            </a:avLst>
          </a:prstGeom>
          <a:solidFill>
            <a:srgbClr val="E6F2E6"/>
          </a:solidFill>
          <a:ln w="12700">
            <a:solidFill>
              <a:srgbClr val="E6F2E6"/>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2E6B30"/>
                </a:solidFill>
              </a:rPr>
              <a:t>PRIMM</a:t>
            </a:r>
            <a:endParaRPr lang="en-US" sz="1600" dirty="0"/>
          </a:p>
        </p:txBody>
      </p:sp>
      <p:sp>
        <p:nvSpPr>
          <p:cNvPr id="5" name="Text 3"/>
          <p:cNvSpPr txBox="1"/>
          <p:nvPr/>
        </p:nvSpPr>
        <p:spPr>
          <a:xfrm>
            <a:off x="685800" y="1600200"/>
            <a:ext cx="7772400" cy="1478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Change </a:t>
            </a:r>
            <a:r>
              <a:rPr lang="en-US" sz="1800" b="1" dirty="0">
                <a:solidFill>
                  <a:srgbClr val="B86E1E"/>
                </a:solidFill>
                <a:latin typeface="Courier New" pitchFamily="34" charset="0"/>
                <a:ea typeface="Courier New" pitchFamily="34" charset="-122"/>
                <a:cs typeface="Courier New" pitchFamily="34" charset="-120"/>
              </a:rPr>
              <a:t>per_group</a:t>
            </a:r>
            <a:r>
              <a:rPr lang="en-US" sz="2000" dirty="0">
                <a:solidFill>
                  <a:srgbClr val="2B1D19"/>
                </a:solidFill>
              </a:rPr>
              <a:t> to </a:t>
            </a:r>
            <a:r>
              <a:rPr lang="en-US" sz="1800" b="1" dirty="0">
                <a:solidFill>
                  <a:srgbClr val="B86E1E"/>
                </a:solidFill>
                <a:latin typeface="Courier New" pitchFamily="34" charset="0"/>
                <a:ea typeface="Courier New" pitchFamily="34" charset="-122"/>
                <a:cs typeface="Courier New" pitchFamily="34" charset="-120"/>
              </a:rPr>
              <a:t>prices</a:t>
            </a:r>
            <a:r>
              <a:rPr lang="en-US" sz="2000" dirty="0">
                <a:solidFill>
                  <a:srgbClr val="2B1D19"/>
                </a:solidFill>
              </a:rPr>
              <a:t>.</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Change </a:t>
            </a:r>
            <a:r>
              <a:rPr lang="en-US" sz="1800" b="1" dirty="0">
                <a:solidFill>
                  <a:srgbClr val="B86E1E"/>
                </a:solidFill>
                <a:latin typeface="Courier New" pitchFamily="34" charset="0"/>
                <a:ea typeface="Courier New" pitchFamily="34" charset="-122"/>
                <a:cs typeface="Courier New" pitchFamily="34" charset="-120"/>
              </a:rPr>
              <a:t>"Median review score"</a:t>
            </a:r>
            <a:r>
              <a:rPr lang="en-US" sz="2000" dirty="0">
                <a:solidFill>
                  <a:srgbClr val="2B1D19"/>
                </a:solidFill>
              </a:rPr>
              <a:t> to </a:t>
            </a:r>
            <a:r>
              <a:rPr lang="en-US" sz="1800" b="1" dirty="0">
                <a:solidFill>
                  <a:srgbClr val="B86E1E"/>
                </a:solidFill>
                <a:latin typeface="Courier New" pitchFamily="34" charset="0"/>
                <a:ea typeface="Courier New" pitchFamily="34" charset="-122"/>
                <a:cs typeface="Courier New" pitchFamily="34" charset="-120"/>
              </a:rPr>
              <a:t>"Median price"</a:t>
            </a:r>
            <a:r>
              <a:rPr lang="en-US" sz="2000" dirty="0">
                <a:solidFill>
                  <a:srgbClr val="2B1D19"/>
                </a:solidFill>
              </a:rPr>
              <a:t>.</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Change the title to match.</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Histograms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A median is one number for a whole group. A </a:t>
            </a:r>
            <a:r>
              <a:rPr lang="en-US" sz="1800" b="1" dirty="0">
                <a:solidFill>
                  <a:srgbClr val="F7EFE6"/>
                </a:solidFill>
              </a:rPr>
              <a:t>histogram</a:t>
            </a:r>
            <a:r>
              <a:rPr lang="en-US" sz="1800" dirty="0">
                <a:solidFill>
                  <a:srgbClr val="F7EFE6"/>
                </a:solidFill>
              </a:rPr>
              <a:t> shows how all the values are spread out.</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When to use a histogram</a:t>
            </a:r>
            <a:endParaRPr lang="en-US" sz="2800" dirty="0"/>
          </a:p>
        </p:txBody>
      </p:sp>
      <p:sp>
        <p:nvSpPr>
          <p:cNvPr id="3" name="tip box"/>
          <p:cNvSpPr/>
          <p:nvPr/>
        </p:nvSpPr>
        <p:spPr>
          <a:xfrm>
            <a:off x="457200" y="1051560"/>
            <a:ext cx="8229600" cy="3058160"/>
          </a:xfrm>
          <a:prstGeom prst="roundRect">
            <a:avLst>
              <a:gd name="adj" fmla="val 2392"/>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When to use it</a:t>
            </a:r>
            <a:endParaRPr lang="en-US" sz="1600" dirty="0"/>
          </a:p>
        </p:txBody>
      </p:sp>
      <p:sp>
        <p:nvSpPr>
          <p:cNvPr id="5" name="Text 3"/>
          <p:cNvSpPr txBox="1"/>
          <p:nvPr/>
        </p:nvSpPr>
        <p:spPr>
          <a:xfrm>
            <a:off x="685800" y="1600200"/>
            <a:ext cx="7772400" cy="237236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2B1D19"/>
                </a:solidFill>
              </a:rPr>
              <a:t>​</a:t>
            </a:r>
            <a:r>
              <a:rPr lang="en-US" sz="1700" dirty="0">
                <a:solidFill>
                  <a:srgbClr val="2B1D19"/>
                </a:solidFill>
              </a:rPr>
              <a:t>we have </a:t>
            </a:r>
            <a:r>
              <a:rPr lang="en-US" sz="1700" b="1" dirty="0">
                <a:solidFill>
                  <a:srgbClr val="2B1D19"/>
                </a:solidFill>
              </a:rPr>
              <a:t>one number column</a:t>
            </a:r>
            <a:r>
              <a:rPr lang="en-US" sz="1700" dirty="0">
                <a:solidFill>
                  <a:srgbClr val="2B1D19"/>
                </a:solidFill>
              </a:rPr>
              <a:t> and want to see the </a:t>
            </a:r>
            <a:r>
              <a:rPr lang="en-US" sz="1700" b="1" dirty="0">
                <a:solidFill>
                  <a:srgbClr val="2B1D19"/>
                </a:solidFill>
              </a:rPr>
              <a:t>shape</a:t>
            </a:r>
            <a:r>
              <a:rPr lang="en-US" sz="1700" dirty="0">
                <a:solidFill>
                  <a:srgbClr val="2B1D19"/>
                </a:solidFill>
              </a:rPr>
              <a:t> of its values</a:t>
            </a:r>
            <a:endParaRPr lang="en-US" sz="1700" dirty="0"/>
          </a:p>
          <a:p>
            <a:pPr marL="342900" indent="-342900">
              <a:spcAft>
                <a:spcPts val="1000"/>
              </a:spcAft>
              <a:buSzPct val="100000"/>
              <a:buChar char="•"/>
            </a:pPr>
            <a:r>
              <a:rPr lang="en-US" sz="1700" dirty="0">
                <a:solidFill>
                  <a:srgbClr val="2B1D19"/>
                </a:solidFill>
              </a:rPr>
              <a:t>​</a:t>
            </a:r>
            <a:r>
              <a:rPr lang="en-US" sz="1700" dirty="0">
                <a:solidFill>
                  <a:srgbClr val="2B1D19"/>
                </a:solidFill>
              </a:rPr>
              <a:t>where most values are, whether they're bunched up or spread out</a:t>
            </a:r>
            <a:endParaRPr lang="en-US" sz="1700" dirty="0"/>
          </a:p>
          <a:p>
            <a:pPr marL="342900" indent="-342900">
              <a:spcAft>
                <a:spcPts val="1000"/>
              </a:spcAft>
              <a:buSzPct val="100000"/>
              <a:buChar char="•"/>
            </a:pPr>
            <a:r>
              <a:rPr lang="en-US" sz="1700" dirty="0">
                <a:solidFill>
                  <a:srgbClr val="2B1D19"/>
                </a:solidFill>
              </a:rPr>
              <a:t>​</a:t>
            </a:r>
            <a:r>
              <a:rPr lang="en-US" sz="1700" dirty="0">
                <a:solidFill>
                  <a:srgbClr val="2B1D19"/>
                </a:solidFill>
              </a:rPr>
              <a:t>whether there's a long tail on one side</a:t>
            </a:r>
            <a:endParaRPr lang="en-US" sz="1700" dirty="0"/>
          </a:p>
          <a:p>
            <a:pPr marL="342900" indent="-342900">
              <a:spcAft>
                <a:spcPts val="1000"/>
              </a:spcAft>
              <a:buSzPct val="100000"/>
              <a:buChar char="•"/>
            </a:pPr>
            <a:r>
              <a:rPr lang="en-US" sz="1700" dirty="0">
                <a:solidFill>
                  <a:srgbClr val="2B1D19"/>
                </a:solidFill>
              </a:rPr>
              <a:t>​</a:t>
            </a:r>
            <a:r>
              <a:rPr lang="en-US" sz="1700" dirty="0">
                <a:solidFill>
                  <a:srgbClr val="2B1D19"/>
                </a:solidFill>
              </a:rPr>
              <a:t>it checks whether a median or mean tells the whole story</a:t>
            </a:r>
            <a:endParaRPr lang="en-US" sz="1700" dirty="0"/>
          </a:p>
          <a:p>
            <a:pPr marL="342900" indent="-342900">
              <a:spcAft>
                <a:spcPts val="1000"/>
              </a:spcAft>
              <a:buSzPct val="100000"/>
              <a:buChar char="•"/>
            </a:pPr>
            <a:r>
              <a:rPr lang="en-US" sz="1700" dirty="0">
                <a:solidFill>
                  <a:srgbClr val="2B1D19"/>
                </a:solidFill>
              </a:rPr>
              <a:t>​</a:t>
            </a:r>
            <a:r>
              <a:rPr lang="en-US" sz="1700" b="1" dirty="0">
                <a:solidFill>
                  <a:srgbClr val="2B1D19"/>
                </a:solidFill>
              </a:rPr>
              <a:t>not</a:t>
            </a:r>
            <a:r>
              <a:rPr lang="en-US" sz="1700" dirty="0">
                <a:solidFill>
                  <a:srgbClr val="2B1D19"/>
                </a:solidFill>
              </a:rPr>
              <a:t> for comparing a single number across groups; that's a bar chart's job</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A histogram of every review score</a:t>
            </a:r>
            <a:endParaRPr lang="en-US" sz="2800" dirty="0"/>
          </a:p>
        </p:txBody>
      </p:sp>
      <p:sp>
        <p:nvSpPr>
          <p:cNvPr id="3" name="Code panel"/>
          <p:cNvSpPr/>
          <p:nvPr/>
        </p:nvSpPr>
        <p:spPr>
          <a:xfrm>
            <a:off x="457200" y="1051560"/>
            <a:ext cx="4953000" cy="1977390"/>
          </a:xfrm>
          <a:prstGeom prst="roundRect">
            <a:avLst>
              <a:gd name="adj" fmla="val 2775"/>
            </a:avLst>
          </a:prstGeom>
          <a:solidFill>
            <a:srgbClr val="2B1D19"/>
          </a:solidFill>
          <a:ln w="12700">
            <a:solidFill>
              <a:srgbClr val="2B1D19"/>
            </a:solidFill>
            <a:prstDash val="solid"/>
          </a:ln>
        </p:spPr>
      </p:sp>
      <p:sp>
        <p:nvSpPr>
          <p:cNvPr id="4" name="Text 2"/>
          <p:cNvSpPr txBox="1"/>
          <p:nvPr/>
        </p:nvSpPr>
        <p:spPr>
          <a:xfrm>
            <a:off x="640080" y="1161288"/>
            <a:ext cx="458724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new cell</a:t>
            </a:r>
            <a:endParaRPr lang="en-US" sz="1200" dirty="0"/>
          </a:p>
        </p:txBody>
      </p:sp>
      <p:sp>
        <p:nvSpPr>
          <p:cNvPr id="5" name="Code"/>
          <p:cNvSpPr txBox="1"/>
          <p:nvPr/>
        </p:nvSpPr>
        <p:spPr>
          <a:xfrm>
            <a:off x="594360" y="1508760"/>
            <a:ext cx="4678680" cy="137922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px.histogram(</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2  </a:t>
            </a:r>
            <a:r>
              <a:rPr lang="en-US" sz="1400" dirty="0">
                <a:solidFill>
                  <a:srgbClr val="F7EFE6"/>
                </a:solidFill>
                <a:latin typeface="Courier New" pitchFamily="34" charset="0"/>
                <a:ea typeface="Courier New" pitchFamily="34" charset="-122"/>
                <a:cs typeface="Courier New" pitchFamily="34" charset="-120"/>
              </a:rPr>
              <a:t>    scored,</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3  </a:t>
            </a:r>
            <a:r>
              <a:rPr lang="en-US" sz="1400" dirty="0">
                <a:solidFill>
                  <a:srgbClr val="F7EFE6"/>
                </a:solidFill>
                <a:latin typeface="Courier New" pitchFamily="34" charset="0"/>
                <a:ea typeface="Courier New" pitchFamily="34" charset="-122"/>
                <a:cs typeface="Courier New" pitchFamily="34" charset="-120"/>
              </a:rPr>
              <a:t>    x="Review score",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4  </a:t>
            </a:r>
            <a:r>
              <a:rPr lang="en-US" sz="1400" dirty="0">
                <a:solidFill>
                  <a:srgbClr val="F7EFE6"/>
                </a:solidFill>
                <a:latin typeface="Courier New" pitchFamily="34" charset="0"/>
                <a:ea typeface="Courier New" pitchFamily="34" charset="-122"/>
                <a:cs typeface="Courier New" pitchFamily="34" charset="-120"/>
              </a:rPr>
              <a:t>    nbins=45,</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5  </a:t>
            </a:r>
            <a:r>
              <a:rPr lang="en-US" sz="1400" dirty="0">
                <a:solidFill>
                  <a:srgbClr val="F7EFE6"/>
                </a:solidFill>
                <a:latin typeface="Courier New" pitchFamily="34" charset="0"/>
                <a:ea typeface="Courier New" pitchFamily="34" charset="-122"/>
                <a:cs typeface="Courier New" pitchFamily="34" charset="-120"/>
              </a:rPr>
              <a:t>    title="Review scores of all games",</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6  </a:t>
            </a:r>
            <a:r>
              <a:rPr lang="en-US" sz="1400" dirty="0">
                <a:solidFill>
                  <a:srgbClr val="F7EFE6"/>
                </a:solidFill>
                <a:latin typeface="Courier New" pitchFamily="34" charset="0"/>
                <a:ea typeface="Courier New" pitchFamily="34" charset="-122"/>
                <a:cs typeface="Courier New" pitchFamily="34" charset="-120"/>
              </a:rPr>
              <a:t>)</a:t>
            </a:r>
            <a:endParaRPr lang="en-US" sz="1400" dirty="0"/>
          </a:p>
        </p:txBody>
      </p:sp>
      <p:sp>
        <p:nvSpPr>
          <p:cNvPr id="6" name="primm box"/>
          <p:cNvSpPr/>
          <p:nvPr/>
        </p:nvSpPr>
        <p:spPr>
          <a:xfrm>
            <a:off x="457200" y="3166110"/>
            <a:ext cx="4953000" cy="1285240"/>
          </a:xfrm>
          <a:prstGeom prst="roundRect">
            <a:avLst>
              <a:gd name="adj" fmla="val 5692"/>
            </a:avLst>
          </a:prstGeom>
          <a:solidFill>
            <a:srgbClr val="E6F2E6"/>
          </a:solidFill>
          <a:ln w="12700">
            <a:solidFill>
              <a:srgbClr val="E6F2E6"/>
            </a:solidFill>
            <a:prstDash val="solid"/>
          </a:ln>
        </p:spPr>
      </p:sp>
      <p:sp>
        <p:nvSpPr>
          <p:cNvPr id="7" name="Text 5"/>
          <p:cNvSpPr txBox="1"/>
          <p:nvPr/>
        </p:nvSpPr>
        <p:spPr>
          <a:xfrm>
            <a:off x="685800" y="3303270"/>
            <a:ext cx="4495800" cy="365760"/>
          </a:xfrm>
          <a:prstGeom prst="rect">
            <a:avLst/>
          </a:prstGeom>
          <a:noFill/>
          <a:ln/>
        </p:spPr>
        <p:txBody>
          <a:bodyPr wrap="square" lIns="0" tIns="0" rIns="0" bIns="0" rtlCol="0" anchor="ctr"/>
          <a:lstStyle/>
          <a:p>
            <a:pPr indent="0" marL="0">
              <a:buNone/>
            </a:pPr>
            <a:r>
              <a:rPr lang="en-US" sz="1600" b="1" dirty="0">
                <a:solidFill>
                  <a:srgbClr val="2E6B30"/>
                </a:solidFill>
              </a:rPr>
              <a:t>Predict</a:t>
            </a:r>
            <a:endParaRPr lang="en-US" sz="1600" dirty="0"/>
          </a:p>
        </p:txBody>
      </p:sp>
      <p:sp>
        <p:nvSpPr>
          <p:cNvPr id="8" name="Text 6"/>
          <p:cNvSpPr txBox="1"/>
          <p:nvPr/>
        </p:nvSpPr>
        <p:spPr>
          <a:xfrm>
            <a:off x="685800" y="3669030"/>
            <a:ext cx="4495800" cy="59944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Where will most of the bars be? Will the chart look the same on both sides?</a:t>
            </a:r>
            <a:endParaRPr lang="en-US" sz="1500" dirty="0"/>
          </a:p>
        </p:txBody>
      </p:sp>
      <p:sp>
        <p:nvSpPr>
          <p:cNvPr id="9" name="Text 7"/>
          <p:cNvSpPr txBox="1"/>
          <p:nvPr/>
        </p:nvSpPr>
        <p:spPr>
          <a:xfrm>
            <a:off x="5684520" y="1051560"/>
            <a:ext cx="300228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10" name="Text 8"/>
          <p:cNvSpPr txBox="1"/>
          <p:nvPr/>
        </p:nvSpPr>
        <p:spPr>
          <a:xfrm>
            <a:off x="5684520" y="1399032"/>
            <a:ext cx="3002280" cy="301752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We don't set </a:t>
            </a:r>
            <a:r>
              <a:rPr lang="en-US" sz="1300" b="1" dirty="0">
                <a:solidFill>
                  <a:srgbClr val="B86E1E"/>
                </a:solidFill>
                <a:latin typeface="Courier New" pitchFamily="34" charset="0"/>
                <a:ea typeface="Courier New" pitchFamily="34" charset="-122"/>
                <a:cs typeface="Courier New" pitchFamily="34" charset="-120"/>
              </a:rPr>
              <a:t>y</a:t>
            </a:r>
            <a:r>
              <a:rPr lang="en-US" sz="1500" dirty="0">
                <a:solidFill>
                  <a:srgbClr val="2B1D19"/>
                </a:solidFill>
              </a:rPr>
              <a:t>, because a histogram counts the rows for us. </a:t>
            </a:r>
            <a:r>
              <a:rPr lang="en-US" sz="1300" b="1" dirty="0">
                <a:solidFill>
                  <a:srgbClr val="B86E1E"/>
                </a:solidFill>
                <a:latin typeface="Courier New" pitchFamily="34" charset="0"/>
                <a:ea typeface="Courier New" pitchFamily="34" charset="-122"/>
                <a:cs typeface="Courier New" pitchFamily="34" charset="-120"/>
              </a:rPr>
              <a:t>nbins=45</a:t>
            </a:r>
            <a:r>
              <a:rPr lang="en-US" sz="1500" dirty="0">
                <a:solidFill>
                  <a:srgbClr val="2B1D19"/>
                </a:solidFill>
              </a:rPr>
              <a:t> gives bins about 2 points wide: narrow enough to see the shape, wide enough that each bin has plenty of games.</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Most games score between 75 and 95</a:t>
            </a:r>
            <a:endParaRPr lang="en-US" sz="2800" dirty="0"/>
          </a:p>
        </p:txBody>
      </p:sp>
      <p:pic>
        <p:nvPicPr>
          <p:cNvPr id="3" name="Image 0" descr="Histogram titled Review scores of all games, with very few games below 50, rising to a peak between about 85 and 95, then dropping sharply before 100">    </p:cNvPr>
          <p:cNvPicPr>
            <a:picLocks noChangeAspect="1"/>
          </p:cNvPicPr>
          <p:nvPr/>
        </p:nvPicPr>
        <p:blipFill>
          <a:blip r:embed="rId1"/>
          <a:stretch>
            <a:fillRect/>
          </a:stretch>
        </p:blipFill>
        <p:spPr>
          <a:xfrm>
            <a:off x="3931920" y="1468120"/>
            <a:ext cx="4754880" cy="2641600"/>
          </a:xfrm>
          <a:prstGeom prst="rect">
            <a:avLst/>
          </a:prstGeom>
        </p:spPr>
      </p:pic>
      <p:sp>
        <p:nvSpPr>
          <p:cNvPr id="4" name="Text 1"/>
          <p:cNvSpPr txBox="1"/>
          <p:nvPr/>
        </p:nvSpPr>
        <p:spPr>
          <a:xfrm>
            <a:off x="457200" y="1097280"/>
            <a:ext cx="32004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2B1D19"/>
                </a:solidFill>
              </a:rPr>
              <a:t>​</a:t>
            </a:r>
            <a:r>
              <a:rPr lang="en-US" sz="1700" dirty="0">
                <a:solidFill>
                  <a:srgbClr val="2B1D19"/>
                </a:solidFill>
              </a:rPr>
              <a:t>very few games score below 50</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the bars climb slowly from the left</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then they drop sharply just before 100</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this is </a:t>
            </a:r>
            <a:r>
              <a:rPr lang="en-US" sz="1700" b="1" dirty="0">
                <a:solidFill>
                  <a:srgbClr val="2B1D19"/>
                </a:solidFill>
              </a:rPr>
              <a:t>skewed</a:t>
            </a:r>
            <a:r>
              <a:rPr lang="en-US" sz="1700" dirty="0">
                <a:solidFill>
                  <a:srgbClr val="2B1D19"/>
                </a:solidFill>
              </a:rPr>
              <a:t> data, with the long tail on the low side</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Modify: change the number of bins</a:t>
            </a:r>
            <a:endParaRPr lang="en-US" sz="2800" dirty="0"/>
          </a:p>
        </p:txBody>
      </p:sp>
      <p:sp>
        <p:nvSpPr>
          <p:cNvPr id="3" name="primm box"/>
          <p:cNvSpPr/>
          <p:nvPr/>
        </p:nvSpPr>
        <p:spPr>
          <a:xfrm>
            <a:off x="457200" y="1051560"/>
            <a:ext cx="8229600" cy="2164080"/>
          </a:xfrm>
          <a:prstGeom prst="roundRect">
            <a:avLst>
              <a:gd name="adj" fmla="val 3380"/>
            </a:avLst>
          </a:prstGeom>
          <a:solidFill>
            <a:srgbClr val="E6F2E6"/>
          </a:solidFill>
          <a:ln w="12700">
            <a:solidFill>
              <a:srgbClr val="E6F2E6"/>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2E6B30"/>
                </a:solidFill>
              </a:rPr>
              <a:t>PRIMM</a:t>
            </a:r>
            <a:endParaRPr lang="en-US" sz="1600" dirty="0"/>
          </a:p>
        </p:txBody>
      </p:sp>
      <p:sp>
        <p:nvSpPr>
          <p:cNvPr id="5" name="Text 3"/>
          <p:cNvSpPr txBox="1"/>
          <p:nvPr/>
        </p:nvSpPr>
        <p:spPr>
          <a:xfrm>
            <a:off x="685800" y="1600200"/>
            <a:ext cx="7772400" cy="1478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Change </a:t>
            </a:r>
            <a:r>
              <a:rPr lang="en-US" sz="1800" b="1" dirty="0">
                <a:solidFill>
                  <a:srgbClr val="B86E1E"/>
                </a:solidFill>
                <a:latin typeface="Courier New" pitchFamily="34" charset="0"/>
                <a:ea typeface="Courier New" pitchFamily="34" charset="-122"/>
                <a:cs typeface="Courier New" pitchFamily="34" charset="-120"/>
              </a:rPr>
              <a:t>nbins=45</a:t>
            </a:r>
            <a:r>
              <a:rPr lang="en-US" sz="2000" dirty="0">
                <a:solidFill>
                  <a:srgbClr val="2B1D19"/>
                </a:solidFill>
              </a:rPr>
              <a:t> to </a:t>
            </a:r>
            <a:r>
              <a:rPr lang="en-US" sz="1800" b="1" dirty="0">
                <a:solidFill>
                  <a:srgbClr val="B86E1E"/>
                </a:solidFill>
                <a:latin typeface="Courier New" pitchFamily="34" charset="0"/>
                <a:ea typeface="Courier New" pitchFamily="34" charset="-122"/>
                <a:cs typeface="Courier New" pitchFamily="34" charset="-120"/>
              </a:rPr>
              <a:t>nbins=10</a:t>
            </a:r>
            <a:r>
              <a:rPr lang="en-US" sz="2000" dirty="0">
                <a:solidFill>
                  <a:srgbClr val="2B1D19"/>
                </a:solidFill>
              </a:rPr>
              <a:t>.</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Then change it to </a:t>
            </a:r>
            <a:r>
              <a:rPr lang="en-US" sz="1800" b="1" dirty="0">
                <a:solidFill>
                  <a:srgbClr val="B86E1E"/>
                </a:solidFill>
                <a:latin typeface="Courier New" pitchFamily="34" charset="0"/>
                <a:ea typeface="Courier New" pitchFamily="34" charset="-122"/>
                <a:cs typeface="Courier New" pitchFamily="34" charset="-120"/>
              </a:rPr>
              <a:t>nbins=200</a:t>
            </a:r>
            <a:r>
              <a:rPr lang="en-US" sz="2000" dirty="0">
                <a:solidFill>
                  <a:srgbClr val="2B1D19"/>
                </a:solidFill>
              </a:rPr>
              <a:t>.</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Which shows the shape best?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Comparing two groups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We have </a:t>
            </a:r>
            <a:r>
              <a:rPr lang="en-US" sz="1800" b="1" dirty="0">
                <a:solidFill>
                  <a:srgbClr val="F7EFE6"/>
                </a:solidFill>
              </a:rPr>
              <a:t>6,243</a:t>
            </a:r>
            <a:r>
              <a:rPr lang="en-US" sz="1800" dirty="0">
                <a:solidFill>
                  <a:srgbClr val="F7EFE6"/>
                </a:solidFill>
              </a:rPr>
              <a:t> Indie games but only </a:t>
            </a:r>
            <a:r>
              <a:rPr lang="en-US" sz="1800" b="1" dirty="0">
                <a:solidFill>
                  <a:srgbClr val="F7EFE6"/>
                </a:solidFill>
              </a:rPr>
              <a:t>4,007</a:t>
            </a:r>
            <a:r>
              <a:rPr lang="en-US" sz="1800" dirty="0">
                <a:solidFill>
                  <a:srgbClr val="F7EFE6"/>
                </a:solidFill>
              </a:rPr>
              <a:t> other games, so the Indie bars would be taller just because there are more of them.</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When to split a histogram by group</a:t>
            </a:r>
            <a:endParaRPr lang="en-US" sz="2800" dirty="0"/>
          </a:p>
        </p:txBody>
      </p:sp>
      <p:sp>
        <p:nvSpPr>
          <p:cNvPr id="3" name="tip box"/>
          <p:cNvSpPr/>
          <p:nvPr/>
        </p:nvSpPr>
        <p:spPr>
          <a:xfrm>
            <a:off x="457200" y="1051560"/>
            <a:ext cx="8229600" cy="2900680"/>
          </a:xfrm>
          <a:prstGeom prst="roundRect">
            <a:avLst>
              <a:gd name="adj" fmla="val 2522"/>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When to use it</a:t>
            </a:r>
            <a:endParaRPr lang="en-US" sz="1600" dirty="0"/>
          </a:p>
        </p:txBody>
      </p:sp>
      <p:sp>
        <p:nvSpPr>
          <p:cNvPr id="5" name="Text 3"/>
          <p:cNvSpPr txBox="1"/>
          <p:nvPr/>
        </p:nvSpPr>
        <p:spPr>
          <a:xfrm>
            <a:off x="685800" y="1600200"/>
            <a:ext cx="7772400" cy="221488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2000" dirty="0">
                <a:solidFill>
                  <a:srgbClr val="2B1D19"/>
                </a:solidFill>
              </a:rPr>
              <a:t>​</a:t>
            </a:r>
            <a:r>
              <a:rPr lang="en-US" sz="2000" dirty="0">
                <a:solidFill>
                  <a:srgbClr val="2B1D19"/>
                </a:solidFill>
              </a:rPr>
              <a:t>we want to know </a:t>
            </a:r>
            <a:r>
              <a:rPr lang="en-US" sz="2000" b="1" dirty="0">
                <a:solidFill>
                  <a:srgbClr val="2B1D19"/>
                </a:solidFill>
              </a:rPr>
              <a:t>whether two groups' values are spread out differently</a:t>
            </a:r>
            <a:endParaRPr lang="en-US" sz="2000" dirty="0"/>
          </a:p>
          <a:p>
            <a:pPr marL="342900" indent="-342900">
              <a:spcAft>
                <a:spcPts val="1000"/>
              </a:spcAft>
              <a:buSzPct val="100000"/>
              <a:buChar char="•"/>
            </a:pPr>
            <a:r>
              <a:rPr lang="en-US" sz="2000" dirty="0">
                <a:solidFill>
                  <a:srgbClr val="2B1D19"/>
                </a:solidFill>
              </a:rPr>
              <a:t>​</a:t>
            </a:r>
            <a:r>
              <a:rPr lang="en-US" sz="2000" dirty="0">
                <a:solidFill>
                  <a:srgbClr val="2B1D19"/>
                </a:solidFill>
              </a:rPr>
              <a:t>not just whether their averages differ</a:t>
            </a:r>
            <a:endParaRPr lang="en-US" sz="2000" dirty="0"/>
          </a:p>
          <a:p>
            <a:pPr marL="342900" indent="-342900">
              <a:spcAft>
                <a:spcPts val="1000"/>
              </a:spcAft>
              <a:buSzPct val="100000"/>
              <a:buChar char="•"/>
            </a:pPr>
            <a:r>
              <a:rPr lang="en-US" sz="2000" dirty="0">
                <a:solidFill>
                  <a:srgbClr val="2B1D19"/>
                </a:solidFill>
              </a:rPr>
              <a:t>​</a:t>
            </a:r>
            <a:r>
              <a:rPr lang="en-US" sz="2000" dirty="0">
                <a:solidFill>
                  <a:srgbClr val="2B1D19"/>
                </a:solidFill>
              </a:rPr>
              <a:t>use percentages whenever the groups are different sizes</a:t>
            </a:r>
            <a:endParaRPr lang="en-US" sz="2000" dirty="0"/>
          </a:p>
          <a:p>
            <a:pPr marL="342900" indent="-342900">
              <a:spcAft>
                <a:spcPts val="1000"/>
              </a:spcAft>
              <a:buSzPct val="100000"/>
              <a:buChar char="•"/>
            </a:pPr>
            <a:r>
              <a:rPr lang="en-US" sz="2000" dirty="0">
                <a:solidFill>
                  <a:srgbClr val="2B1D19"/>
                </a:solidFill>
              </a:rPr>
              <a:t>​</a:t>
            </a:r>
            <a:r>
              <a:rPr lang="en-US" sz="2000" dirty="0">
                <a:solidFill>
                  <a:srgbClr val="2B1D19"/>
                </a:solidFill>
              </a:rPr>
              <a:t>otherwise the bigger group will always look taller</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Split the histogram by group</a:t>
            </a:r>
            <a:endParaRPr lang="en-US" sz="2800" dirty="0"/>
          </a:p>
        </p:txBody>
      </p:sp>
      <p:sp>
        <p:nvSpPr>
          <p:cNvPr id="3" name="Code panel"/>
          <p:cNvSpPr/>
          <p:nvPr/>
        </p:nvSpPr>
        <p:spPr>
          <a:xfrm>
            <a:off x="457200" y="1051560"/>
            <a:ext cx="5120640" cy="2691765"/>
          </a:xfrm>
          <a:prstGeom prst="roundRect">
            <a:avLst>
              <a:gd name="adj" fmla="val 2038"/>
            </a:avLst>
          </a:prstGeom>
          <a:solidFill>
            <a:srgbClr val="2B1D19"/>
          </a:solidFill>
          <a:ln w="12700">
            <a:solidFill>
              <a:srgbClr val="2B1D19"/>
            </a:solidFill>
            <a:prstDash val="solid"/>
          </a:ln>
        </p:spPr>
      </p:sp>
      <p:sp>
        <p:nvSpPr>
          <p:cNvPr id="4" name="Text 2"/>
          <p:cNvSpPr txBox="1"/>
          <p:nvPr/>
        </p:nvSpPr>
        <p:spPr>
          <a:xfrm>
            <a:off x="640080" y="1161288"/>
            <a:ext cx="475488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new cell</a:t>
            </a:r>
            <a:endParaRPr lang="en-US" sz="1200" dirty="0"/>
          </a:p>
        </p:txBody>
      </p:sp>
      <p:sp>
        <p:nvSpPr>
          <p:cNvPr id="5" name="Highlight"/>
          <p:cNvSpPr/>
          <p:nvPr/>
        </p:nvSpPr>
        <p:spPr>
          <a:xfrm>
            <a:off x="530352" y="2032635"/>
            <a:ext cx="4974336" cy="174625"/>
          </a:xfrm>
          <a:prstGeom prst="rect">
            <a:avLst/>
          </a:prstGeom>
          <a:solidFill>
            <a:srgbClr val="5A3A1E"/>
          </a:solidFill>
          <a:ln w="12700">
            <a:solidFill>
              <a:srgbClr val="5A3A1E"/>
            </a:solidFill>
            <a:prstDash val="solid"/>
          </a:ln>
        </p:spPr>
      </p:sp>
      <p:sp>
        <p:nvSpPr>
          <p:cNvPr id="6" name="Highlight"/>
          <p:cNvSpPr/>
          <p:nvPr/>
        </p:nvSpPr>
        <p:spPr>
          <a:xfrm>
            <a:off x="530352" y="2207260"/>
            <a:ext cx="4974336" cy="174625"/>
          </a:xfrm>
          <a:prstGeom prst="rect">
            <a:avLst/>
          </a:prstGeom>
          <a:solidFill>
            <a:srgbClr val="5A3A1E"/>
          </a:solidFill>
          <a:ln w="12700">
            <a:solidFill>
              <a:srgbClr val="5A3A1E"/>
            </a:solidFill>
            <a:prstDash val="solid"/>
          </a:ln>
        </p:spPr>
      </p:sp>
      <p:sp>
        <p:nvSpPr>
          <p:cNvPr id="7" name="Highlight"/>
          <p:cNvSpPr/>
          <p:nvPr/>
        </p:nvSpPr>
        <p:spPr>
          <a:xfrm>
            <a:off x="530352" y="2381885"/>
            <a:ext cx="4974336" cy="174625"/>
          </a:xfrm>
          <a:prstGeom prst="rect">
            <a:avLst/>
          </a:prstGeom>
          <a:solidFill>
            <a:srgbClr val="5A3A1E"/>
          </a:solidFill>
          <a:ln w="12700">
            <a:solidFill>
              <a:srgbClr val="5A3A1E"/>
            </a:solidFill>
            <a:prstDash val="solid"/>
          </a:ln>
        </p:spPr>
      </p:sp>
      <p:sp>
        <p:nvSpPr>
          <p:cNvPr id="8" name="Code"/>
          <p:cNvSpPr txBox="1"/>
          <p:nvPr/>
        </p:nvSpPr>
        <p:spPr>
          <a:xfrm>
            <a:off x="594360" y="1508760"/>
            <a:ext cx="4846320" cy="1617345"/>
          </a:xfrm>
          <a:prstGeom prst="rect">
            <a:avLst/>
          </a:prstGeom>
          <a:noFill/>
          <a:ln/>
        </p:spPr>
        <p:txBody>
          <a:bodyPr wrap="square" lIns="0" tIns="0" rIns="0" bIns="0" rtlCol="0" anchor="t"/>
          <a:lstStyle/>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1  </a:t>
            </a:r>
            <a:r>
              <a:rPr lang="en-US" sz="1100" dirty="0">
                <a:solidFill>
                  <a:srgbClr val="F7EFE6"/>
                </a:solidFill>
                <a:latin typeface="Courier New" pitchFamily="34" charset="0"/>
                <a:ea typeface="Courier New" pitchFamily="34" charset="-122"/>
                <a:cs typeface="Courier New" pitchFamily="34" charset="-120"/>
              </a:rPr>
              <a:t>px.histogram(</a:t>
            </a:r>
            <a:endParaRPr lang="en-US" sz="1100" dirty="0"/>
          </a:p>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2  </a:t>
            </a:r>
            <a:r>
              <a:rPr lang="en-US" sz="1100" dirty="0">
                <a:solidFill>
                  <a:srgbClr val="F7EFE6"/>
                </a:solidFill>
                <a:latin typeface="Courier New" pitchFamily="34" charset="0"/>
                <a:ea typeface="Courier New" pitchFamily="34" charset="-122"/>
                <a:cs typeface="Courier New" pitchFamily="34" charset="-120"/>
              </a:rPr>
              <a:t>    scored,</a:t>
            </a:r>
            <a:endParaRPr lang="en-US" sz="1100" dirty="0"/>
          </a:p>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3  </a:t>
            </a:r>
            <a:r>
              <a:rPr lang="en-US" sz="1100" dirty="0">
                <a:solidFill>
                  <a:srgbClr val="F7EFE6"/>
                </a:solidFill>
                <a:latin typeface="Courier New" pitchFamily="34" charset="0"/>
                <a:ea typeface="Courier New" pitchFamily="34" charset="-122"/>
                <a:cs typeface="Courier New" pitchFamily="34" charset="-120"/>
              </a:rPr>
              <a:t>    x="Review score",</a:t>
            </a:r>
            <a:endParaRPr lang="en-US" sz="1100" dirty="0"/>
          </a:p>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4  </a:t>
            </a:r>
            <a:r>
              <a:rPr lang="en-US" sz="1100" dirty="0">
                <a:solidFill>
                  <a:srgbClr val="F7EFE6"/>
                </a:solidFill>
                <a:latin typeface="Courier New" pitchFamily="34" charset="0"/>
                <a:ea typeface="Courier New" pitchFamily="34" charset="-122"/>
                <a:cs typeface="Courier New" pitchFamily="34" charset="-120"/>
              </a:rPr>
              <a:t>    color="Group",</a:t>
            </a:r>
            <a:endParaRPr lang="en-US" sz="1100" dirty="0"/>
          </a:p>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5  </a:t>
            </a:r>
            <a:r>
              <a:rPr lang="en-US" sz="1100" dirty="0">
                <a:solidFill>
                  <a:srgbClr val="F7EFE6"/>
                </a:solidFill>
                <a:latin typeface="Courier New" pitchFamily="34" charset="0"/>
                <a:ea typeface="Courier New" pitchFamily="34" charset="-122"/>
                <a:cs typeface="Courier New" pitchFamily="34" charset="-120"/>
              </a:rPr>
              <a:t>    barmode="overlay",</a:t>
            </a:r>
            <a:endParaRPr lang="en-US" sz="1100" dirty="0"/>
          </a:p>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6  </a:t>
            </a:r>
            <a:r>
              <a:rPr lang="en-US" sz="1100" dirty="0">
                <a:solidFill>
                  <a:srgbClr val="F7EFE6"/>
                </a:solidFill>
                <a:latin typeface="Courier New" pitchFamily="34" charset="0"/>
                <a:ea typeface="Courier New" pitchFamily="34" charset="-122"/>
                <a:cs typeface="Courier New" pitchFamily="34" charset="-120"/>
              </a:rPr>
              <a:t>    histnorm="percent",</a:t>
            </a:r>
            <a:endParaRPr lang="en-US" sz="1100" dirty="0"/>
          </a:p>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7  </a:t>
            </a:r>
            <a:r>
              <a:rPr lang="en-US" sz="1100" dirty="0">
                <a:solidFill>
                  <a:srgbClr val="F7EFE6"/>
                </a:solidFill>
                <a:latin typeface="Courier New" pitchFamily="34" charset="0"/>
                <a:ea typeface="Courier New" pitchFamily="34" charset="-122"/>
                <a:cs typeface="Courier New" pitchFamily="34" charset="-120"/>
              </a:rPr>
              <a:t>    nbins=45,</a:t>
            </a:r>
            <a:endParaRPr lang="en-US" sz="1100" dirty="0"/>
          </a:p>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8  </a:t>
            </a:r>
            <a:r>
              <a:rPr lang="en-US" sz="1100" dirty="0">
                <a:solidFill>
                  <a:srgbClr val="F7EFE6"/>
                </a:solidFill>
                <a:latin typeface="Courier New" pitchFamily="34" charset="0"/>
                <a:ea typeface="Courier New" pitchFamily="34" charset="-122"/>
                <a:cs typeface="Courier New" pitchFamily="34" charset="-120"/>
              </a:rPr>
              <a:t>    title="Review scores of Indie and other games",</a:t>
            </a:r>
            <a:endParaRPr lang="en-US" sz="1100" dirty="0"/>
          </a:p>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9  </a:t>
            </a:r>
            <a:r>
              <a:rPr lang="en-US" sz="1100" dirty="0">
                <a:solidFill>
                  <a:srgbClr val="F7EFE6"/>
                </a:solidFill>
                <a:latin typeface="Courier New" pitchFamily="34" charset="0"/>
                <a:ea typeface="Courier New" pitchFamily="34" charset="-122"/>
                <a:cs typeface="Courier New" pitchFamily="34" charset="-120"/>
              </a:rPr>
              <a:t>)</a:t>
            </a:r>
            <a:endParaRPr lang="en-US" sz="1100" dirty="0"/>
          </a:p>
        </p:txBody>
      </p:sp>
      <p:sp>
        <p:nvSpPr>
          <p:cNvPr id="9" name="Text 7"/>
          <p:cNvSpPr txBox="1"/>
          <p:nvPr/>
        </p:nvSpPr>
        <p:spPr>
          <a:xfrm>
            <a:off x="5852160" y="1051560"/>
            <a:ext cx="283464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10" name="Text 8"/>
          <p:cNvSpPr txBox="1"/>
          <p:nvPr/>
        </p:nvSpPr>
        <p:spPr>
          <a:xfrm>
            <a:off x="5852160" y="1399032"/>
            <a:ext cx="2834640" cy="86868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We add three things to our histogram to compare the groups fairly.</a:t>
            </a:r>
            <a:endParaRPr lang="en-US" sz="1500" dirty="0"/>
          </a:p>
        </p:txBody>
      </p:sp>
      <p:sp>
        <p:nvSpPr>
          <p:cNvPr id="11" name="Text 9"/>
          <p:cNvSpPr txBox="1"/>
          <p:nvPr/>
        </p:nvSpPr>
        <p:spPr>
          <a:xfrm>
            <a:off x="5852160" y="2450592"/>
            <a:ext cx="2834640" cy="320040"/>
          </a:xfrm>
          <a:prstGeom prst="rect">
            <a:avLst/>
          </a:prstGeom>
          <a:noFill/>
          <a:ln/>
        </p:spPr>
        <p:txBody>
          <a:bodyPr wrap="square" lIns="0" tIns="0" rIns="0" bIns="0" rtlCol="0" anchor="ctr"/>
          <a:lstStyle/>
          <a:p>
            <a:pPr indent="0" marL="0">
              <a:buNone/>
            </a:pPr>
            <a:r>
              <a:rPr lang="en-US" sz="1400" b="1" dirty="0">
                <a:solidFill>
                  <a:srgbClr val="B86E1E"/>
                </a:solidFill>
              </a:rPr>
              <a:t>What it does</a:t>
            </a:r>
            <a:endParaRPr lang="en-US" sz="1400" dirty="0"/>
          </a:p>
        </p:txBody>
      </p:sp>
      <p:sp>
        <p:nvSpPr>
          <p:cNvPr id="12" name="Text 10"/>
          <p:cNvSpPr txBox="1"/>
          <p:nvPr/>
        </p:nvSpPr>
        <p:spPr>
          <a:xfrm>
            <a:off x="5852160" y="2798064"/>
            <a:ext cx="2834640" cy="1728216"/>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2B1D19"/>
                </a:solidFill>
              </a:rPr>
              <a:t>​</a:t>
            </a:r>
            <a:r>
              <a:rPr lang="en-US" sz="1400" b="1" dirty="0">
                <a:solidFill>
                  <a:srgbClr val="2B1D19"/>
                </a:solidFill>
              </a:rPr>
              <a:t>line 4</a:t>
            </a:r>
            <a:r>
              <a:rPr lang="en-US" sz="1400" dirty="0">
                <a:solidFill>
                  <a:srgbClr val="2B1D19"/>
                </a:solidFill>
              </a:rPr>
              <a:t> → a colour for each group</a:t>
            </a:r>
            <a:endParaRPr lang="en-US" sz="1400" dirty="0"/>
          </a:p>
          <a:p>
            <a:pPr marL="342900" indent="-342900">
              <a:spcAft>
                <a:spcPts val="400"/>
              </a:spcAft>
              <a:buSzPct val="100000"/>
              <a:buChar char="•"/>
            </a:pPr>
            <a:r>
              <a:rPr lang="en-US" sz="1400" dirty="0">
                <a:solidFill>
                  <a:srgbClr val="2B1D19"/>
                </a:solidFill>
              </a:rPr>
              <a:t>​</a:t>
            </a:r>
            <a:r>
              <a:rPr lang="en-US" sz="1400" b="1" dirty="0">
                <a:solidFill>
                  <a:srgbClr val="2B1D19"/>
                </a:solidFill>
              </a:rPr>
              <a:t>line 5</a:t>
            </a:r>
            <a:r>
              <a:rPr lang="en-US" sz="1400" dirty="0">
                <a:solidFill>
                  <a:srgbClr val="2B1D19"/>
                </a:solidFill>
              </a:rPr>
              <a:t> → bars on top of each other</a:t>
            </a:r>
            <a:endParaRPr lang="en-US" sz="1400" dirty="0"/>
          </a:p>
          <a:p>
            <a:pPr marL="342900" indent="-342900">
              <a:spcAft>
                <a:spcPts val="400"/>
              </a:spcAft>
              <a:buSzPct val="100000"/>
              <a:buChar char="•"/>
            </a:pPr>
            <a:r>
              <a:rPr lang="en-US" sz="1400" dirty="0">
                <a:solidFill>
                  <a:srgbClr val="2B1D19"/>
                </a:solidFill>
              </a:rPr>
              <a:t>​</a:t>
            </a:r>
            <a:r>
              <a:rPr lang="en-US" sz="1400" b="1" dirty="0">
                <a:solidFill>
                  <a:srgbClr val="2B1D19"/>
                </a:solidFill>
              </a:rPr>
              <a:t>line 6</a:t>
            </a:r>
            <a:r>
              <a:rPr lang="en-US" sz="1400" dirty="0">
                <a:solidFill>
                  <a:srgbClr val="2B1D19"/>
                </a:solidFill>
              </a:rPr>
              <a:t> → each bar as a % of its own group</a:t>
            </a:r>
            <a:endParaRPr lang="en-US" sz="14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Now the difference is clear</a:t>
            </a:r>
            <a:endParaRPr lang="en-US" sz="2800" dirty="0"/>
          </a:p>
        </p:txBody>
      </p:sp>
      <p:pic>
        <p:nvPicPr>
          <p:cNvPr id="3" name="Image 0" descr="Histogram titled Review scores of Indie and other games, with Indie bars in red and Not Indie bars in blue; the red bars are taller above 85 and the blue bars are taller between 45 and 80">    </p:cNvPr>
          <p:cNvPicPr>
            <a:picLocks noChangeAspect="1"/>
          </p:cNvPicPr>
          <p:nvPr/>
        </p:nvPicPr>
        <p:blipFill>
          <a:blip r:embed="rId1"/>
          <a:stretch>
            <a:fillRect/>
          </a:stretch>
        </p:blipFill>
        <p:spPr>
          <a:xfrm>
            <a:off x="3931920" y="1468120"/>
            <a:ext cx="4754880" cy="2641600"/>
          </a:xfrm>
          <a:prstGeom prst="rect">
            <a:avLst/>
          </a:prstGeom>
        </p:spPr>
      </p:pic>
      <p:sp>
        <p:nvSpPr>
          <p:cNvPr id="4" name="Text 1"/>
          <p:cNvSpPr txBox="1"/>
          <p:nvPr/>
        </p:nvSpPr>
        <p:spPr>
          <a:xfrm>
            <a:off x="457200" y="1097280"/>
            <a:ext cx="32004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2B1D19"/>
                </a:solidFill>
              </a:rPr>
              <a:t>​</a:t>
            </a:r>
            <a:r>
              <a:rPr lang="en-US" sz="1700" dirty="0">
                <a:solidFill>
                  <a:srgbClr val="2B1D19"/>
                </a:solidFill>
              </a:rPr>
              <a:t>the Indie bars are taller from about </a:t>
            </a:r>
            <a:r>
              <a:rPr lang="en-US" sz="1700" b="1" dirty="0">
                <a:solidFill>
                  <a:srgbClr val="2B1D19"/>
                </a:solidFill>
              </a:rPr>
              <a:t>85</a:t>
            </a:r>
            <a:r>
              <a:rPr lang="en-US" sz="1700" dirty="0">
                <a:solidFill>
                  <a:srgbClr val="2B1D19"/>
                </a:solidFill>
              </a:rPr>
              <a:t> up</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a bigger share of Indie games get very high scores</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the other games have more of their bars between </a:t>
            </a:r>
            <a:r>
              <a:rPr lang="en-US" sz="1700" b="1" dirty="0">
                <a:solidFill>
                  <a:srgbClr val="2B1D19"/>
                </a:solidFill>
              </a:rPr>
              <a:t>45</a:t>
            </a:r>
            <a:r>
              <a:rPr lang="en-US" sz="1700" dirty="0">
                <a:solidFill>
                  <a:srgbClr val="2B1D19"/>
                </a:solidFill>
              </a:rPr>
              <a:t> and </a:t>
            </a:r>
            <a:r>
              <a:rPr lang="en-US" sz="1700" b="1" dirty="0">
                <a:solidFill>
                  <a:srgbClr val="2B1D19"/>
                </a:solidFill>
              </a:rPr>
              <a:t>80</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much more convincing than two bars of the same height</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Modify: remove the percentages</a:t>
            </a:r>
            <a:endParaRPr lang="en-US" sz="2800" dirty="0"/>
          </a:p>
        </p:txBody>
      </p:sp>
      <p:sp>
        <p:nvSpPr>
          <p:cNvPr id="3" name="primm box"/>
          <p:cNvSpPr/>
          <p:nvPr/>
        </p:nvSpPr>
        <p:spPr>
          <a:xfrm>
            <a:off x="457200" y="1051560"/>
            <a:ext cx="8229600" cy="2164080"/>
          </a:xfrm>
          <a:prstGeom prst="roundRect">
            <a:avLst>
              <a:gd name="adj" fmla="val 3380"/>
            </a:avLst>
          </a:prstGeom>
          <a:solidFill>
            <a:srgbClr val="E6F2E6"/>
          </a:solidFill>
          <a:ln w="12700">
            <a:solidFill>
              <a:srgbClr val="E6F2E6"/>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2E6B30"/>
                </a:solidFill>
              </a:rPr>
              <a:t>PRIMM</a:t>
            </a:r>
            <a:endParaRPr lang="en-US" sz="1600" dirty="0"/>
          </a:p>
        </p:txBody>
      </p:sp>
      <p:sp>
        <p:nvSpPr>
          <p:cNvPr id="5" name="Text 3"/>
          <p:cNvSpPr txBox="1"/>
          <p:nvPr/>
        </p:nvSpPr>
        <p:spPr>
          <a:xfrm>
            <a:off x="685800" y="1600200"/>
            <a:ext cx="7772400" cy="1478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Remove the </a:t>
            </a:r>
            <a:r>
              <a:rPr lang="en-US" sz="1800" b="1" dirty="0">
                <a:solidFill>
                  <a:srgbClr val="B86E1E"/>
                </a:solidFill>
                <a:latin typeface="Courier New" pitchFamily="34" charset="0"/>
                <a:ea typeface="Courier New" pitchFamily="34" charset="-122"/>
                <a:cs typeface="Courier New" pitchFamily="34" charset="-120"/>
              </a:rPr>
              <a:t>histnorm="percent"</a:t>
            </a:r>
            <a:r>
              <a:rPr lang="en-US" sz="2000" dirty="0">
                <a:solidFill>
                  <a:srgbClr val="2B1D19"/>
                </a:solidFill>
              </a:rPr>
              <a:t> line.</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What changes?</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Why is that less fair?</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Click the legend</a:t>
            </a:r>
            <a:endParaRPr lang="en-US" sz="2800" dirty="0"/>
          </a:p>
        </p:txBody>
      </p:sp>
      <p:sp>
        <p:nvSpPr>
          <p:cNvPr id="3" name="tip box"/>
          <p:cNvSpPr/>
          <p:nvPr/>
        </p:nvSpPr>
        <p:spPr>
          <a:xfrm>
            <a:off x="457200" y="1051560"/>
            <a:ext cx="8229600" cy="1910080"/>
          </a:xfrm>
          <a:prstGeom prst="roundRect">
            <a:avLst>
              <a:gd name="adj" fmla="val 3830"/>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Tip</a:t>
            </a:r>
            <a:endParaRPr lang="en-US" sz="1600" dirty="0"/>
          </a:p>
        </p:txBody>
      </p:sp>
      <p:sp>
        <p:nvSpPr>
          <p:cNvPr id="5" name="Text 3"/>
          <p:cNvSpPr txBox="1"/>
          <p:nvPr/>
        </p:nvSpPr>
        <p:spPr>
          <a:xfrm>
            <a:off x="685800" y="1600200"/>
            <a:ext cx="7772400" cy="12242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Click </a:t>
            </a:r>
            <a:r>
              <a:rPr lang="en-US" sz="1800" b="1" dirty="0">
                <a:solidFill>
                  <a:srgbClr val="B86E1E"/>
                </a:solidFill>
                <a:latin typeface="Courier New" pitchFamily="34" charset="0"/>
                <a:ea typeface="Courier New" pitchFamily="34" charset="-122"/>
                <a:cs typeface="Courier New" pitchFamily="34" charset="-120"/>
              </a:rPr>
              <a:t>Indie</a:t>
            </a:r>
            <a:r>
              <a:rPr lang="en-US" sz="2000" dirty="0">
                <a:solidFill>
                  <a:srgbClr val="2B1D19"/>
                </a:solidFill>
              </a:rPr>
              <a:t> or </a:t>
            </a:r>
            <a:r>
              <a:rPr lang="en-US" sz="1800" b="1" dirty="0">
                <a:solidFill>
                  <a:srgbClr val="B86E1E"/>
                </a:solidFill>
                <a:latin typeface="Courier New" pitchFamily="34" charset="0"/>
                <a:ea typeface="Courier New" pitchFamily="34" charset="-122"/>
                <a:cs typeface="Courier New" pitchFamily="34" charset="-120"/>
              </a:rPr>
              <a:t>Not Indie</a:t>
            </a:r>
            <a:r>
              <a:rPr lang="en-US" sz="2000" dirty="0">
                <a:solidFill>
                  <a:srgbClr val="2B1D19"/>
                </a:solidFill>
              </a:rPr>
              <a:t> in the legend to hide that group, and click again to bring it back. It's a quick way to look at one group at a time.</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4572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CHECK YOUR UNDERSTANDING</a:t>
            </a:r>
            <a:endParaRPr lang="en-US" sz="1400" dirty="0"/>
          </a:p>
        </p:txBody>
      </p:sp>
      <p:sp>
        <p:nvSpPr>
          <p:cNvPr id="3" name="Text 1"/>
          <p:cNvSpPr txBox="1"/>
          <p:nvPr/>
        </p:nvSpPr>
        <p:spPr>
          <a:xfrm>
            <a:off x="457200" y="1005840"/>
            <a:ext cx="7498080" cy="3108960"/>
          </a:xfrm>
          <a:prstGeom prst="rect">
            <a:avLst/>
          </a:prstGeom>
          <a:noFill/>
          <a:ln/>
        </p:spPr>
        <p:txBody>
          <a:bodyPr wrap="square" lIns="0" tIns="0" rIns="0" bIns="0" rtlCol="0" anchor="t">
            <a:normAutofit/>
          </a:bodyPr>
          <a:lstStyle/>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When should we use a bar chart?</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doesn't a histogram need a </a:t>
            </a:r>
            <a:r>
              <a:rPr lang="en-US" sz="1800" b="1" dirty="0">
                <a:solidFill>
                  <a:srgbClr val="E8A55A"/>
                </a:solidFill>
                <a:latin typeface="Courier New" pitchFamily="34" charset="0"/>
                <a:ea typeface="Courier New" pitchFamily="34" charset="-122"/>
                <a:cs typeface="Courier New" pitchFamily="34" charset="-120"/>
              </a:rPr>
              <a:t>y</a:t>
            </a:r>
            <a:r>
              <a:rPr lang="en-US" sz="2000" dirty="0">
                <a:solidFill>
                  <a:srgbClr val="FFFFFF"/>
                </a:solidFill>
              </a:rPr>
              <a:t> value?</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Our bar chart made 86.5 and 83.2 look almost the same. Why?</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did we use </a:t>
            </a:r>
            <a:r>
              <a:rPr lang="en-US" sz="1800" b="1" dirty="0">
                <a:solidFill>
                  <a:srgbClr val="E8A55A"/>
                </a:solidFill>
                <a:latin typeface="Courier New" pitchFamily="34" charset="0"/>
                <a:ea typeface="Courier New" pitchFamily="34" charset="-122"/>
                <a:cs typeface="Courier New" pitchFamily="34" charset="-120"/>
              </a:rPr>
              <a:t>histnorm="percent"</a:t>
            </a:r>
            <a:r>
              <a:rPr lang="en-US" sz="2000" dirty="0">
                <a:solidFill>
                  <a:srgbClr val="FFFFFF"/>
                </a:solidFill>
              </a:rPr>
              <a:t> to compare the groups?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Your data story</a:t>
            </a:r>
            <a:endParaRPr lang="en-US" sz="2800" dirty="0"/>
          </a:p>
        </p:txBody>
      </p:sp>
      <p:sp>
        <p:nvSpPr>
          <p:cNvPr id="3" name="Shape 1"/>
          <p:cNvSpPr/>
          <p:nvPr/>
        </p:nvSpPr>
        <p:spPr>
          <a:xfrm>
            <a:off x="457200" y="1051560"/>
            <a:ext cx="2651760" cy="3429000"/>
          </a:xfrm>
          <a:prstGeom prst="roundRect">
            <a:avLst>
              <a:gd name="adj" fmla="val 2759"/>
            </a:avLst>
          </a:prstGeom>
          <a:solidFill>
            <a:srgbClr val="4E342E"/>
          </a:solidFill>
          <a:ln w="12700">
            <a:solidFill>
              <a:srgbClr val="4E342E"/>
            </a:solidFill>
            <a:prstDash val="solid"/>
          </a:ln>
        </p:spPr>
      </p:sp>
      <p:sp>
        <p:nvSpPr>
          <p:cNvPr id="4" name="Text 2"/>
          <p:cNvSpPr txBox="1"/>
          <p:nvPr/>
        </p:nvSpPr>
        <p:spPr>
          <a:xfrm>
            <a:off x="685800" y="1280160"/>
            <a:ext cx="2194560" cy="822960"/>
          </a:xfrm>
          <a:prstGeom prst="rect">
            <a:avLst/>
          </a:prstGeom>
          <a:noFill/>
          <a:ln/>
        </p:spPr>
        <p:txBody>
          <a:bodyPr wrap="square" lIns="0" tIns="0" rIns="0" bIns="0" rtlCol="0" anchor="t"/>
          <a:lstStyle/>
          <a:p>
            <a:pPr indent="0" marL="0">
              <a:buNone/>
            </a:pPr>
            <a:r>
              <a:rPr lang="en-US" sz="1500" dirty="0">
                <a:solidFill>
                  <a:srgbClr val="F7EFE6"/>
                </a:solidFill>
              </a:rPr>
              <a:t>In my_data_story.md, add the heading</a:t>
            </a:r>
            <a:endParaRPr lang="en-US" sz="1500" dirty="0"/>
          </a:p>
        </p:txBody>
      </p:sp>
      <p:sp>
        <p:nvSpPr>
          <p:cNvPr id="5" name="Text 3"/>
          <p:cNvSpPr txBox="1"/>
          <p:nvPr/>
        </p:nvSpPr>
        <p:spPr>
          <a:xfrm>
            <a:off x="685800" y="2148840"/>
            <a:ext cx="2194560" cy="1097280"/>
          </a:xfrm>
          <a:prstGeom prst="rect">
            <a:avLst/>
          </a:prstGeom>
          <a:noFill/>
          <a:ln/>
        </p:spPr>
        <p:txBody>
          <a:bodyPr wrap="square" lIns="0" tIns="0" rIns="0" bIns="0" rtlCol="0" anchor="t">
            <a:normAutofit/>
          </a:bodyPr>
          <a:lstStyle/>
          <a:p>
            <a:pPr indent="0" marL="0">
              <a:buNone/>
            </a:pPr>
            <a:r>
              <a:rPr lang="en-US" sz="1800" b="1" dirty="0">
                <a:solidFill>
                  <a:srgbClr val="E8A55A"/>
                </a:solidFill>
                <a:latin typeface="Courier New" pitchFamily="34" charset="0"/>
                <a:ea typeface="Courier New" pitchFamily="34" charset="-122"/>
                <a:cs typeface="Courier New" pitchFamily="34" charset="-120"/>
              </a:rPr>
              <a:t>## First charts</a:t>
            </a:r>
            <a:endParaRPr lang="en-US" sz="1800" dirty="0"/>
          </a:p>
        </p:txBody>
      </p:sp>
      <p:sp>
        <p:nvSpPr>
          <p:cNvPr id="6" name="Text 4"/>
          <p:cNvSpPr txBox="1"/>
          <p:nvPr/>
        </p:nvSpPr>
        <p:spPr>
          <a:xfrm>
            <a:off x="3383280" y="1097280"/>
            <a:ext cx="5303520" cy="3383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Draw a bar chart that compares the groups in your question. Does it show the difference clearly, or do the bars look the same?</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Draw a histogram of the most important number column in your question. Describe its shape in one sentence.</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If your question compares groups of different sizes, split the histogram by group using percentages. Record what it shows.</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Steam Data Stories">
  <a:themeElements>
    <a:clrScheme name="Steam Data Stories">
      <a:dk1>
        <a:srgbClr val="2B1D19"/>
      </a:dk1>
      <a:lt1>
        <a:srgbClr val="FFFFFF"/>
      </a:lt1>
      <a:dk2>
        <a:srgbClr val="4E342E"/>
      </a:dk2>
      <a:lt2>
        <a:srgbClr val="F7EFE6"/>
      </a:lt2>
      <a:accent1>
        <a:srgbClr val="E8A55A"/>
      </a:accent1>
      <a:accent2>
        <a:srgbClr val="6D4C41"/>
      </a:accent2>
      <a:accent3>
        <a:srgbClr val="1D5F8A"/>
      </a:accent3>
      <a:accent4>
        <a:srgbClr val="2E6B30"/>
      </a:accent4>
      <a:accent5>
        <a:srgbClr val="B0185E"/>
      </a:accent5>
      <a:accent6>
        <a:srgbClr val="8A5A00"/>
      </a:accent6>
      <a:hlink>
        <a:srgbClr val="B86E1E"/>
      </a:hlink>
      <a:folHlink>
        <a:srgbClr val="6D4C41"/>
      </a:folHlink>
    </a:clrScheme>
    <a:fontScheme name="Steam Data Stori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 Charts and Histograms</dc:title>
  <dc:subject>PptxGenJS Presentation</dc:subject>
  <dc:creator>Steam Data Stories</dc:creator>
  <cp:lastModifiedBy>Steam Data Stories</cp:lastModifiedBy>
  <cp:revision>1</cp:revision>
  <dcterms:created xsi:type="dcterms:W3CDTF">2026-10-13T11:22:54Z</dcterms:created>
  <dcterms:modified xsi:type="dcterms:W3CDTF">2026-10-13T11:22:54Z</dcterms:modified>
</cp:coreProperties>
</file>