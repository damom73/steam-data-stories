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60e2bb0-03b7-2207-6962-f55ec2d4c1e3}">
          <p14:sldIdLst>
            <p14:sldId id="256"/>
            <p14:sldId id="257"/>
            <p14:sldId id="258"/>
            <p14:sldId id="259"/>
            <p14:sldId id="260"/>
          </p14:sldIdLst>
        </p14:section>
        <p14:section name="Investigable questions" id="{dde575ce-8e66-33c7-6e41-2dd0bf14d7d5}">
          <p14:sldIdLst>
            <p14:sldId id="261"/>
            <p14:sldId id="262"/>
            <p14:sldId id="263"/>
            <p14:sldId id="264"/>
            <p14:sldId id="265"/>
          </p14:sldIdLst>
        </p14:section>
        <p14:section name="Defining our terms" id="{8c2fa524-313f-4e6b-79dc-44fffb2422cf}">
          <p14:sldIdLst>
            <p14:sldId id="266"/>
            <p14:sldId id="267"/>
            <p14:sldId id="268"/>
            <p14:sldId id="269"/>
            <p14:sldId id="270"/>
          </p14:sldIdLst>
        </p14:section>
        <p14:section name="Checking our question against the data" id="{8628413f-bc6a-5d58-e025-470cbfb209ff}">
          <p14:sldIdLst>
            <p14:sldId id="271"/>
            <p14:sldId id="272"/>
            <p14:sldId id="273"/>
            <p14:sldId id="274"/>
            <p14:sldId id="275"/>
            <p14:sldId id="276"/>
            <p14:sldId id="277"/>
            <p14:sldId id="278"/>
            <p14:sldId id="279"/>
          </p14:sldIdLst>
        </p14:section>
        <p14:section name="Refining our question" id="{9325515f-c6bb-7dea-c2fc-613a087a33d6}">
          <p14:sldIdLst>
            <p14:sldId id="280"/>
            <p14:sldId id="281"/>
            <p14:sldId id="282"/>
          </p14:sldIdLst>
        </p14:section>
        <p14:section name="Wrap up" id="{6d863f85-13d5-1e52-65d2-a39ce9c6d180}">
          <p14:sldIdLst>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Hook lesson. We check which of our questions the data can actually answer, define the words in our example question, and use describe and value_counts to look for problems. About 60 minutes: 5 min hook, 10 min investigable questions, 10 min defining terms, 20 min checking against the data, 15 min refining and Your data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intentions aloud. By the end, every student should have one final question for their data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new terms today, split over two slides. These four are about questions; the next five are about statistics.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will have met mean and median in maths. Ask for a quick example: the median of 1, 3, 100 is 3, the mean is about 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when we brainstormed story angles we wrote three questions, and when we explored our data we looked at the columns that might answer them. Ask one or two students to read out a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features to remember: specific, measurable,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hold up fingers 1, 2 or 3 for which feature is missing in each question on the next slide, before revealing the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last two columns and let students decide first. Point out that the yes questions name real columns.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from the page: do publishers that release lots of games get better reviews than publishers with only one game? Ask which columns each question would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3 minutes, then share a few. Check each against specific, measurable and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define the words in our example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how they'd measure each phrase with our 13 columns before showing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Comparing with every other game is a limitation: some not-Indie games come from small studios too, and we'll mention it in our story. Hollow Knight has 403,641 positive and 12,305 negative reviews, so its review score is about 97%. On Steam, developers choose their game's genres.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marimo with marimo edit clean_steam.py and press Ctrl+Shift+R (Cmd+Shift+R on a Mac) to run earlier cells. PRIMM modify: change Indie to another genre, such as Strategy or Simulation. How many games have that genre?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trick comes up again. Ask: what would we get if every game were Indie? (10,250.)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an overview of every column, then a closer look at one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PRIMM: predict, run, investigate.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Scroll across to show Price, Metacritic score and Release date, which we discuss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to the terms: mean, median and standard deviation. The 50% row is the median: the middle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1: the median gives a fairer picture of a typical game. Points 2 and 3 are jobs for when we fix our data. Ask: why would alphabetical order give the wrong oldest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Price has no currency symbol, so we had to check where it came from. A median of US$4.19 is more in Australian dollars.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PRIMM modify: change Metacritic score to Achievements and run it again. Is 0 a real value for achievements, or does it mean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about seven in ten of our games have no Metacritic score at all. That's fine for our example question, because we're using player reviews, not Metacritic. But a question that uses Metacritic score only has about three in ten of the games to work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to the Series term. Ask: which other cell today used square brackets? (The Indie count, with games["Genres"].)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common 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apply one of these to a question from their own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with the original hook. Ask which columns each part uses: Genres, Positive and Negative for review score, Price for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Cold-call or use mini whiteboards.
Answers:
1. Specific, measurable and open.
2. Our data doesn't say how big a studio is. That's a limitation we'll mention in our story.
3. A few expensive games pull the mean up, so the median gives a fairer picture of a typical game.
4. Half of these popular games scoring 0 is very unlikely. 7,317 games have 0, which really means no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work through all three questions from their story angles. Task 2 follows what we did for Indie and review as well. The final question goes on its own line so it's easy to find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4E342E"/>
        </a:solidFill>
      </p:bgPr>
    </p:bg>
    <p:spTree>
      <p:nvGrpSpPr>
        <p:cNvPr id="1" name=""/>
        <p:cNvGrpSpPr/>
        <p:nvPr/>
      </p:nvGrpSpPr>
      <p:grpSpPr>
        <a:xfrm>
          <a:off x="0" y="0"/>
          <a:ext cx="0" cy="0"/>
          <a:chOff x="0" y="0"/>
          <a:chExt cx="0" cy="0"/>
        </a:xfrm>
      </p:grpSpPr>
      <p:pic>
        <p:nvPicPr>
          <p:cNvPr id="2" name="Image 0" descr="/home/claude/steam-data-stories/docs/assets/logo.png">    </p:cNvPr>
          <p:cNvPicPr>
            <a:picLocks noChangeAspect="1"/>
          </p:cNvPicPr>
          <p:nvPr/>
        </p:nvPicPr>
        <p:blipFill>
          <a:blip r:embed="rId1"/>
          <a:stretch>
            <a:fillRect/>
          </a:stretch>
        </p:blipFill>
        <p:spPr>
          <a:xfrm>
            <a:off x="5989320" y="914400"/>
            <a:ext cx="2743200" cy="27432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4E342E"/>
        </a:solidFill>
      </p:bgPr>
    </p:bg>
    <p:spTree>
      <p:nvGrpSpPr>
        <p:cNvPr id="1" name=""/>
        <p:cNvGrpSpPr/>
        <p:nvPr/>
      </p:nvGrpSpPr>
      <p:grpSpPr>
        <a:xfrm>
          <a:off x="0" y="0"/>
          <a:ext cx="0" cy="0"/>
          <a:chOff x="0" y="0"/>
          <a:chExt cx="0" cy="0"/>
        </a:xfrm>
      </p:grpSpPr>
      <p:pic>
        <p:nvPicPr>
          <p:cNvPr id="2" name="Image 0" descr="/home/claude/steam-data-stories/docs/assets/logo.png">    </p:cNvPr>
          <p:cNvPicPr>
            <a:picLocks noChangeAspect="1"/>
          </p:cNvPicPr>
          <p:nvPr/>
        </p:nvPicPr>
        <p:blipFill>
          <a:blip r:embed="rId1"/>
          <a:stretch>
            <a:fillRect/>
          </a:stretch>
        </p:blipFill>
        <p:spPr>
          <a:xfrm>
            <a:off x="8001000" y="4069080"/>
            <a:ext cx="777240" cy="777240"/>
          </a:xfrm>
          <a:prstGeom prst="rect">
            <a:avLst/>
          </a:prstGeom>
        </p:spPr>
      </p:pic>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home/claude/steam-data-stories/docs/assets/logo.png">    </p:cNvPr>
          <p:cNvPicPr>
            <a:picLocks noChangeAspect="1"/>
          </p:cNvPicPr>
          <p:nvPr/>
        </p:nvPicPr>
        <p:blipFill>
          <a:blip r:embed="rId1"/>
          <a:stretch>
            <a:fillRect/>
          </a:stretch>
        </p:blipFill>
        <p:spPr>
          <a:xfrm>
            <a:off x="8503920" y="4572000"/>
            <a:ext cx="411480" cy="411480"/>
          </a:xfrm>
          <a:prstGeom prst="rect">
            <a:avLst/>
          </a:prstGeom>
        </p:spPr>
      </p:pic>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914400"/>
            <a:ext cx="530352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HOOK</a:t>
            </a:r>
            <a:endParaRPr lang="en-US" sz="1400" dirty="0"/>
          </a:p>
        </p:txBody>
      </p:sp>
      <p:sp>
        <p:nvSpPr>
          <p:cNvPr id="3" name="Text 1"/>
          <p:cNvSpPr txBox="1"/>
          <p:nvPr/>
        </p:nvSpPr>
        <p:spPr>
          <a:xfrm>
            <a:off x="457200" y="1325880"/>
            <a:ext cx="5303520" cy="457200"/>
          </a:xfrm>
          <a:prstGeom prst="rect">
            <a:avLst/>
          </a:prstGeom>
          <a:noFill/>
          <a:ln/>
        </p:spPr>
        <p:txBody>
          <a:bodyPr wrap="square" lIns="0" tIns="0" rIns="0" bIns="0" rtlCol="0" anchor="ctr"/>
          <a:lstStyle/>
          <a:p>
            <a:pPr indent="0" marL="0">
              <a:buNone/>
            </a:pPr>
            <a:r>
              <a:rPr lang="en-US" sz="2000" dirty="0">
                <a:solidFill>
                  <a:srgbClr val="F7EFE6"/>
                </a:solidFill>
              </a:rPr>
              <a:t>Lesson 3</a:t>
            </a:r>
            <a:endParaRPr lang="en-US" sz="2000" dirty="0"/>
          </a:p>
        </p:txBody>
      </p:sp>
      <p:sp>
        <p:nvSpPr>
          <p:cNvPr id="4" name="Text 2"/>
          <p:cNvSpPr txBox="1"/>
          <p:nvPr/>
        </p:nvSpPr>
        <p:spPr>
          <a:xfrm>
            <a:off x="457200" y="1783080"/>
            <a:ext cx="5303520" cy="1463040"/>
          </a:xfrm>
          <a:prstGeom prst="rect">
            <a:avLst/>
          </a:prstGeom>
          <a:noFill/>
          <a:ln/>
        </p:spPr>
        <p:txBody>
          <a:bodyPr wrap="square" lIns="0" tIns="0" rIns="0" bIns="0" rtlCol="0" anchor="t">
            <a:normAutofit/>
          </a:bodyPr>
          <a:lstStyle/>
          <a:p>
            <a:pPr indent="0" marL="0">
              <a:buNone/>
            </a:pPr>
            <a:r>
              <a:rPr lang="en-US" sz="4000" b="1" dirty="0">
                <a:solidFill>
                  <a:srgbClr val="FFFFFF"/>
                </a:solidFill>
              </a:rPr>
              <a:t>Asking a Question Data Can Answer</a:t>
            </a:r>
            <a:endParaRPr lang="en-US" sz="4000" dirty="0"/>
          </a:p>
        </p:txBody>
      </p:sp>
      <p:sp>
        <p:nvSpPr>
          <p:cNvPr id="5" name="Text 3"/>
          <p:cNvSpPr txBox="1"/>
          <p:nvPr/>
        </p:nvSpPr>
        <p:spPr>
          <a:xfrm>
            <a:off x="457200" y="4206240"/>
            <a:ext cx="5303520" cy="365760"/>
          </a:xfrm>
          <a:prstGeom prst="rect">
            <a:avLst/>
          </a:prstGeom>
          <a:noFill/>
          <a:ln/>
        </p:spPr>
        <p:txBody>
          <a:bodyPr wrap="square" lIns="0" tIns="0" rIns="0" bIns="0" rtlCol="0" anchor="ctr"/>
          <a:lstStyle/>
          <a:p>
            <a:pPr indent="0" marL="0">
              <a:buNone/>
            </a:pPr>
            <a:r>
              <a:rPr lang="en-US" sz="1400" dirty="0">
                <a:solidFill>
                  <a:srgbClr val="F7EFE6"/>
                </a:solidFill>
              </a:rPr>
              <a:t>Steam Data Stories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In this lesson we will learn</a:t>
            </a:r>
            <a:endParaRPr lang="en-US" sz="2800" dirty="0"/>
          </a:p>
        </p:txBody>
      </p:sp>
      <p:sp>
        <p:nvSpPr>
          <p:cNvPr id="3" name="learn box"/>
          <p:cNvSpPr/>
          <p:nvPr/>
        </p:nvSpPr>
        <p:spPr>
          <a:xfrm>
            <a:off x="457200" y="1097280"/>
            <a:ext cx="8229600" cy="3307080"/>
          </a:xfrm>
          <a:prstGeom prst="roundRect">
            <a:avLst>
              <a:gd name="adj" fmla="val 2212"/>
            </a:avLst>
          </a:prstGeom>
          <a:solidFill>
            <a:srgbClr val="FFF4DC"/>
          </a:solidFill>
          <a:ln w="12700">
            <a:solidFill>
              <a:srgbClr val="FFF4DC"/>
            </a:solidFill>
            <a:prstDash val="solid"/>
          </a:ln>
        </p:spPr>
      </p:sp>
      <p:sp>
        <p:nvSpPr>
          <p:cNvPr id="4" name="Text 2"/>
          <p:cNvSpPr txBox="1"/>
          <p:nvPr/>
        </p:nvSpPr>
        <p:spPr>
          <a:xfrm>
            <a:off x="685800" y="1234440"/>
            <a:ext cx="7772400" cy="365760"/>
          </a:xfrm>
          <a:prstGeom prst="rect">
            <a:avLst/>
          </a:prstGeom>
          <a:noFill/>
          <a:ln/>
        </p:spPr>
        <p:txBody>
          <a:bodyPr wrap="square" lIns="0" tIns="0" rIns="0" bIns="0" rtlCol="0" anchor="ctr"/>
          <a:lstStyle/>
          <a:p>
            <a:pPr indent="0" marL="0">
              <a:buNone/>
            </a:pPr>
            <a:r>
              <a:rPr lang="en-US" sz="1600" b="1" dirty="0">
                <a:solidFill>
                  <a:srgbClr val="8A5A00"/>
                </a:solidFill>
              </a:rPr>
              <a:t>Learning intentions</a:t>
            </a:r>
            <a:endParaRPr lang="en-US" sz="1600" dirty="0"/>
          </a:p>
        </p:txBody>
      </p:sp>
      <p:sp>
        <p:nvSpPr>
          <p:cNvPr id="5" name="Text 3"/>
          <p:cNvSpPr txBox="1"/>
          <p:nvPr/>
        </p:nvSpPr>
        <p:spPr>
          <a:xfrm>
            <a:off x="685800" y="1645920"/>
            <a:ext cx="7772400" cy="2621280"/>
          </a:xfrm>
          <a:prstGeom prst="rect">
            <a:avLst/>
          </a:prstGeom>
          <a:noFill/>
          <a:ln/>
        </p:spPr>
        <p:txBody>
          <a:bodyPr wrap="square" lIns="0" tIns="0" rIns="0" bIns="0" rtlCol="0" anchor="t">
            <a:normAutofit/>
          </a:bodyPr>
          <a:lstStyle/>
          <a:p>
            <a:pPr marL="342900" indent="-342900">
              <a:spcAft>
                <a:spcPts val="1200"/>
              </a:spcAft>
              <a:buSzPct val="100000"/>
              <a:buChar char="•"/>
            </a:pPr>
            <a:r>
              <a:rPr lang="en-US" sz="2000" dirty="0">
                <a:solidFill>
                  <a:srgbClr val="2B1D19"/>
                </a:solidFill>
              </a:rPr>
              <a:t>​</a:t>
            </a:r>
            <a:r>
              <a:rPr lang="en-US" sz="2000" dirty="0">
                <a:solidFill>
                  <a:srgbClr val="2B1D19"/>
                </a:solidFill>
              </a:rPr>
              <a:t>what makes a question investigable</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how to define the words in our question</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how to use </a:t>
            </a:r>
            <a:r>
              <a:rPr lang="en-US" sz="1800" b="1" dirty="0">
                <a:solidFill>
                  <a:srgbClr val="B86E1E"/>
                </a:solidFill>
                <a:latin typeface="Courier New" pitchFamily="34" charset="0"/>
                <a:ea typeface="Courier New" pitchFamily="34" charset="-122"/>
                <a:cs typeface="Courier New" pitchFamily="34" charset="-120"/>
              </a:rPr>
              <a:t>describe</a:t>
            </a:r>
            <a:r>
              <a:rPr lang="en-US" sz="2000" dirty="0">
                <a:solidFill>
                  <a:srgbClr val="2B1D19"/>
                </a:solidFill>
              </a:rPr>
              <a:t> and </a:t>
            </a:r>
            <a:r>
              <a:rPr lang="en-US" sz="1800" b="1" dirty="0">
                <a:solidFill>
                  <a:srgbClr val="B86E1E"/>
                </a:solidFill>
                <a:latin typeface="Courier New" pitchFamily="34" charset="0"/>
                <a:ea typeface="Courier New" pitchFamily="34" charset="-122"/>
                <a:cs typeface="Courier New" pitchFamily="34" charset="-120"/>
              </a:rPr>
              <a:t>value_counts</a:t>
            </a:r>
            <a:r>
              <a:rPr lang="en-US" sz="2000" dirty="0">
                <a:solidFill>
                  <a:srgbClr val="2B1D19"/>
                </a:solidFill>
              </a:rPr>
              <a:t> to check a question against the data</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how to refine a question that's too broad or can't be answered</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Terminology</a:t>
            </a:r>
            <a:endParaRPr lang="en-US" sz="2800" dirty="0"/>
          </a:p>
        </p:txBody>
      </p:sp>
      <p:sp>
        <p:nvSpPr>
          <p:cNvPr id="3" name="terms box"/>
          <p:cNvSpPr/>
          <p:nvPr/>
        </p:nvSpPr>
        <p:spPr>
          <a:xfrm>
            <a:off x="457200" y="1097280"/>
            <a:ext cx="8229600" cy="3429000"/>
          </a:xfrm>
          <a:prstGeom prst="roundRect">
            <a:avLst>
              <a:gd name="adj" fmla="val 2133"/>
            </a:avLst>
          </a:prstGeom>
          <a:solidFill>
            <a:srgbClr val="EEEEEE"/>
          </a:solidFill>
          <a:ln w="12700">
            <a:solidFill>
              <a:srgbClr val="EEEEEE"/>
            </a:solidFill>
            <a:prstDash val="solid"/>
          </a:ln>
        </p:spPr>
      </p:sp>
      <p:sp>
        <p:nvSpPr>
          <p:cNvPr id="4" name="Text 2"/>
          <p:cNvSpPr txBox="1"/>
          <p:nvPr/>
        </p:nvSpPr>
        <p:spPr>
          <a:xfrm>
            <a:off x="685800" y="1234440"/>
            <a:ext cx="7772400" cy="365760"/>
          </a:xfrm>
          <a:prstGeom prst="rect">
            <a:avLst/>
          </a:prstGeom>
          <a:noFill/>
          <a:ln/>
        </p:spPr>
        <p:txBody>
          <a:bodyPr wrap="square" lIns="0" tIns="0" rIns="0" bIns="0" rtlCol="0" anchor="ctr"/>
          <a:lstStyle/>
          <a:p>
            <a:pPr indent="0" marL="0">
              <a:buNone/>
            </a:pPr>
            <a:r>
              <a:rPr lang="en-US" sz="1600" b="1" dirty="0">
                <a:solidFill>
                  <a:srgbClr val="424242"/>
                </a:solidFill>
              </a:rPr>
              <a:t>New terms</a:t>
            </a:r>
            <a:endParaRPr lang="en-US" sz="1600" dirty="0"/>
          </a:p>
        </p:txBody>
      </p:sp>
      <p:sp>
        <p:nvSpPr>
          <p:cNvPr id="5" name="Text 3"/>
          <p:cNvSpPr txBox="1"/>
          <p:nvPr/>
        </p:nvSpPr>
        <p:spPr>
          <a:xfrm>
            <a:off x="685800" y="1645920"/>
            <a:ext cx="7772400" cy="2743200"/>
          </a:xfrm>
          <a:prstGeom prst="rect">
            <a:avLst/>
          </a:prstGeom>
          <a:noFill/>
          <a:ln/>
        </p:spPr>
        <p:txBody>
          <a:bodyPr wrap="square" lIns="0" tIns="0" rIns="0" bIns="0" rtlCol="0" anchor="t">
            <a:normAutofit/>
          </a:bodyPr>
          <a:lstStyle/>
          <a:p>
            <a:pPr marL="342900" indent="-342900">
              <a:spcAft>
                <a:spcPts val="1200"/>
              </a:spcAft>
              <a:buSzPct val="100000"/>
              <a:buChar char="•"/>
            </a:pPr>
            <a:r>
              <a:rPr lang="en-US" sz="2000" dirty="0">
                <a:solidFill>
                  <a:srgbClr val="2B1D19"/>
                </a:solidFill>
              </a:rPr>
              <a:t>​</a:t>
            </a:r>
            <a:r>
              <a:rPr lang="en-US" sz="2000" b="1" dirty="0">
                <a:solidFill>
                  <a:srgbClr val="2B1D19"/>
                </a:solidFill>
              </a:rPr>
              <a:t>investigable question</a:t>
            </a:r>
            <a:r>
              <a:rPr lang="en-US" sz="2000" dirty="0">
                <a:solidFill>
                  <a:srgbClr val="2B1D19"/>
                </a:solidFill>
              </a:rPr>
              <a:t> – a question we can answer by collecting and analysing data, because it's specific, measurable and open.</a:t>
            </a:r>
            <a:endParaRPr lang="en-US" sz="2000" dirty="0"/>
          </a:p>
          <a:p>
            <a:pPr marL="342900" indent="-342900">
              <a:spcAft>
                <a:spcPts val="1200"/>
              </a:spcAft>
              <a:buSzPct val="100000"/>
              <a:buChar char="•"/>
            </a:pPr>
            <a:r>
              <a:rPr lang="en-US" sz="2000" dirty="0">
                <a:solidFill>
                  <a:srgbClr val="2B1D19"/>
                </a:solidFill>
              </a:rPr>
              <a:t>​</a:t>
            </a:r>
            <a:r>
              <a:rPr lang="en-US" sz="2000" b="1" dirty="0">
                <a:solidFill>
                  <a:srgbClr val="2B1D19"/>
                </a:solidFill>
              </a:rPr>
              <a:t>limitation</a:t>
            </a:r>
            <a:r>
              <a:rPr lang="en-US" sz="2000" dirty="0">
                <a:solidFill>
                  <a:srgbClr val="2B1D19"/>
                </a:solidFill>
              </a:rPr>
              <a:t> – something our data or our decisions can't tell us, which we should mention when we tell our story.</a:t>
            </a:r>
            <a:endParaRPr lang="en-US" sz="2000" dirty="0"/>
          </a:p>
          <a:p>
            <a:pPr marL="342900" indent="-342900">
              <a:spcAft>
                <a:spcPts val="1200"/>
              </a:spcAft>
              <a:buSzPct val="100000"/>
              <a:buChar char="•"/>
            </a:pPr>
            <a:r>
              <a:rPr lang="en-US" sz="2000" dirty="0">
                <a:solidFill>
                  <a:srgbClr val="2B1D19"/>
                </a:solidFill>
              </a:rPr>
              <a:t>​</a:t>
            </a:r>
            <a:r>
              <a:rPr lang="en-US" sz="2000" b="1" dirty="0">
                <a:solidFill>
                  <a:srgbClr val="2B1D19"/>
                </a:solidFill>
              </a:rPr>
              <a:t>review score</a:t>
            </a:r>
            <a:r>
              <a:rPr lang="en-US" sz="2000" dirty="0">
                <a:solidFill>
                  <a:srgbClr val="2B1D19"/>
                </a:solidFill>
              </a:rPr>
              <a:t> – the percentage of a game's reviews that are positive.</a:t>
            </a:r>
            <a:endParaRPr lang="en-US" sz="2000" dirty="0"/>
          </a:p>
          <a:p>
            <a:pPr marL="342900" indent="-342900">
              <a:spcAft>
                <a:spcPts val="1200"/>
              </a:spcAft>
              <a:buSzPct val="100000"/>
              <a:buChar char="•"/>
            </a:pPr>
            <a:r>
              <a:rPr lang="en-US" sz="2000" dirty="0">
                <a:solidFill>
                  <a:srgbClr val="2B1D19"/>
                </a:solidFill>
              </a:rPr>
              <a:t>​</a:t>
            </a:r>
            <a:r>
              <a:rPr lang="en-US" sz="2000" b="1" dirty="0">
                <a:solidFill>
                  <a:srgbClr val="2B1D19"/>
                </a:solidFill>
              </a:rPr>
              <a:t>refine</a:t>
            </a:r>
            <a:r>
              <a:rPr lang="en-US" sz="2000" dirty="0">
                <a:solidFill>
                  <a:srgbClr val="2B1D19"/>
                </a:solidFill>
              </a:rPr>
              <a:t> – to change a question so the data can answer it, for example by narrowing it down or defining its words.</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Terminology</a:t>
            </a:r>
            <a:endParaRPr lang="en-US" sz="2800" dirty="0"/>
          </a:p>
        </p:txBody>
      </p:sp>
      <p:sp>
        <p:nvSpPr>
          <p:cNvPr id="3" name="terms box"/>
          <p:cNvSpPr/>
          <p:nvPr/>
        </p:nvSpPr>
        <p:spPr>
          <a:xfrm>
            <a:off x="457200" y="1097280"/>
            <a:ext cx="8229600" cy="3429000"/>
          </a:xfrm>
          <a:prstGeom prst="roundRect">
            <a:avLst>
              <a:gd name="adj" fmla="val 2133"/>
            </a:avLst>
          </a:prstGeom>
          <a:solidFill>
            <a:srgbClr val="EEEEEE"/>
          </a:solidFill>
          <a:ln w="12700">
            <a:solidFill>
              <a:srgbClr val="EEEEEE"/>
            </a:solidFill>
            <a:prstDash val="solid"/>
          </a:ln>
        </p:spPr>
      </p:sp>
      <p:sp>
        <p:nvSpPr>
          <p:cNvPr id="4" name="Text 2"/>
          <p:cNvSpPr txBox="1"/>
          <p:nvPr/>
        </p:nvSpPr>
        <p:spPr>
          <a:xfrm>
            <a:off x="685800" y="1234440"/>
            <a:ext cx="7772400" cy="365760"/>
          </a:xfrm>
          <a:prstGeom prst="rect">
            <a:avLst/>
          </a:prstGeom>
          <a:noFill/>
          <a:ln/>
        </p:spPr>
        <p:txBody>
          <a:bodyPr wrap="square" lIns="0" tIns="0" rIns="0" bIns="0" rtlCol="0" anchor="ctr"/>
          <a:lstStyle/>
          <a:p>
            <a:pPr indent="0" marL="0">
              <a:buNone/>
            </a:pPr>
            <a:r>
              <a:rPr lang="en-US" sz="1600" b="1" dirty="0">
                <a:solidFill>
                  <a:srgbClr val="424242"/>
                </a:solidFill>
              </a:rPr>
              <a:t>New terms</a:t>
            </a:r>
            <a:endParaRPr lang="en-US" sz="1600" dirty="0"/>
          </a:p>
        </p:txBody>
      </p:sp>
      <p:sp>
        <p:nvSpPr>
          <p:cNvPr id="5" name="Text 3"/>
          <p:cNvSpPr txBox="1"/>
          <p:nvPr/>
        </p:nvSpPr>
        <p:spPr>
          <a:xfrm>
            <a:off x="685800" y="1645920"/>
            <a:ext cx="7772400" cy="2743200"/>
          </a:xfrm>
          <a:prstGeom prst="rect">
            <a:avLst/>
          </a:prstGeom>
          <a:noFill/>
          <a:ln/>
        </p:spPr>
        <p:txBody>
          <a:bodyPr wrap="square" lIns="0" tIns="0" rIns="0" bIns="0" rtlCol="0" anchor="t">
            <a:normAutofit/>
          </a:bodyPr>
          <a:lstStyle/>
          <a:p>
            <a:pPr marL="342900" indent="-342900">
              <a:spcAft>
                <a:spcPts val="1200"/>
              </a:spcAft>
              <a:buSzPct val="100000"/>
              <a:buChar char="•"/>
            </a:pPr>
            <a:r>
              <a:rPr lang="en-US" sz="2000" dirty="0">
                <a:solidFill>
                  <a:srgbClr val="2B1D19"/>
                </a:solidFill>
              </a:rPr>
              <a:t>​</a:t>
            </a:r>
            <a:r>
              <a:rPr lang="en-US" sz="2000" b="1" dirty="0">
                <a:solidFill>
                  <a:srgbClr val="2B1D19"/>
                </a:solidFill>
              </a:rPr>
              <a:t>summary statistics</a:t>
            </a:r>
            <a:r>
              <a:rPr lang="en-US" sz="2000" dirty="0">
                <a:solidFill>
                  <a:srgbClr val="2B1D19"/>
                </a:solidFill>
              </a:rPr>
              <a:t> – numbers that describe a whole column at once, such as its mean, median, smallest and largest values.</a:t>
            </a:r>
            <a:endParaRPr lang="en-US" sz="2000" dirty="0"/>
          </a:p>
          <a:p>
            <a:pPr marL="342900" indent="-342900">
              <a:spcAft>
                <a:spcPts val="1200"/>
              </a:spcAft>
              <a:buSzPct val="100000"/>
              <a:buChar char="•"/>
            </a:pPr>
            <a:r>
              <a:rPr lang="en-US" sz="2000" dirty="0">
                <a:solidFill>
                  <a:srgbClr val="2B1D19"/>
                </a:solidFill>
              </a:rPr>
              <a:t>​</a:t>
            </a:r>
            <a:r>
              <a:rPr lang="en-US" sz="2000" b="1" dirty="0">
                <a:solidFill>
                  <a:srgbClr val="2B1D19"/>
                </a:solidFill>
              </a:rPr>
              <a:t>mean</a:t>
            </a:r>
            <a:r>
              <a:rPr lang="en-US" sz="2000" dirty="0">
                <a:solidFill>
                  <a:srgbClr val="2B1D19"/>
                </a:solidFill>
              </a:rPr>
              <a:t> – the average: the total of all the values divided by how many values there are.</a:t>
            </a:r>
            <a:endParaRPr lang="en-US" sz="2000" dirty="0"/>
          </a:p>
          <a:p>
            <a:pPr marL="342900" indent="-342900">
              <a:spcAft>
                <a:spcPts val="1200"/>
              </a:spcAft>
              <a:buSzPct val="100000"/>
              <a:buChar char="•"/>
            </a:pPr>
            <a:r>
              <a:rPr lang="en-US" sz="2000" dirty="0">
                <a:solidFill>
                  <a:srgbClr val="2B1D19"/>
                </a:solidFill>
              </a:rPr>
              <a:t>​</a:t>
            </a:r>
            <a:r>
              <a:rPr lang="en-US" sz="2000" b="1" dirty="0">
                <a:solidFill>
                  <a:srgbClr val="2B1D19"/>
                </a:solidFill>
              </a:rPr>
              <a:t>median</a:t>
            </a:r>
            <a:r>
              <a:rPr lang="en-US" sz="2000" dirty="0">
                <a:solidFill>
                  <a:srgbClr val="2B1D19"/>
                </a:solidFill>
              </a:rPr>
              <a:t> – the middle value when all the values are sorted in order.</a:t>
            </a:r>
            <a:endParaRPr lang="en-US" sz="2000" dirty="0"/>
          </a:p>
          <a:p>
            <a:pPr marL="342900" indent="-342900">
              <a:spcAft>
                <a:spcPts val="1200"/>
              </a:spcAft>
              <a:buSzPct val="100000"/>
              <a:buChar char="•"/>
            </a:pPr>
            <a:r>
              <a:rPr lang="en-US" sz="2000" dirty="0">
                <a:solidFill>
                  <a:srgbClr val="2B1D19"/>
                </a:solidFill>
              </a:rPr>
              <a:t>​</a:t>
            </a:r>
            <a:r>
              <a:rPr lang="en-US" sz="2000" b="1" dirty="0">
                <a:solidFill>
                  <a:srgbClr val="2B1D19"/>
                </a:solidFill>
              </a:rPr>
              <a:t>standard deviation</a:t>
            </a:r>
            <a:r>
              <a:rPr lang="en-US" sz="2000" dirty="0">
                <a:solidFill>
                  <a:srgbClr val="2B1D19"/>
                </a:solidFill>
              </a:rPr>
              <a:t> – a number that shows how spread out the values are from the mean.</a:t>
            </a:r>
            <a:endParaRPr lang="en-US" sz="2000" dirty="0"/>
          </a:p>
          <a:p>
            <a:pPr marL="342900" indent="-342900">
              <a:spcAft>
                <a:spcPts val="1200"/>
              </a:spcAft>
              <a:buSzPct val="100000"/>
              <a:buChar char="•"/>
            </a:pPr>
            <a:r>
              <a:rPr lang="en-US" sz="2000" dirty="0">
                <a:solidFill>
                  <a:srgbClr val="2B1D19"/>
                </a:solidFill>
              </a:rPr>
              <a:t>​</a:t>
            </a:r>
            <a:r>
              <a:rPr lang="en-US" sz="2000" b="1" dirty="0">
                <a:solidFill>
                  <a:srgbClr val="2B1D19"/>
                </a:solidFill>
              </a:rPr>
              <a:t>Series</a:t>
            </a:r>
            <a:r>
              <a:rPr lang="en-US" sz="2000" dirty="0">
                <a:solidFill>
                  <a:srgbClr val="2B1D19"/>
                </a:solidFill>
              </a:rPr>
              <a:t> – a single column of a DataFrame.</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914400"/>
            <a:ext cx="777240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REMEMBER</a:t>
            </a:r>
            <a:endParaRPr lang="en-US" sz="1400" dirty="0"/>
          </a:p>
        </p:txBody>
      </p:sp>
      <p:sp>
        <p:nvSpPr>
          <p:cNvPr id="3" name="Text 1"/>
          <p:cNvSpPr txBox="1"/>
          <p:nvPr/>
        </p:nvSpPr>
        <p:spPr>
          <a:xfrm>
            <a:off x="457200" y="1325880"/>
            <a:ext cx="7863840" cy="1828800"/>
          </a:xfrm>
          <a:prstGeom prst="rect">
            <a:avLst/>
          </a:prstGeom>
          <a:noFill/>
          <a:ln/>
        </p:spPr>
        <p:txBody>
          <a:bodyPr wrap="square" lIns="0" tIns="0" rIns="0" bIns="0" rtlCol="0" anchor="t">
            <a:normAutofit/>
          </a:bodyPr>
          <a:lstStyle/>
          <a:p>
            <a:pPr indent="0" marL="0">
              <a:spcAft>
                <a:spcPts val="800"/>
              </a:spcAft>
              <a:buNone/>
            </a:pPr>
            <a:r>
              <a:rPr lang="en-US" sz="3000" b="1" dirty="0">
                <a:solidFill>
                  <a:srgbClr val="FFFFFF"/>
                </a:solidFill>
              </a:rPr>
              <a:t>​</a:t>
            </a:r>
            <a:r>
              <a:rPr lang="en-US" sz="3000" b="1" dirty="0">
                <a:solidFill>
                  <a:srgbClr val="FFFFFF"/>
                </a:solidFill>
              </a:rPr>
              <a:t>We wrote three questions. Can our data actually answer them?</a:t>
            </a:r>
            <a:endParaRPr lang="en-US" sz="3000" dirty="0"/>
          </a:p>
        </p:txBody>
      </p:sp>
      <p:sp>
        <p:nvSpPr>
          <p:cNvPr id="4" name="Text 2"/>
          <p:cNvSpPr txBox="1"/>
          <p:nvPr/>
        </p:nvSpPr>
        <p:spPr>
          <a:xfrm>
            <a:off x="457200" y="3246120"/>
            <a:ext cx="7315200" cy="914400"/>
          </a:xfrm>
          <a:prstGeom prst="rect">
            <a:avLst/>
          </a:prstGeom>
          <a:noFill/>
          <a:ln/>
        </p:spPr>
        <p:txBody>
          <a:bodyPr wrap="square" lIns="0" tIns="0" rIns="0" bIns="0" rtlCol="0" anchor="t"/>
          <a:lstStyle/>
          <a:p>
            <a:pPr indent="0" marL="0">
              <a:spcAft>
                <a:spcPts val="800"/>
              </a:spcAft>
              <a:buNone/>
            </a:pPr>
            <a:r>
              <a:rPr lang="en-US" sz="1600" dirty="0">
                <a:solidFill>
                  <a:srgbClr val="F7EFE6"/>
                </a:solidFill>
              </a:rPr>
              <a:t>​</a:t>
            </a:r>
            <a:r>
              <a:rPr lang="en-US" sz="1600" dirty="0">
                <a:solidFill>
                  <a:srgbClr val="F7EFE6"/>
                </a:solidFill>
              </a:rPr>
              <a:t>A great question the data can't answer leads to a story with no evidence, and a story with no evidence isn't a data story.</a:t>
            </a:r>
            <a:endParaRPr lang="en-US" sz="16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Investigable questions</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An </a:t>
            </a:r>
            <a:r>
              <a:rPr lang="en-US" sz="1800" b="1" dirty="0">
                <a:solidFill>
                  <a:srgbClr val="F7EFE6"/>
                </a:solidFill>
              </a:rPr>
              <a:t>investigable question</a:t>
            </a:r>
            <a:r>
              <a:rPr lang="en-US" sz="1800" dirty="0">
                <a:solidFill>
                  <a:srgbClr val="F7EFE6"/>
                </a:solidFill>
              </a:rPr>
              <a:t> is one we can answer by collecting and analysing data.</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Good investigable questions are</a:t>
            </a:r>
            <a:endParaRPr lang="en-US" sz="2800" dirty="0"/>
          </a:p>
        </p:txBody>
      </p:sp>
      <p:sp>
        <p:nvSpPr>
          <p:cNvPr id="3" name="Text 1"/>
          <p:cNvSpPr txBox="1"/>
          <p:nvPr/>
        </p:nvSpPr>
        <p:spPr>
          <a:xfrm>
            <a:off x="457200" y="1097280"/>
            <a:ext cx="8229600" cy="3383280"/>
          </a:xfrm>
          <a:prstGeom prst="rect">
            <a:avLst/>
          </a:prstGeom>
          <a:noFill/>
          <a:ln/>
        </p:spPr>
        <p:txBody>
          <a:bodyPr wrap="square" lIns="0" tIns="0" rIns="0" bIns="0" rtlCol="0" anchor="t">
            <a:normAutofit/>
          </a:bodyPr>
          <a:lstStyle/>
          <a:p>
            <a:pPr marL="342900" indent="-342900">
              <a:spcAft>
                <a:spcPts val="800"/>
              </a:spcAft>
              <a:buSzPct val="100000"/>
              <a:buChar char="•"/>
            </a:pPr>
            <a:r>
              <a:rPr lang="en-US" sz="2200" dirty="0">
                <a:solidFill>
                  <a:srgbClr val="2B1D19"/>
                </a:solidFill>
              </a:rPr>
              <a:t>​</a:t>
            </a:r>
            <a:r>
              <a:rPr lang="en-US" sz="2200" b="1" dirty="0">
                <a:solidFill>
                  <a:srgbClr val="2B1D19"/>
                </a:solidFill>
              </a:rPr>
              <a:t>specific:</a:t>
            </a:r>
            <a:r>
              <a:rPr lang="en-US" sz="2200" dirty="0">
                <a:solidFill>
                  <a:srgbClr val="2B1D19"/>
                </a:solidFill>
              </a:rPr>
              <a:t> it's clear exactly what we're looking at</a:t>
            </a:r>
            <a:endParaRPr lang="en-US" sz="2200" dirty="0"/>
          </a:p>
          <a:p>
            <a:pPr marL="342900" indent="-342900">
              <a:spcAft>
                <a:spcPts val="800"/>
              </a:spcAft>
              <a:buSzPct val="100000"/>
              <a:buChar char="•"/>
            </a:pPr>
            <a:r>
              <a:rPr lang="en-US" sz="2200" dirty="0">
                <a:solidFill>
                  <a:srgbClr val="2B1D19"/>
                </a:solidFill>
              </a:rPr>
              <a:t>​</a:t>
            </a:r>
            <a:r>
              <a:rPr lang="en-US" sz="2200" b="1" dirty="0">
                <a:solidFill>
                  <a:srgbClr val="2B1D19"/>
                </a:solidFill>
              </a:rPr>
              <a:t>measurable:</a:t>
            </a:r>
            <a:r>
              <a:rPr lang="en-US" sz="2200" dirty="0">
                <a:solidFill>
                  <a:srgbClr val="2B1D19"/>
                </a:solidFill>
              </a:rPr>
              <a:t> the answer comes from columns we actually have</a:t>
            </a:r>
            <a:endParaRPr lang="en-US" sz="2200" dirty="0"/>
          </a:p>
          <a:p>
            <a:pPr marL="342900" indent="-342900">
              <a:spcAft>
                <a:spcPts val="800"/>
              </a:spcAft>
              <a:buSzPct val="100000"/>
              <a:buChar char="•"/>
            </a:pPr>
            <a:r>
              <a:rPr lang="en-US" sz="2200" dirty="0">
                <a:solidFill>
                  <a:srgbClr val="2B1D19"/>
                </a:solidFill>
              </a:rPr>
              <a:t>​</a:t>
            </a:r>
            <a:r>
              <a:rPr lang="en-US" sz="2200" b="1" dirty="0">
                <a:solidFill>
                  <a:srgbClr val="2B1D19"/>
                </a:solidFill>
              </a:rPr>
              <a:t>open:</a:t>
            </a:r>
            <a:r>
              <a:rPr lang="en-US" sz="2200" dirty="0">
                <a:solidFill>
                  <a:srgbClr val="2B1D19"/>
                </a:solidFill>
              </a:rPr>
              <a:t> the answer isn't obvious before we look</a:t>
            </a:r>
            <a:endParaRPr lang="en-US" sz="22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Which questions are investigable?</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3657600"/>
                <a:gridCol w="1280160"/>
                <a:gridCol w="3291840"/>
              </a:tblGrid>
              <a:tr h="0">
                <a:tc>
                  <a:txBody>
                    <a:bodyPr/>
                    <a:lstStyle/>
                    <a:p>
                      <a:pPr indent="0" marL="0">
                        <a:buNone/>
                      </a:pPr>
                      <a:r>
                        <a:rPr lang="en-US" sz="1400" b="1" dirty="0">
                          <a:solidFill>
                            <a:srgbClr val="FFFFFF"/>
                          </a:solidFill>
                        </a:rPr>
                        <a:t>Question</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c>
                  <a:txBody>
                    <a:bodyPr/>
                    <a:lstStyle/>
                    <a:p>
                      <a:pPr indent="0" marL="0">
                        <a:buNone/>
                      </a:pPr>
                      <a:r>
                        <a:rPr lang="en-US" sz="1400" b="1" dirty="0">
                          <a:solidFill>
                            <a:srgbClr val="FFFFFF"/>
                          </a:solidFill>
                        </a:rPr>
                        <a:t>Investigable?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c>
                  <a:txBody>
                    <a:bodyPr/>
                    <a:lstStyle/>
                    <a:p>
                      <a:pPr indent="0" marL="0">
                        <a:buNone/>
                      </a:pPr>
                      <a:r>
                        <a:rPr lang="en-US" sz="1400" b="1" dirty="0">
                          <a:solidFill>
                            <a:srgbClr val="FFFFFF"/>
                          </a:solidFill>
                        </a:rPr>
                        <a:t>Why</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r>
              <a:tr h="0">
                <a:tc>
                  <a:txBody>
                    <a:bodyPr/>
                    <a:lstStyle/>
                    <a:p>
                      <a:pPr indent="0" marL="0">
                        <a:buNone/>
                      </a:pPr>
                      <a:r>
                        <a:rPr lang="en-US" sz="1400" dirty="0">
                          <a:solidFill>
                            <a:srgbClr val="2B1D19"/>
                          </a:solidFill>
                        </a:rPr>
                        <a:t>​</a:t>
                      </a:r>
                      <a:r>
                        <a:rPr lang="en-US" sz="1400" dirty="0">
                          <a:solidFill>
                            <a:srgbClr val="2B1D19"/>
                          </a:solidFill>
                        </a:rPr>
                        <a:t>What's the best game on Steam?</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no</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"best" isn't measurable; best for who?</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400" dirty="0">
                          <a:solidFill>
                            <a:srgbClr val="2B1D19"/>
                          </a:solidFill>
                        </a:rPr>
                        <a:t>Are games getting more expensive?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almost</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which games, and since when?</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r h="0">
                <a:tc>
                  <a:txBody>
                    <a:bodyPr/>
                    <a:lstStyle/>
                    <a:p>
                      <a:pPr indent="0" marL="0">
                        <a:buNone/>
                      </a:pPr>
                      <a:r>
                        <a:rPr lang="en-US" sz="1400" dirty="0">
                          <a:solidFill>
                            <a:srgbClr val="2B1D19"/>
                          </a:solidFill>
                        </a:rPr>
                        <a:t>​</a:t>
                      </a:r>
                      <a:r>
                        <a:rPr lang="en-US" sz="1400" dirty="0">
                          <a:solidFill>
                            <a:srgbClr val="2B1D19"/>
                          </a:solidFill>
                        </a:rPr>
                        <a:t>Has the median price of Steam games changed between 2015 and 2024?</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yes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specific, measurable with Price and Release date, and the answer isn't obvious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400" dirty="0">
                          <a:solidFill>
                            <a:srgbClr val="2B1D19"/>
                          </a:solidFill>
                        </a:rPr>
                        <a:t>Do people like Action games?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no</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"like" isn't measurable as it stands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r h="0">
                <a:tc>
                  <a:txBody>
                    <a:bodyPr/>
                    <a:lstStyle/>
                    <a:p>
                      <a:pPr indent="0" marL="0">
                        <a:buNone/>
                      </a:pPr>
                      <a:r>
                        <a:rPr lang="en-US" sz="1400" dirty="0">
                          <a:solidFill>
                            <a:srgbClr val="2B1D19"/>
                          </a:solidFill>
                        </a:rPr>
                        <a:t>​</a:t>
                      </a:r>
                      <a:r>
                        <a:rPr lang="en-US" sz="1400" dirty="0">
                          <a:solidFill>
                            <a:srgbClr val="2B1D19"/>
                          </a:solidFill>
                        </a:rPr>
                        <a:t>Do Action games get a higher share of positive reviews than other games?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yes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uses Genres, Positive and Negative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Some investigable questions about Steam</a:t>
            </a:r>
            <a:endParaRPr lang="en-US" sz="2800" dirty="0"/>
          </a:p>
        </p:txBody>
      </p:sp>
      <p:sp>
        <p:nvSpPr>
          <p:cNvPr id="3" name="Text 1"/>
          <p:cNvSpPr txBox="1"/>
          <p:nvPr/>
        </p:nvSpPr>
        <p:spPr>
          <a:xfrm>
            <a:off x="457200" y="1097280"/>
            <a:ext cx="8229600" cy="338328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700" dirty="0">
                <a:solidFill>
                  <a:srgbClr val="2B1D19"/>
                </a:solidFill>
              </a:rPr>
              <a:t>​</a:t>
            </a:r>
            <a:r>
              <a:rPr lang="en-US" sz="1700" dirty="0">
                <a:solidFill>
                  <a:srgbClr val="2B1D19"/>
                </a:solidFill>
              </a:rPr>
              <a:t>Has the share of positive reviews changed for games released each year?</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Do free games get a higher share of positive reviews than paid games?</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Do games with more achievements get more recommendations?</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Which genre has the highest median price?</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Do games that Metacritic's critics liked also get good reviews from players?</a:t>
            </a:r>
            <a:endParaRPr lang="en-US" sz="17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Write your own</a:t>
            </a:r>
            <a:endParaRPr lang="en-US" sz="2800" dirty="0"/>
          </a:p>
        </p:txBody>
      </p:sp>
      <p:sp>
        <p:nvSpPr>
          <p:cNvPr id="3" name="primm box"/>
          <p:cNvSpPr/>
          <p:nvPr/>
        </p:nvSpPr>
        <p:spPr>
          <a:xfrm>
            <a:off x="457200" y="1051560"/>
            <a:ext cx="8229600" cy="1732280"/>
          </a:xfrm>
          <a:prstGeom prst="roundRect">
            <a:avLst>
              <a:gd name="adj" fmla="val 4223"/>
            </a:avLst>
          </a:prstGeom>
          <a:solidFill>
            <a:srgbClr val="E6F2E6"/>
          </a:solidFill>
          <a:ln w="12700">
            <a:solidFill>
              <a:srgbClr val="E6F2E6"/>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2E6B30"/>
                </a:solidFill>
              </a:rPr>
              <a:t>PRIMM</a:t>
            </a:r>
            <a:endParaRPr lang="en-US" sz="1600" dirty="0"/>
          </a:p>
        </p:txBody>
      </p:sp>
      <p:sp>
        <p:nvSpPr>
          <p:cNvPr id="5" name="Text 3"/>
          <p:cNvSpPr txBox="1"/>
          <p:nvPr/>
        </p:nvSpPr>
        <p:spPr>
          <a:xfrm>
            <a:off x="685800" y="1600200"/>
            <a:ext cx="7772400" cy="1046480"/>
          </a:xfrm>
          <a:prstGeom prst="rect">
            <a:avLst/>
          </a:prstGeom>
          <a:noFill/>
          <a:ln/>
        </p:spPr>
        <p:txBody>
          <a:bodyPr wrap="square" lIns="0" tIns="0" rIns="0" bIns="0" rtlCol="0" anchor="t">
            <a:normAutofit/>
          </a:bodyPr>
          <a:lstStyle/>
          <a:p>
            <a:pPr marL="342900" indent="-342900">
              <a:spcAft>
                <a:spcPts val="1000"/>
              </a:spcAft>
              <a:buSzPct val="100000"/>
              <a:buFont typeface="+mj-lt"/>
              <a:buAutoNum type="arabicPeriod" startAt="1"/>
            </a:pPr>
            <a:r>
              <a:rPr lang="en-US" sz="2000" dirty="0">
                <a:solidFill>
                  <a:srgbClr val="2B1D19"/>
                </a:solidFill>
              </a:rPr>
              <a:t>​</a:t>
            </a:r>
            <a:r>
              <a:rPr lang="en-US" sz="2000" dirty="0">
                <a:solidFill>
                  <a:srgbClr val="2B1D19"/>
                </a:solidFill>
              </a:rPr>
              <a:t>Write two more investigable questions about the Steam data.</a:t>
            </a:r>
            <a:endParaRPr lang="en-US" sz="2000" dirty="0"/>
          </a:p>
          <a:p>
            <a:pPr marL="342900" indent="-342900">
              <a:spcAft>
                <a:spcPts val="1000"/>
              </a:spcAft>
              <a:buSzPct val="100000"/>
              <a:buFont typeface="+mj-lt"/>
              <a:buAutoNum type="arabicPeriod" startAt="1"/>
            </a:pPr>
            <a:r>
              <a:rPr lang="en-US" sz="2000" dirty="0">
                <a:solidFill>
                  <a:srgbClr val="2B1D19"/>
                </a:solidFill>
              </a:rPr>
              <a:t>​</a:t>
            </a:r>
            <a:r>
              <a:rPr lang="en-US" sz="2000" dirty="0">
                <a:solidFill>
                  <a:srgbClr val="2B1D19"/>
                </a:solidFill>
              </a:rPr>
              <a:t>For each one, write down which columns would answer it.</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Defining our terms</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Even a specific question can hide a word that means different things to different people.</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914400"/>
            <a:ext cx="777240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OUR EXAMPLE QUESTION</a:t>
            </a:r>
            <a:endParaRPr lang="en-US" sz="1400" dirty="0"/>
          </a:p>
        </p:txBody>
      </p:sp>
      <p:sp>
        <p:nvSpPr>
          <p:cNvPr id="3" name="Text 1"/>
          <p:cNvSpPr txBox="1"/>
          <p:nvPr/>
        </p:nvSpPr>
        <p:spPr>
          <a:xfrm>
            <a:off x="457200" y="1325880"/>
            <a:ext cx="7863840" cy="1828800"/>
          </a:xfrm>
          <a:prstGeom prst="rect">
            <a:avLst/>
          </a:prstGeom>
          <a:noFill/>
          <a:ln/>
        </p:spPr>
        <p:txBody>
          <a:bodyPr wrap="square" lIns="0" tIns="0" rIns="0" bIns="0" rtlCol="0" anchor="t">
            <a:normAutofit/>
          </a:bodyPr>
          <a:lstStyle/>
          <a:p>
            <a:pPr indent="0" marL="0">
              <a:spcAft>
                <a:spcPts val="800"/>
              </a:spcAft>
              <a:buNone/>
            </a:pPr>
            <a:r>
              <a:rPr lang="en-US" sz="3000" b="1" dirty="0">
                <a:solidFill>
                  <a:srgbClr val="FFFFFF"/>
                </a:solidFill>
              </a:rPr>
              <a:t>​</a:t>
            </a:r>
            <a:r>
              <a:rPr lang="en-US" sz="3000" b="1" dirty="0">
                <a:solidFill>
                  <a:srgbClr val="FFFFFF"/>
                </a:solidFill>
              </a:rPr>
              <a:t>Do Indie games review as well as games from big studios?</a:t>
            </a:r>
            <a:endParaRPr lang="en-US" sz="3000" dirty="0"/>
          </a:p>
        </p:txBody>
      </p:sp>
      <p:sp>
        <p:nvSpPr>
          <p:cNvPr id="4" name="Text 2"/>
          <p:cNvSpPr txBox="1"/>
          <p:nvPr/>
        </p:nvSpPr>
        <p:spPr>
          <a:xfrm>
            <a:off x="457200" y="3246120"/>
            <a:ext cx="7315200" cy="914400"/>
          </a:xfrm>
          <a:prstGeom prst="rect">
            <a:avLst/>
          </a:prstGeom>
          <a:noFill/>
          <a:ln/>
        </p:spPr>
        <p:txBody>
          <a:bodyPr wrap="square" lIns="0" tIns="0" rIns="0" bIns="0" rtlCol="0" anchor="t"/>
          <a:lstStyle/>
          <a:p>
            <a:pPr indent="0" marL="0">
              <a:spcAft>
                <a:spcPts val="800"/>
              </a:spcAft>
              <a:buNone/>
            </a:pPr>
            <a:r>
              <a:rPr lang="en-US" sz="1600" dirty="0">
                <a:solidFill>
                  <a:srgbClr val="F7EFE6"/>
                </a:solidFill>
              </a:rPr>
              <a:t>​</a:t>
            </a:r>
            <a:r>
              <a:rPr lang="en-US" sz="1600" dirty="0">
                <a:solidFill>
                  <a:srgbClr val="F7EFE6"/>
                </a:solidFill>
              </a:rPr>
              <a:t>What exactly do "Indie games", "big studios" and "review as well" mean?</a:t>
            </a:r>
            <a:endParaRPr lang="en-US" sz="16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What our words mean</a:t>
            </a:r>
            <a:endParaRPr lang="en-US" sz="2800" dirty="0"/>
          </a:p>
        </p:txBody>
      </p:sp>
      <p:sp>
        <p:nvSpPr>
          <p:cNvPr id="3" name="Text 1"/>
          <p:cNvSpPr txBox="1"/>
          <p:nvPr/>
        </p:nvSpPr>
        <p:spPr>
          <a:xfrm>
            <a:off x="457200" y="1097280"/>
            <a:ext cx="8229600" cy="3383280"/>
          </a:xfrm>
          <a:prstGeom prst="rect">
            <a:avLst/>
          </a:prstGeom>
          <a:noFill/>
          <a:ln/>
        </p:spPr>
        <p:txBody>
          <a:bodyPr wrap="square" lIns="0" tIns="0" rIns="0" bIns="0" rtlCol="0" anchor="t">
            <a:normAutofit/>
          </a:bodyPr>
          <a:lstStyle/>
          <a:p>
            <a:pPr marL="342900" indent="-342900">
              <a:spcAft>
                <a:spcPts val="800"/>
              </a:spcAft>
              <a:buSzPct val="100000"/>
              <a:buFont typeface="+mj-lt"/>
              <a:buAutoNum type="arabicPeriod" startAt="1"/>
            </a:pPr>
            <a:r>
              <a:rPr lang="en-US" sz="1700" dirty="0">
                <a:solidFill>
                  <a:srgbClr val="2B1D19"/>
                </a:solidFill>
              </a:rPr>
              <a:t>​</a:t>
            </a:r>
            <a:r>
              <a:rPr lang="en-US" sz="1700" b="1" dirty="0">
                <a:solidFill>
                  <a:srgbClr val="2B1D19"/>
                </a:solidFill>
              </a:rPr>
              <a:t>"Indie games"</a:t>
            </a:r>
            <a:r>
              <a:rPr lang="en-US" sz="1700" dirty="0">
                <a:solidFill>
                  <a:srgbClr val="2B1D19"/>
                </a:solidFill>
              </a:rPr>
              <a:t> → games with </a:t>
            </a:r>
            <a:r>
              <a:rPr lang="en-US" sz="1500" b="1" dirty="0">
                <a:solidFill>
                  <a:srgbClr val="B86E1E"/>
                </a:solidFill>
                <a:latin typeface="Courier New" pitchFamily="34" charset="0"/>
                <a:ea typeface="Courier New" pitchFamily="34" charset="-122"/>
                <a:cs typeface="Courier New" pitchFamily="34" charset="-120"/>
              </a:rPr>
              <a:t>Indie</a:t>
            </a:r>
            <a:r>
              <a:rPr lang="en-US" sz="1700" dirty="0">
                <a:solidFill>
                  <a:srgbClr val="2B1D19"/>
                </a:solidFill>
              </a:rPr>
              <a:t> in their </a:t>
            </a:r>
            <a:r>
              <a:rPr lang="en-US" sz="1500" b="1" dirty="0">
                <a:solidFill>
                  <a:srgbClr val="B86E1E"/>
                </a:solidFill>
                <a:latin typeface="Courier New" pitchFamily="34" charset="0"/>
                <a:ea typeface="Courier New" pitchFamily="34" charset="-122"/>
                <a:cs typeface="Courier New" pitchFamily="34" charset="-120"/>
              </a:rPr>
              <a:t>Genres</a:t>
            </a:r>
            <a:r>
              <a:rPr lang="en-US" sz="1700" dirty="0">
                <a:solidFill>
                  <a:srgbClr val="2B1D19"/>
                </a:solidFill>
              </a:rPr>
              <a:t>: their makers call them Indie</a:t>
            </a:r>
            <a:endParaRPr lang="en-US" sz="1700" dirty="0"/>
          </a:p>
          <a:p>
            <a:pPr marL="342900" indent="-342900">
              <a:spcAft>
                <a:spcPts val="800"/>
              </a:spcAft>
              <a:buSzPct val="100000"/>
              <a:buFont typeface="+mj-lt"/>
              <a:buAutoNum type="arabicPeriod" startAt="1"/>
            </a:pPr>
            <a:r>
              <a:rPr lang="en-US" sz="1700" dirty="0">
                <a:solidFill>
                  <a:srgbClr val="2B1D19"/>
                </a:solidFill>
              </a:rPr>
              <a:t>​</a:t>
            </a:r>
            <a:r>
              <a:rPr lang="en-US" sz="1700" b="1" dirty="0">
                <a:solidFill>
                  <a:srgbClr val="2B1D19"/>
                </a:solidFill>
              </a:rPr>
              <a:t>"games from big studios"</a:t>
            </a:r>
            <a:r>
              <a:rPr lang="en-US" sz="1700" dirty="0">
                <a:solidFill>
                  <a:srgbClr val="2B1D19"/>
                </a:solidFill>
              </a:rPr>
              <a:t> → our data doesn't say how big a studio is, so we compare with </a:t>
            </a:r>
            <a:r>
              <a:rPr lang="en-US" sz="1700" b="1" dirty="0">
                <a:solidFill>
                  <a:srgbClr val="2B1D19"/>
                </a:solidFill>
              </a:rPr>
              <a:t>every other game</a:t>
            </a:r>
            <a:r>
              <a:rPr lang="en-US" sz="1700" dirty="0">
                <a:solidFill>
                  <a:srgbClr val="2B1D19"/>
                </a:solidFill>
              </a:rPr>
              <a:t> ("not Indie")</a:t>
            </a:r>
            <a:endParaRPr lang="en-US" sz="1700" dirty="0"/>
          </a:p>
          <a:p>
            <a:pPr marL="342900" indent="-342900">
              <a:spcAft>
                <a:spcPts val="800"/>
              </a:spcAft>
              <a:buSzPct val="100000"/>
              <a:buFont typeface="+mj-lt"/>
              <a:buAutoNum type="arabicPeriod" startAt="1"/>
            </a:pPr>
            <a:r>
              <a:rPr lang="en-US" sz="1700" dirty="0">
                <a:solidFill>
                  <a:srgbClr val="2B1D19"/>
                </a:solidFill>
              </a:rPr>
              <a:t>​</a:t>
            </a:r>
            <a:r>
              <a:rPr lang="en-US" sz="1700" b="1" dirty="0">
                <a:solidFill>
                  <a:srgbClr val="2B1D19"/>
                </a:solidFill>
              </a:rPr>
              <a:t>"review as well"</a:t>
            </a:r>
            <a:r>
              <a:rPr lang="en-US" sz="1700" dirty="0">
                <a:solidFill>
                  <a:srgbClr val="2B1D19"/>
                </a:solidFill>
              </a:rPr>
              <a:t> → the </a:t>
            </a:r>
            <a:r>
              <a:rPr lang="en-US" sz="1700" b="1" dirty="0">
                <a:solidFill>
                  <a:srgbClr val="2B1D19"/>
                </a:solidFill>
              </a:rPr>
              <a:t>review score</a:t>
            </a:r>
            <a:r>
              <a:rPr lang="en-US" sz="1700" dirty="0">
                <a:solidFill>
                  <a:srgbClr val="2B1D19"/>
                </a:solidFill>
              </a:rPr>
              <a:t>: the percentage of a game's reviews that are positive</a:t>
            </a:r>
            <a:endParaRPr lang="en-US" sz="17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Do we have enough Indie games?</a:t>
            </a:r>
            <a:endParaRPr lang="en-US" sz="2800" dirty="0"/>
          </a:p>
        </p:txBody>
      </p:sp>
      <p:sp>
        <p:nvSpPr>
          <p:cNvPr id="3" name="Code panel"/>
          <p:cNvSpPr/>
          <p:nvPr/>
        </p:nvSpPr>
        <p:spPr>
          <a:xfrm>
            <a:off x="457200" y="1051560"/>
            <a:ext cx="5120640" cy="786765"/>
          </a:xfrm>
          <a:prstGeom prst="roundRect">
            <a:avLst>
              <a:gd name="adj" fmla="val 6973"/>
            </a:avLst>
          </a:prstGeom>
          <a:solidFill>
            <a:srgbClr val="2B1D19"/>
          </a:solidFill>
          <a:ln w="12700">
            <a:solidFill>
              <a:srgbClr val="2B1D19"/>
            </a:solidFill>
            <a:prstDash val="solid"/>
          </a:ln>
        </p:spPr>
      </p:sp>
      <p:sp>
        <p:nvSpPr>
          <p:cNvPr id="4" name="Text 2"/>
          <p:cNvSpPr txBox="1"/>
          <p:nvPr/>
        </p:nvSpPr>
        <p:spPr>
          <a:xfrm>
            <a:off x="640080" y="1161288"/>
            <a:ext cx="4754880" cy="274320"/>
          </a:xfrm>
          <a:prstGeom prst="rect">
            <a:avLst/>
          </a:prstGeom>
          <a:noFill/>
          <a:ln/>
        </p:spPr>
        <p:txBody>
          <a:bodyPr wrap="square" lIns="0" tIns="0" rIns="0" bIns="0" rtlCol="0" anchor="ctr"/>
          <a:lstStyle/>
          <a:p>
            <a:pPr indent="0" marL="0">
              <a:buNone/>
            </a:pPr>
            <a:r>
              <a:rPr lang="en-US" sz="1200" b="1" dirty="0">
                <a:solidFill>
                  <a:srgbClr val="E8A55A"/>
                </a:solidFill>
              </a:rPr>
              <a:t>clean_steam.py — new cell</a:t>
            </a:r>
            <a:endParaRPr lang="en-US" sz="1200" dirty="0"/>
          </a:p>
        </p:txBody>
      </p:sp>
      <p:sp>
        <p:nvSpPr>
          <p:cNvPr id="5" name="Code"/>
          <p:cNvSpPr txBox="1"/>
          <p:nvPr/>
        </p:nvSpPr>
        <p:spPr>
          <a:xfrm>
            <a:off x="594360" y="1508760"/>
            <a:ext cx="4846320" cy="252095"/>
          </a:xfrm>
          <a:prstGeom prst="rect">
            <a:avLst/>
          </a:prstGeom>
          <a:noFill/>
          <a:ln/>
        </p:spPr>
        <p:txBody>
          <a:bodyPr wrap="square" lIns="0" tIns="0" rIns="0" bIns="0" rtlCol="0" anchor="t"/>
          <a:lstStyle/>
          <a:p>
            <a:pPr indent="0" marL="0">
              <a:lnSpc>
                <a:spcPts val="1625"/>
              </a:lnSpc>
              <a:buNone/>
            </a:pPr>
            <a:r>
              <a:rPr lang="en-US" sz="1300" dirty="0">
                <a:solidFill>
                  <a:srgbClr val="9C8A80"/>
                </a:solidFill>
                <a:latin typeface="Courier New" pitchFamily="34" charset="0"/>
                <a:ea typeface="Courier New" pitchFamily="34" charset="-122"/>
                <a:cs typeface="Courier New" pitchFamily="34" charset="-120"/>
              </a:rPr>
              <a:t> 1  </a:t>
            </a:r>
            <a:r>
              <a:rPr lang="en-US" sz="1300" dirty="0">
                <a:solidFill>
                  <a:srgbClr val="F7EFE6"/>
                </a:solidFill>
                <a:latin typeface="Courier New" pitchFamily="34" charset="0"/>
                <a:ea typeface="Courier New" pitchFamily="34" charset="-122"/>
                <a:cs typeface="Courier New" pitchFamily="34" charset="-120"/>
              </a:rPr>
              <a:t>games["Genres"].str.contains("Indie").sum()</a:t>
            </a:r>
            <a:endParaRPr lang="en-US" sz="1300" dirty="0"/>
          </a:p>
        </p:txBody>
      </p:sp>
      <p:sp>
        <p:nvSpPr>
          <p:cNvPr id="6" name="Text 4"/>
          <p:cNvSpPr txBox="1"/>
          <p:nvPr/>
        </p:nvSpPr>
        <p:spPr>
          <a:xfrm>
            <a:off x="457200" y="1929765"/>
            <a:ext cx="5120640" cy="384048"/>
          </a:xfrm>
          <a:prstGeom prst="rect">
            <a:avLst/>
          </a:prstGeom>
          <a:noFill/>
          <a:ln/>
        </p:spPr>
        <p:txBody>
          <a:bodyPr wrap="square" lIns="0" tIns="0" rIns="0" bIns="0" rtlCol="0" anchor="ctr">
            <a:normAutofit/>
          </a:bodyPr>
          <a:lstStyle/>
          <a:p>
            <a:pPr indent="0" marL="0">
              <a:spcAft>
                <a:spcPts val="800"/>
              </a:spcAft>
              <a:buNone/>
            </a:pPr>
            <a:r>
              <a:rPr lang="en-US" sz="1500" dirty="0">
                <a:solidFill>
                  <a:srgbClr val="2B1D19"/>
                </a:solidFill>
              </a:rPr>
              <a:t>​</a:t>
            </a:r>
            <a:r>
              <a:rPr lang="en-US" sz="1500" b="1" dirty="0">
                <a:solidFill>
                  <a:srgbClr val="2B1D19"/>
                </a:solidFill>
              </a:rPr>
              <a:t>6243</a:t>
            </a:r>
            <a:r>
              <a:rPr lang="en-US" sz="1500" dirty="0">
                <a:solidFill>
                  <a:srgbClr val="2B1D19"/>
                </a:solidFill>
              </a:rPr>
              <a:t> are Indie, leaving 4,007 that aren't: plenty in each group.</a:t>
            </a:r>
            <a:endParaRPr lang="en-US" sz="1500" dirty="0"/>
          </a:p>
        </p:txBody>
      </p:sp>
      <p:sp>
        <p:nvSpPr>
          <p:cNvPr id="7" name="primm box"/>
          <p:cNvSpPr/>
          <p:nvPr/>
        </p:nvSpPr>
        <p:spPr>
          <a:xfrm>
            <a:off x="457200" y="2432685"/>
            <a:ext cx="5120640" cy="1285240"/>
          </a:xfrm>
          <a:prstGeom prst="roundRect">
            <a:avLst>
              <a:gd name="adj" fmla="val 5692"/>
            </a:avLst>
          </a:prstGeom>
          <a:solidFill>
            <a:srgbClr val="E6F2E6"/>
          </a:solidFill>
          <a:ln w="12700">
            <a:solidFill>
              <a:srgbClr val="E6F2E6"/>
            </a:solidFill>
            <a:prstDash val="solid"/>
          </a:ln>
        </p:spPr>
      </p:sp>
      <p:sp>
        <p:nvSpPr>
          <p:cNvPr id="8" name="Text 6"/>
          <p:cNvSpPr txBox="1"/>
          <p:nvPr/>
        </p:nvSpPr>
        <p:spPr>
          <a:xfrm>
            <a:off x="685800" y="2569845"/>
            <a:ext cx="4663440" cy="365760"/>
          </a:xfrm>
          <a:prstGeom prst="rect">
            <a:avLst/>
          </a:prstGeom>
          <a:noFill/>
          <a:ln/>
        </p:spPr>
        <p:txBody>
          <a:bodyPr wrap="square" lIns="0" tIns="0" rIns="0" bIns="0" rtlCol="0" anchor="ctr"/>
          <a:lstStyle/>
          <a:p>
            <a:pPr indent="0" marL="0">
              <a:buNone/>
            </a:pPr>
            <a:r>
              <a:rPr lang="en-US" sz="1600" b="1" dirty="0">
                <a:solidFill>
                  <a:srgbClr val="2E6B30"/>
                </a:solidFill>
              </a:rPr>
              <a:t>Predict</a:t>
            </a:r>
            <a:endParaRPr lang="en-US" sz="1600" dirty="0"/>
          </a:p>
        </p:txBody>
      </p:sp>
      <p:sp>
        <p:nvSpPr>
          <p:cNvPr id="9" name="Text 7"/>
          <p:cNvSpPr txBox="1"/>
          <p:nvPr/>
        </p:nvSpPr>
        <p:spPr>
          <a:xfrm>
            <a:off x="685800" y="2935605"/>
            <a:ext cx="4663440" cy="59944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500" dirty="0">
                <a:solidFill>
                  <a:srgbClr val="2B1D19"/>
                </a:solidFill>
              </a:rPr>
              <a:t>Out of 10,250 games, roughly how many do you think are Indie?</a:t>
            </a:r>
            <a:endParaRPr lang="en-US" sz="1500" dirty="0"/>
          </a:p>
        </p:txBody>
      </p:sp>
      <p:sp>
        <p:nvSpPr>
          <p:cNvPr id="10" name="Text 8"/>
          <p:cNvSpPr txBox="1"/>
          <p:nvPr/>
        </p:nvSpPr>
        <p:spPr>
          <a:xfrm>
            <a:off x="5852160" y="1051560"/>
            <a:ext cx="2834640" cy="320040"/>
          </a:xfrm>
          <a:prstGeom prst="rect">
            <a:avLst/>
          </a:prstGeom>
          <a:noFill/>
          <a:ln/>
        </p:spPr>
        <p:txBody>
          <a:bodyPr wrap="square" lIns="0" tIns="0" rIns="0" bIns="0" rtlCol="0" anchor="ctr"/>
          <a:lstStyle/>
          <a:p>
            <a:pPr indent="0" marL="0">
              <a:buNone/>
            </a:pPr>
            <a:r>
              <a:rPr lang="en-US" sz="1400" b="1" dirty="0">
                <a:solidFill>
                  <a:srgbClr val="B86E1E"/>
                </a:solidFill>
              </a:rPr>
              <a:t>Why</a:t>
            </a:r>
            <a:endParaRPr lang="en-US" sz="1400" dirty="0"/>
          </a:p>
        </p:txBody>
      </p:sp>
      <p:sp>
        <p:nvSpPr>
          <p:cNvPr id="11" name="Text 9"/>
          <p:cNvSpPr txBox="1"/>
          <p:nvPr/>
        </p:nvSpPr>
        <p:spPr>
          <a:xfrm>
            <a:off x="5852160" y="1399032"/>
            <a:ext cx="2834640" cy="132588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500" dirty="0">
                <a:solidFill>
                  <a:srgbClr val="2B1D19"/>
                </a:solidFill>
              </a:rPr>
              <a:t>If only a handful of games were Indie, any difference we found could just be luck. So we check each game's </a:t>
            </a:r>
            <a:r>
              <a:rPr lang="en-US" sz="1300" b="1" dirty="0">
                <a:solidFill>
                  <a:srgbClr val="B86E1E"/>
                </a:solidFill>
                <a:latin typeface="Courier New" pitchFamily="34" charset="0"/>
                <a:ea typeface="Courier New" pitchFamily="34" charset="-122"/>
                <a:cs typeface="Courier New" pitchFamily="34" charset="-120"/>
              </a:rPr>
              <a:t>Genres</a:t>
            </a:r>
            <a:r>
              <a:rPr lang="en-US" sz="1500" dirty="0">
                <a:solidFill>
                  <a:srgbClr val="2B1D19"/>
                </a:solidFill>
              </a:rPr>
              <a:t> for the word </a:t>
            </a:r>
            <a:r>
              <a:rPr lang="en-US" sz="1300" b="1" dirty="0">
                <a:solidFill>
                  <a:srgbClr val="B86E1E"/>
                </a:solidFill>
                <a:latin typeface="Courier New" pitchFamily="34" charset="0"/>
                <a:ea typeface="Courier New" pitchFamily="34" charset="-122"/>
                <a:cs typeface="Courier New" pitchFamily="34" charset="-120"/>
              </a:rPr>
              <a:t>Indie</a:t>
            </a:r>
            <a:r>
              <a:rPr lang="en-US" sz="1500" dirty="0">
                <a:solidFill>
                  <a:srgbClr val="2B1D19"/>
                </a:solidFill>
              </a:rPr>
              <a:t> and count the matches.</a:t>
            </a:r>
            <a:endParaRPr lang="en-US" sz="1500" dirty="0"/>
          </a:p>
        </p:txBody>
      </p:sp>
      <p:sp>
        <p:nvSpPr>
          <p:cNvPr id="12" name="Text 10"/>
          <p:cNvSpPr txBox="1"/>
          <p:nvPr/>
        </p:nvSpPr>
        <p:spPr>
          <a:xfrm>
            <a:off x="5852160" y="2907792"/>
            <a:ext cx="2834640" cy="320040"/>
          </a:xfrm>
          <a:prstGeom prst="rect">
            <a:avLst/>
          </a:prstGeom>
          <a:noFill/>
          <a:ln/>
        </p:spPr>
        <p:txBody>
          <a:bodyPr wrap="square" lIns="0" tIns="0" rIns="0" bIns="0" rtlCol="0" anchor="ctr"/>
          <a:lstStyle/>
          <a:p>
            <a:pPr indent="0" marL="0">
              <a:buNone/>
            </a:pPr>
            <a:r>
              <a:rPr lang="en-US" sz="1400" b="1" dirty="0">
                <a:solidFill>
                  <a:srgbClr val="B86E1E"/>
                </a:solidFill>
              </a:rPr>
              <a:t>What it does</a:t>
            </a:r>
            <a:endParaRPr lang="en-US" sz="1400" dirty="0"/>
          </a:p>
        </p:txBody>
      </p:sp>
      <p:sp>
        <p:nvSpPr>
          <p:cNvPr id="13" name="Text 11"/>
          <p:cNvSpPr txBox="1"/>
          <p:nvPr/>
        </p:nvSpPr>
        <p:spPr>
          <a:xfrm>
            <a:off x="5852160" y="3255264"/>
            <a:ext cx="2834640" cy="1271016"/>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2B1D19"/>
                </a:solidFill>
              </a:rPr>
              <a:t>​</a:t>
            </a:r>
            <a:r>
              <a:rPr lang="en-US" sz="1400" b="1" dirty="0">
                <a:solidFill>
                  <a:srgbClr val="2B1D19"/>
                </a:solidFill>
              </a:rPr>
              <a:t>line 1</a:t>
            </a:r>
            <a:r>
              <a:rPr lang="en-US" sz="1400" dirty="0">
                <a:solidFill>
                  <a:srgbClr val="2B1D19"/>
                </a:solidFill>
              </a:rPr>
              <a:t> → checks whether each </a:t>
            </a:r>
            <a:r>
              <a:rPr lang="en-US" sz="1200" b="1" dirty="0">
                <a:solidFill>
                  <a:srgbClr val="B86E1E"/>
                </a:solidFill>
                <a:latin typeface="Courier New" pitchFamily="34" charset="0"/>
                <a:ea typeface="Courier New" pitchFamily="34" charset="-122"/>
                <a:cs typeface="Courier New" pitchFamily="34" charset="-120"/>
              </a:rPr>
              <a:t>Genres</a:t>
            </a:r>
            <a:r>
              <a:rPr lang="en-US" sz="1400" dirty="0">
                <a:solidFill>
                  <a:srgbClr val="2B1D19"/>
                </a:solidFill>
              </a:rPr>
              <a:t> value contains </a:t>
            </a:r>
            <a:r>
              <a:rPr lang="en-US" sz="1200" b="1" dirty="0">
                <a:solidFill>
                  <a:srgbClr val="B86E1E"/>
                </a:solidFill>
                <a:latin typeface="Courier New" pitchFamily="34" charset="0"/>
                <a:ea typeface="Courier New" pitchFamily="34" charset="-122"/>
                <a:cs typeface="Courier New" pitchFamily="34" charset="-120"/>
              </a:rPr>
              <a:t>Indie</a:t>
            </a:r>
            <a:r>
              <a:rPr lang="en-US" sz="1400" dirty="0">
                <a:solidFill>
                  <a:srgbClr val="2B1D19"/>
                </a:solidFill>
              </a:rPr>
              <a:t>, then adds up how many do</a:t>
            </a:r>
            <a:endParaRPr lang="en-US" sz="14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Counting with true and false</a:t>
            </a:r>
            <a:endParaRPr lang="en-US" sz="2800" dirty="0"/>
          </a:p>
        </p:txBody>
      </p:sp>
      <p:sp>
        <p:nvSpPr>
          <p:cNvPr id="3" name="tip box"/>
          <p:cNvSpPr/>
          <p:nvPr/>
        </p:nvSpPr>
        <p:spPr>
          <a:xfrm>
            <a:off x="457200" y="1051560"/>
            <a:ext cx="8229600" cy="1910080"/>
          </a:xfrm>
          <a:prstGeom prst="roundRect">
            <a:avLst>
              <a:gd name="adj" fmla="val 3830"/>
            </a:avLst>
          </a:prstGeom>
          <a:solidFill>
            <a:srgbClr val="E3F1FB"/>
          </a:solidFill>
          <a:ln w="12700">
            <a:solidFill>
              <a:srgbClr val="E3F1FB"/>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1D5F8A"/>
                </a:solidFill>
              </a:rPr>
              <a:t>Tip</a:t>
            </a:r>
            <a:endParaRPr lang="en-US" sz="1600" dirty="0"/>
          </a:p>
        </p:txBody>
      </p:sp>
      <p:sp>
        <p:nvSpPr>
          <p:cNvPr id="5" name="Text 3"/>
          <p:cNvSpPr txBox="1"/>
          <p:nvPr/>
        </p:nvSpPr>
        <p:spPr>
          <a:xfrm>
            <a:off x="685800" y="1600200"/>
            <a:ext cx="7772400" cy="1224280"/>
          </a:xfrm>
          <a:prstGeom prst="rect">
            <a:avLst/>
          </a:prstGeom>
          <a:noFill/>
          <a:ln/>
        </p:spPr>
        <p:txBody>
          <a:bodyPr wrap="square" lIns="0" tIns="0" rIns="0" bIns="0" rtlCol="0" anchor="t">
            <a:normAutofit/>
          </a:bodyPr>
          <a:lstStyle/>
          <a:p>
            <a:pPr indent="0" marL="0">
              <a:spcAft>
                <a:spcPts val="800"/>
              </a:spcAft>
              <a:buNone/>
            </a:pPr>
            <a:r>
              <a:rPr lang="en-US" sz="2000" dirty="0">
                <a:solidFill>
                  <a:srgbClr val="2B1D19"/>
                </a:solidFill>
              </a:rPr>
              <a:t>​</a:t>
            </a:r>
            <a:r>
              <a:rPr lang="en-US" sz="1800" b="1" dirty="0">
                <a:solidFill>
                  <a:srgbClr val="B86E1E"/>
                </a:solidFill>
                <a:latin typeface="Courier New" pitchFamily="34" charset="0"/>
                <a:ea typeface="Courier New" pitchFamily="34" charset="-122"/>
                <a:cs typeface="Courier New" pitchFamily="34" charset="-120"/>
              </a:rPr>
              <a:t>str.contains</a:t>
            </a:r>
            <a:r>
              <a:rPr lang="en-US" sz="2000" dirty="0">
                <a:solidFill>
                  <a:srgbClr val="2B1D19"/>
                </a:solidFill>
              </a:rPr>
              <a:t> gives </a:t>
            </a:r>
            <a:r>
              <a:rPr lang="en-US" sz="1800" b="1" dirty="0">
                <a:solidFill>
                  <a:srgbClr val="B86E1E"/>
                </a:solidFill>
                <a:latin typeface="Courier New" pitchFamily="34" charset="0"/>
                <a:ea typeface="Courier New" pitchFamily="34" charset="-122"/>
                <a:cs typeface="Courier New" pitchFamily="34" charset="-120"/>
              </a:rPr>
              <a:t>true</a:t>
            </a:r>
            <a:r>
              <a:rPr lang="en-US" sz="2000" dirty="0">
                <a:solidFill>
                  <a:srgbClr val="2B1D19"/>
                </a:solidFill>
              </a:rPr>
              <a:t> or </a:t>
            </a:r>
            <a:r>
              <a:rPr lang="en-US" sz="1800" b="1" dirty="0">
                <a:solidFill>
                  <a:srgbClr val="B86E1E"/>
                </a:solidFill>
                <a:latin typeface="Courier New" pitchFamily="34" charset="0"/>
                <a:ea typeface="Courier New" pitchFamily="34" charset="-122"/>
                <a:cs typeface="Courier New" pitchFamily="34" charset="-120"/>
              </a:rPr>
              <a:t>false</a:t>
            </a:r>
            <a:r>
              <a:rPr lang="en-US" sz="2000" dirty="0">
                <a:solidFill>
                  <a:srgbClr val="2B1D19"/>
                </a:solidFill>
              </a:rPr>
              <a:t> for each value. When we </a:t>
            </a:r>
            <a:r>
              <a:rPr lang="en-US" sz="1800" b="1" dirty="0">
                <a:solidFill>
                  <a:srgbClr val="B86E1E"/>
                </a:solidFill>
                <a:latin typeface="Courier New" pitchFamily="34" charset="0"/>
                <a:ea typeface="Courier New" pitchFamily="34" charset="-122"/>
                <a:cs typeface="Courier New" pitchFamily="34" charset="-120"/>
              </a:rPr>
              <a:t>sum</a:t>
            </a:r>
            <a:r>
              <a:rPr lang="en-US" sz="2000" dirty="0">
                <a:solidFill>
                  <a:srgbClr val="2B1D19"/>
                </a:solidFill>
              </a:rPr>
              <a:t> them, each </a:t>
            </a:r>
            <a:r>
              <a:rPr lang="en-US" sz="1800" b="1" dirty="0">
                <a:solidFill>
                  <a:srgbClr val="B86E1E"/>
                </a:solidFill>
                <a:latin typeface="Courier New" pitchFamily="34" charset="0"/>
                <a:ea typeface="Courier New" pitchFamily="34" charset="-122"/>
                <a:cs typeface="Courier New" pitchFamily="34" charset="-120"/>
              </a:rPr>
              <a:t>true</a:t>
            </a:r>
            <a:r>
              <a:rPr lang="en-US" sz="2000" dirty="0">
                <a:solidFill>
                  <a:srgbClr val="2B1D19"/>
                </a:solidFill>
              </a:rPr>
              <a:t> counts as 1 and each </a:t>
            </a:r>
            <a:r>
              <a:rPr lang="en-US" sz="1800" b="1" dirty="0">
                <a:solidFill>
                  <a:srgbClr val="B86E1E"/>
                </a:solidFill>
                <a:latin typeface="Courier New" pitchFamily="34" charset="0"/>
                <a:ea typeface="Courier New" pitchFamily="34" charset="-122"/>
                <a:cs typeface="Courier New" pitchFamily="34" charset="-120"/>
              </a:rPr>
              <a:t>false</a:t>
            </a:r>
            <a:r>
              <a:rPr lang="en-US" sz="2000" dirty="0">
                <a:solidFill>
                  <a:srgbClr val="2B1D19"/>
                </a:solidFill>
              </a:rPr>
              <a:t> counts as 0, so the total is the number of matches.</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Checking our question against the data</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Do the columns we need hold useful values? Polars gives us two quick ways to check.</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Summary statistics for every column</a:t>
            </a:r>
            <a:endParaRPr lang="en-US" sz="2800" dirty="0"/>
          </a:p>
        </p:txBody>
      </p:sp>
      <p:sp>
        <p:nvSpPr>
          <p:cNvPr id="3" name="Code panel"/>
          <p:cNvSpPr/>
          <p:nvPr/>
        </p:nvSpPr>
        <p:spPr>
          <a:xfrm>
            <a:off x="457200" y="1051560"/>
            <a:ext cx="3840480" cy="786765"/>
          </a:xfrm>
          <a:prstGeom prst="roundRect">
            <a:avLst>
              <a:gd name="adj" fmla="val 6973"/>
            </a:avLst>
          </a:prstGeom>
          <a:solidFill>
            <a:srgbClr val="2B1D19"/>
          </a:solidFill>
          <a:ln w="12700">
            <a:solidFill>
              <a:srgbClr val="2B1D19"/>
            </a:solidFill>
            <a:prstDash val="solid"/>
          </a:ln>
        </p:spPr>
      </p:sp>
      <p:sp>
        <p:nvSpPr>
          <p:cNvPr id="4" name="Text 2"/>
          <p:cNvSpPr txBox="1"/>
          <p:nvPr/>
        </p:nvSpPr>
        <p:spPr>
          <a:xfrm>
            <a:off x="640080" y="1161288"/>
            <a:ext cx="3474720" cy="274320"/>
          </a:xfrm>
          <a:prstGeom prst="rect">
            <a:avLst/>
          </a:prstGeom>
          <a:noFill/>
          <a:ln/>
        </p:spPr>
        <p:txBody>
          <a:bodyPr wrap="square" lIns="0" tIns="0" rIns="0" bIns="0" rtlCol="0" anchor="ctr"/>
          <a:lstStyle/>
          <a:p>
            <a:pPr indent="0" marL="0">
              <a:buNone/>
            </a:pPr>
            <a:r>
              <a:rPr lang="en-US" sz="1200" b="1" dirty="0">
                <a:solidFill>
                  <a:srgbClr val="E8A55A"/>
                </a:solidFill>
              </a:rPr>
              <a:t>clean_steam.py — new cell</a:t>
            </a:r>
            <a:endParaRPr lang="en-US" sz="1200" dirty="0"/>
          </a:p>
        </p:txBody>
      </p:sp>
      <p:sp>
        <p:nvSpPr>
          <p:cNvPr id="5" name="Code"/>
          <p:cNvSpPr txBox="1"/>
          <p:nvPr/>
        </p:nvSpPr>
        <p:spPr>
          <a:xfrm>
            <a:off x="594360" y="1508760"/>
            <a:ext cx="3566160" cy="267970"/>
          </a:xfrm>
          <a:prstGeom prst="rect">
            <a:avLst/>
          </a:prstGeom>
          <a:noFill/>
          <a:ln/>
        </p:spPr>
        <p:txBody>
          <a:bodyPr wrap="square" lIns="0" tIns="0" rIns="0" bIns="0" rtlCol="0" anchor="t"/>
          <a:lstStyle/>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1  </a:t>
            </a:r>
            <a:r>
              <a:rPr lang="en-US" sz="1400" dirty="0">
                <a:solidFill>
                  <a:srgbClr val="F7EFE6"/>
                </a:solidFill>
                <a:latin typeface="Courier New" pitchFamily="34" charset="0"/>
                <a:ea typeface="Courier New" pitchFamily="34" charset="-122"/>
                <a:cs typeface="Courier New" pitchFamily="34" charset="-120"/>
              </a:rPr>
              <a:t>games.describe()</a:t>
            </a:r>
            <a:endParaRPr lang="en-US" sz="1400" dirty="0"/>
          </a:p>
        </p:txBody>
      </p:sp>
      <p:sp>
        <p:nvSpPr>
          <p:cNvPr id="6" name="primm box"/>
          <p:cNvSpPr/>
          <p:nvPr/>
        </p:nvSpPr>
        <p:spPr>
          <a:xfrm>
            <a:off x="457200" y="1975485"/>
            <a:ext cx="3840480" cy="1285240"/>
          </a:xfrm>
          <a:prstGeom prst="roundRect">
            <a:avLst>
              <a:gd name="adj" fmla="val 5692"/>
            </a:avLst>
          </a:prstGeom>
          <a:solidFill>
            <a:srgbClr val="E6F2E6"/>
          </a:solidFill>
          <a:ln w="12700">
            <a:solidFill>
              <a:srgbClr val="E6F2E6"/>
            </a:solidFill>
            <a:prstDash val="solid"/>
          </a:ln>
        </p:spPr>
      </p:sp>
      <p:sp>
        <p:nvSpPr>
          <p:cNvPr id="7" name="Text 5"/>
          <p:cNvSpPr txBox="1"/>
          <p:nvPr/>
        </p:nvSpPr>
        <p:spPr>
          <a:xfrm>
            <a:off x="685800" y="2112645"/>
            <a:ext cx="3383280" cy="365760"/>
          </a:xfrm>
          <a:prstGeom prst="rect">
            <a:avLst/>
          </a:prstGeom>
          <a:noFill/>
          <a:ln/>
        </p:spPr>
        <p:txBody>
          <a:bodyPr wrap="square" lIns="0" tIns="0" rIns="0" bIns="0" rtlCol="0" anchor="ctr"/>
          <a:lstStyle/>
          <a:p>
            <a:pPr indent="0" marL="0">
              <a:buNone/>
            </a:pPr>
            <a:r>
              <a:rPr lang="en-US" sz="1600" b="1" dirty="0">
                <a:solidFill>
                  <a:srgbClr val="2E6B30"/>
                </a:solidFill>
              </a:rPr>
              <a:t>Predict</a:t>
            </a:r>
            <a:endParaRPr lang="en-US" sz="1600" dirty="0"/>
          </a:p>
        </p:txBody>
      </p:sp>
      <p:sp>
        <p:nvSpPr>
          <p:cNvPr id="8" name="Text 6"/>
          <p:cNvSpPr txBox="1"/>
          <p:nvPr/>
        </p:nvSpPr>
        <p:spPr>
          <a:xfrm>
            <a:off x="685800" y="2478405"/>
            <a:ext cx="3383280" cy="59944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500" dirty="0">
                <a:solidFill>
                  <a:srgbClr val="2B1D19"/>
                </a:solidFill>
              </a:rPr>
              <a:t>What kinds of numbers do you expect </a:t>
            </a:r>
            <a:r>
              <a:rPr lang="en-US" sz="1300" b="1" dirty="0">
                <a:solidFill>
                  <a:srgbClr val="B86E1E"/>
                </a:solidFill>
                <a:latin typeface="Courier New" pitchFamily="34" charset="0"/>
                <a:ea typeface="Courier New" pitchFamily="34" charset="-122"/>
                <a:cs typeface="Courier New" pitchFamily="34" charset="-120"/>
              </a:rPr>
              <a:t>describe</a:t>
            </a:r>
            <a:r>
              <a:rPr lang="en-US" sz="1500" dirty="0">
                <a:solidFill>
                  <a:srgbClr val="2B1D19"/>
                </a:solidFill>
              </a:rPr>
              <a:t> to show for each column?</a:t>
            </a:r>
            <a:endParaRPr lang="en-US" sz="1500" dirty="0"/>
          </a:p>
        </p:txBody>
      </p:sp>
      <p:sp>
        <p:nvSpPr>
          <p:cNvPr id="9" name="Text 7"/>
          <p:cNvSpPr txBox="1"/>
          <p:nvPr/>
        </p:nvSpPr>
        <p:spPr>
          <a:xfrm>
            <a:off x="4572000" y="1051560"/>
            <a:ext cx="4114800" cy="320040"/>
          </a:xfrm>
          <a:prstGeom prst="rect">
            <a:avLst/>
          </a:prstGeom>
          <a:noFill/>
          <a:ln/>
        </p:spPr>
        <p:txBody>
          <a:bodyPr wrap="square" lIns="0" tIns="0" rIns="0" bIns="0" rtlCol="0" anchor="ctr"/>
          <a:lstStyle/>
          <a:p>
            <a:pPr indent="0" marL="0">
              <a:buNone/>
            </a:pPr>
            <a:r>
              <a:rPr lang="en-US" sz="1400" b="1" dirty="0">
                <a:solidFill>
                  <a:srgbClr val="B86E1E"/>
                </a:solidFill>
              </a:rPr>
              <a:t>Why</a:t>
            </a:r>
            <a:endParaRPr lang="en-US" sz="1400" dirty="0"/>
          </a:p>
        </p:txBody>
      </p:sp>
      <p:sp>
        <p:nvSpPr>
          <p:cNvPr id="10" name="Text 8"/>
          <p:cNvSpPr txBox="1"/>
          <p:nvPr/>
        </p:nvSpPr>
        <p:spPr>
          <a:xfrm>
            <a:off x="4572000" y="1399032"/>
            <a:ext cx="4114800" cy="109728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500" dirty="0">
                <a:solidFill>
                  <a:srgbClr val="2B1D19"/>
                </a:solidFill>
              </a:rPr>
              <a:t>We want a quick overview of every column: how many values are missing, and the typical, smallest and largest values. Strange numbers here are often the first sign of a problem.</a:t>
            </a:r>
            <a:endParaRPr lang="en-US" sz="1500" dirty="0"/>
          </a:p>
        </p:txBody>
      </p:sp>
      <p:sp>
        <p:nvSpPr>
          <p:cNvPr id="11" name="Text 9"/>
          <p:cNvSpPr txBox="1"/>
          <p:nvPr/>
        </p:nvSpPr>
        <p:spPr>
          <a:xfrm>
            <a:off x="4572000" y="2679192"/>
            <a:ext cx="4114800" cy="320040"/>
          </a:xfrm>
          <a:prstGeom prst="rect">
            <a:avLst/>
          </a:prstGeom>
          <a:noFill/>
          <a:ln/>
        </p:spPr>
        <p:txBody>
          <a:bodyPr wrap="square" lIns="0" tIns="0" rIns="0" bIns="0" rtlCol="0" anchor="ctr"/>
          <a:lstStyle/>
          <a:p>
            <a:pPr indent="0" marL="0">
              <a:buNone/>
            </a:pPr>
            <a:r>
              <a:rPr lang="en-US" sz="1400" b="1" dirty="0">
                <a:solidFill>
                  <a:srgbClr val="B86E1E"/>
                </a:solidFill>
              </a:rPr>
              <a:t>What it does</a:t>
            </a:r>
            <a:endParaRPr lang="en-US" sz="1400" dirty="0"/>
          </a:p>
        </p:txBody>
      </p:sp>
      <p:sp>
        <p:nvSpPr>
          <p:cNvPr id="12" name="Text 10"/>
          <p:cNvSpPr txBox="1"/>
          <p:nvPr/>
        </p:nvSpPr>
        <p:spPr>
          <a:xfrm>
            <a:off x="4572000" y="3026664"/>
            <a:ext cx="4114800" cy="1499616"/>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2B1D19"/>
                </a:solidFill>
              </a:rPr>
              <a:t>​</a:t>
            </a:r>
            <a:r>
              <a:rPr lang="en-US" sz="1400" b="1" dirty="0">
                <a:solidFill>
                  <a:srgbClr val="2B1D19"/>
                </a:solidFill>
              </a:rPr>
              <a:t>line 1</a:t>
            </a:r>
            <a:r>
              <a:rPr lang="en-US" sz="1400" dirty="0">
                <a:solidFill>
                  <a:srgbClr val="2B1D19"/>
                </a:solidFill>
              </a:rPr>
              <a:t> → calculates </a:t>
            </a:r>
            <a:r>
              <a:rPr lang="en-US" sz="1400" b="1" dirty="0">
                <a:solidFill>
                  <a:srgbClr val="2B1D19"/>
                </a:solidFill>
              </a:rPr>
              <a:t>summary statistics</a:t>
            </a:r>
            <a:r>
              <a:rPr lang="en-US" sz="1400" dirty="0">
                <a:solidFill>
                  <a:srgbClr val="2B1D19"/>
                </a:solidFill>
              </a:rPr>
              <a:t> for every column of </a:t>
            </a:r>
            <a:r>
              <a:rPr lang="en-US" sz="1200" b="1" dirty="0">
                <a:solidFill>
                  <a:srgbClr val="B86E1E"/>
                </a:solidFill>
                <a:latin typeface="Courier New" pitchFamily="34" charset="0"/>
                <a:ea typeface="Courier New" pitchFamily="34" charset="-122"/>
                <a:cs typeface="Courier New" pitchFamily="34" charset="-120"/>
              </a:rPr>
              <a:t>games</a:t>
            </a:r>
            <a:r>
              <a:rPr lang="en-US" sz="1400" dirty="0">
                <a:solidFill>
                  <a:srgbClr val="2B1D19"/>
                </a:solidFill>
              </a:rPr>
              <a:t> and shows them as a table</a:t>
            </a:r>
            <a:endParaRPr lang="en-US" sz="14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The output of describe</a:t>
            </a:r>
            <a:endParaRPr lang="en-US" sz="2800" dirty="0"/>
          </a:p>
        </p:txBody>
      </p:sp>
      <p:pic>
        <p:nvPicPr>
          <p:cNvPr id="3" name="Image 0" descr="The output of games.describe(), a table with one row for each statistic such as count, null_count, mean, std, min, 25%, 50%, 75% and max, and one column for each column of games">    </p:cNvPr>
          <p:cNvPicPr>
            <a:picLocks noChangeAspect="1"/>
          </p:cNvPicPr>
          <p:nvPr/>
        </p:nvPicPr>
        <p:blipFill>
          <a:blip r:embed="rId1"/>
          <a:stretch>
            <a:fillRect/>
          </a:stretch>
        </p:blipFill>
        <p:spPr>
          <a:xfrm>
            <a:off x="728723" y="1051560"/>
            <a:ext cx="7686554" cy="2971800"/>
          </a:xfrm>
          <a:prstGeom prst="rect">
            <a:avLst/>
          </a:prstGeom>
        </p:spPr>
      </p:pic>
      <p:sp>
        <p:nvSpPr>
          <p:cNvPr id="4" name="Text 1"/>
          <p:cNvSpPr txBox="1"/>
          <p:nvPr/>
        </p:nvSpPr>
        <p:spPr>
          <a:xfrm>
            <a:off x="457200" y="4069080"/>
            <a:ext cx="8229600" cy="411480"/>
          </a:xfrm>
          <a:prstGeom prst="rect">
            <a:avLst/>
          </a:prstGeom>
          <a:noFill/>
          <a:ln/>
        </p:spPr>
        <p:txBody>
          <a:bodyPr wrap="square" lIns="0" tIns="0" rIns="0" bIns="0" rtlCol="0" anchor="ctr"/>
          <a:lstStyle/>
          <a:p>
            <a:pPr algn="ctr" indent="0" marL="0">
              <a:spcAft>
                <a:spcPts val="800"/>
              </a:spcAft>
              <a:buNone/>
            </a:pPr>
            <a:r>
              <a:rPr lang="en-US" sz="1300" i="1" dirty="0">
                <a:solidFill>
                  <a:srgbClr val="6B6B6B"/>
                </a:solidFill>
              </a:rPr>
              <a:t>​</a:t>
            </a:r>
            <a:r>
              <a:rPr lang="en-US" sz="1300" i="1" dirty="0">
                <a:solidFill>
                  <a:srgbClr val="6B6B6B"/>
                </a:solidFill>
              </a:rPr>
              <a:t>One row for each statistic, one column for each column of </a:t>
            </a:r>
            <a:r>
              <a:rPr lang="en-US" sz="1100" b="1" i="1" dirty="0">
                <a:solidFill>
                  <a:srgbClr val="B86E1E"/>
                </a:solidFill>
                <a:latin typeface="Courier New" pitchFamily="34" charset="0"/>
                <a:ea typeface="Courier New" pitchFamily="34" charset="-122"/>
                <a:cs typeface="Courier New" pitchFamily="34" charset="-120"/>
              </a:rPr>
              <a:t>games</a:t>
            </a:r>
            <a:r>
              <a:rPr lang="en-US" sz="1300" i="1" dirty="0">
                <a:solidFill>
                  <a:srgbClr val="6B6B6B"/>
                </a:solidFill>
              </a:rPr>
              <a:t>.</a:t>
            </a:r>
            <a:endParaRPr lang="en-US" sz="13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What each statistic tells us</a:t>
            </a:r>
            <a:endParaRPr lang="en-US" sz="2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194560"/>
                <a:gridCol w="6035040"/>
              </a:tblGrid>
              <a:tr h="0">
                <a:tc>
                  <a:txBody>
                    <a:bodyPr/>
                    <a:lstStyle/>
                    <a:p>
                      <a:pPr indent="0" marL="0">
                        <a:buNone/>
                      </a:pPr>
                      <a:r>
                        <a:rPr lang="en-US" sz="1400" b="1" dirty="0">
                          <a:solidFill>
                            <a:srgbClr val="FFFFFF"/>
                          </a:solidFill>
                        </a:rPr>
                        <a:t>Statistic</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c>
                  <a:txBody>
                    <a:bodyPr/>
                    <a:lstStyle/>
                    <a:p>
                      <a:pPr indent="0" marL="0">
                        <a:buNone/>
                      </a:pPr>
                      <a:r>
                        <a:rPr lang="en-US" sz="1400" b="1" dirty="0">
                          <a:solidFill>
                            <a:srgbClr val="FFFFFF"/>
                          </a:solidFill>
                        </a:rPr>
                        <a:t>What it tells us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r>
              <a:tr h="0">
                <a:tc>
                  <a:txBody>
                    <a:bodyPr/>
                    <a:lstStyle/>
                    <a:p>
                      <a:pPr indent="0" marL="0">
                        <a:buNone/>
                      </a:pPr>
                      <a:r>
                        <a:rPr lang="en-US" sz="1400" dirty="0">
                          <a:solidFill>
                            <a:srgbClr val="2B1D19"/>
                          </a:solidFill>
                        </a:rPr>
                        <a:t>​</a:t>
                      </a:r>
                      <a:r>
                        <a:rPr lang="en-US" sz="1400" dirty="0">
                          <a:solidFill>
                            <a:srgbClr val="2B1D19"/>
                          </a:solidFill>
                        </a:rPr>
                        <a:t>count</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how many values the column has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400" dirty="0">
                          <a:solidFill>
                            <a:srgbClr val="2B1D19"/>
                          </a:solidFill>
                        </a:rPr>
                        <a:t>null_count</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how many values are missing</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r h="0">
                <a:tc>
                  <a:txBody>
                    <a:bodyPr/>
                    <a:lstStyle/>
                    <a:p>
                      <a:pPr indent="0" marL="0">
                        <a:buNone/>
                      </a:pPr>
                      <a:r>
                        <a:rPr lang="en-US" sz="1400" dirty="0">
                          <a:solidFill>
                            <a:srgbClr val="2B1D19"/>
                          </a:solidFill>
                        </a:rPr>
                        <a:t>​</a:t>
                      </a:r>
                      <a:r>
                        <a:rPr lang="en-US" sz="1400" dirty="0">
                          <a:solidFill>
                            <a:srgbClr val="2B1D19"/>
                          </a:solidFill>
                        </a:rPr>
                        <a:t>mean</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the average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400" dirty="0">
                          <a:solidFill>
                            <a:srgbClr val="2B1D19"/>
                          </a:solidFill>
                        </a:rPr>
                        <a:t>std</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the standard deviation: how spread out the values are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r h="0">
                <a:tc>
                  <a:txBody>
                    <a:bodyPr/>
                    <a:lstStyle/>
                    <a:p>
                      <a:pPr indent="0" marL="0">
                        <a:buNone/>
                      </a:pPr>
                      <a:r>
                        <a:rPr lang="en-US" sz="1400" dirty="0">
                          <a:solidFill>
                            <a:srgbClr val="2B1D19"/>
                          </a:solidFill>
                        </a:rPr>
                        <a:t>​</a:t>
                      </a:r>
                      <a:r>
                        <a:rPr lang="en-US" sz="1400" dirty="0">
                          <a:solidFill>
                            <a:srgbClr val="2B1D19"/>
                          </a:solidFill>
                        </a:rPr>
                        <a:t>min and max</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the smallest and largest values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400" dirty="0">
                          <a:solidFill>
                            <a:srgbClr val="2B1D19"/>
                          </a:solidFill>
                        </a:rPr>
                        <a:t>25%, 50%, 75%</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the values a quarter, half and three-quarters of the way through, when sorted. 50% is the median.</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bl>
          </a:graphicData>
        </a:graphic>
      </p:graphicFrame>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What the numbers tell us</a:t>
            </a:r>
            <a:endParaRPr lang="en-US" sz="2800" dirty="0"/>
          </a:p>
        </p:txBody>
      </p:sp>
      <p:sp>
        <p:nvSpPr>
          <p:cNvPr id="3" name="Text 1"/>
          <p:cNvSpPr txBox="1"/>
          <p:nvPr/>
        </p:nvSpPr>
        <p:spPr>
          <a:xfrm>
            <a:off x="457200" y="1097280"/>
            <a:ext cx="8229600" cy="3383280"/>
          </a:xfrm>
          <a:prstGeom prst="rect">
            <a:avLst/>
          </a:prstGeom>
          <a:noFill/>
          <a:ln/>
        </p:spPr>
        <p:txBody>
          <a:bodyPr wrap="square" lIns="0" tIns="0" rIns="0" bIns="0" rtlCol="0" anchor="t">
            <a:normAutofit/>
          </a:bodyPr>
          <a:lstStyle/>
          <a:p>
            <a:pPr marL="342900" indent="-342900">
              <a:spcAft>
                <a:spcPts val="800"/>
              </a:spcAft>
              <a:buSzPct val="100000"/>
              <a:buFont typeface="+mj-lt"/>
              <a:buAutoNum type="arabicPeriod" startAt="1"/>
            </a:pPr>
            <a:r>
              <a:rPr lang="en-US" sz="1700" dirty="0">
                <a:solidFill>
                  <a:srgbClr val="2B1D19"/>
                </a:solidFill>
              </a:rPr>
              <a:t>​</a:t>
            </a:r>
            <a:r>
              <a:rPr lang="en-US" sz="1700" dirty="0">
                <a:solidFill>
                  <a:srgbClr val="2B1D19"/>
                </a:solidFill>
              </a:rPr>
              <a:t>Median </a:t>
            </a:r>
            <a:r>
              <a:rPr lang="en-US" sz="1500" b="1" dirty="0">
                <a:solidFill>
                  <a:srgbClr val="B86E1E"/>
                </a:solidFill>
                <a:latin typeface="Courier New" pitchFamily="34" charset="0"/>
                <a:ea typeface="Courier New" pitchFamily="34" charset="-122"/>
                <a:cs typeface="Courier New" pitchFamily="34" charset="-120"/>
              </a:rPr>
              <a:t>Price</a:t>
            </a:r>
            <a:r>
              <a:rPr lang="en-US" sz="1700" dirty="0">
                <a:solidFill>
                  <a:srgbClr val="2B1D19"/>
                </a:solidFill>
              </a:rPr>
              <a:t> is </a:t>
            </a:r>
            <a:r>
              <a:rPr lang="en-US" sz="1700" b="1" dirty="0">
                <a:solidFill>
                  <a:srgbClr val="2B1D19"/>
                </a:solidFill>
              </a:rPr>
              <a:t>4.19</a:t>
            </a:r>
            <a:r>
              <a:rPr lang="en-US" sz="1700" dirty="0">
                <a:solidFill>
                  <a:srgbClr val="2B1D19"/>
                </a:solidFill>
              </a:rPr>
              <a:t>, mean about </a:t>
            </a:r>
            <a:r>
              <a:rPr lang="en-US" sz="1700" b="1" dirty="0">
                <a:solidFill>
                  <a:srgbClr val="2B1D19"/>
                </a:solidFill>
              </a:rPr>
              <a:t>6.65</a:t>
            </a:r>
            <a:r>
              <a:rPr lang="en-US" sz="1700" dirty="0">
                <a:solidFill>
                  <a:srgbClr val="2B1D19"/>
                </a:solidFill>
              </a:rPr>
              <a:t>: a few expensive games pull the mean up.</a:t>
            </a:r>
            <a:endParaRPr lang="en-US" sz="1700" dirty="0"/>
          </a:p>
          <a:p>
            <a:pPr marL="342900" indent="-342900">
              <a:spcAft>
                <a:spcPts val="800"/>
              </a:spcAft>
              <a:buSzPct val="100000"/>
              <a:buFont typeface="+mj-lt"/>
              <a:buAutoNum type="arabicPeriod" startAt="1"/>
            </a:pPr>
            <a:r>
              <a:rPr lang="en-US" sz="1700" dirty="0">
                <a:solidFill>
                  <a:srgbClr val="2B1D19"/>
                </a:solidFill>
              </a:rPr>
              <a:t>​</a:t>
            </a:r>
            <a:r>
              <a:rPr lang="en-US" sz="1700" dirty="0">
                <a:solidFill>
                  <a:srgbClr val="2B1D19"/>
                </a:solidFill>
              </a:rPr>
              <a:t>Median </a:t>
            </a:r>
            <a:r>
              <a:rPr lang="en-US" sz="1500" b="1" dirty="0">
                <a:solidFill>
                  <a:srgbClr val="B86E1E"/>
                </a:solidFill>
                <a:latin typeface="Courier New" pitchFamily="34" charset="0"/>
                <a:ea typeface="Courier New" pitchFamily="34" charset="-122"/>
                <a:cs typeface="Courier New" pitchFamily="34" charset="-120"/>
              </a:rPr>
              <a:t>Metacritic score</a:t>
            </a:r>
            <a:r>
              <a:rPr lang="en-US" sz="1700" dirty="0">
                <a:solidFill>
                  <a:srgbClr val="2B1D19"/>
                </a:solidFill>
              </a:rPr>
              <a:t> is </a:t>
            </a:r>
            <a:r>
              <a:rPr lang="en-US" sz="1700" b="1" dirty="0">
                <a:solidFill>
                  <a:srgbClr val="2B1D19"/>
                </a:solidFill>
              </a:rPr>
              <a:t>0</a:t>
            </a:r>
            <a:r>
              <a:rPr lang="en-US" sz="1700" dirty="0">
                <a:solidFill>
                  <a:srgbClr val="2B1D19"/>
                </a:solidFill>
              </a:rPr>
              <a:t>. That's very unlikely: 0 probably means "no score".</a:t>
            </a:r>
            <a:endParaRPr lang="en-US" sz="1700" dirty="0"/>
          </a:p>
          <a:p>
            <a:pPr marL="342900" indent="-342900">
              <a:spcAft>
                <a:spcPts val="800"/>
              </a:spcAft>
              <a:buSzPct val="100000"/>
              <a:buFont typeface="+mj-lt"/>
              <a:buAutoNum type="arabicPeriod" startAt="1"/>
            </a:pPr>
            <a:r>
              <a:rPr lang="en-US" sz="1700" dirty="0">
                <a:solidFill>
                  <a:srgbClr val="2B1D19"/>
                </a:solidFill>
              </a:rPr>
              <a:t>​</a:t>
            </a:r>
            <a:r>
              <a:rPr lang="en-US" sz="1700" dirty="0">
                <a:solidFill>
                  <a:srgbClr val="2B1D19"/>
                </a:solidFill>
              </a:rPr>
              <a:t>The </a:t>
            </a:r>
            <a:r>
              <a:rPr lang="en-US" sz="1500" b="1" dirty="0">
                <a:solidFill>
                  <a:srgbClr val="B86E1E"/>
                </a:solidFill>
                <a:latin typeface="Courier New" pitchFamily="34" charset="0"/>
                <a:ea typeface="Courier New" pitchFamily="34" charset="-122"/>
                <a:cs typeface="Courier New" pitchFamily="34" charset="-120"/>
              </a:rPr>
              <a:t>Release date</a:t>
            </a:r>
            <a:r>
              <a:rPr lang="en-US" sz="1700" dirty="0">
                <a:solidFill>
                  <a:srgbClr val="2B1D19"/>
                </a:solidFill>
              </a:rPr>
              <a:t> min is </a:t>
            </a:r>
            <a:r>
              <a:rPr lang="en-US" sz="1500" b="1" dirty="0">
                <a:solidFill>
                  <a:srgbClr val="B86E1E"/>
                </a:solidFill>
                <a:latin typeface="Courier New" pitchFamily="34" charset="0"/>
                <a:ea typeface="Courier New" pitchFamily="34" charset="-122"/>
                <a:cs typeface="Courier New" pitchFamily="34" charset="-120"/>
              </a:rPr>
              <a:t>Apr 1, 1999</a:t>
            </a:r>
            <a:r>
              <a:rPr lang="en-US" sz="1700" dirty="0">
                <a:solidFill>
                  <a:srgbClr val="2B1D19"/>
                </a:solidFill>
              </a:rPr>
              <a:t> and max </a:t>
            </a:r>
            <a:r>
              <a:rPr lang="en-US" sz="1500" b="1" dirty="0">
                <a:solidFill>
                  <a:srgbClr val="B86E1E"/>
                </a:solidFill>
                <a:latin typeface="Courier New" pitchFamily="34" charset="0"/>
                <a:ea typeface="Courier New" pitchFamily="34" charset="-122"/>
                <a:cs typeface="Courier New" pitchFamily="34" charset="-120"/>
              </a:rPr>
              <a:t>Sep 9, 2024</a:t>
            </a:r>
            <a:r>
              <a:rPr lang="en-US" sz="1700" dirty="0">
                <a:solidFill>
                  <a:srgbClr val="2B1D19"/>
                </a:solidFill>
              </a:rPr>
              <a:t>: first and last </a:t>
            </a:r>
            <a:r>
              <a:rPr lang="en-US" sz="1700" b="1" dirty="0">
                <a:solidFill>
                  <a:srgbClr val="2B1D19"/>
                </a:solidFill>
              </a:rPr>
              <a:t>alphabetically</a:t>
            </a:r>
            <a:r>
              <a:rPr lang="en-US" sz="1700" dirty="0">
                <a:solidFill>
                  <a:srgbClr val="2B1D19"/>
                </a:solidFill>
              </a:rPr>
              <a:t>, because they're text.</a:t>
            </a:r>
            <a:endParaRPr lang="en-US" sz="17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What is a price of 4.19?</a:t>
            </a:r>
            <a:endParaRPr lang="en-US" sz="2800" dirty="0"/>
          </a:p>
        </p:txBody>
      </p:sp>
      <p:sp>
        <p:nvSpPr>
          <p:cNvPr id="3" name="tip box"/>
          <p:cNvSpPr/>
          <p:nvPr/>
        </p:nvSpPr>
        <p:spPr>
          <a:xfrm>
            <a:off x="457200" y="1051560"/>
            <a:ext cx="8229600" cy="3058160"/>
          </a:xfrm>
          <a:prstGeom prst="roundRect">
            <a:avLst>
              <a:gd name="adj" fmla="val 2392"/>
            </a:avLst>
          </a:prstGeom>
          <a:solidFill>
            <a:srgbClr val="E3F1FB"/>
          </a:solidFill>
          <a:ln w="12700">
            <a:solidFill>
              <a:srgbClr val="E3F1FB"/>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1D5F8A"/>
                </a:solidFill>
              </a:rPr>
              <a:t>Tip</a:t>
            </a:r>
            <a:endParaRPr lang="en-US" sz="1600" dirty="0"/>
          </a:p>
        </p:txBody>
      </p:sp>
      <p:sp>
        <p:nvSpPr>
          <p:cNvPr id="5" name="Text 3"/>
          <p:cNvSpPr txBox="1"/>
          <p:nvPr/>
        </p:nvSpPr>
        <p:spPr>
          <a:xfrm>
            <a:off x="685800" y="1600200"/>
            <a:ext cx="7772400" cy="237236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700" dirty="0">
                <a:solidFill>
                  <a:srgbClr val="2B1D19"/>
                </a:solidFill>
              </a:rPr>
              <a:t>​</a:t>
            </a:r>
            <a:r>
              <a:rPr lang="en-US" sz="1700" dirty="0">
                <a:solidFill>
                  <a:srgbClr val="2B1D19"/>
                </a:solidFill>
              </a:rPr>
              <a:t>our data came from the US Steam store, so every price is in </a:t>
            </a:r>
            <a:r>
              <a:rPr lang="en-US" sz="1700" b="1" dirty="0">
                <a:solidFill>
                  <a:srgbClr val="2B1D19"/>
                </a:solidFill>
              </a:rPr>
              <a:t>US dollars</a:t>
            </a:r>
            <a:endParaRPr lang="en-US" sz="1700" dirty="0"/>
          </a:p>
          <a:p>
            <a:pPr marL="342900" indent="-342900">
              <a:spcAft>
                <a:spcPts val="1000"/>
              </a:spcAft>
              <a:buSzPct val="100000"/>
              <a:buChar char="•"/>
            </a:pPr>
            <a:r>
              <a:rPr lang="en-US" sz="1700" dirty="0">
                <a:solidFill>
                  <a:srgbClr val="2B1D19"/>
                </a:solidFill>
              </a:rPr>
              <a:t>​</a:t>
            </a:r>
            <a:r>
              <a:rPr lang="en-US" sz="1700" dirty="0">
                <a:solidFill>
                  <a:srgbClr val="2B1D19"/>
                </a:solidFill>
              </a:rPr>
              <a:t>Steam sets Australian prices separately</a:t>
            </a:r>
            <a:endParaRPr lang="en-US" sz="1700" dirty="0"/>
          </a:p>
          <a:p>
            <a:pPr marL="342900" indent="-342900">
              <a:spcAft>
                <a:spcPts val="1000"/>
              </a:spcAft>
              <a:buSzPct val="100000"/>
              <a:buChar char="•"/>
            </a:pPr>
            <a:r>
              <a:rPr lang="en-US" sz="1700" dirty="0">
                <a:solidFill>
                  <a:srgbClr val="2B1D19"/>
                </a:solidFill>
              </a:rPr>
              <a:t>​</a:t>
            </a:r>
            <a:r>
              <a:rPr lang="en-US" sz="1700" dirty="0">
                <a:solidFill>
                  <a:srgbClr val="2B1D19"/>
                </a:solidFill>
              </a:rPr>
              <a:t>prices were collected on one day, so games on sale show their sale price</a:t>
            </a:r>
            <a:endParaRPr lang="en-US" sz="1700" dirty="0"/>
          </a:p>
          <a:p>
            <a:pPr marL="342900" indent="-342900">
              <a:spcAft>
                <a:spcPts val="1000"/>
              </a:spcAft>
              <a:buSzPct val="100000"/>
              <a:buChar char="•"/>
            </a:pPr>
            <a:r>
              <a:rPr lang="en-US" sz="1700" dirty="0">
                <a:solidFill>
                  <a:srgbClr val="2B1D19"/>
                </a:solidFill>
              </a:rPr>
              <a:t>​</a:t>
            </a:r>
            <a:r>
              <a:rPr lang="en-US" sz="1700" dirty="0">
                <a:solidFill>
                  <a:srgbClr val="2B1D19"/>
                </a:solidFill>
              </a:rPr>
              <a:t>a price of 0 means the game is free to play</a:t>
            </a:r>
            <a:endParaRPr lang="en-US" sz="1700" dirty="0"/>
          </a:p>
          <a:p>
            <a:pPr marL="342900" indent="-342900">
              <a:spcAft>
                <a:spcPts val="1000"/>
              </a:spcAft>
              <a:buSzPct val="100000"/>
              <a:buChar char="•"/>
            </a:pPr>
            <a:r>
              <a:rPr lang="en-US" sz="1700" dirty="0">
                <a:solidFill>
                  <a:srgbClr val="2B1D19"/>
                </a:solidFill>
              </a:rPr>
              <a:t>​</a:t>
            </a:r>
            <a:r>
              <a:rPr lang="en-US" sz="1700" dirty="0">
                <a:solidFill>
                  <a:srgbClr val="2B1D19"/>
                </a:solidFill>
              </a:rPr>
              <a:t>in our story, we always say prices are in US dollars</a:t>
            </a:r>
            <a:endParaRPr lang="en-US" sz="17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Count each Metacritic score</a:t>
            </a:r>
            <a:endParaRPr lang="en-US" sz="2800" dirty="0"/>
          </a:p>
        </p:txBody>
      </p:sp>
      <p:sp>
        <p:nvSpPr>
          <p:cNvPr id="3" name="Code panel"/>
          <p:cNvSpPr/>
          <p:nvPr/>
        </p:nvSpPr>
        <p:spPr>
          <a:xfrm>
            <a:off x="457200" y="1051560"/>
            <a:ext cx="5120640" cy="786765"/>
          </a:xfrm>
          <a:prstGeom prst="roundRect">
            <a:avLst>
              <a:gd name="adj" fmla="val 6973"/>
            </a:avLst>
          </a:prstGeom>
          <a:solidFill>
            <a:srgbClr val="2B1D19"/>
          </a:solidFill>
          <a:ln w="12700">
            <a:solidFill>
              <a:srgbClr val="2B1D19"/>
            </a:solidFill>
            <a:prstDash val="solid"/>
          </a:ln>
        </p:spPr>
      </p:sp>
      <p:sp>
        <p:nvSpPr>
          <p:cNvPr id="4" name="Text 2"/>
          <p:cNvSpPr txBox="1"/>
          <p:nvPr/>
        </p:nvSpPr>
        <p:spPr>
          <a:xfrm>
            <a:off x="640080" y="1161288"/>
            <a:ext cx="4754880" cy="274320"/>
          </a:xfrm>
          <a:prstGeom prst="rect">
            <a:avLst/>
          </a:prstGeom>
          <a:noFill/>
          <a:ln/>
        </p:spPr>
        <p:txBody>
          <a:bodyPr wrap="square" lIns="0" tIns="0" rIns="0" bIns="0" rtlCol="0" anchor="ctr"/>
          <a:lstStyle/>
          <a:p>
            <a:pPr indent="0" marL="0">
              <a:buNone/>
            </a:pPr>
            <a:r>
              <a:rPr lang="en-US" sz="1200" b="1" dirty="0">
                <a:solidFill>
                  <a:srgbClr val="E8A55A"/>
                </a:solidFill>
              </a:rPr>
              <a:t>clean_steam.py — new cell</a:t>
            </a:r>
            <a:endParaRPr lang="en-US" sz="1200" dirty="0"/>
          </a:p>
        </p:txBody>
      </p:sp>
      <p:sp>
        <p:nvSpPr>
          <p:cNvPr id="5" name="Code"/>
          <p:cNvSpPr txBox="1"/>
          <p:nvPr/>
        </p:nvSpPr>
        <p:spPr>
          <a:xfrm>
            <a:off x="594360" y="1508760"/>
            <a:ext cx="4846320" cy="236220"/>
          </a:xfrm>
          <a:prstGeom prst="rect">
            <a:avLst/>
          </a:prstGeom>
          <a:noFill/>
          <a:ln/>
        </p:spPr>
        <p:txBody>
          <a:bodyPr wrap="square" lIns="0" tIns="0" rIns="0" bIns="0" rtlCol="0" anchor="t"/>
          <a:lstStyle/>
          <a:p>
            <a:pPr indent="0" marL="0">
              <a:lnSpc>
                <a:spcPts val="1500"/>
              </a:lnSpc>
              <a:buNone/>
            </a:pPr>
            <a:r>
              <a:rPr lang="en-US" sz="1200" dirty="0">
                <a:solidFill>
                  <a:srgbClr val="9C8A80"/>
                </a:solidFill>
                <a:latin typeface="Courier New" pitchFamily="34" charset="0"/>
                <a:ea typeface="Courier New" pitchFamily="34" charset="-122"/>
                <a:cs typeface="Courier New" pitchFamily="34" charset="-120"/>
              </a:rPr>
              <a:t> 1  </a:t>
            </a:r>
            <a:r>
              <a:rPr lang="en-US" sz="1200" dirty="0">
                <a:solidFill>
                  <a:srgbClr val="F7EFE6"/>
                </a:solidFill>
                <a:latin typeface="Courier New" pitchFamily="34" charset="0"/>
                <a:ea typeface="Courier New" pitchFamily="34" charset="-122"/>
                <a:cs typeface="Courier New" pitchFamily="34" charset="-120"/>
              </a:rPr>
              <a:t>games["Metacritic score"].value_counts(sort=True)</a:t>
            </a:r>
            <a:endParaRPr lang="en-US" sz="1200" dirty="0"/>
          </a:p>
        </p:txBody>
      </p:sp>
      <p:sp>
        <p:nvSpPr>
          <p:cNvPr id="6" name="primm box"/>
          <p:cNvSpPr/>
          <p:nvPr/>
        </p:nvSpPr>
        <p:spPr>
          <a:xfrm>
            <a:off x="457200" y="1975485"/>
            <a:ext cx="5120640" cy="1056640"/>
          </a:xfrm>
          <a:prstGeom prst="roundRect">
            <a:avLst>
              <a:gd name="adj" fmla="val 6923"/>
            </a:avLst>
          </a:prstGeom>
          <a:solidFill>
            <a:srgbClr val="E6F2E6"/>
          </a:solidFill>
          <a:ln w="12700">
            <a:solidFill>
              <a:srgbClr val="E6F2E6"/>
            </a:solidFill>
            <a:prstDash val="solid"/>
          </a:ln>
        </p:spPr>
      </p:sp>
      <p:sp>
        <p:nvSpPr>
          <p:cNvPr id="7" name="Text 5"/>
          <p:cNvSpPr txBox="1"/>
          <p:nvPr/>
        </p:nvSpPr>
        <p:spPr>
          <a:xfrm>
            <a:off x="685800" y="2112645"/>
            <a:ext cx="4663440" cy="365760"/>
          </a:xfrm>
          <a:prstGeom prst="rect">
            <a:avLst/>
          </a:prstGeom>
          <a:noFill/>
          <a:ln/>
        </p:spPr>
        <p:txBody>
          <a:bodyPr wrap="square" lIns="0" tIns="0" rIns="0" bIns="0" rtlCol="0" anchor="ctr"/>
          <a:lstStyle/>
          <a:p>
            <a:pPr indent="0" marL="0">
              <a:buNone/>
            </a:pPr>
            <a:r>
              <a:rPr lang="en-US" sz="1600" b="1" dirty="0">
                <a:solidFill>
                  <a:srgbClr val="2E6B30"/>
                </a:solidFill>
              </a:rPr>
              <a:t>Predict</a:t>
            </a:r>
            <a:endParaRPr lang="en-US" sz="1600" dirty="0"/>
          </a:p>
        </p:txBody>
      </p:sp>
      <p:sp>
        <p:nvSpPr>
          <p:cNvPr id="8" name="Text 6"/>
          <p:cNvSpPr txBox="1"/>
          <p:nvPr/>
        </p:nvSpPr>
        <p:spPr>
          <a:xfrm>
            <a:off x="685800" y="2478405"/>
            <a:ext cx="4663440" cy="37084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500" dirty="0">
                <a:solidFill>
                  <a:srgbClr val="2B1D19"/>
                </a:solidFill>
              </a:rPr>
              <a:t>Which score do you think will be the most common?</a:t>
            </a:r>
            <a:endParaRPr lang="en-US" sz="1500" dirty="0"/>
          </a:p>
        </p:txBody>
      </p:sp>
      <p:sp>
        <p:nvSpPr>
          <p:cNvPr id="9" name="Text 7"/>
          <p:cNvSpPr txBox="1"/>
          <p:nvPr/>
        </p:nvSpPr>
        <p:spPr>
          <a:xfrm>
            <a:off x="5852160" y="1051560"/>
            <a:ext cx="2834640" cy="320040"/>
          </a:xfrm>
          <a:prstGeom prst="rect">
            <a:avLst/>
          </a:prstGeom>
          <a:noFill/>
          <a:ln/>
        </p:spPr>
        <p:txBody>
          <a:bodyPr wrap="square" lIns="0" tIns="0" rIns="0" bIns="0" rtlCol="0" anchor="ctr"/>
          <a:lstStyle/>
          <a:p>
            <a:pPr indent="0" marL="0">
              <a:buNone/>
            </a:pPr>
            <a:r>
              <a:rPr lang="en-US" sz="1400" b="1" dirty="0">
                <a:solidFill>
                  <a:srgbClr val="B86E1E"/>
                </a:solidFill>
              </a:rPr>
              <a:t>Why</a:t>
            </a:r>
            <a:endParaRPr lang="en-US" sz="1400" dirty="0"/>
          </a:p>
        </p:txBody>
      </p:sp>
      <p:sp>
        <p:nvSpPr>
          <p:cNvPr id="10" name="Text 8"/>
          <p:cNvSpPr txBox="1"/>
          <p:nvPr/>
        </p:nvSpPr>
        <p:spPr>
          <a:xfrm>
            <a:off x="5852160" y="1399032"/>
            <a:ext cx="2834640" cy="132588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500" dirty="0">
                <a:solidFill>
                  <a:srgbClr val="2B1D19"/>
                </a:solidFill>
              </a:rPr>
              <a:t>The Metacritic scores looked strange, so we count how often each value appears, most common first. That shows whether 0 is common or rare.</a:t>
            </a:r>
            <a:endParaRPr lang="en-US" sz="1500" dirty="0"/>
          </a:p>
        </p:txBody>
      </p:sp>
      <p:sp>
        <p:nvSpPr>
          <p:cNvPr id="11" name="Text 9"/>
          <p:cNvSpPr txBox="1"/>
          <p:nvPr/>
        </p:nvSpPr>
        <p:spPr>
          <a:xfrm>
            <a:off x="5852160" y="2907792"/>
            <a:ext cx="2834640" cy="320040"/>
          </a:xfrm>
          <a:prstGeom prst="rect">
            <a:avLst/>
          </a:prstGeom>
          <a:noFill/>
          <a:ln/>
        </p:spPr>
        <p:txBody>
          <a:bodyPr wrap="square" lIns="0" tIns="0" rIns="0" bIns="0" rtlCol="0" anchor="ctr"/>
          <a:lstStyle/>
          <a:p>
            <a:pPr indent="0" marL="0">
              <a:buNone/>
            </a:pPr>
            <a:r>
              <a:rPr lang="en-US" sz="1400" b="1" dirty="0">
                <a:solidFill>
                  <a:srgbClr val="B86E1E"/>
                </a:solidFill>
              </a:rPr>
              <a:t>What it does</a:t>
            </a:r>
            <a:endParaRPr lang="en-US" sz="1400" dirty="0"/>
          </a:p>
        </p:txBody>
      </p:sp>
      <p:sp>
        <p:nvSpPr>
          <p:cNvPr id="12" name="Text 10"/>
          <p:cNvSpPr txBox="1"/>
          <p:nvPr/>
        </p:nvSpPr>
        <p:spPr>
          <a:xfrm>
            <a:off x="5852160" y="3255264"/>
            <a:ext cx="2834640" cy="1271016"/>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2B1D19"/>
                </a:solidFill>
              </a:rPr>
              <a:t>​</a:t>
            </a:r>
            <a:r>
              <a:rPr lang="en-US" sz="1400" b="1" dirty="0">
                <a:solidFill>
                  <a:srgbClr val="2B1D19"/>
                </a:solidFill>
              </a:rPr>
              <a:t>line 1</a:t>
            </a:r>
            <a:r>
              <a:rPr lang="en-US" sz="1400" dirty="0">
                <a:solidFill>
                  <a:srgbClr val="2B1D19"/>
                </a:solidFill>
              </a:rPr>
              <a:t> → picks </a:t>
            </a:r>
            <a:r>
              <a:rPr lang="en-US" sz="1200" b="1" dirty="0">
                <a:solidFill>
                  <a:srgbClr val="B86E1E"/>
                </a:solidFill>
                <a:latin typeface="Courier New" pitchFamily="34" charset="0"/>
                <a:ea typeface="Courier New" pitchFamily="34" charset="-122"/>
                <a:cs typeface="Courier New" pitchFamily="34" charset="-120"/>
              </a:rPr>
              <a:t>Metacritic score</a:t>
            </a:r>
            <a:r>
              <a:rPr lang="en-US" sz="1400" dirty="0">
                <a:solidFill>
                  <a:srgbClr val="2B1D19"/>
                </a:solidFill>
              </a:rPr>
              <a:t>, counts each different value, and sorts from most to least common</a:t>
            </a:r>
            <a:endParaRPr lang="en-US" sz="14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Most games have no Metacritic score</a:t>
            </a:r>
            <a:endParaRPr lang="en-US" sz="2800" dirty="0"/>
          </a:p>
        </p:txBody>
      </p:sp>
      <p:pic>
        <p:nvPicPr>
          <p:cNvPr id="3" name="Image 0" descr="The output of value_counts for Metacritic score, with 0 at the top appearing 7,317 times, followed by scores such as 80 with much smaller counts">    </p:cNvPr>
          <p:cNvPicPr>
            <a:picLocks noChangeAspect="1"/>
          </p:cNvPicPr>
          <p:nvPr/>
        </p:nvPicPr>
        <p:blipFill>
          <a:blip r:embed="rId1"/>
          <a:stretch>
            <a:fillRect/>
          </a:stretch>
        </p:blipFill>
        <p:spPr>
          <a:xfrm>
            <a:off x="1236859" y="1051560"/>
            <a:ext cx="6670281" cy="2971800"/>
          </a:xfrm>
          <a:prstGeom prst="rect">
            <a:avLst/>
          </a:prstGeom>
        </p:spPr>
      </p:pic>
      <p:sp>
        <p:nvSpPr>
          <p:cNvPr id="4" name="Text 1"/>
          <p:cNvSpPr txBox="1"/>
          <p:nvPr/>
        </p:nvSpPr>
        <p:spPr>
          <a:xfrm>
            <a:off x="457200" y="4069080"/>
            <a:ext cx="8229600" cy="411480"/>
          </a:xfrm>
          <a:prstGeom prst="rect">
            <a:avLst/>
          </a:prstGeom>
          <a:noFill/>
          <a:ln/>
        </p:spPr>
        <p:txBody>
          <a:bodyPr wrap="square" lIns="0" tIns="0" rIns="0" bIns="0" rtlCol="0" anchor="ctr"/>
          <a:lstStyle/>
          <a:p>
            <a:pPr algn="ctr" indent="0" marL="0">
              <a:spcAft>
                <a:spcPts val="800"/>
              </a:spcAft>
              <a:buNone/>
            </a:pPr>
            <a:r>
              <a:rPr lang="en-US" sz="1300" i="1" dirty="0">
                <a:solidFill>
                  <a:srgbClr val="6B6B6B"/>
                </a:solidFill>
              </a:rPr>
              <a:t>​</a:t>
            </a:r>
            <a:r>
              <a:rPr lang="en-US" sz="1100" b="1" i="1" dirty="0">
                <a:solidFill>
                  <a:srgbClr val="B86E1E"/>
                </a:solidFill>
                <a:latin typeface="Courier New" pitchFamily="34" charset="0"/>
                <a:ea typeface="Courier New" pitchFamily="34" charset="-122"/>
                <a:cs typeface="Courier New" pitchFamily="34" charset="-120"/>
              </a:rPr>
              <a:t>0</a:t>
            </a:r>
            <a:r>
              <a:rPr lang="en-US" sz="1300" i="1" dirty="0">
                <a:solidFill>
                  <a:srgbClr val="6B6B6B"/>
                </a:solidFill>
              </a:rPr>
              <a:t> is the most common score, with </a:t>
            </a:r>
            <a:r>
              <a:rPr lang="en-US" sz="1300" b="1" i="1" dirty="0">
                <a:solidFill>
                  <a:srgbClr val="6B6B6B"/>
                </a:solidFill>
              </a:rPr>
              <a:t>7,317</a:t>
            </a:r>
            <a:r>
              <a:rPr lang="en-US" sz="1300" i="1" dirty="0">
                <a:solidFill>
                  <a:srgbClr val="6B6B6B"/>
                </a:solidFill>
              </a:rPr>
              <a:t> games. Next is </a:t>
            </a:r>
            <a:r>
              <a:rPr lang="en-US" sz="1100" b="1" i="1" dirty="0">
                <a:solidFill>
                  <a:srgbClr val="B86E1E"/>
                </a:solidFill>
                <a:latin typeface="Courier New" pitchFamily="34" charset="0"/>
                <a:ea typeface="Courier New" pitchFamily="34" charset="-122"/>
                <a:cs typeface="Courier New" pitchFamily="34" charset="-120"/>
              </a:rPr>
              <a:t>80</a:t>
            </a:r>
            <a:r>
              <a:rPr lang="en-US" sz="1300" i="1" dirty="0">
                <a:solidFill>
                  <a:srgbClr val="6B6B6B"/>
                </a:solidFill>
              </a:rPr>
              <a:t>, with only </a:t>
            </a:r>
            <a:r>
              <a:rPr lang="en-US" sz="1300" b="1" i="1" dirty="0">
                <a:solidFill>
                  <a:srgbClr val="6B6B6B"/>
                </a:solidFill>
              </a:rPr>
              <a:t>188</a:t>
            </a:r>
            <a:r>
              <a:rPr lang="en-US" sz="1300" i="1" dirty="0">
                <a:solidFill>
                  <a:srgbClr val="6B6B6B"/>
                </a:solidFill>
              </a:rPr>
              <a:t>.</a:t>
            </a:r>
            <a:endParaRPr lang="en-US" sz="13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Square brackets pick one column</a:t>
            </a:r>
            <a:endParaRPr lang="en-US" sz="2800" dirty="0"/>
          </a:p>
        </p:txBody>
      </p:sp>
      <p:sp>
        <p:nvSpPr>
          <p:cNvPr id="3" name="tip box"/>
          <p:cNvSpPr/>
          <p:nvPr/>
        </p:nvSpPr>
        <p:spPr>
          <a:xfrm>
            <a:off x="457200" y="1051560"/>
            <a:ext cx="8229600" cy="2214880"/>
          </a:xfrm>
          <a:prstGeom prst="roundRect">
            <a:avLst>
              <a:gd name="adj" fmla="val 3303"/>
            </a:avLst>
          </a:prstGeom>
          <a:solidFill>
            <a:srgbClr val="E3F1FB"/>
          </a:solidFill>
          <a:ln w="12700">
            <a:solidFill>
              <a:srgbClr val="E3F1FB"/>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1D5F8A"/>
                </a:solidFill>
              </a:rPr>
              <a:t>Tip</a:t>
            </a:r>
            <a:endParaRPr lang="en-US" sz="1600" dirty="0"/>
          </a:p>
        </p:txBody>
      </p:sp>
      <p:sp>
        <p:nvSpPr>
          <p:cNvPr id="5" name="Text 3"/>
          <p:cNvSpPr txBox="1"/>
          <p:nvPr/>
        </p:nvSpPr>
        <p:spPr>
          <a:xfrm>
            <a:off x="685800" y="1600200"/>
            <a:ext cx="7772400" cy="1529080"/>
          </a:xfrm>
          <a:prstGeom prst="rect">
            <a:avLst/>
          </a:prstGeom>
          <a:noFill/>
          <a:ln/>
        </p:spPr>
        <p:txBody>
          <a:bodyPr wrap="square" lIns="0" tIns="0" rIns="0" bIns="0" rtlCol="0" anchor="t">
            <a:normAutofit/>
          </a:bodyPr>
          <a:lstStyle/>
          <a:p>
            <a:pPr indent="0" marL="0">
              <a:spcAft>
                <a:spcPts val="800"/>
              </a:spcAft>
              <a:buNone/>
            </a:pPr>
            <a:r>
              <a:rPr lang="en-US" sz="2000" dirty="0">
                <a:solidFill>
                  <a:srgbClr val="2B1D19"/>
                </a:solidFill>
              </a:rPr>
              <a:t>​</a:t>
            </a:r>
            <a:r>
              <a:rPr lang="en-US" sz="1800" b="1" dirty="0">
                <a:solidFill>
                  <a:srgbClr val="B86E1E"/>
                </a:solidFill>
                <a:latin typeface="Courier New" pitchFamily="34" charset="0"/>
                <a:ea typeface="Courier New" pitchFamily="34" charset="-122"/>
                <a:cs typeface="Courier New" pitchFamily="34" charset="-120"/>
              </a:rPr>
              <a:t>games["Metacritic score"]</a:t>
            </a:r>
            <a:r>
              <a:rPr lang="en-US" sz="2000" dirty="0">
                <a:solidFill>
                  <a:srgbClr val="2B1D19"/>
                </a:solidFill>
              </a:rPr>
              <a:t> picks a single column from a DataFrame. A single column is called a </a:t>
            </a:r>
            <a:r>
              <a:rPr lang="en-US" sz="2000" b="1" dirty="0">
                <a:solidFill>
                  <a:srgbClr val="2B1D19"/>
                </a:solidFill>
              </a:rPr>
              <a:t>Series</a:t>
            </a:r>
            <a:r>
              <a:rPr lang="en-US" sz="2000" dirty="0">
                <a:solidFill>
                  <a:srgbClr val="2B1D19"/>
                </a:solidFill>
              </a:rPr>
              <a:t>. Many methods, like </a:t>
            </a:r>
            <a:r>
              <a:rPr lang="en-US" sz="1800" b="1" dirty="0">
                <a:solidFill>
                  <a:srgbClr val="B86E1E"/>
                </a:solidFill>
                <a:latin typeface="Courier New" pitchFamily="34" charset="0"/>
                <a:ea typeface="Courier New" pitchFamily="34" charset="-122"/>
                <a:cs typeface="Courier New" pitchFamily="34" charset="-120"/>
              </a:rPr>
              <a:t>value_counts</a:t>
            </a:r>
            <a:r>
              <a:rPr lang="en-US" sz="2000" dirty="0">
                <a:solidFill>
                  <a:srgbClr val="2B1D19"/>
                </a:solidFill>
              </a:rPr>
              <a:t>, work on a Series rather than a whole DataFrame.</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Refining our question</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If the data can't answer our question, we don't give up on it: we </a:t>
            </a:r>
            <a:r>
              <a:rPr lang="en-US" sz="1800" b="1" dirty="0">
                <a:solidFill>
                  <a:srgbClr val="F7EFE6"/>
                </a:solidFill>
              </a:rPr>
              <a:t>refine</a:t>
            </a:r>
            <a:r>
              <a:rPr lang="en-US" sz="1800" dirty="0">
                <a:solidFill>
                  <a:srgbClr val="F7EFE6"/>
                </a:solidFill>
              </a:rPr>
              <a:t> it.</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Three ways to refine a question</a:t>
            </a:r>
            <a:endParaRPr lang="en-US" sz="2800" dirty="0"/>
          </a:p>
        </p:txBody>
      </p:sp>
      <p:sp>
        <p:nvSpPr>
          <p:cNvPr id="3" name="Text 1"/>
          <p:cNvSpPr txBox="1"/>
          <p:nvPr/>
        </p:nvSpPr>
        <p:spPr>
          <a:xfrm>
            <a:off x="457200" y="1097280"/>
            <a:ext cx="8229600" cy="338328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700" dirty="0">
                <a:solidFill>
                  <a:srgbClr val="2B1D19"/>
                </a:solidFill>
              </a:rPr>
              <a:t>​</a:t>
            </a:r>
            <a:r>
              <a:rPr lang="en-US" sz="1700" b="1" dirty="0">
                <a:solidFill>
                  <a:srgbClr val="2B1D19"/>
                </a:solidFill>
              </a:rPr>
              <a:t>narrow it down:</a:t>
            </a:r>
            <a:r>
              <a:rPr lang="en-US" sz="1700" dirty="0">
                <a:solidFill>
                  <a:srgbClr val="2B1D19"/>
                </a:solidFill>
              </a:rPr>
              <a:t> "Are games getting more expensive?" → "Has the median price changed between 2015 and 2024?"</a:t>
            </a:r>
            <a:endParaRPr lang="en-US" sz="1700" dirty="0"/>
          </a:p>
          <a:p>
            <a:pPr marL="342900" indent="-342900">
              <a:spcAft>
                <a:spcPts val="800"/>
              </a:spcAft>
              <a:buSzPct val="100000"/>
              <a:buChar char="•"/>
            </a:pPr>
            <a:r>
              <a:rPr lang="en-US" sz="1700" dirty="0">
                <a:solidFill>
                  <a:srgbClr val="2B1D19"/>
                </a:solidFill>
              </a:rPr>
              <a:t>​</a:t>
            </a:r>
            <a:r>
              <a:rPr lang="en-US" sz="1700" b="1" dirty="0">
                <a:solidFill>
                  <a:srgbClr val="2B1D19"/>
                </a:solidFill>
              </a:rPr>
              <a:t>swap in a column that works:</a:t>
            </a:r>
            <a:r>
              <a:rPr lang="en-US" sz="1700" dirty="0">
                <a:solidFill>
                  <a:srgbClr val="2B1D19"/>
                </a:solidFill>
              </a:rPr>
              <a:t> if </a:t>
            </a:r>
            <a:r>
              <a:rPr lang="en-US" sz="1500" b="1" dirty="0">
                <a:solidFill>
                  <a:srgbClr val="B86E1E"/>
                </a:solidFill>
                <a:latin typeface="Courier New" pitchFamily="34" charset="0"/>
                <a:ea typeface="Courier New" pitchFamily="34" charset="-122"/>
                <a:cs typeface="Courier New" pitchFamily="34" charset="-120"/>
              </a:rPr>
              <a:t>Metacritic score</a:t>
            </a:r>
            <a:r>
              <a:rPr lang="en-US" sz="1700" dirty="0">
                <a:solidFill>
                  <a:srgbClr val="2B1D19"/>
                </a:solidFill>
              </a:rPr>
              <a:t> is missing, use </a:t>
            </a:r>
            <a:r>
              <a:rPr lang="en-US" sz="1500" b="1" dirty="0">
                <a:solidFill>
                  <a:srgbClr val="B86E1E"/>
                </a:solidFill>
                <a:latin typeface="Courier New" pitchFamily="34" charset="0"/>
                <a:ea typeface="Courier New" pitchFamily="34" charset="-122"/>
                <a:cs typeface="Courier New" pitchFamily="34" charset="-120"/>
              </a:rPr>
              <a:t>Positive</a:t>
            </a:r>
            <a:r>
              <a:rPr lang="en-US" sz="1700" dirty="0">
                <a:solidFill>
                  <a:srgbClr val="2B1D19"/>
                </a:solidFill>
              </a:rPr>
              <a:t> and </a:t>
            </a:r>
            <a:r>
              <a:rPr lang="en-US" sz="1500" b="1" dirty="0">
                <a:solidFill>
                  <a:srgbClr val="B86E1E"/>
                </a:solidFill>
                <a:latin typeface="Courier New" pitchFamily="34" charset="0"/>
                <a:ea typeface="Courier New" pitchFamily="34" charset="-122"/>
                <a:cs typeface="Courier New" pitchFamily="34" charset="-120"/>
              </a:rPr>
              <a:t>Negative</a:t>
            </a:r>
            <a:endParaRPr lang="en-US" sz="1700" dirty="0"/>
          </a:p>
          <a:p>
            <a:pPr marL="342900" indent="-342900">
              <a:spcAft>
                <a:spcPts val="800"/>
              </a:spcAft>
              <a:buSzPct val="100000"/>
              <a:buChar char="•"/>
            </a:pPr>
            <a:r>
              <a:rPr lang="en-US" sz="1700" dirty="0">
                <a:solidFill>
                  <a:srgbClr val="2B1D19"/>
                </a:solidFill>
              </a:rPr>
              <a:t>​</a:t>
            </a:r>
            <a:r>
              <a:rPr lang="en-US" sz="1700" b="1" dirty="0">
                <a:solidFill>
                  <a:srgbClr val="2B1D19"/>
                </a:solidFill>
              </a:rPr>
              <a:t>define the fuzzy words:</a:t>
            </a:r>
            <a:r>
              <a:rPr lang="en-US" sz="1700" dirty="0">
                <a:solidFill>
                  <a:srgbClr val="2B1D19"/>
                </a:solidFill>
              </a:rPr>
              <a:t> "popular" → "has more than 10,000 recommendations"</a:t>
            </a:r>
            <a:endParaRPr lang="en-US" sz="17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457200" y="914400"/>
            <a:ext cx="777240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OUR REFINED QUESTION</a:t>
            </a:r>
            <a:endParaRPr lang="en-US" sz="1400" dirty="0"/>
          </a:p>
        </p:txBody>
      </p:sp>
      <p:sp>
        <p:nvSpPr>
          <p:cNvPr id="3" name="Text 1"/>
          <p:cNvSpPr txBox="1"/>
          <p:nvPr/>
        </p:nvSpPr>
        <p:spPr>
          <a:xfrm>
            <a:off x="457200" y="1325880"/>
            <a:ext cx="7863840" cy="1828800"/>
          </a:xfrm>
          <a:prstGeom prst="rect">
            <a:avLst/>
          </a:prstGeom>
          <a:noFill/>
          <a:ln/>
        </p:spPr>
        <p:txBody>
          <a:bodyPr wrap="square" lIns="0" tIns="0" rIns="0" bIns="0" rtlCol="0" anchor="t">
            <a:normAutofit/>
          </a:bodyPr>
          <a:lstStyle/>
          <a:p>
            <a:pPr indent="0" marL="0">
              <a:spcAft>
                <a:spcPts val="800"/>
              </a:spcAft>
              <a:buNone/>
            </a:pPr>
            <a:r>
              <a:rPr lang="en-US" sz="3000" b="1" dirty="0">
                <a:solidFill>
                  <a:srgbClr val="FFFFFF"/>
                </a:solidFill>
              </a:rPr>
              <a:t>​</a:t>
            </a:r>
            <a:r>
              <a:rPr lang="en-US" sz="3000" b="1" dirty="0">
                <a:solidFill>
                  <a:srgbClr val="FFFFFF"/>
                </a:solidFill>
              </a:rPr>
              <a:t>Do Indie games get a higher review score than games that aren't Indie, and do they cost less?</a:t>
            </a:r>
            <a:endParaRPr lang="en-US" sz="3000" dirty="0"/>
          </a:p>
        </p:txBody>
      </p:sp>
      <p:sp>
        <p:nvSpPr>
          <p:cNvPr id="4" name="Text 2"/>
          <p:cNvSpPr txBox="1"/>
          <p:nvPr/>
        </p:nvSpPr>
        <p:spPr>
          <a:xfrm>
            <a:off x="457200" y="3246120"/>
            <a:ext cx="7315200" cy="914400"/>
          </a:xfrm>
          <a:prstGeom prst="rect">
            <a:avLst/>
          </a:prstGeom>
          <a:noFill/>
          <a:ln/>
        </p:spPr>
        <p:txBody>
          <a:bodyPr wrap="square" lIns="0" tIns="0" rIns="0" bIns="0" rtlCol="0" anchor="t"/>
          <a:lstStyle/>
          <a:p>
            <a:pPr indent="0" marL="0">
              <a:spcAft>
                <a:spcPts val="800"/>
              </a:spcAft>
              <a:buNone/>
            </a:pPr>
            <a:r>
              <a:rPr lang="en-US" sz="1600" dirty="0">
                <a:solidFill>
                  <a:srgbClr val="F7EFE6"/>
                </a:solidFill>
              </a:rPr>
              <a:t>​</a:t>
            </a:r>
            <a:r>
              <a:rPr lang="en-US" sz="1600" dirty="0">
                <a:solidFill>
                  <a:srgbClr val="F7EFE6"/>
                </a:solidFill>
              </a:rPr>
              <a:t>It's more precise, and every part of it can be measured.</a:t>
            </a:r>
            <a:endParaRPr lang="en-US" sz="16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457200" y="457200"/>
            <a:ext cx="777240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CHECK YOUR UNDERSTANDING</a:t>
            </a:r>
            <a:endParaRPr lang="en-US" sz="1400" dirty="0"/>
          </a:p>
        </p:txBody>
      </p:sp>
      <p:sp>
        <p:nvSpPr>
          <p:cNvPr id="3" name="Text 1"/>
          <p:cNvSpPr txBox="1"/>
          <p:nvPr/>
        </p:nvSpPr>
        <p:spPr>
          <a:xfrm>
            <a:off x="457200" y="1005840"/>
            <a:ext cx="7498080" cy="3108960"/>
          </a:xfrm>
          <a:prstGeom prst="rect">
            <a:avLst/>
          </a:prstGeom>
          <a:noFill/>
          <a:ln/>
        </p:spPr>
        <p:txBody>
          <a:bodyPr wrap="square" lIns="0" tIns="0" rIns="0" bIns="0" rtlCol="0" anchor="t">
            <a:normAutofit/>
          </a:bodyPr>
          <a:lstStyle/>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What three features make a question investigable?</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Why do we compare Indie games with every other game rather than with big studios?</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The median Price is 4.19 but the mean is about 6.65. Why are they different?</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Why is a median Metacritic score of 0 suspicious?</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Your data story</a:t>
            </a:r>
            <a:endParaRPr lang="en-US" sz="2800" dirty="0"/>
          </a:p>
        </p:txBody>
      </p:sp>
      <p:sp>
        <p:nvSpPr>
          <p:cNvPr id="3" name="Shape 1"/>
          <p:cNvSpPr/>
          <p:nvPr/>
        </p:nvSpPr>
        <p:spPr>
          <a:xfrm>
            <a:off x="457200" y="1051560"/>
            <a:ext cx="2651760" cy="3429000"/>
          </a:xfrm>
          <a:prstGeom prst="roundRect">
            <a:avLst>
              <a:gd name="adj" fmla="val 2759"/>
            </a:avLst>
          </a:prstGeom>
          <a:solidFill>
            <a:srgbClr val="4E342E"/>
          </a:solidFill>
          <a:ln w="12700">
            <a:solidFill>
              <a:srgbClr val="4E342E"/>
            </a:solidFill>
            <a:prstDash val="solid"/>
          </a:ln>
        </p:spPr>
      </p:sp>
      <p:sp>
        <p:nvSpPr>
          <p:cNvPr id="4" name="Text 2"/>
          <p:cNvSpPr txBox="1"/>
          <p:nvPr/>
        </p:nvSpPr>
        <p:spPr>
          <a:xfrm>
            <a:off x="685800" y="1280160"/>
            <a:ext cx="2194560" cy="822960"/>
          </a:xfrm>
          <a:prstGeom prst="rect">
            <a:avLst/>
          </a:prstGeom>
          <a:noFill/>
          <a:ln/>
        </p:spPr>
        <p:txBody>
          <a:bodyPr wrap="square" lIns="0" tIns="0" rIns="0" bIns="0" rtlCol="0" anchor="t"/>
          <a:lstStyle/>
          <a:p>
            <a:pPr indent="0" marL="0">
              <a:buNone/>
            </a:pPr>
            <a:r>
              <a:rPr lang="en-US" sz="1500" dirty="0">
                <a:solidFill>
                  <a:srgbClr val="F7EFE6"/>
                </a:solidFill>
              </a:rPr>
              <a:t>In my_data_story.md, add the heading</a:t>
            </a:r>
            <a:endParaRPr lang="en-US" sz="1500" dirty="0"/>
          </a:p>
        </p:txBody>
      </p:sp>
      <p:sp>
        <p:nvSpPr>
          <p:cNvPr id="5" name="Text 3"/>
          <p:cNvSpPr txBox="1"/>
          <p:nvPr/>
        </p:nvSpPr>
        <p:spPr>
          <a:xfrm>
            <a:off x="685800" y="2148840"/>
            <a:ext cx="2194560" cy="1097280"/>
          </a:xfrm>
          <a:prstGeom prst="rect">
            <a:avLst/>
          </a:prstGeom>
          <a:noFill/>
          <a:ln/>
        </p:spPr>
        <p:txBody>
          <a:bodyPr wrap="square" lIns="0" tIns="0" rIns="0" bIns="0" rtlCol="0" anchor="t">
            <a:normAutofit/>
          </a:bodyPr>
          <a:lstStyle/>
          <a:p>
            <a:pPr indent="0" marL="0">
              <a:buNone/>
            </a:pPr>
            <a:r>
              <a:rPr lang="en-US" sz="1800" b="1" dirty="0">
                <a:solidFill>
                  <a:srgbClr val="E8A55A"/>
                </a:solidFill>
                <a:latin typeface="Courier New" pitchFamily="34" charset="0"/>
                <a:ea typeface="Courier New" pitchFamily="34" charset="-122"/>
                <a:cs typeface="Courier New" pitchFamily="34" charset="-120"/>
              </a:rPr>
              <a:t>## Choosing a question</a:t>
            </a:r>
            <a:endParaRPr lang="en-US" sz="1800" dirty="0"/>
          </a:p>
        </p:txBody>
      </p:sp>
      <p:sp>
        <p:nvSpPr>
          <p:cNvPr id="6" name="Text 4"/>
          <p:cNvSpPr txBox="1"/>
          <p:nvPr/>
        </p:nvSpPr>
        <p:spPr>
          <a:xfrm>
            <a:off x="3383280" y="1097280"/>
            <a:ext cx="5303520" cy="3383280"/>
          </a:xfrm>
          <a:prstGeom prst="rect">
            <a:avLst/>
          </a:prstGeom>
          <a:noFill/>
          <a:ln/>
        </p:spPr>
        <p:txBody>
          <a:bodyPr wrap="square" lIns="0" tIns="0" rIns="0" bIns="0" rtlCol="0" anchor="t">
            <a:normAutofit/>
          </a:bodyPr>
          <a:lstStyle/>
          <a:p>
            <a:pPr marL="342900" indent="-342900">
              <a:spcAft>
                <a:spcPts val="1000"/>
              </a:spcAft>
              <a:buSzPct val="100000"/>
              <a:buFont typeface="+mj-lt"/>
              <a:buAutoNum type="arabicPeriod" startAt="1"/>
            </a:pPr>
            <a:r>
              <a:rPr lang="en-US" sz="1600" dirty="0">
                <a:solidFill>
                  <a:srgbClr val="2B1D19"/>
                </a:solidFill>
              </a:rPr>
              <a:t>​</a:t>
            </a:r>
            <a:r>
              <a:rPr lang="en-US" sz="1600" dirty="0">
                <a:solidFill>
                  <a:srgbClr val="2B1D19"/>
                </a:solidFill>
              </a:rPr>
              <a:t>Check each question is specific, measurable and open. Rewrite any that aren't.</a:t>
            </a:r>
            <a:endParaRPr lang="en-US" sz="1600" dirty="0"/>
          </a:p>
          <a:p>
            <a:pPr marL="342900" indent="-342900">
              <a:spcAft>
                <a:spcPts val="1000"/>
              </a:spcAft>
              <a:buSzPct val="100000"/>
              <a:buFont typeface="+mj-lt"/>
              <a:buAutoNum type="arabicPeriod" startAt="1"/>
            </a:pPr>
            <a:r>
              <a:rPr lang="en-US" sz="1600" dirty="0">
                <a:solidFill>
                  <a:srgbClr val="2B1D19"/>
                </a:solidFill>
              </a:rPr>
              <a:t>​</a:t>
            </a:r>
            <a:r>
              <a:rPr lang="en-US" sz="1600" dirty="0">
                <a:solidFill>
                  <a:srgbClr val="2B1D19"/>
                </a:solidFill>
              </a:rPr>
              <a:t>Write down what each fuzzy word means.</a:t>
            </a:r>
            <a:endParaRPr lang="en-US" sz="1600" dirty="0"/>
          </a:p>
          <a:p>
            <a:pPr marL="342900" indent="-342900">
              <a:spcAft>
                <a:spcPts val="1000"/>
              </a:spcAft>
              <a:buSzPct val="100000"/>
              <a:buFont typeface="+mj-lt"/>
              <a:buAutoNum type="arabicPeriod" startAt="1"/>
            </a:pPr>
            <a:r>
              <a:rPr lang="en-US" sz="1600" dirty="0">
                <a:solidFill>
                  <a:srgbClr val="2B1D19"/>
                </a:solidFill>
              </a:rPr>
              <a:t>​</a:t>
            </a:r>
            <a:r>
              <a:rPr lang="en-US" sz="1600" dirty="0">
                <a:solidFill>
                  <a:srgbClr val="2B1D19"/>
                </a:solidFill>
              </a:rPr>
              <a:t>Use </a:t>
            </a:r>
            <a:r>
              <a:rPr lang="en-US" sz="1400" b="1" dirty="0">
                <a:solidFill>
                  <a:srgbClr val="B86E1E"/>
                </a:solidFill>
                <a:latin typeface="Courier New" pitchFamily="34" charset="0"/>
                <a:ea typeface="Courier New" pitchFamily="34" charset="-122"/>
                <a:cs typeface="Courier New" pitchFamily="34" charset="-120"/>
              </a:rPr>
              <a:t>describe</a:t>
            </a:r>
            <a:r>
              <a:rPr lang="en-US" sz="1600" dirty="0">
                <a:solidFill>
                  <a:srgbClr val="2B1D19"/>
                </a:solidFill>
              </a:rPr>
              <a:t>, </a:t>
            </a:r>
            <a:r>
              <a:rPr lang="en-US" sz="1400" b="1" dirty="0">
                <a:solidFill>
                  <a:srgbClr val="B86E1E"/>
                </a:solidFill>
                <a:latin typeface="Courier New" pitchFamily="34" charset="0"/>
                <a:ea typeface="Courier New" pitchFamily="34" charset="-122"/>
                <a:cs typeface="Courier New" pitchFamily="34" charset="-120"/>
              </a:rPr>
              <a:t>value_counts</a:t>
            </a:r>
            <a:r>
              <a:rPr lang="en-US" sz="1600" dirty="0">
                <a:solidFill>
                  <a:srgbClr val="2B1D19"/>
                </a:solidFill>
              </a:rPr>
              <a:t> or </a:t>
            </a:r>
            <a:r>
              <a:rPr lang="en-US" sz="1400" b="1" dirty="0">
                <a:solidFill>
                  <a:srgbClr val="B86E1E"/>
                </a:solidFill>
                <a:latin typeface="Courier New" pitchFamily="34" charset="0"/>
                <a:ea typeface="Courier New" pitchFamily="34" charset="-122"/>
                <a:cs typeface="Courier New" pitchFamily="34" charset="-120"/>
              </a:rPr>
              <a:t>str.contains</a:t>
            </a:r>
            <a:r>
              <a:rPr lang="en-US" sz="1600" dirty="0">
                <a:solidFill>
                  <a:srgbClr val="2B1D19"/>
                </a:solidFill>
              </a:rPr>
              <a:t> on the columns each question needs. Is there enough real data?</a:t>
            </a:r>
            <a:endParaRPr lang="en-US" sz="1600" dirty="0"/>
          </a:p>
          <a:p>
            <a:pPr marL="342900" indent="-342900">
              <a:spcAft>
                <a:spcPts val="1000"/>
              </a:spcAft>
              <a:buSzPct val="100000"/>
              <a:buFont typeface="+mj-lt"/>
              <a:buAutoNum type="arabicPeriod" startAt="1"/>
            </a:pPr>
            <a:r>
              <a:rPr lang="en-US" sz="1600" dirty="0">
                <a:solidFill>
                  <a:srgbClr val="2B1D19"/>
                </a:solidFill>
              </a:rPr>
              <a:t>​</a:t>
            </a:r>
            <a:r>
              <a:rPr lang="en-US" sz="1600" dirty="0">
                <a:solidFill>
                  <a:srgbClr val="2B1D19"/>
                </a:solidFill>
              </a:rPr>
              <a:t>Refine any question the data can't answer.</a:t>
            </a:r>
            <a:endParaRPr lang="en-US" sz="1600" dirty="0"/>
          </a:p>
          <a:p>
            <a:pPr marL="342900" indent="-342900">
              <a:spcAft>
                <a:spcPts val="1000"/>
              </a:spcAft>
              <a:buSzPct val="100000"/>
              <a:buFont typeface="+mj-lt"/>
              <a:buAutoNum type="arabicPeriod" startAt="1"/>
            </a:pPr>
            <a:r>
              <a:rPr lang="en-US" sz="1600" dirty="0">
                <a:solidFill>
                  <a:srgbClr val="2B1D19"/>
                </a:solidFill>
              </a:rPr>
              <a:t>​</a:t>
            </a:r>
            <a:r>
              <a:rPr lang="en-US" sz="1600" dirty="0">
                <a:solidFill>
                  <a:srgbClr val="2B1D19"/>
                </a:solidFill>
              </a:rPr>
              <a:t>Choose </a:t>
            </a:r>
            <a:r>
              <a:rPr lang="en-US" sz="1600" b="1" dirty="0">
                <a:solidFill>
                  <a:srgbClr val="2B1D19"/>
                </a:solidFill>
              </a:rPr>
              <a:t>one</a:t>
            </a:r>
            <a:r>
              <a:rPr lang="en-US" sz="1600" dirty="0">
                <a:solidFill>
                  <a:srgbClr val="2B1D19"/>
                </a:solidFill>
              </a:rPr>
              <a:t> question, say why, and put it on its own line.</a:t>
            </a:r>
            <a:endParaRPr lang="en-US" sz="16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29</a:t>
            </a:fld>
            <a:endParaRPr lang="en-US"/>
          </a:p>
        </p:txBody>
      </p:sp>
    </p:spTree>
  </p:cSld>
  <p:clrMapOvr>
    <a:masterClrMapping/>
  </p:clrMapOvr>
</p:sld>
</file>

<file path=ppt/theme/theme1.xml><?xml version="1.0" encoding="utf-8"?>
<a:theme xmlns:a="http://schemas.openxmlformats.org/drawingml/2006/main" name="Steam Data Stories">
  <a:themeElements>
    <a:clrScheme name="Steam Data Stories">
      <a:dk1>
        <a:srgbClr val="2B1D19"/>
      </a:dk1>
      <a:lt1>
        <a:srgbClr val="FFFFFF"/>
      </a:lt1>
      <a:dk2>
        <a:srgbClr val="4E342E"/>
      </a:dk2>
      <a:lt2>
        <a:srgbClr val="F7EFE6"/>
      </a:lt2>
      <a:accent1>
        <a:srgbClr val="E8A55A"/>
      </a:accent1>
      <a:accent2>
        <a:srgbClr val="6D4C41"/>
      </a:accent2>
      <a:accent3>
        <a:srgbClr val="1D5F8A"/>
      </a:accent3>
      <a:accent4>
        <a:srgbClr val="2E6B30"/>
      </a:accent4>
      <a:accent5>
        <a:srgbClr val="B0185E"/>
      </a:accent5>
      <a:accent6>
        <a:srgbClr val="8A5A00"/>
      </a:accent6>
      <a:hlink>
        <a:srgbClr val="B86E1E"/>
      </a:hlink>
      <a:folHlink>
        <a:srgbClr val="6D4C41"/>
      </a:folHlink>
    </a:clrScheme>
    <a:fontScheme name="Steam Data Storie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Asking a Question Data Can Answer</dc:title>
  <dc:subject>PptxGenJS Presentation</dc:subject>
  <dc:creator>Steam Data Stories</dc:creator>
  <cp:lastModifiedBy>Steam Data Stories</cp:lastModifiedBy>
  <cp:revision>1</cp:revision>
  <dcterms:created xsi:type="dcterms:W3CDTF">2026-10-13T11:22:34Z</dcterms:created>
  <dcterms:modified xsi:type="dcterms:W3CDTF">2026-10-13T11:22:34Z</dcterms:modified>
</cp:coreProperties>
</file>