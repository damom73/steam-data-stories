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cdc060e-ac09-ac02-f830-66f4547d7c20}">
          <p14:sldIdLst>
            <p14:sldId id="256"/>
            <p14:sldId id="257"/>
            <p14:sldId id="258"/>
            <p14:sldId id="259"/>
            <p14:sldId id="260"/>
          </p14:sldIdLst>
        </p14:section>
        <p14:section name="A new notebook" id="{75d82bfb-e7fd-15fb-05a6-a33e286dee6a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alculating a review score" id="{dea8f259-4507-d2cb-9d1c-5d80edd283af}">
          <p14:sldIdLst>
            <p14:sldId id="267"/>
            <p14:sldId id="268"/>
            <p14:sldId id="269"/>
            <p14:sldId id="270"/>
          </p14:sldIdLst>
        </p14:section>
        <p14:section name="Years and groups" id="{1919054a-e5b5-7f63-dce6-f74681a82cbb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Wrap up" id="{f844aafa-376d-e605-8bda-e6436541f2c4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Rising Insights lesson. We start a second notebook for our story and make three new columns: review score, release year and group. About 60 minutes: 5 min hook, 15 min new notebook, 15 min review score, 15 min years and groups, 10 min Your data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intentions aloud. Point out that cleaning is finished: from now on we're finding things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one new term today. Contrast a literal with a column: pl.col("Genres") is different in every row, pl.lit("Indie") is the same in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when we fixed our data and saved clean_games.parquet. Ask: what was the last thing we did in clean_steam.py? (Saved the clean data.)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the rows: each column on the left becomes a new column on the right. We'll make all three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cleaning and storytelling in separate notebooks means each one stays short enough to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find another problem in the data later, we fix it in clean_steam.py, run its saving cell again, then re-run steam_story.py.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that steam_story.py appears in VS Code's Explorer panel. Circulate: some students will type the command in the wrong folder or without the venv active.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it in the empty first cell and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check the column types: Release date is still a date, and the missing Metacritic scores are still nulls. Parquet kept all our cleaning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sometimes worry they've overwritten their raw data. They haven't.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those two games is better liked? (Neither: both 90%.) Raw review counts just tell us which games are most played. The review score lets us compare games of any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PRIMM: predict, run, investigate. We round to 1 decimal place because more digits wouldn't change any comparison and would make the table harder to read. We only show four columns so we can check the calculation by eye.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check the first row on a calculator: 1025 / (1025 + 210) × 100 = 83.0.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investigate question: what happens if we delete the alias line? (Positive gets replaced by the score.)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add these to the same with_columns as the review score, because they all describe the same games and belong in the same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why for the next cell. Students change the existing cell, not add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title: change existing cell. PRIMM: before running, ask what the new Release year and Group columns will show. The highlighted lines are the new ones; the next slide explains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pl.lit means the same text for every matching row, rather than a column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pl.col("Price") == 0 with .alias("Free"), added inside the same with_columns.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look down the Genres and Group columns together and check a few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see this pay off when we make bar charts and histograms.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or use mini whiteboards.
Answers:
1. Raw counts just tell us which games are most played. A percentage lets us compare games of any size.
2. Our clean data is saved as a Parquet file, which keeps our dates and nulls.
3. The new column takes the name of the first column in the calculation, Positive, and replaces it.
4. A literal: the same text, Indie, for every matching row, rather than a column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last 10 minutes. Checking rows by hand is the habit to reinforce: a calculator check on two or three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am-data-stories/doc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914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E3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am-data-stories/doc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069080"/>
            <a:ext cx="777240" cy="777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am-data-stories/doc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55A"/>
                </a:solidFill>
              </a:rPr>
              <a:t>RISING INSIGHTS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EFE6"/>
                </a:solidFill>
              </a:rPr>
              <a:t>Lesson 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Making New Columns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EFE6"/>
                </a:solidFill>
              </a:rPr>
              <a:t>Steam Data Stories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In this lesson we will learn</a:t>
            </a:r>
            <a:endParaRPr lang="en-US" sz="2800" dirty="0"/>
          </a:p>
        </p:txBody>
      </p:sp>
      <p:sp>
        <p:nvSpPr>
          <p:cNvPr id="3" name="learn box"/>
          <p:cNvSpPr/>
          <p:nvPr/>
        </p:nvSpPr>
        <p:spPr>
          <a:xfrm>
            <a:off x="457200" y="1097280"/>
            <a:ext cx="8229600" cy="2697480"/>
          </a:xfrm>
          <a:prstGeom prst="roundRect">
            <a:avLst>
              <a:gd name="adj" fmla="val 2712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</a:rPr>
              <a:t>Learning intentions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what the Rising Insights stage of our story does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how to start a second notebook and load our clean data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how to calculate a new column from other columns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how to sort games into groups with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pl.when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Terminology</a:t>
            </a:r>
            <a:endParaRPr lang="en-US" sz="2800" dirty="0"/>
          </a:p>
        </p:txBody>
      </p:sp>
      <p:sp>
        <p:nvSpPr>
          <p:cNvPr id="3" name="terms box"/>
          <p:cNvSpPr/>
          <p:nvPr/>
        </p:nvSpPr>
        <p:spPr>
          <a:xfrm>
            <a:off x="457200" y="1097280"/>
            <a:ext cx="8229600" cy="1630680"/>
          </a:xfrm>
          <a:prstGeom prst="roundRect">
            <a:avLst>
              <a:gd name="adj" fmla="val 4486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4242"/>
                </a:solidFill>
              </a:rPr>
              <a:t>New terms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777240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b="1" dirty="0">
                <a:solidFill>
                  <a:srgbClr val="2B1D19"/>
                </a:solidFill>
              </a:rPr>
              <a:t>literal</a:t>
            </a:r>
            <a:r>
              <a:rPr lang="en-US" sz="2000" dirty="0">
                <a:solidFill>
                  <a:srgbClr val="2B1D19"/>
                </a:solidFill>
              </a:rPr>
              <a:t> – a value written straight into our code, such as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pl.lit("Indie")</a:t>
            </a:r>
            <a:r>
              <a:rPr lang="en-US" sz="2000" dirty="0">
                <a:solidFill>
                  <a:srgbClr val="2B1D19"/>
                </a:solidFill>
              </a:rPr>
              <a:t>, that is the same for every row.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55A"/>
                </a:solidFill>
              </a:rPr>
              <a:t>RISING INSIGHTS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</a:rPr>
              <a:t>​</a:t>
            </a:r>
            <a:r>
              <a:rPr lang="en-US" sz="3000" b="1" dirty="0">
                <a:solidFill>
                  <a:srgbClr val="FFFFFF"/>
                </a:solidFill>
              </a:rPr>
              <a:t>Our data is clean. Now we can start finding things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46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EFE6"/>
                </a:solidFill>
              </a:rPr>
              <a:t>​</a:t>
            </a:r>
            <a:r>
              <a:rPr lang="en-US" sz="1600" dirty="0">
                <a:solidFill>
                  <a:srgbClr val="F7EFE6"/>
                </a:solidFill>
              </a:rPr>
              <a:t>Each Rising Insights lesson adds one more piece of evidence to our story, building up to the Aha Moment.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The columns we need aren't in the data yet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BF7F2"/>
          </a:solidFill>
          <a:ln w="12700">
            <a:solidFill>
              <a:srgbClr val="E5DB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E342E"/>
                </a:solidFill>
              </a:rPr>
              <a:t>Steam gives us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the number of positive and negative reviews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full release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list of each game's genres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3ECE6"/>
          </a:solidFill>
          <a:ln w="12700">
            <a:solidFill>
              <a:srgbClr val="E5DB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E342E"/>
                </a:solidFill>
              </a:rPr>
              <a:t>Our question needs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</a:t>
            </a:r>
            <a:r>
              <a:rPr lang="en-US" sz="1500" b="1" dirty="0">
                <a:solidFill>
                  <a:srgbClr val="2B1D19"/>
                </a:solidFill>
              </a:rPr>
              <a:t>review score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release </a:t>
            </a:r>
            <a:r>
              <a:rPr lang="en-US" sz="1500" b="1" dirty="0">
                <a:solidFill>
                  <a:srgbClr val="2B1D19"/>
                </a:solidFill>
              </a:rPr>
              <a:t>year</a:t>
            </a:r>
            <a:r>
              <a:rPr lang="en-US" sz="1500" dirty="0">
                <a:solidFill>
                  <a:srgbClr val="2B1D19"/>
                </a:solidFill>
              </a:rPr>
              <a:t>, to compare years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simple label: </a:t>
            </a:r>
            <a:r>
              <a:rPr lang="en-US" sz="1500" b="1" dirty="0">
                <a:solidFill>
                  <a:srgbClr val="2B1D19"/>
                </a:solidFill>
              </a:rPr>
              <a:t>Indie or not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 new notebook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EFE6"/>
                </a:solidFill>
              </a:rPr>
              <a:t>​</a:t>
            </a:r>
            <a:r>
              <a:rPr lang="en-US" sz="1800" dirty="0">
                <a:solidFill>
                  <a:srgbClr val="F7EFE6"/>
                </a:solidFill>
              </a:rPr>
              <a:t>From now on we'll work in </a:t>
            </a:r>
            <a:r>
              <a:rPr lang="en-US" sz="16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steam_story.py</a:t>
            </a:r>
            <a:r>
              <a:rPr lang="en-US" sz="1800" dirty="0">
                <a:solidFill>
                  <a:srgbClr val="F7EFE6"/>
                </a:solidFill>
              </a:rPr>
              <a:t>, which starts from the clean data we saved.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Why two notebooks?</a:t>
            </a:r>
            <a:endParaRPr lang="en-US" sz="2800" dirty="0"/>
          </a:p>
        </p:txBody>
      </p:sp>
      <p:sp>
        <p:nvSpPr>
          <p:cNvPr id="3" name="tip box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E3F1FB"/>
          </a:solidFill>
          <a:ln w="12700">
            <a:solidFill>
              <a:srgbClr val="E3F1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8A"/>
                </a:solidFill>
              </a:rPr>
              <a:t>Data scientists keep cleaning separate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b="1" dirty="0">
                <a:solidFill>
                  <a:srgbClr val="2B1D19"/>
                </a:solidFill>
              </a:rPr>
              <a:t>each notebook has one job:</a:t>
            </a:r>
            <a:r>
              <a:rPr lang="en-US" sz="2000" dirty="0">
                <a:solidFill>
                  <a:srgbClr val="2B1D19"/>
                </a:solidFill>
              </a:rPr>
              <a:t> cleaning, or telling the story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b="1" dirty="0">
                <a:solidFill>
                  <a:srgbClr val="2B1D19"/>
                </a:solidFill>
              </a:rPr>
              <a:t>our story starts from trusted data:</a:t>
            </a:r>
            <a:r>
              <a:rPr lang="en-US" sz="2000" dirty="0">
                <a:solidFill>
                  <a:srgbClr val="2B1D19"/>
                </a:solidFill>
              </a:rPr>
              <a:t> every chart uses the same clean file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b="1" dirty="0">
                <a:solidFill>
                  <a:srgbClr val="2B1D19"/>
                </a:solidFill>
              </a:rPr>
              <a:t>our audience sees only the story:</a:t>
            </a:r>
            <a:r>
              <a:rPr lang="en-US" sz="2000" dirty="0">
                <a:solidFill>
                  <a:srgbClr val="2B1D19"/>
                </a:solidFill>
              </a:rPr>
              <a:t> cleaning stays behind the scenes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b="1" dirty="0">
                <a:solidFill>
                  <a:srgbClr val="2B1D19"/>
                </a:solidFill>
              </a:rPr>
              <a:t>it's faster:</a:t>
            </a:r>
            <a:r>
              <a:rPr lang="en-US" sz="2000" dirty="0">
                <a:solidFill>
                  <a:srgbClr val="2B1D19"/>
                </a:solidFill>
              </a:rPr>
              <a:t> loading the Parquet file beats repeating every cleaning step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Start the second notebook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dirty="0">
                <a:solidFill>
                  <a:srgbClr val="2B1D19"/>
                </a:solidFill>
              </a:rPr>
              <a:t>If marimo is still running, click in the VS Code terminal and press </a:t>
            </a:r>
            <a:r>
              <a:rPr lang="en-US" sz="1700" b="1" dirty="0">
                <a:solidFill>
                  <a:srgbClr val="2B1D19"/>
                </a:solidFill>
              </a:rPr>
              <a:t>Ctrl+C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dirty="0">
                <a:solidFill>
                  <a:srgbClr val="2B1D19"/>
                </a:solidFill>
              </a:rPr>
              <a:t>Type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700" dirty="0">
                <a:solidFill>
                  <a:srgbClr val="2B1D19"/>
                </a:solidFill>
              </a:rPr>
              <a:t> and press </a:t>
            </a:r>
            <a:r>
              <a:rPr lang="en-US" sz="1700" b="1" dirty="0">
                <a:solidFill>
                  <a:srgbClr val="2B1D19"/>
                </a:solidFill>
              </a:rPr>
              <a:t>Enter</a:t>
            </a:r>
            <a:r>
              <a:rPr lang="en-US" sz="1700" dirty="0">
                <a:solidFill>
                  <a:srgbClr val="2B1D19"/>
                </a:solidFill>
              </a:rPr>
              <a:t>. The terminal shows the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</a:t>
            </a:r>
            <a:r>
              <a:rPr lang="en-US" sz="1700" dirty="0">
                <a:solidFill>
                  <a:srgbClr val="2B1D19"/>
                </a:solidFill>
              </a:rPr>
              <a:t> prompt again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dirty="0">
                <a:solidFill>
                  <a:srgbClr val="2B1D19"/>
                </a:solidFill>
              </a:rPr>
              <a:t>Type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marimo edit steam_story.py</a:t>
            </a:r>
            <a:r>
              <a:rPr lang="en-US" sz="1700" dirty="0">
                <a:solidFill>
                  <a:srgbClr val="2B1D19"/>
                </a:solidFill>
              </a:rPr>
              <a:t> and press </a:t>
            </a:r>
            <a:r>
              <a:rPr lang="en-US" sz="1700" b="1" dirty="0">
                <a:solidFill>
                  <a:srgbClr val="2B1D19"/>
                </a:solidFill>
              </a:rPr>
              <a:t>Enter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dirty="0">
                <a:solidFill>
                  <a:srgbClr val="2B1D19"/>
                </a:solidFill>
              </a:rPr>
              <a:t>A new browser tab opens with an empty notebook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First, import Polars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3840480" cy="786765"/>
          </a:xfrm>
          <a:prstGeom prst="roundRect">
            <a:avLst>
              <a:gd name="adj" fmla="val 6973"/>
            </a:avLst>
          </a:prstGeom>
          <a:solidFill>
            <a:srgbClr val="2B1D19"/>
          </a:solidFill>
          <a:ln w="12700">
            <a:solidFill>
              <a:srgbClr val="2B1D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55A"/>
                </a:solidFill>
              </a:rPr>
              <a:t>steam_story.py — first cell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594360" y="1508760"/>
            <a:ext cx="356616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4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polars as pl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1E"/>
                </a:solidFill>
              </a:rPr>
              <a:t>Why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99032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new notebook knows nothing about the last one, so the first thing it needs is Polars.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Load our clean data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120640" cy="1024890"/>
          </a:xfrm>
          <a:prstGeom prst="roundRect">
            <a:avLst>
              <a:gd name="adj" fmla="val 5353"/>
            </a:avLst>
          </a:prstGeom>
          <a:solidFill>
            <a:srgbClr val="2B1D19"/>
          </a:solidFill>
          <a:ln w="12700">
            <a:solidFill>
              <a:srgbClr val="2B1D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55A"/>
                </a:solidFill>
              </a:rPr>
              <a:t>steam_story.py — new cell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594360" y="1508760"/>
            <a:ext cx="4846320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1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 = pl.read_parquet("data/clean_games.parquet")</a:t>
            </a:r>
            <a:endParaRPr lang="en-US" sz="1100" dirty="0"/>
          </a:p>
          <a:p>
            <a:pPr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1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6789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b="1" dirty="0">
                <a:solidFill>
                  <a:srgbClr val="2B1D19"/>
                </a:solidFill>
              </a:rPr>
              <a:t>10250</a:t>
            </a:r>
            <a:r>
              <a:rPr lang="en-US" sz="1500" dirty="0">
                <a:solidFill>
                  <a:srgbClr val="2B1D19"/>
                </a:solidFill>
              </a:rPr>
              <a:t> rows and </a:t>
            </a:r>
            <a:r>
              <a:rPr lang="en-US" sz="1500" b="1" dirty="0">
                <a:solidFill>
                  <a:srgbClr val="2B1D19"/>
                </a:solidFill>
              </a:rPr>
              <a:t>10</a:t>
            </a:r>
            <a:r>
              <a:rPr lang="en-US" sz="1500" dirty="0">
                <a:solidFill>
                  <a:srgbClr val="2B1D19"/>
                </a:solidFill>
              </a:rPr>
              <a:t> columns, just like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clean_games</a:t>
            </a:r>
            <a:r>
              <a:rPr lang="en-US" sz="1500" dirty="0">
                <a:solidFill>
                  <a:srgbClr val="2B1D19"/>
                </a:solidFill>
              </a:rPr>
              <a:t> when we saved it.</a:t>
            </a:r>
            <a:endParaRPr lang="en-US" sz="1500" dirty="0"/>
          </a:p>
        </p:txBody>
      </p:sp>
      <p:sp>
        <p:nvSpPr>
          <p:cNvPr id="7" name="primm box"/>
          <p:cNvSpPr/>
          <p:nvPr/>
        </p:nvSpPr>
        <p:spPr>
          <a:xfrm>
            <a:off x="457200" y="2670810"/>
            <a:ext cx="5120640" cy="1285240"/>
          </a:xfrm>
          <a:prstGeom prst="roundRect">
            <a:avLst>
              <a:gd name="adj" fmla="val 5692"/>
            </a:avLst>
          </a:prstGeom>
          <a:solidFill>
            <a:srgbClr val="E6F2E6"/>
          </a:solidFill>
          <a:ln w="12700">
            <a:solidFill>
              <a:srgbClr val="E6F2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0797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30"/>
                </a:solidFill>
              </a:rPr>
              <a:t>Predict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73730"/>
            <a:ext cx="466344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How many rows and columns will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r>
              <a:rPr lang="en-US" sz="1500" dirty="0">
                <a:solidFill>
                  <a:srgbClr val="2B1D19"/>
                </a:solidFill>
              </a:rPr>
              <a:t> have? What data type will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date</a:t>
            </a:r>
            <a:r>
              <a:rPr lang="en-US" sz="1500" dirty="0">
                <a:solidFill>
                  <a:srgbClr val="2B1D19"/>
                </a:solidFill>
              </a:rPr>
              <a:t> be?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1E"/>
                </a:solidFill>
              </a:rPr>
              <a:t>Why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399032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Our file is a Parquet file, so we use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pl.read_parquet</a:t>
            </a:r>
            <a:r>
              <a:rPr lang="en-US" sz="1500" dirty="0">
                <a:solidFill>
                  <a:srgbClr val="2B1D19"/>
                </a:solidFill>
              </a:rPr>
              <a:t> instead of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pl.read_csv</a:t>
            </a:r>
            <a:r>
              <a:rPr lang="en-US" sz="1500" dirty="0">
                <a:solidFill>
                  <a:srgbClr val="2B1D19"/>
                </a:solidFill>
              </a:rPr>
              <a:t>. We call it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r>
              <a:rPr lang="en-US" sz="1500" dirty="0">
                <a:solidFill>
                  <a:srgbClr val="2B1D19"/>
                </a:solidFill>
              </a:rPr>
              <a:t> because every later cell starts from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games in two notebooks</a:t>
            </a:r>
            <a:endParaRPr lang="en-US" sz="2800" dirty="0"/>
          </a:p>
        </p:txBody>
      </p:sp>
      <p:sp>
        <p:nvSpPr>
          <p:cNvPr id="3" name="tip box"/>
          <p:cNvSpPr/>
          <p:nvPr/>
        </p:nvSpPr>
        <p:spPr>
          <a:xfrm>
            <a:off x="457200" y="1051560"/>
            <a:ext cx="8229600" cy="1910080"/>
          </a:xfrm>
          <a:prstGeom prst="roundRect">
            <a:avLst>
              <a:gd name="adj" fmla="val 3830"/>
            </a:avLst>
          </a:prstGeom>
          <a:solidFill>
            <a:srgbClr val="E3F1FB"/>
          </a:solidFill>
          <a:ln w="12700">
            <a:solidFill>
              <a:srgbClr val="E3F1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8A"/>
                </a:solidFill>
              </a:rPr>
              <a:t>Good to know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772400" cy="122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r>
              <a:rPr lang="en-US" sz="2000" dirty="0">
                <a:solidFill>
                  <a:srgbClr val="2B1D19"/>
                </a:solidFill>
              </a:rPr>
              <a:t> in this notebook is our clean data, but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games</a:t>
            </a:r>
            <a:r>
              <a:rPr lang="en-US" sz="2000" dirty="0">
                <a:solidFill>
                  <a:srgbClr val="2B1D19"/>
                </a:solidFill>
              </a:rPr>
              <a:t> in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clean_steam.py</a:t>
            </a:r>
            <a:r>
              <a:rPr lang="en-US" sz="2000" dirty="0">
                <a:solidFill>
                  <a:srgbClr val="2B1D19"/>
                </a:solidFill>
              </a:rPr>
              <a:t> is the raw data. That's fine: each notebook has its own variables, so the two can't clash.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Calculating a review score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EFE6"/>
                </a:solidFill>
              </a:rPr>
              <a:t>​</a:t>
            </a:r>
            <a:r>
              <a:rPr lang="en-US" sz="1800" dirty="0">
                <a:solidFill>
                  <a:srgbClr val="F7EFE6"/>
                </a:solidFill>
              </a:rPr>
              <a:t>900 positive and 100 negative, or 9,000 positive and 1,000 negative: both are liked by 90% of reviewers.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Work out the percentage of positive reviews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8229600" cy="1977390"/>
          </a:xfrm>
          <a:prstGeom prst="roundRect">
            <a:avLst>
              <a:gd name="adj" fmla="val 2775"/>
            </a:avLst>
          </a:prstGeom>
          <a:solidFill>
            <a:srgbClr val="2B1D19"/>
          </a:solidFill>
          <a:ln w="12700">
            <a:solidFill>
              <a:srgbClr val="2B1D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55A"/>
                </a:solidFill>
              </a:rPr>
              <a:t>steam_story.py — new cell</a:t>
            </a:r>
            <a:endParaRPr lang="en-US" sz="1200" dirty="0"/>
          </a:p>
        </p:txBody>
      </p:sp>
      <p:sp>
        <p:nvSpPr>
          <p:cNvPr id="5" name="Code"/>
          <p:cNvSpPr txBox="1"/>
          <p:nvPr/>
        </p:nvSpPr>
        <p:spPr>
          <a:xfrm>
            <a:off x="594360" y="1508760"/>
            <a:ext cx="7955280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= games.with_columns(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(pl.col("Positive") / (pl.col("Positive") + pl.col("Negative")) * 100)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.round(1)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.alias("Review score"),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3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scored.select("Name", "Positive", "Negative", "Review score")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20390"/>
            <a:ext cx="822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b="1" dirty="0">
                <a:solidFill>
                  <a:srgbClr val="2B1D19"/>
                </a:solidFill>
              </a:rPr>
              <a:t>Why:</a:t>
            </a:r>
            <a:r>
              <a:rPr lang="en-US" sz="1500" dirty="0">
                <a:solidFill>
                  <a:srgbClr val="2B1D19"/>
                </a:solidFill>
              </a:rPr>
              <a:t>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r>
              <a:rPr lang="en-US" sz="1500" dirty="0">
                <a:solidFill>
                  <a:srgbClr val="2B1D19"/>
                </a:solidFill>
              </a:rPr>
              <a:t> divided by the total reviews, times 100, rounded to 1 decimal place.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with_columns</a:t>
            </a:r>
            <a:r>
              <a:rPr lang="en-US" sz="1500" dirty="0">
                <a:solidFill>
                  <a:srgbClr val="2B1D19"/>
                </a:solidFill>
              </a:rPr>
              <a:t> keeps every column and adds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Every game has a review score</a:t>
            </a:r>
            <a:endParaRPr lang="en-US" sz="2800" dirty="0"/>
          </a:p>
        </p:txBody>
      </p:sp>
      <p:pic>
        <p:nvPicPr>
          <p:cNvPr id="3" name="Image 0" descr="The scored table in marimo showing the Name, Positive, Negative and Review score columns, with Fantasy General II in the first 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577840" cy="30069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097280"/>
            <a:ext cx="2377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Fantasy General II: 1,025 positive, 210 negative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so its review score is </a:t>
            </a:r>
            <a:r>
              <a:rPr lang="en-US" sz="1500" b="1" dirty="0">
                <a:solidFill>
                  <a:srgbClr val="2B1D19"/>
                </a:solidFill>
              </a:rPr>
              <a:t>83.0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every game has a score, because every game has at least 500 reviews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alias names a new column</a:t>
            </a:r>
            <a:endParaRPr lang="en-US" sz="2800" dirty="0"/>
          </a:p>
        </p:txBody>
      </p:sp>
      <p:sp>
        <p:nvSpPr>
          <p:cNvPr id="3" name="tip box"/>
          <p:cNvSpPr/>
          <p:nvPr/>
        </p:nvSpPr>
        <p:spPr>
          <a:xfrm>
            <a:off x="457200" y="1051560"/>
            <a:ext cx="8229600" cy="1910080"/>
          </a:xfrm>
          <a:prstGeom prst="roundRect">
            <a:avLst>
              <a:gd name="adj" fmla="val 3830"/>
            </a:avLst>
          </a:prstGeom>
          <a:solidFill>
            <a:srgbClr val="E3F1FB"/>
          </a:solidFill>
          <a:ln w="12700">
            <a:solidFill>
              <a:srgbClr val="E3F1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8A"/>
                </a:solidFill>
              </a:rPr>
              <a:t>Remember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772400" cy="122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Without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2000" dirty="0">
                <a:solidFill>
                  <a:srgbClr val="2B1D19"/>
                </a:solidFill>
              </a:rPr>
              <a:t>, the new column would take the name of the first column in the calculation,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</a:t>
            </a:r>
            <a:r>
              <a:rPr lang="en-US" sz="2000" dirty="0">
                <a:solidFill>
                  <a:srgbClr val="2B1D19"/>
                </a:solidFill>
              </a:rPr>
              <a:t>, and replace it.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2000" dirty="0">
                <a:solidFill>
                  <a:srgbClr val="2B1D19"/>
                </a:solidFill>
              </a:rPr>
              <a:t> gives it its own name.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Years and groups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EFE6"/>
                </a:solidFill>
              </a:rPr>
              <a:t>​</a:t>
            </a:r>
            <a:r>
              <a:rPr lang="en-US" sz="1800" dirty="0">
                <a:solidFill>
                  <a:srgbClr val="F7EFE6"/>
                </a:solidFill>
              </a:rPr>
              <a:t>Two more columns: the release </a:t>
            </a:r>
            <a:r>
              <a:rPr lang="en-US" sz="1800" b="1" dirty="0">
                <a:solidFill>
                  <a:srgbClr val="F7EFE6"/>
                </a:solidFill>
              </a:rPr>
              <a:t>year</a:t>
            </a:r>
            <a:r>
              <a:rPr lang="en-US" sz="1800" dirty="0">
                <a:solidFill>
                  <a:srgbClr val="F7EFE6"/>
                </a:solidFill>
              </a:rPr>
              <a:t>, and a </a:t>
            </a:r>
            <a:r>
              <a:rPr lang="en-US" sz="1800" b="1" dirty="0">
                <a:solidFill>
                  <a:srgbClr val="F7EFE6"/>
                </a:solidFill>
              </a:rPr>
              <a:t>group</a:t>
            </a:r>
            <a:r>
              <a:rPr lang="en-US" sz="1800" dirty="0">
                <a:solidFill>
                  <a:srgbClr val="F7EFE6"/>
                </a:solidFill>
              </a:rPr>
              <a:t> that labels every game </a:t>
            </a:r>
            <a:r>
              <a:rPr lang="en-US" sz="16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r>
              <a:rPr lang="en-US" sz="1800" dirty="0">
                <a:solidFill>
                  <a:srgbClr val="F7EFE6"/>
                </a:solidFill>
              </a:rPr>
              <a:t> or </a:t>
            </a:r>
            <a:r>
              <a:rPr lang="en-US" sz="16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Indie</a:t>
            </a:r>
            <a:r>
              <a:rPr lang="en-US" sz="1800" dirty="0">
                <a:solidFill>
                  <a:srgbClr val="F7EFE6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Two more columns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BF7F2"/>
          </a:solidFill>
          <a:ln w="12700">
            <a:solidFill>
              <a:srgbClr val="E5DBD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E342E"/>
                </a:solidFill>
              </a:rPr>
              <a:t>Release year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our question asks whether Indie games have done better </a:t>
            </a:r>
            <a:r>
              <a:rPr lang="en-US" sz="1500" b="1" dirty="0">
                <a:solidFill>
                  <a:srgbClr val="2B1D19"/>
                </a:solidFill>
              </a:rPr>
              <a:t>over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every single date would give thousands of tiny groups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we use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dt.year</a:t>
            </a:r>
            <a:r>
              <a:rPr lang="en-US" sz="1500" dirty="0">
                <a:solidFill>
                  <a:srgbClr val="2B1D19"/>
                </a:solidFill>
              </a:rPr>
              <a:t> to pull the year out of a 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3ECE6"/>
          </a:solidFill>
          <a:ln w="12700">
            <a:solidFill>
              <a:srgbClr val="E5DB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E342E"/>
                </a:solidFill>
              </a:rPr>
              <a:t>Group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the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</a:t>
            </a:r>
            <a:r>
              <a:rPr lang="en-US" sz="1500" dirty="0">
                <a:solidFill>
                  <a:srgbClr val="2B1D19"/>
                </a:solidFill>
              </a:rPr>
              <a:t> column holds text like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Action,Adventure,Indie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a game is Indie if that text contains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we use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pl.when</a:t>
            </a:r>
            <a:r>
              <a:rPr lang="en-US" sz="1500" dirty="0">
                <a:solidFill>
                  <a:srgbClr val="2B1D19"/>
                </a:solidFill>
              </a:rPr>
              <a:t> to give each row one label if a test is true, another if not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Add the year and the group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8229600" cy="2804160"/>
          </a:xfrm>
          <a:prstGeom prst="roundRect">
            <a:avLst>
              <a:gd name="adj" fmla="val 1957"/>
            </a:avLst>
          </a:prstGeom>
          <a:solidFill>
            <a:srgbClr val="2B1D19"/>
          </a:solidFill>
          <a:ln w="12700">
            <a:solidFill>
              <a:srgbClr val="2B1D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55A"/>
                </a:solidFill>
              </a:rPr>
              <a:t>steam_story.py — change existing cell</a:t>
            </a:r>
            <a:endParaRPr lang="en-US" sz="1200" dirty="0"/>
          </a:p>
        </p:txBody>
      </p:sp>
      <p:sp>
        <p:nvSpPr>
          <p:cNvPr id="5" name="Highlight"/>
          <p:cNvSpPr/>
          <p:nvPr/>
        </p:nvSpPr>
        <p:spPr>
          <a:xfrm>
            <a:off x="530352" y="22707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6" name="Highlight"/>
          <p:cNvSpPr/>
          <p:nvPr/>
        </p:nvSpPr>
        <p:spPr>
          <a:xfrm>
            <a:off x="530352" y="24612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7" name="Highlight"/>
          <p:cNvSpPr/>
          <p:nvPr/>
        </p:nvSpPr>
        <p:spPr>
          <a:xfrm>
            <a:off x="530352" y="26517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8" name="Highlight"/>
          <p:cNvSpPr/>
          <p:nvPr/>
        </p:nvSpPr>
        <p:spPr>
          <a:xfrm>
            <a:off x="530352" y="28422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9" name="Highlight"/>
          <p:cNvSpPr/>
          <p:nvPr/>
        </p:nvSpPr>
        <p:spPr>
          <a:xfrm>
            <a:off x="530352" y="30327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10" name="Highlight"/>
          <p:cNvSpPr/>
          <p:nvPr/>
        </p:nvSpPr>
        <p:spPr>
          <a:xfrm>
            <a:off x="530352" y="3413760"/>
            <a:ext cx="8083296" cy="190500"/>
          </a:xfrm>
          <a:prstGeom prst="rect">
            <a:avLst/>
          </a:prstGeom>
          <a:solidFill>
            <a:srgbClr val="5A3A1E"/>
          </a:solidFill>
          <a:ln w="12700">
            <a:solidFill>
              <a:srgbClr val="5A3A1E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594360" y="1508760"/>
            <a:ext cx="7955280" cy="2141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= games.with_columns(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(pl.col("Positive") / (pl.col("Positive") + pl.col("Negative")) * 100)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.round(1)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.alias("Review score"),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pl.col("Release date").dt.year().alias("Release year"),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pl.when(pl.col("Genres").str.contains("Indie"))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.then(pl.lit("Indie"))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.otherwise(pl.lit("Not Indie"))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.alias("Group"),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C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200" dirty="0">
                <a:solidFill>
                  <a:srgbClr val="F7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scored.select("Name", "Review score", "Release year", "Genres", "Group")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47160"/>
            <a:ext cx="82296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b="1" dirty="0">
                <a:solidFill>
                  <a:srgbClr val="2B1D19"/>
                </a:solidFill>
              </a:rPr>
              <a:t>Why:</a:t>
            </a:r>
            <a:r>
              <a:rPr lang="en-US" sz="1500" dirty="0">
                <a:solidFill>
                  <a:srgbClr val="2B1D19"/>
                </a:solidFill>
              </a:rPr>
              <a:t> We add the year and group to the same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with_columns</a:t>
            </a:r>
            <a:r>
              <a:rPr lang="en-US" sz="1500" dirty="0">
                <a:solidFill>
                  <a:srgbClr val="2B1D19"/>
                </a:solidFill>
              </a:rPr>
              <a:t> as the review score, because they all describe the same games and belong in the same 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What the new lines 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b="1" dirty="0">
                <a:solidFill>
                  <a:srgbClr val="2B1D19"/>
                </a:solidFill>
              </a:rPr>
              <a:t>line 5</a:t>
            </a:r>
            <a:r>
              <a:rPr lang="en-US" sz="1700" dirty="0">
                <a:solidFill>
                  <a:srgbClr val="2B1D19"/>
                </a:solidFill>
              </a:rPr>
              <a:t> → gets the year from each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date</a:t>
            </a:r>
            <a:r>
              <a:rPr lang="en-US" sz="1700" dirty="0">
                <a:solidFill>
                  <a:srgbClr val="2B1D19"/>
                </a:solidFill>
              </a:rPr>
              <a:t> with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dt.year</a:t>
            </a:r>
            <a:r>
              <a:rPr lang="en-US" sz="1700" dirty="0">
                <a:solidFill>
                  <a:srgbClr val="2B1D19"/>
                </a:solidFill>
              </a:rPr>
              <a:t>, named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year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b="1" dirty="0">
                <a:solidFill>
                  <a:srgbClr val="2B1D19"/>
                </a:solidFill>
              </a:rPr>
              <a:t>line 6</a:t>
            </a:r>
            <a:r>
              <a:rPr lang="en-US" sz="1700" dirty="0">
                <a:solidFill>
                  <a:srgbClr val="2B1D19"/>
                </a:solidFill>
              </a:rPr>
              <a:t> →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pl.when</a:t>
            </a:r>
            <a:r>
              <a:rPr lang="en-US" sz="1700" dirty="0">
                <a:solidFill>
                  <a:srgbClr val="2B1D19"/>
                </a:solidFill>
              </a:rPr>
              <a:t> works like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dirty="0">
                <a:solidFill>
                  <a:srgbClr val="2B1D19"/>
                </a:solidFill>
              </a:rPr>
              <a:t>: does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</a:t>
            </a:r>
            <a:r>
              <a:rPr lang="en-US" sz="1700" dirty="0">
                <a:solidFill>
                  <a:srgbClr val="2B1D19"/>
                </a:solidFill>
              </a:rPr>
              <a:t> contain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r>
              <a:rPr lang="en-US" sz="1700" dirty="0">
                <a:solidFill>
                  <a:srgbClr val="2B1D19"/>
                </a:solidFill>
              </a:rPr>
              <a:t>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b="1" dirty="0">
                <a:solidFill>
                  <a:srgbClr val="2B1D19"/>
                </a:solidFill>
              </a:rPr>
              <a:t>line 7</a:t>
            </a:r>
            <a:r>
              <a:rPr lang="en-US" sz="1700" dirty="0">
                <a:solidFill>
                  <a:srgbClr val="2B1D19"/>
                </a:solidFill>
              </a:rPr>
              <a:t> → if it does, the value is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pl.lit("Indie")</a:t>
            </a:r>
            <a:r>
              <a:rPr lang="en-US" sz="1700" dirty="0">
                <a:solidFill>
                  <a:srgbClr val="2B1D19"/>
                </a:solidFill>
              </a:rPr>
              <a:t>, a </a:t>
            </a:r>
            <a:r>
              <a:rPr lang="en-US" sz="1700" b="1" dirty="0">
                <a:solidFill>
                  <a:srgbClr val="2B1D19"/>
                </a:solidFill>
              </a:rPr>
              <a:t>literal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b="1" dirty="0">
                <a:solidFill>
                  <a:srgbClr val="2B1D19"/>
                </a:solidFill>
              </a:rPr>
              <a:t>line 8</a:t>
            </a:r>
            <a:r>
              <a:rPr lang="en-US" sz="1700" dirty="0">
                <a:solidFill>
                  <a:srgbClr val="2B1D19"/>
                </a:solidFill>
              </a:rPr>
              <a:t> → otherwise,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Indie</a:t>
            </a:r>
            <a:r>
              <a:rPr lang="en-US" sz="1700" dirty="0">
                <a:solidFill>
                  <a:srgbClr val="2B1D19"/>
                </a:solidFill>
              </a:rPr>
              <a:t>, like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700" dirty="0">
                <a:solidFill>
                  <a:srgbClr val="2B1D19"/>
                </a:solidFill>
              </a:rPr>
              <a:t> in Python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1D19"/>
                </a:solidFill>
              </a:rPr>
              <a:t>​</a:t>
            </a:r>
            <a:r>
              <a:rPr lang="en-US" sz="1700" b="1" dirty="0">
                <a:solidFill>
                  <a:srgbClr val="2B1D19"/>
                </a:solidFill>
              </a:rPr>
              <a:t>line 9</a:t>
            </a:r>
            <a:r>
              <a:rPr lang="en-US" sz="1700" dirty="0">
                <a:solidFill>
                  <a:srgbClr val="2B1D19"/>
                </a:solidFill>
              </a:rPr>
              <a:t> → names the column </a:t>
            </a:r>
            <a:r>
              <a:rPr lang="en-US" sz="15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700" dirty="0">
                <a:solidFill>
                  <a:srgbClr val="2B1D19"/>
                </a:solidFill>
              </a:rPr>
              <a:t>. </a:t>
            </a:r>
            <a:r>
              <a:rPr lang="en-US" sz="1700" b="1" dirty="0">
                <a:solidFill>
                  <a:srgbClr val="2B1D19"/>
                </a:solidFill>
              </a:rPr>
              <a:t>Line 11</a:t>
            </a:r>
            <a:r>
              <a:rPr lang="en-US" sz="1700" dirty="0">
                <a:solidFill>
                  <a:srgbClr val="2B1D19"/>
                </a:solidFill>
              </a:rPr>
              <a:t> shows five columns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Add a Free column</a:t>
            </a:r>
            <a:endParaRPr lang="en-US" sz="2800" dirty="0"/>
          </a:p>
        </p:txBody>
      </p:sp>
      <p:sp>
        <p:nvSpPr>
          <p:cNvPr id="3" name="primm box"/>
          <p:cNvSpPr/>
          <p:nvPr/>
        </p:nvSpPr>
        <p:spPr>
          <a:xfrm>
            <a:off x="457200" y="1051560"/>
            <a:ext cx="8229600" cy="2037080"/>
          </a:xfrm>
          <a:prstGeom prst="roundRect">
            <a:avLst>
              <a:gd name="adj" fmla="val 3591"/>
            </a:avLst>
          </a:prstGeom>
          <a:solidFill>
            <a:srgbClr val="E6F2E6"/>
          </a:solidFill>
          <a:ln w="12700">
            <a:solidFill>
              <a:srgbClr val="E6F2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30"/>
                </a:solidFill>
              </a:rPr>
              <a:t>PRIMM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772400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Add a column called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r>
              <a:rPr lang="en-US" sz="2000" dirty="0">
                <a:solidFill>
                  <a:srgbClr val="2B1D19"/>
                </a:solidFill>
              </a:rPr>
              <a:t> that is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2000" dirty="0">
                <a:solidFill>
                  <a:srgbClr val="2B1D19"/>
                </a:solidFill>
              </a:rPr>
              <a:t> when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2000" dirty="0">
                <a:solidFill>
                  <a:srgbClr val="2B1D19"/>
                </a:solidFill>
              </a:rPr>
              <a:t> is 0.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Hint: we don't need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pl.when</a:t>
            </a:r>
            <a:r>
              <a:rPr lang="en-US" sz="2000" dirty="0">
                <a:solidFill>
                  <a:srgbClr val="2B1D19"/>
                </a:solidFill>
              </a:rPr>
              <a:t>, because a comparison already gives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2000" dirty="0">
                <a:solidFill>
                  <a:srgbClr val="2B1D19"/>
                </a:solidFill>
              </a:rPr>
              <a:t> or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2000" dirty="0">
                <a:solidFill>
                  <a:srgbClr val="2B1D19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Every game has a year and a group</a:t>
            </a:r>
            <a:endParaRPr lang="en-US" sz="2800" dirty="0"/>
          </a:p>
        </p:txBody>
      </p:sp>
      <p:pic>
        <p:nvPicPr>
          <p:cNvPr id="3" name="Image 0" descr="The scored table in marimo showing the Name, Review score, Release year, Genres and Group columns, with each game labelled Indie or Not Ind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352" y="1051560"/>
            <a:ext cx="5445536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09360" y="1097280"/>
            <a:ext cx="2377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every game now has a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year</a:t>
            </a:r>
            <a:r>
              <a:rPr lang="en-US" sz="1500" dirty="0">
                <a:solidFill>
                  <a:srgbClr val="2B1D19"/>
                </a:solidFill>
              </a:rPr>
              <a:t> and a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games with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r>
              <a:rPr lang="en-US" sz="1500" dirty="0">
                <a:solidFill>
                  <a:srgbClr val="2B1D19"/>
                </a:solidFill>
              </a:rPr>
              <a:t> in their genres →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r>
              <a:rPr lang="en-US" sz="1500" dirty="0">
                <a:solidFill>
                  <a:srgbClr val="2B1D19"/>
                </a:solidFill>
              </a:rPr>
              <a:t> group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D19"/>
                </a:solidFill>
              </a:rPr>
              <a:t>​</a:t>
            </a:r>
            <a:r>
              <a:rPr lang="en-US" sz="1500" dirty="0">
                <a:solidFill>
                  <a:srgbClr val="2B1D19"/>
                </a:solidFill>
              </a:rPr>
              <a:t>every other game → </a:t>
            </a:r>
            <a:r>
              <a:rPr lang="en-US" sz="13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Indie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Why a text label?</a:t>
            </a:r>
            <a:endParaRPr lang="en-US" sz="2800" dirty="0"/>
          </a:p>
        </p:txBody>
      </p:sp>
      <p:sp>
        <p:nvSpPr>
          <p:cNvPr id="3" name="tip box"/>
          <p:cNvSpPr/>
          <p:nvPr/>
        </p:nvSpPr>
        <p:spPr>
          <a:xfrm>
            <a:off x="457200" y="1051560"/>
            <a:ext cx="8229600" cy="1910080"/>
          </a:xfrm>
          <a:prstGeom prst="roundRect">
            <a:avLst>
              <a:gd name="adj" fmla="val 3830"/>
            </a:avLst>
          </a:prstGeom>
          <a:solidFill>
            <a:srgbClr val="E3F1FB"/>
          </a:solidFill>
          <a:ln w="12700">
            <a:solidFill>
              <a:srgbClr val="E3F1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F8A"/>
                </a:solidFill>
              </a:rPr>
              <a:t>Design choice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7772400" cy="122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1D19"/>
                </a:solidFill>
              </a:rPr>
              <a:t>​</a:t>
            </a:r>
            <a:r>
              <a:rPr lang="en-US" sz="2000" dirty="0">
                <a:solidFill>
                  <a:srgbClr val="2B1D19"/>
                </a:solidFill>
              </a:rPr>
              <a:t>We could have made a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2000" dirty="0">
                <a:solidFill>
                  <a:srgbClr val="2B1D19"/>
                </a:solidFill>
              </a:rPr>
              <a:t>/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2000" dirty="0">
                <a:solidFill>
                  <a:srgbClr val="2B1D19"/>
                </a:solidFill>
              </a:rPr>
              <a:t> column instead. A text label like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Indie</a:t>
            </a:r>
            <a:r>
              <a:rPr lang="en-US" sz="2000" dirty="0">
                <a:solidFill>
                  <a:srgbClr val="2B1D19"/>
                </a:solidFill>
              </a:rPr>
              <a:t> or </a:t>
            </a:r>
            <a:r>
              <a:rPr lang="en-US" sz="18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Indie</a:t>
            </a:r>
            <a:r>
              <a:rPr lang="en-US" sz="2000" dirty="0">
                <a:solidFill>
                  <a:srgbClr val="2B1D19"/>
                </a:solidFill>
              </a:rPr>
              <a:t> is easier to read in tables, and it will appear in our chart legends without any extra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55A"/>
                </a:solidFill>
              </a:rPr>
              <a:t>CHECK YOUR UNDERSTANDING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</a:rPr>
              <a:t>​</a:t>
            </a:r>
            <a:r>
              <a:rPr lang="en-US" sz="2000" dirty="0">
                <a:solidFill>
                  <a:srgbClr val="FFFFFF"/>
                </a:solidFill>
              </a:rPr>
              <a:t>Why do we use a review score instead of raw review counts?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</a:rPr>
              <a:t>​</a:t>
            </a:r>
            <a:r>
              <a:rPr lang="en-US" sz="2000" dirty="0">
                <a:solidFill>
                  <a:srgbClr val="FFFFFF"/>
                </a:solidFill>
              </a:rPr>
              <a:t>Why do we use </a:t>
            </a:r>
            <a:r>
              <a:rPr lang="en-US" sz="18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pl.read_parquet</a:t>
            </a:r>
            <a:r>
              <a:rPr lang="en-US" sz="2000" dirty="0">
                <a:solidFill>
                  <a:srgbClr val="FFFFFF"/>
                </a:solidFill>
              </a:rPr>
              <a:t> in our story notebook?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</a:rPr>
              <a:t>​</a:t>
            </a:r>
            <a:r>
              <a:rPr lang="en-US" sz="2000" dirty="0">
                <a:solidFill>
                  <a:srgbClr val="FFFFFF"/>
                </a:solidFill>
              </a:rPr>
              <a:t>What happens if we leave out </a:t>
            </a:r>
            <a:r>
              <a:rPr lang="en-US" sz="18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2000" dirty="0">
                <a:solidFill>
                  <a:srgbClr val="FFFFFF"/>
                </a:solidFill>
              </a:rPr>
              <a:t>?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FFFFF"/>
                </a:solidFill>
              </a:rPr>
              <a:t>​</a:t>
            </a:r>
            <a:r>
              <a:rPr lang="en-US" sz="2000" dirty="0">
                <a:solidFill>
                  <a:srgbClr val="FFFFFF"/>
                </a:solidFill>
              </a:rPr>
              <a:t>What does </a:t>
            </a:r>
            <a:r>
              <a:rPr lang="en-US" sz="18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pl.lit("Indie")</a:t>
            </a:r>
            <a:r>
              <a:rPr lang="en-US" sz="2000" dirty="0">
                <a:solidFill>
                  <a:srgbClr val="FFFFFF"/>
                </a:solidFill>
              </a:rPr>
              <a:t> mean?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7EFE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E342E"/>
                </a:solidFill>
              </a:rPr>
              <a:t>Your data 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EFE6"/>
                </a:solidFill>
              </a:rPr>
              <a:t>In my_data_story.md, add the heading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A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New columns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097280"/>
            <a:ext cx="5303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1D19"/>
                </a:solidFill>
              </a:rPr>
              <a:t>​</a:t>
            </a:r>
            <a:r>
              <a:rPr lang="en-US" sz="1600" dirty="0">
                <a:solidFill>
                  <a:srgbClr val="2B1D19"/>
                </a:solidFill>
              </a:rPr>
              <a:t>Write down one new column your question needs that isn't in the data, and how you could calculate it from the columns you have.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1D19"/>
                </a:solidFill>
              </a:rPr>
              <a:t>​</a:t>
            </a:r>
            <a:r>
              <a:rPr lang="en-US" sz="1600" dirty="0">
                <a:solidFill>
                  <a:srgbClr val="2B1D19"/>
                </a:solidFill>
              </a:rPr>
              <a:t>Add it to the </a:t>
            </a:r>
            <a:r>
              <a:rPr lang="en-US" sz="14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</a:t>
            </a:r>
            <a:r>
              <a:rPr lang="en-US" sz="1600" dirty="0">
                <a:solidFill>
                  <a:srgbClr val="2B1D19"/>
                </a:solidFill>
              </a:rPr>
              <a:t> cell, run it, and check a few rows by hand to make sure the values are right.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B1D19"/>
                </a:solidFill>
              </a:rPr>
              <a:t>​</a:t>
            </a:r>
            <a:r>
              <a:rPr lang="en-US" sz="1600" dirty="0">
                <a:solidFill>
                  <a:srgbClr val="2B1D19"/>
                </a:solidFill>
              </a:rPr>
              <a:t>If your question compares groups, write a </a:t>
            </a:r>
            <a:r>
              <a:rPr lang="en-US" sz="1400" b="1" dirty="0">
                <a:solidFill>
                  <a:srgbClr val="B86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pl.when</a:t>
            </a:r>
            <a:r>
              <a:rPr lang="en-US" sz="1600" dirty="0">
                <a:solidFill>
                  <a:srgbClr val="2B1D19"/>
                </a:solidFill>
              </a:rPr>
              <a:t> that labels each game with its group.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am Data Stories">
  <a:themeElements>
    <a:clrScheme name="Steam Data Stories">
      <a:dk1>
        <a:srgbClr val="2B1D19"/>
      </a:dk1>
      <a:lt1>
        <a:srgbClr val="FFFFFF"/>
      </a:lt1>
      <a:dk2>
        <a:srgbClr val="4E342E"/>
      </a:dk2>
      <a:lt2>
        <a:srgbClr val="F7EFE6"/>
      </a:lt2>
      <a:accent1>
        <a:srgbClr val="E8A55A"/>
      </a:accent1>
      <a:accent2>
        <a:srgbClr val="6D4C41"/>
      </a:accent2>
      <a:accent3>
        <a:srgbClr val="1D5F8A"/>
      </a:accent3>
      <a:accent4>
        <a:srgbClr val="2E6B30"/>
      </a:accent4>
      <a:accent5>
        <a:srgbClr val="B0185E"/>
      </a:accent5>
      <a:accent6>
        <a:srgbClr val="8A5A00"/>
      </a:accent6>
      <a:hlink>
        <a:srgbClr val="B86E1E"/>
      </a:hlink>
      <a:folHlink>
        <a:srgbClr val="6D4C41"/>
      </a:folHlink>
    </a:clrScheme>
    <a:fontScheme name="Steam Data Storie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New Columns</dc:title>
  <dc:subject>PptxGenJS Presentation</dc:subject>
  <dc:creator>Steam Data Stories</dc:creator>
  <cp:lastModifiedBy>Steam Data Stories</cp:lastModifiedBy>
  <cp:revision>1</cp:revision>
  <dcterms:created xsi:type="dcterms:W3CDTF">2026-10-13T11:22:47Z</dcterms:created>
  <dcterms:modified xsi:type="dcterms:W3CDTF">2026-10-13T11:22:47Z</dcterms:modified>
</cp:coreProperties>
</file>