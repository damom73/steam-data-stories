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d0c2c65-1927-196b-b3bc-db3da26ec3d0}">
          <p14:sldIdLst>
            <p14:sldId id="256"/>
            <p14:sldId id="257"/>
            <p14:sldId id="258"/>
            <p14:sldId id="259"/>
          </p14:sldIdLst>
        </p14:section>
        <p14:section name="Finding outliers" id="{2434cff5-6c40-58a4-9fdb-080a850a43a0}">
          <p14:sldIdLst>
            <p14:sldId id="260"/>
            <p14:sldId id="261"/>
            <p14:sldId id="262"/>
            <p14:sldId id="263"/>
            <p14:sldId id="264"/>
            <p14:sldId id="265"/>
            <p14:sldId id="266"/>
            <p14:sldId id="267"/>
            <p14:sldId id="268"/>
            <p14:sldId id="269"/>
            <p14:sldId id="270"/>
            <p14:sldId id="271"/>
            <p14:sldId id="272"/>
            <p14:sldId id="273"/>
          </p14:sldIdLst>
        </p14:section>
        <p14:section name="Making a prediction" id="{d1482273-893d-e900-0bf9-1e20c8cb9ace}">
          <p14:sldIdLst>
            <p14:sldId id="274"/>
            <p14:sldId id="275"/>
            <p14:sldId id="276"/>
            <p14:sldId id="277"/>
            <p14:sldId id="278"/>
          </p14:sldIdLst>
        </p14:section>
        <p14:section name="Wrap up" id="{156beebf-4228-f08c-938f-575c48e1725f}">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work out where the dots on our box plots come from, decide what to do about them, then make a prediction and check it. About 60 minutes: 5 min hook, 15 min quartiles, IQR and the upper fence, 15 min finding and checking outliers, 15 min prediction, 10 min Your data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intentions aloud. The last one is unusual: we'll make a prediction that turns out wrong, and learn something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new terms that build on each other. Don't explain them fully yet: the next slides take them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is an outlier? (A value much further away from the rest than most.) Who decided which dots to draw? (Plotly, using a rule we'll learn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decide what counts as far away, we first need to know where most of the values are. That's what quartiles tell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it out: line up a few students by height and point to the quartiles. Link back to box plots: the bottom of the box is Q1 and the top is Q3.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IQR is the height of the box on a box plot. Ask: would review scores or prices have the bigger IQR in dollars-or-points terms? Don't worry about the answer; the point is it measures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formula on the board. Next slide explains why each part of it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Measuring in IQRs means the same rule works for prices, review scores or anything else: tightly bunched data gets a fence close to Q3, spread-out data a fence further away. For data shaped like a bell curve, fewer than 1 in 100 values land outside the fences.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ask students to predict roughly how many games will be outliers before running. Line 5 shows two values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the calculation on the board so students see the formula turn into a number. 1.5 × 8.10 = 12.15, and 9.59 + 12.15 = 21.74.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scores can't go above 100, so students should find no games above the fence. The interesting outliers for review scores are on the low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decide anything about these 438 games, we need to know whether their prices are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scroll to the end of the table to see the cheapest outliers. Conclusion: these prices are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quick habit that saves checking hundreds of rows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predict: will most outliers be Indie or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explains what we saw when we compared the mean and median prices: the mean gap was bigger than the median gap because of these expensive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IQR rule tells us which values to look at, not which ones to delete. And because we're using medians, a few expensive games can't distort our main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per_year was made when we summarised groups. Take a quick guess from the class before any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predict, run, investigate. The way people make and review games has changed a lot since 2010, which is why we only use recent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look back at per_year to find the 2025 count. Give them a minute in pairs to come up with reasons before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a limitation worth telling our audience about: our data has fewer recent games, and the recent games it has are the ones that got popular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wrong prediction taught us about a limitation of our data. That's a win, not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or use mini whiteboards.
Answers:
1. How spread out the middle half of the values are: the distance from Q1 to Q3.
2. IQR = $8.10, so the fence is $9.59 + 1.5 × $8.10 = $21.74.
3. They're real games at real prices, not mistakes. The IQR rule tells us which values to look at, not which to delete.
4. Our data only includes games with at least 500 reviews, and many 2025 games haven't had time to reach 500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last 10 minutes. The limitations list will go into the finished story, so it's worth keeping up to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5989320" y="914400"/>
            <a:ext cx="2743200" cy="27432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001000" y="4069080"/>
            <a:ext cx="777240" cy="77724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503920" y="4572000"/>
            <a:ext cx="411480" cy="41148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530352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RISING INSIGHTS</a:t>
            </a:r>
            <a:endParaRPr lang="en-US" sz="1400" dirty="0"/>
          </a:p>
        </p:txBody>
      </p:sp>
      <p:sp>
        <p:nvSpPr>
          <p:cNvPr id="3" name="Text 1"/>
          <p:cNvSpPr txBox="1"/>
          <p:nvPr/>
        </p:nvSpPr>
        <p:spPr>
          <a:xfrm>
            <a:off x="457200" y="1325880"/>
            <a:ext cx="5303520" cy="457200"/>
          </a:xfrm>
          <a:prstGeom prst="rect">
            <a:avLst/>
          </a:prstGeom>
          <a:noFill/>
          <a:ln/>
        </p:spPr>
        <p:txBody>
          <a:bodyPr wrap="square" lIns="0" tIns="0" rIns="0" bIns="0" rtlCol="0" anchor="ctr"/>
          <a:lstStyle/>
          <a:p>
            <a:pPr indent="0" marL="0">
              <a:buNone/>
            </a:pPr>
            <a:r>
              <a:rPr lang="en-US" sz="2000" dirty="0">
                <a:solidFill>
                  <a:srgbClr val="F7EFE6"/>
                </a:solidFill>
              </a:rPr>
              <a:t>Lesson 12</a:t>
            </a:r>
            <a:endParaRPr lang="en-US" sz="2000" dirty="0"/>
          </a:p>
        </p:txBody>
      </p:sp>
      <p:sp>
        <p:nvSpPr>
          <p:cNvPr id="4" name="Text 2"/>
          <p:cNvSpPr txBox="1"/>
          <p:nvPr/>
        </p:nvSpPr>
        <p:spPr>
          <a:xfrm>
            <a:off x="457200" y="1783080"/>
            <a:ext cx="5303520" cy="1463040"/>
          </a:xfrm>
          <a:prstGeom prst="rect">
            <a:avLst/>
          </a:prstGeom>
          <a:noFill/>
          <a:ln/>
        </p:spPr>
        <p:txBody>
          <a:bodyPr wrap="square" lIns="0" tIns="0" rIns="0" bIns="0" rtlCol="0" anchor="t">
            <a:normAutofit/>
          </a:bodyPr>
          <a:lstStyle/>
          <a:p>
            <a:pPr indent="0" marL="0">
              <a:buNone/>
            </a:pPr>
            <a:r>
              <a:rPr lang="en-US" sz="4000" b="1" dirty="0">
                <a:solidFill>
                  <a:srgbClr val="FFFFFF"/>
                </a:solidFill>
              </a:rPr>
              <a:t>Outliers and Predictions</a:t>
            </a:r>
            <a:endParaRPr lang="en-US" sz="4000" dirty="0"/>
          </a:p>
        </p:txBody>
      </p:sp>
      <p:sp>
        <p:nvSpPr>
          <p:cNvPr id="5" name="Text 3"/>
          <p:cNvSpPr txBox="1"/>
          <p:nvPr/>
        </p:nvSpPr>
        <p:spPr>
          <a:xfrm>
            <a:off x="457200" y="4206240"/>
            <a:ext cx="5303520" cy="365760"/>
          </a:xfrm>
          <a:prstGeom prst="rect">
            <a:avLst/>
          </a:prstGeom>
          <a:noFill/>
          <a:ln/>
        </p:spPr>
        <p:txBody>
          <a:bodyPr wrap="square" lIns="0" tIns="0" rIns="0" bIns="0" rtlCol="0" anchor="ctr"/>
          <a:lstStyle/>
          <a:p>
            <a:pPr indent="0" marL="0">
              <a:buNone/>
            </a:pPr>
            <a:r>
              <a:rPr lang="en-US" sz="1400" dirty="0">
                <a:solidFill>
                  <a:srgbClr val="F7EFE6"/>
                </a:solidFill>
              </a:rPr>
              <a:t>Steam Data Stories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In this lesson we will learn</a:t>
            </a:r>
            <a:endParaRPr lang="en-US" sz="2800" dirty="0"/>
          </a:p>
        </p:txBody>
      </p:sp>
      <p:sp>
        <p:nvSpPr>
          <p:cNvPr id="3" name="learn box"/>
          <p:cNvSpPr/>
          <p:nvPr/>
        </p:nvSpPr>
        <p:spPr>
          <a:xfrm>
            <a:off x="457200" y="1097280"/>
            <a:ext cx="8229600" cy="2697480"/>
          </a:xfrm>
          <a:prstGeom prst="roundRect">
            <a:avLst>
              <a:gd name="adj" fmla="val 2712"/>
            </a:avLst>
          </a:prstGeom>
          <a:solidFill>
            <a:srgbClr val="FFF4DC"/>
          </a:solidFill>
          <a:ln w="12700">
            <a:solidFill>
              <a:srgbClr val="FFF4DC"/>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8A5A00"/>
                </a:solidFill>
              </a:rPr>
              <a:t>Learning intentions</a:t>
            </a:r>
            <a:endParaRPr lang="en-US" sz="1600" dirty="0"/>
          </a:p>
        </p:txBody>
      </p:sp>
      <p:sp>
        <p:nvSpPr>
          <p:cNvPr id="5" name="Text 3"/>
          <p:cNvSpPr txBox="1"/>
          <p:nvPr/>
        </p:nvSpPr>
        <p:spPr>
          <a:xfrm>
            <a:off x="685800" y="1645920"/>
            <a:ext cx="7772400" cy="20116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dirty="0">
                <a:solidFill>
                  <a:srgbClr val="2B1D19"/>
                </a:solidFill>
              </a:rPr>
              <a:t>how to find outliers with the interquartile range</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decide whether to keep an outlier</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make a simple prediction from a trend</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check a prediction, and what to do when it's wrong</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Terminology</a:t>
            </a:r>
            <a:endParaRPr lang="en-US" sz="2800" dirty="0"/>
          </a:p>
        </p:txBody>
      </p:sp>
      <p:sp>
        <p:nvSpPr>
          <p:cNvPr id="3" name="terms box"/>
          <p:cNvSpPr/>
          <p:nvPr/>
        </p:nvSpPr>
        <p:spPr>
          <a:xfrm>
            <a:off x="457200" y="1097280"/>
            <a:ext cx="8229600" cy="3429000"/>
          </a:xfrm>
          <a:prstGeom prst="roundRect">
            <a:avLst>
              <a:gd name="adj" fmla="val 2133"/>
            </a:avLst>
          </a:prstGeom>
          <a:solidFill>
            <a:srgbClr val="EEEEEE"/>
          </a:solidFill>
          <a:ln w="12700">
            <a:solidFill>
              <a:srgbClr val="EEEEEE"/>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424242"/>
                </a:solidFill>
              </a:rPr>
              <a:t>New terms</a:t>
            </a:r>
            <a:endParaRPr lang="en-US" sz="1600" dirty="0"/>
          </a:p>
        </p:txBody>
      </p:sp>
      <p:sp>
        <p:nvSpPr>
          <p:cNvPr id="5" name="Text 3"/>
          <p:cNvSpPr txBox="1"/>
          <p:nvPr/>
        </p:nvSpPr>
        <p:spPr>
          <a:xfrm>
            <a:off x="685800" y="1645920"/>
            <a:ext cx="7772400" cy="274320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b="1" dirty="0">
                <a:solidFill>
                  <a:srgbClr val="2B1D19"/>
                </a:solidFill>
              </a:rPr>
              <a:t>quartile</a:t>
            </a:r>
            <a:r>
              <a:rPr lang="en-US" sz="2000" dirty="0">
                <a:solidFill>
                  <a:srgbClr val="2B1D19"/>
                </a:solidFill>
              </a:rPr>
              <a:t> – one of the three values that split sorted data into four equal parts: Q1 (25%), the median (50%) and Q3 (75%).</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interquartile range</a:t>
            </a:r>
            <a:r>
              <a:rPr lang="en-US" sz="2000" dirty="0">
                <a:solidFill>
                  <a:srgbClr val="2B1D19"/>
                </a:solidFill>
              </a:rPr>
              <a:t> – the distance between the first quartile (Q1) and the third quartile (Q3), also called the IQR.</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upper fence</a:t>
            </a:r>
            <a:r>
              <a:rPr lang="en-US" sz="2000" dirty="0">
                <a:solidFill>
                  <a:srgbClr val="2B1D19"/>
                </a:solidFill>
              </a:rPr>
              <a:t> – Q3 plus 1.5 times the interquartile range; values above it count as outliers.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REMEMBER</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Our box plots showed dots beyond the whiskers: outliers</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Today we work out where those dots come from and decide what to do about them. Then we use a trend to make a </a:t>
            </a:r>
            <a:r>
              <a:rPr lang="en-US" sz="1600" b="1" dirty="0">
                <a:solidFill>
                  <a:srgbClr val="F7EFE6"/>
                </a:solidFill>
              </a:rPr>
              <a:t>prediction</a:t>
            </a:r>
            <a:r>
              <a:rPr lang="en-US" sz="1600" dirty="0">
                <a:solidFill>
                  <a:srgbClr val="F7EFE6"/>
                </a:solidFill>
              </a:rPr>
              <a:t>.</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Finding outliers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We'll look in </a:t>
            </a:r>
            <a:r>
              <a:rPr lang="en-US" sz="1600" dirty="0">
                <a:solidFill>
                  <a:srgbClr val="E8A55A"/>
                </a:solidFill>
                <a:latin typeface="Courier New" pitchFamily="34" charset="0"/>
                <a:ea typeface="Courier New" pitchFamily="34" charset="-122"/>
                <a:cs typeface="Courier New" pitchFamily="34" charset="-120"/>
              </a:rPr>
              <a:t>Price</a:t>
            </a:r>
            <a:r>
              <a:rPr lang="en-US" sz="1800" dirty="0">
                <a:solidFill>
                  <a:srgbClr val="F7EFE6"/>
                </a:solidFill>
              </a:rPr>
              <a:t>: when we compared mean and median prices, the big gap hinted that a few very expensive games were pulling the mean up.</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Quartiles</a:t>
            </a:r>
            <a:endParaRPr lang="en-US" sz="2800" dirty="0"/>
          </a:p>
        </p:txBody>
      </p:sp>
      <p:sp>
        <p:nvSpPr>
          <p:cNvPr id="3" name="Text 1"/>
          <p:cNvSpPr txBox="1"/>
          <p:nvPr/>
        </p:nvSpPr>
        <p:spPr>
          <a:xfrm>
            <a:off x="457200" y="1097280"/>
            <a:ext cx="8229600" cy="68580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2B1D19"/>
                </a:solidFill>
              </a:rPr>
              <a:t>​</a:t>
            </a:r>
            <a:r>
              <a:rPr lang="en-US" sz="1600" dirty="0">
                <a:solidFill>
                  <a:srgbClr val="2B1D19"/>
                </a:solidFill>
              </a:rPr>
              <a:t>Line up all 10,250 games from cheapest to most expensive, then cut the line into four equal parts. The prices at the cuts are </a:t>
            </a:r>
            <a:r>
              <a:rPr lang="en-US" sz="1600" b="1" dirty="0">
                <a:solidFill>
                  <a:srgbClr val="2B1D19"/>
                </a:solidFill>
              </a:rPr>
              <a:t>quartiles</a:t>
            </a:r>
            <a:r>
              <a:rPr lang="en-US" sz="1600" dirty="0">
                <a:solidFill>
                  <a:srgbClr val="2B1D19"/>
                </a:solidFill>
              </a:rPr>
              <a:t>.</a:t>
            </a:r>
            <a:endParaRPr lang="en-US" sz="1600" dirty="0"/>
          </a:p>
        </p:txBody>
      </p:sp>
      <p:sp>
        <p:nvSpPr>
          <p:cNvPr id="4" name="Text 2"/>
          <p:cNvSpPr txBox="1"/>
          <p:nvPr/>
        </p:nvSpPr>
        <p:spPr>
          <a:xfrm>
            <a:off x="457200" y="1874520"/>
            <a:ext cx="8229600" cy="26060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900" dirty="0">
                <a:solidFill>
                  <a:srgbClr val="2B1D19"/>
                </a:solidFill>
              </a:rPr>
              <a:t>​</a:t>
            </a:r>
            <a:r>
              <a:rPr lang="en-US" sz="1900" b="1" dirty="0">
                <a:solidFill>
                  <a:srgbClr val="2B1D19"/>
                </a:solidFill>
              </a:rPr>
              <a:t>Q1</a:t>
            </a:r>
            <a:r>
              <a:rPr lang="en-US" sz="1900" dirty="0">
                <a:solidFill>
                  <a:srgbClr val="2B1D19"/>
                </a:solidFill>
              </a:rPr>
              <a:t> is a quarter of the way along: 25% of games cost this much or less</a:t>
            </a:r>
            <a:endParaRPr lang="en-US" sz="1900" dirty="0"/>
          </a:p>
          <a:p>
            <a:pPr marL="342900" indent="-342900">
              <a:spcAft>
                <a:spcPts val="800"/>
              </a:spcAft>
              <a:buSzPct val="100000"/>
              <a:buChar char="•"/>
            </a:pPr>
            <a:r>
              <a:rPr lang="en-US" sz="1900" dirty="0">
                <a:solidFill>
                  <a:srgbClr val="2B1D19"/>
                </a:solidFill>
              </a:rPr>
              <a:t>​</a:t>
            </a:r>
            <a:r>
              <a:rPr lang="en-US" sz="1900" dirty="0">
                <a:solidFill>
                  <a:srgbClr val="2B1D19"/>
                </a:solidFill>
              </a:rPr>
              <a:t>the </a:t>
            </a:r>
            <a:r>
              <a:rPr lang="en-US" sz="1900" b="1" dirty="0">
                <a:solidFill>
                  <a:srgbClr val="2B1D19"/>
                </a:solidFill>
              </a:rPr>
              <a:t>median</a:t>
            </a:r>
            <a:r>
              <a:rPr lang="en-US" sz="1900" dirty="0">
                <a:solidFill>
                  <a:srgbClr val="2B1D19"/>
                </a:solidFill>
              </a:rPr>
              <a:t> is halfway along: 50% cost this much or less</a:t>
            </a:r>
            <a:endParaRPr lang="en-US" sz="1900" dirty="0"/>
          </a:p>
          <a:p>
            <a:pPr marL="342900" indent="-342900">
              <a:spcAft>
                <a:spcPts val="800"/>
              </a:spcAft>
              <a:buSzPct val="100000"/>
              <a:buChar char="•"/>
            </a:pPr>
            <a:r>
              <a:rPr lang="en-US" sz="1900" dirty="0">
                <a:solidFill>
                  <a:srgbClr val="2B1D19"/>
                </a:solidFill>
              </a:rPr>
              <a:t>​</a:t>
            </a:r>
            <a:r>
              <a:rPr lang="en-US" sz="1900" b="1" dirty="0">
                <a:solidFill>
                  <a:srgbClr val="2B1D19"/>
                </a:solidFill>
              </a:rPr>
              <a:t>Q3</a:t>
            </a:r>
            <a:r>
              <a:rPr lang="en-US" sz="1900" dirty="0">
                <a:solidFill>
                  <a:srgbClr val="2B1D19"/>
                </a:solidFill>
              </a:rPr>
              <a:t> is three quarters along: 75% cost this much or less</a:t>
            </a:r>
            <a:endParaRPr lang="en-US" sz="1900" dirty="0"/>
          </a:p>
          <a:p>
            <a:pPr marL="342900" indent="-342900">
              <a:spcAft>
                <a:spcPts val="800"/>
              </a:spcAft>
              <a:buSzPct val="100000"/>
              <a:buChar char="•"/>
            </a:pPr>
            <a:r>
              <a:rPr lang="en-US" sz="1900" dirty="0">
                <a:solidFill>
                  <a:srgbClr val="2B1D19"/>
                </a:solidFill>
              </a:rPr>
              <a:t>​</a:t>
            </a:r>
            <a:r>
              <a:rPr lang="en-US" sz="1900" dirty="0">
                <a:solidFill>
                  <a:srgbClr val="2B1D19"/>
                </a:solidFill>
              </a:rPr>
              <a:t>the middle half, the "normal" prices, sit between Q1 and Q3</a:t>
            </a:r>
            <a:endParaRPr lang="en-US" sz="19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THE INTERQUARTILE RANGE</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IQR = Q3 − Q1</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It tells us how spread out the middle half of the values are. If most games cost about the same, the IQR is small. If prices vary a lot, it's big.</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THE UPPER FENCE</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upper fence = Q3 + 1.5 × IQR</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A value counts as an outlier if it's more than 1.5 × IQR above Q3. This is the same rule Plotly used to draw the dots on our box plots.</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Why this formula?</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900" dirty="0">
                <a:solidFill>
                  <a:srgbClr val="2B1D19"/>
                </a:solidFill>
              </a:rPr>
              <a:t>​</a:t>
            </a:r>
            <a:r>
              <a:rPr lang="en-US" sz="1900" b="1" dirty="0">
                <a:solidFill>
                  <a:srgbClr val="2B1D19"/>
                </a:solidFill>
              </a:rPr>
              <a:t>we start at Q3</a:t>
            </a:r>
            <a:r>
              <a:rPr lang="en-US" sz="1900" dirty="0">
                <a:solidFill>
                  <a:srgbClr val="2B1D19"/>
                </a:solidFill>
              </a:rPr>
              <a:t>, the top of the normal range, because we want unusually </a:t>
            </a:r>
            <a:r>
              <a:rPr lang="en-US" sz="1900" b="1" dirty="0">
                <a:solidFill>
                  <a:srgbClr val="2B1D19"/>
                </a:solidFill>
              </a:rPr>
              <a:t>high</a:t>
            </a:r>
            <a:r>
              <a:rPr lang="en-US" sz="1900" dirty="0">
                <a:solidFill>
                  <a:srgbClr val="2B1D19"/>
                </a:solidFill>
              </a:rPr>
              <a:t> values</a:t>
            </a:r>
            <a:endParaRPr lang="en-US" sz="1900" dirty="0"/>
          </a:p>
          <a:p>
            <a:pPr marL="342900" indent="-342900">
              <a:spcAft>
                <a:spcPts val="800"/>
              </a:spcAft>
              <a:buSzPct val="100000"/>
              <a:buChar char="•"/>
            </a:pPr>
            <a:r>
              <a:rPr lang="en-US" sz="1900" dirty="0">
                <a:solidFill>
                  <a:srgbClr val="2B1D19"/>
                </a:solidFill>
              </a:rPr>
              <a:t>​</a:t>
            </a:r>
            <a:r>
              <a:rPr lang="en-US" sz="1900" dirty="0">
                <a:solidFill>
                  <a:srgbClr val="2B1D19"/>
                </a:solidFill>
              </a:rPr>
              <a:t>there's also a lower fence, Q1 − 1.5 × IQR, but no game costs less than $0</a:t>
            </a:r>
            <a:endParaRPr lang="en-US" sz="1900" dirty="0"/>
          </a:p>
          <a:p>
            <a:pPr marL="342900" indent="-342900">
              <a:spcAft>
                <a:spcPts val="800"/>
              </a:spcAft>
              <a:buSzPct val="100000"/>
              <a:buChar char="•"/>
            </a:pPr>
            <a:r>
              <a:rPr lang="en-US" sz="1900" dirty="0">
                <a:solidFill>
                  <a:srgbClr val="2B1D19"/>
                </a:solidFill>
              </a:rPr>
              <a:t>​</a:t>
            </a:r>
            <a:r>
              <a:rPr lang="en-US" sz="1900" b="1" dirty="0">
                <a:solidFill>
                  <a:srgbClr val="2B1D19"/>
                </a:solidFill>
              </a:rPr>
              <a:t>we measure in IQRs</a:t>
            </a:r>
            <a:r>
              <a:rPr lang="en-US" sz="1900" dirty="0">
                <a:solidFill>
                  <a:srgbClr val="2B1D19"/>
                </a:solidFill>
              </a:rPr>
              <a:t>, not dollars, so the fence suits the data</a:t>
            </a:r>
            <a:endParaRPr lang="en-US" sz="1900" dirty="0"/>
          </a:p>
          <a:p>
            <a:pPr marL="342900" indent="-342900">
              <a:spcAft>
                <a:spcPts val="800"/>
              </a:spcAft>
              <a:buSzPct val="100000"/>
              <a:buChar char="•"/>
            </a:pPr>
            <a:r>
              <a:rPr lang="en-US" sz="1900" dirty="0">
                <a:solidFill>
                  <a:srgbClr val="2B1D19"/>
                </a:solidFill>
              </a:rPr>
              <a:t>​</a:t>
            </a:r>
            <a:r>
              <a:rPr lang="en-US" sz="1900" b="1" dirty="0">
                <a:solidFill>
                  <a:srgbClr val="2B1D19"/>
                </a:solidFill>
              </a:rPr>
              <a:t>we use 1.5</a:t>
            </a:r>
            <a:r>
              <a:rPr lang="en-US" sz="1900" dirty="0">
                <a:solidFill>
                  <a:srgbClr val="2B1D19"/>
                </a:solidFill>
              </a:rPr>
              <a:t> because John Tukey chose it when he invented the box plot</a:t>
            </a:r>
            <a:endParaRPr lang="en-US" sz="1900" dirty="0"/>
          </a:p>
          <a:p>
            <a:pPr marL="342900" indent="-342900">
              <a:spcAft>
                <a:spcPts val="800"/>
              </a:spcAft>
              <a:buSzPct val="100000"/>
              <a:buChar char="•"/>
            </a:pPr>
            <a:r>
              <a:rPr lang="en-US" sz="1900" dirty="0">
                <a:solidFill>
                  <a:srgbClr val="2B1D19"/>
                </a:solidFill>
              </a:rPr>
              <a:t>​</a:t>
            </a:r>
            <a:r>
              <a:rPr lang="en-US" sz="1900" dirty="0">
                <a:solidFill>
                  <a:srgbClr val="2B1D19"/>
                </a:solidFill>
              </a:rPr>
              <a:t>it's far enough out that ordinary variation stays inside the fence</a:t>
            </a:r>
            <a:endParaRPr lang="en-US" sz="19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Find the price outliers</a:t>
            </a:r>
            <a:endParaRPr lang="en-US" sz="2800" dirty="0"/>
          </a:p>
        </p:txBody>
      </p:sp>
      <p:sp>
        <p:nvSpPr>
          <p:cNvPr id="3" name="Code panel"/>
          <p:cNvSpPr/>
          <p:nvPr/>
        </p:nvSpPr>
        <p:spPr>
          <a:xfrm>
            <a:off x="457200" y="1051560"/>
            <a:ext cx="8229600" cy="1737360"/>
          </a:xfrm>
          <a:prstGeom prst="roundRect">
            <a:avLst>
              <a:gd name="adj" fmla="val 3158"/>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new cell</a:t>
            </a:r>
            <a:endParaRPr lang="en-US" sz="1200" dirty="0"/>
          </a:p>
        </p:txBody>
      </p:sp>
      <p:sp>
        <p:nvSpPr>
          <p:cNvPr id="5" name="Code"/>
          <p:cNvSpPr txBox="1"/>
          <p:nvPr/>
        </p:nvSpPr>
        <p:spPr>
          <a:xfrm>
            <a:off x="594360" y="1508760"/>
            <a:ext cx="7955280" cy="1156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q1 = scored["Price"].quantile(0.25)</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2  </a:t>
            </a:r>
            <a:r>
              <a:rPr lang="en-US" sz="1400" dirty="0">
                <a:solidFill>
                  <a:srgbClr val="F7EFE6"/>
                </a:solidFill>
                <a:latin typeface="Courier New" pitchFamily="34" charset="0"/>
                <a:ea typeface="Courier New" pitchFamily="34" charset="-122"/>
                <a:cs typeface="Courier New" pitchFamily="34" charset="-120"/>
              </a:rPr>
              <a:t>q3 = scored["Price"].quantile(0.75)</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3  </a:t>
            </a:r>
            <a:r>
              <a:rPr lang="en-US" sz="1400" dirty="0">
                <a:solidFill>
                  <a:srgbClr val="F7EFE6"/>
                </a:solidFill>
                <a:latin typeface="Courier New" pitchFamily="34" charset="0"/>
                <a:ea typeface="Courier New" pitchFamily="34" charset="-122"/>
                <a:cs typeface="Courier New" pitchFamily="34" charset="-120"/>
              </a:rPr>
              <a:t>upper_fence = q3 + 1.5 * (q3 - q1)</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4  </a:t>
            </a:r>
            <a:r>
              <a:rPr lang="en-US" sz="1400" dirty="0">
                <a:solidFill>
                  <a:srgbClr val="F7EFE6"/>
                </a:solidFill>
                <a:latin typeface="Courier New" pitchFamily="34" charset="0"/>
                <a:ea typeface="Courier New" pitchFamily="34" charset="-122"/>
                <a:cs typeface="Courier New" pitchFamily="34" charset="-120"/>
              </a:rPr>
              <a:t>price_outliers = scored.filter(pl.col("Price") &gt; upper_fence)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5  </a:t>
            </a:r>
            <a:r>
              <a:rPr lang="en-US" sz="1400" dirty="0">
                <a:solidFill>
                  <a:srgbClr val="F7EFE6"/>
                </a:solidFill>
                <a:latin typeface="Courier New" pitchFamily="34" charset="0"/>
                <a:ea typeface="Courier New" pitchFamily="34" charset="-122"/>
                <a:cs typeface="Courier New" pitchFamily="34" charset="-120"/>
              </a:rPr>
              <a:t>upper_fence, price_outliers.height</a:t>
            </a:r>
            <a:endParaRPr lang="en-US" sz="1400" dirty="0"/>
          </a:p>
        </p:txBody>
      </p:sp>
      <p:sp>
        <p:nvSpPr>
          <p:cNvPr id="6" name="Text 4"/>
          <p:cNvSpPr txBox="1"/>
          <p:nvPr/>
        </p:nvSpPr>
        <p:spPr>
          <a:xfrm>
            <a:off x="457200" y="2880360"/>
            <a:ext cx="8229600" cy="384048"/>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dirty="0">
                <a:solidFill>
                  <a:srgbClr val="2B1D19"/>
                </a:solidFill>
              </a:rPr>
              <a:t>The output is </a:t>
            </a:r>
            <a:r>
              <a:rPr lang="en-US" sz="1500" b="1" dirty="0">
                <a:solidFill>
                  <a:srgbClr val="2B1D19"/>
                </a:solidFill>
              </a:rPr>
              <a:t>(21.74, 438)</a:t>
            </a:r>
            <a:r>
              <a:rPr lang="en-US" sz="1500" dirty="0">
                <a:solidFill>
                  <a:srgbClr val="2B1D19"/>
                </a:solidFill>
              </a:rPr>
              <a:t>: the upper fence and the number of outliers.</a:t>
            </a:r>
            <a:endParaRPr lang="en-US" sz="1500" dirty="0"/>
          </a:p>
        </p:txBody>
      </p:sp>
      <p:sp>
        <p:nvSpPr>
          <p:cNvPr id="7" name="Text 5"/>
          <p:cNvSpPr txBox="1"/>
          <p:nvPr/>
        </p:nvSpPr>
        <p:spPr>
          <a:xfrm>
            <a:off x="457200" y="3337560"/>
            <a:ext cx="8229600" cy="118872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a:t>
            </a:r>
            <a:r>
              <a:rPr lang="en-US" sz="1300" dirty="0">
                <a:solidFill>
                  <a:srgbClr val="B86E1E"/>
                </a:solidFill>
                <a:latin typeface="Courier New" pitchFamily="34" charset="0"/>
                <a:ea typeface="Courier New" pitchFamily="34" charset="-122"/>
                <a:cs typeface="Courier New" pitchFamily="34" charset="-120"/>
              </a:rPr>
              <a:t>quantile</a:t>
            </a:r>
            <a:r>
              <a:rPr lang="en-US" sz="1500" dirty="0">
                <a:solidFill>
                  <a:srgbClr val="2B1D19"/>
                </a:solidFill>
              </a:rPr>
              <a:t> finds the value a given fraction of the way along the sorted column: </a:t>
            </a:r>
            <a:r>
              <a:rPr lang="en-US" sz="1300" dirty="0">
                <a:solidFill>
                  <a:srgbClr val="B86E1E"/>
                </a:solidFill>
                <a:latin typeface="Courier New" pitchFamily="34" charset="0"/>
                <a:ea typeface="Courier New" pitchFamily="34" charset="-122"/>
                <a:cs typeface="Courier New" pitchFamily="34" charset="-120"/>
              </a:rPr>
              <a:t>0.25</a:t>
            </a:r>
            <a:r>
              <a:rPr lang="en-US" sz="1500" dirty="0">
                <a:solidFill>
                  <a:srgbClr val="2B1D19"/>
                </a:solidFill>
              </a:rPr>
              <a:t> for Q1 and </a:t>
            </a:r>
            <a:r>
              <a:rPr lang="en-US" sz="1300" dirty="0">
                <a:solidFill>
                  <a:srgbClr val="B86E1E"/>
                </a:solidFill>
                <a:latin typeface="Courier New" pitchFamily="34" charset="0"/>
                <a:ea typeface="Courier New" pitchFamily="34" charset="-122"/>
                <a:cs typeface="Courier New" pitchFamily="34" charset="-120"/>
              </a:rPr>
              <a:t>0.75</a:t>
            </a:r>
            <a:r>
              <a:rPr lang="en-US" sz="1500" dirty="0">
                <a:solidFill>
                  <a:srgbClr val="2B1D19"/>
                </a:solidFill>
              </a:rPr>
              <a:t> for Q3.</a:t>
            </a:r>
            <a:endParaRPr lang="en-US" sz="1500" dirty="0"/>
          </a:p>
          <a:p>
            <a:pPr marL="342900" indent="-342900">
              <a:spcAft>
                <a:spcPts val="600"/>
              </a:spcAft>
              <a:buSzPct val="100000"/>
              <a:buChar char="•"/>
            </a:pPr>
            <a:r>
              <a:rPr lang="en-US" sz="1500" dirty="0">
                <a:solidFill>
                  <a:srgbClr val="2B1D19"/>
                </a:solidFill>
              </a:rPr>
              <a:t>​</a:t>
            </a:r>
            <a:r>
              <a:rPr lang="en-US" sz="1500" b="1" dirty="0">
                <a:solidFill>
                  <a:srgbClr val="2B1D19"/>
                </a:solidFill>
              </a:rPr>
              <a:t>line 3</a:t>
            </a:r>
            <a:r>
              <a:rPr lang="en-US" sz="1500" dirty="0">
                <a:solidFill>
                  <a:srgbClr val="2B1D19"/>
                </a:solidFill>
              </a:rPr>
              <a:t> → </a:t>
            </a:r>
            <a:r>
              <a:rPr lang="en-US" sz="1300" dirty="0">
                <a:solidFill>
                  <a:srgbClr val="B86E1E"/>
                </a:solidFill>
                <a:latin typeface="Courier New" pitchFamily="34" charset="0"/>
                <a:ea typeface="Courier New" pitchFamily="34" charset="-122"/>
                <a:cs typeface="Courier New" pitchFamily="34" charset="-120"/>
              </a:rPr>
              <a:t>q3 - q1</a:t>
            </a:r>
            <a:r>
              <a:rPr lang="en-US" sz="1500" dirty="0">
                <a:solidFill>
                  <a:srgbClr val="2B1D19"/>
                </a:solidFill>
              </a:rPr>
              <a:t> is the IQR, so </a:t>
            </a:r>
            <a:r>
              <a:rPr lang="en-US" sz="1300" dirty="0">
                <a:solidFill>
                  <a:srgbClr val="B86E1E"/>
                </a:solidFill>
                <a:latin typeface="Courier New" pitchFamily="34" charset="0"/>
                <a:ea typeface="Courier New" pitchFamily="34" charset="-122"/>
                <a:cs typeface="Courier New" pitchFamily="34" charset="-120"/>
              </a:rPr>
              <a:t>q3 + 1.5 * (q3 - q1)</a:t>
            </a:r>
            <a:r>
              <a:rPr lang="en-US" sz="1500" dirty="0">
                <a:solidFill>
                  <a:srgbClr val="2B1D19"/>
                </a:solidFill>
              </a:rPr>
              <a:t> is the upper fence</a:t>
            </a:r>
            <a:endParaRPr lang="en-US" sz="1500" dirty="0"/>
          </a:p>
          <a:p>
            <a:pPr marL="342900" indent="-342900">
              <a:spcAft>
                <a:spcPts val="600"/>
              </a:spcAft>
              <a:buSzPct val="100000"/>
              <a:buChar char="•"/>
            </a:pPr>
            <a:r>
              <a:rPr lang="en-US" sz="1500" dirty="0">
                <a:solidFill>
                  <a:srgbClr val="2B1D19"/>
                </a:solidFill>
              </a:rPr>
              <a:t>​</a:t>
            </a:r>
            <a:r>
              <a:rPr lang="en-US" sz="1500" b="1" dirty="0">
                <a:solidFill>
                  <a:srgbClr val="2B1D19"/>
                </a:solidFill>
              </a:rPr>
              <a:t>line 4</a:t>
            </a:r>
            <a:r>
              <a:rPr lang="en-US" sz="1500" dirty="0">
                <a:solidFill>
                  <a:srgbClr val="2B1D19"/>
                </a:solidFill>
              </a:rPr>
              <a:t> → keeps only the games that cost more than the fence</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Any game over $21.74 is an outlier</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5486400"/>
                <a:gridCol w="2743200"/>
              </a:tblGrid>
              <a:tr h="0">
                <a:tc>
                  <a:txBody>
                    <a:bodyPr/>
                    <a:lstStyle/>
                    <a:p>
                      <a:pPr indent="0" marL="0">
                        <a:buNone/>
                      </a:pPr>
                      <a:r>
                        <a:rPr lang="en-US" sz="1400" b="1" dirty="0">
                          <a:solidFill>
                            <a:srgbClr val="FFFFFF"/>
                          </a:solidFill>
                        </a:rPr>
                        <a:t>Step</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Value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Q1</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$1.49</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Q3</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$9.59</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IQR = Q3 − Q1</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$8.10</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upper fence = $9.59 + 1.5 × $8.10</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$21.74</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games above the fence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438</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Modify: outliers in review scores</a:t>
            </a:r>
            <a:endParaRPr lang="en-US" sz="2800" dirty="0"/>
          </a:p>
        </p:txBody>
      </p:sp>
      <p:sp>
        <p:nvSpPr>
          <p:cNvPr id="3" name="primm box"/>
          <p:cNvSpPr/>
          <p:nvPr/>
        </p:nvSpPr>
        <p:spPr>
          <a:xfrm>
            <a:off x="457200" y="1051560"/>
            <a:ext cx="8229600" cy="2164080"/>
          </a:xfrm>
          <a:prstGeom prst="roundRect">
            <a:avLst>
              <a:gd name="adj" fmla="val 3380"/>
            </a:avLst>
          </a:prstGeom>
          <a:solidFill>
            <a:srgbClr val="E6F2E6"/>
          </a:solidFill>
          <a:ln w="12700">
            <a:solidFill>
              <a:srgbClr val="E6F2E6"/>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2E6B30"/>
                </a:solidFill>
              </a:rPr>
              <a:t>PRIMM</a:t>
            </a:r>
            <a:endParaRPr lang="en-US" sz="1600" dirty="0"/>
          </a:p>
        </p:txBody>
      </p:sp>
      <p:sp>
        <p:nvSpPr>
          <p:cNvPr id="5" name="Text 3"/>
          <p:cNvSpPr txBox="1"/>
          <p:nvPr/>
        </p:nvSpPr>
        <p:spPr>
          <a:xfrm>
            <a:off x="685800" y="1600200"/>
            <a:ext cx="7772400" cy="1478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Change </a:t>
            </a:r>
            <a:r>
              <a:rPr lang="en-US" sz="1800" dirty="0">
                <a:solidFill>
                  <a:srgbClr val="B86E1E"/>
                </a:solidFill>
                <a:latin typeface="Courier New" pitchFamily="34" charset="0"/>
                <a:ea typeface="Courier New" pitchFamily="34" charset="-122"/>
                <a:cs typeface="Courier New" pitchFamily="34" charset="-120"/>
              </a:rPr>
              <a:t>"Price"</a:t>
            </a:r>
            <a:r>
              <a:rPr lang="en-US" sz="2000" dirty="0">
                <a:solidFill>
                  <a:srgbClr val="2B1D19"/>
                </a:solidFill>
              </a:rPr>
              <a:t> to </a:t>
            </a:r>
            <a:r>
              <a:rPr lang="en-US" sz="1800" dirty="0">
                <a:solidFill>
                  <a:srgbClr val="B86E1E"/>
                </a:solidFill>
                <a:latin typeface="Courier New" pitchFamily="34" charset="0"/>
                <a:ea typeface="Courier New" pitchFamily="34" charset="-122"/>
                <a:cs typeface="Courier New" pitchFamily="34" charset="-120"/>
              </a:rPr>
              <a:t>"Review score"</a:t>
            </a:r>
            <a:r>
              <a:rPr lang="en-US" sz="2000" dirty="0">
                <a:solidFill>
                  <a:srgbClr val="2B1D19"/>
                </a:solidFill>
              </a:rPr>
              <a:t> on lines 1, 2 and 4.</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What is the upper fence for review scores?</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How many games are above it, and why?</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Check the outliers are real</a:t>
            </a:r>
            <a:endParaRPr lang="en-US" sz="2800" dirty="0"/>
          </a:p>
        </p:txBody>
      </p:sp>
      <p:sp>
        <p:nvSpPr>
          <p:cNvPr id="3" name="Code panel"/>
          <p:cNvSpPr/>
          <p:nvPr/>
        </p:nvSpPr>
        <p:spPr>
          <a:xfrm>
            <a:off x="457200" y="1051560"/>
            <a:ext cx="822960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new cell</a:t>
            </a:r>
            <a:endParaRPr lang="en-US" sz="1200" dirty="0"/>
          </a:p>
        </p:txBody>
      </p:sp>
      <p:sp>
        <p:nvSpPr>
          <p:cNvPr id="5" name="Code"/>
          <p:cNvSpPr txBox="1"/>
          <p:nvPr/>
        </p:nvSpPr>
        <p:spPr>
          <a:xfrm>
            <a:off x="594360" y="1508760"/>
            <a:ext cx="7955280" cy="220345"/>
          </a:xfrm>
          <a:prstGeom prst="rect">
            <a:avLst/>
          </a:prstGeom>
          <a:noFill/>
          <a:ln/>
        </p:spPr>
        <p:txBody>
          <a:bodyPr wrap="square" lIns="0" tIns="0" rIns="0" bIns="0" rtlCol="0" anchor="t"/>
          <a:lstStyle/>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1  </a:t>
            </a:r>
            <a:r>
              <a:rPr lang="en-US" sz="1100" dirty="0">
                <a:solidFill>
                  <a:srgbClr val="F7EFE6"/>
                </a:solidFill>
                <a:latin typeface="Courier New" pitchFamily="34" charset="0"/>
                <a:ea typeface="Courier New" pitchFamily="34" charset="-122"/>
                <a:cs typeface="Courier New" pitchFamily="34" charset="-120"/>
              </a:rPr>
              <a:t>price_outliers.sort("Price", descending=True).select("AppID", "Name", "Price", "Group")</a:t>
            </a:r>
            <a:endParaRPr lang="en-US" sz="1100" dirty="0"/>
          </a:p>
        </p:txBody>
      </p:sp>
      <p:sp>
        <p:nvSpPr>
          <p:cNvPr id="6" name="Text 4"/>
          <p:cNvSpPr txBox="1"/>
          <p:nvPr/>
        </p:nvSpPr>
        <p:spPr>
          <a:xfrm>
            <a:off x="457200" y="1929765"/>
            <a:ext cx="8229600" cy="89916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A price of $9,999 would be a typing mistake, not an expensive game. The quickest check is the most expensive ones: if they're believable, the rest must be too. So we sort from most expensive and show just the columns we need.</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The most expensive games cost $69.99</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2000" dirty="0">
                <a:solidFill>
                  <a:srgbClr val="2B1D19"/>
                </a:solidFill>
              </a:rPr>
              <a:t>​</a:t>
            </a:r>
            <a:r>
              <a:rPr lang="en-US" sz="2000" dirty="0">
                <a:solidFill>
                  <a:srgbClr val="2B1D19"/>
                </a:solidFill>
              </a:rPr>
              <a:t>games like Microsoft Flight Simulator 2024, EA SPORTS FC™ 25 and NBA 2K25</a:t>
            </a:r>
            <a:endParaRPr lang="en-US" sz="2000" dirty="0"/>
          </a:p>
          <a:p>
            <a:pPr marL="342900" indent="-342900">
              <a:spcAft>
                <a:spcPts val="800"/>
              </a:spcAft>
              <a:buSzPct val="100000"/>
              <a:buChar char="•"/>
            </a:pPr>
            <a:r>
              <a:rPr lang="en-US" sz="2000" dirty="0">
                <a:solidFill>
                  <a:srgbClr val="2B1D19"/>
                </a:solidFill>
              </a:rPr>
              <a:t>​</a:t>
            </a:r>
            <a:r>
              <a:rPr lang="en-US" sz="2000" dirty="0">
                <a:solidFill>
                  <a:srgbClr val="2B1D19"/>
                </a:solidFill>
              </a:rPr>
              <a:t>that's the normal full price for a new game from a big studio</a:t>
            </a:r>
            <a:endParaRPr lang="en-US" sz="2000" dirty="0"/>
          </a:p>
          <a:p>
            <a:pPr marL="342900" indent="-342900">
              <a:spcAft>
                <a:spcPts val="800"/>
              </a:spcAft>
              <a:buSzPct val="100000"/>
              <a:buChar char="•"/>
            </a:pPr>
            <a:r>
              <a:rPr lang="en-US" sz="2000" dirty="0">
                <a:solidFill>
                  <a:srgbClr val="2B1D19"/>
                </a:solidFill>
              </a:rPr>
              <a:t>​</a:t>
            </a:r>
            <a:r>
              <a:rPr lang="en-US" sz="2000" dirty="0">
                <a:solidFill>
                  <a:srgbClr val="2B1D19"/>
                </a:solidFill>
              </a:rPr>
              <a:t>the cheapest outliers cost about $22</a:t>
            </a:r>
            <a:endParaRPr lang="en-US" sz="2000" dirty="0"/>
          </a:p>
          <a:p>
            <a:pPr marL="342900" indent="-342900">
              <a:spcAft>
                <a:spcPts val="800"/>
              </a:spcAft>
              <a:buSzPct val="100000"/>
              <a:buChar char="•"/>
            </a:pPr>
            <a:r>
              <a:rPr lang="en-US" sz="2000" dirty="0">
                <a:solidFill>
                  <a:srgbClr val="2B1D19"/>
                </a:solidFill>
              </a:rPr>
              <a:t>​</a:t>
            </a:r>
            <a:r>
              <a:rPr lang="en-US" sz="2000" dirty="0">
                <a:solidFill>
                  <a:srgbClr val="2B1D19"/>
                </a:solidFill>
              </a:rPr>
              <a:t>no impossible prices, like a negative price or thousands of dollars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Look at the extremes</a:t>
            </a:r>
            <a:endParaRPr lang="en-US" sz="2800" dirty="0"/>
          </a:p>
        </p:txBody>
      </p:sp>
      <p:sp>
        <p:nvSpPr>
          <p:cNvPr id="3" name="tip box"/>
          <p:cNvSpPr/>
          <p:nvPr/>
        </p:nvSpPr>
        <p:spPr>
          <a:xfrm>
            <a:off x="457200" y="1051560"/>
            <a:ext cx="8229600" cy="2214880"/>
          </a:xfrm>
          <a:prstGeom prst="roundRect">
            <a:avLst>
              <a:gd name="adj" fmla="val 3303"/>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Tip</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When checking outliers, always look at the most extreme values first. If the most extreme value is believable, the less extreme ones almost certainly are too. If it isn't, we've found a mistake to fix in </a:t>
            </a:r>
            <a:r>
              <a:rPr lang="en-US" sz="1800" dirty="0">
                <a:solidFill>
                  <a:srgbClr val="B86E1E"/>
                </a:solidFill>
                <a:latin typeface="Courier New" pitchFamily="34" charset="0"/>
                <a:ea typeface="Courier New" pitchFamily="34" charset="-122"/>
                <a:cs typeface="Courier New" pitchFamily="34" charset="-120"/>
              </a:rPr>
              <a:t>clean_steam.py</a:t>
            </a:r>
            <a:r>
              <a:rPr lang="en-US" sz="2000" dirty="0">
                <a:solidFill>
                  <a:srgbClr val="2B1D19"/>
                </a:solidFill>
              </a:rPr>
              <a: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Which group are the outliers in?</a:t>
            </a:r>
            <a:endParaRPr lang="en-US" sz="2800" dirty="0"/>
          </a:p>
        </p:txBody>
      </p:sp>
      <p:sp>
        <p:nvSpPr>
          <p:cNvPr id="3" name="Code panel"/>
          <p:cNvSpPr/>
          <p:nvPr/>
        </p:nvSpPr>
        <p:spPr>
          <a:xfrm>
            <a:off x="457200" y="1051560"/>
            <a:ext cx="822960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new cell</a:t>
            </a:r>
            <a:endParaRPr lang="en-US" sz="1200" dirty="0"/>
          </a:p>
        </p:txBody>
      </p:sp>
      <p:sp>
        <p:nvSpPr>
          <p:cNvPr id="5" name="Code"/>
          <p:cNvSpPr txBox="1"/>
          <p:nvPr/>
        </p:nvSpPr>
        <p:spPr>
          <a:xfrm>
            <a:off x="594360" y="1508760"/>
            <a:ext cx="7955280" cy="252095"/>
          </a:xfrm>
          <a:prstGeom prst="rect">
            <a:avLst/>
          </a:prstGeom>
          <a:noFill/>
          <a:ln/>
        </p:spPr>
        <p:txBody>
          <a:bodyPr wrap="square" lIns="0" tIns="0" rIns="0" bIns="0" rtlCol="0" anchor="t"/>
          <a:lstStyle/>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1  </a:t>
            </a:r>
            <a:r>
              <a:rPr lang="en-US" sz="1300" dirty="0">
                <a:solidFill>
                  <a:srgbClr val="F7EFE6"/>
                </a:solidFill>
                <a:latin typeface="Courier New" pitchFamily="34" charset="0"/>
                <a:ea typeface="Courier New" pitchFamily="34" charset="-122"/>
                <a:cs typeface="Courier New" pitchFamily="34" charset="-120"/>
              </a:rPr>
              <a:t>price_outliers.group_by("Group").agg(pl.len().alias("Games")).sort("Group")</a:t>
            </a:r>
            <a:endParaRPr lang="en-US" sz="1300" dirty="0"/>
          </a:p>
        </p:txBody>
      </p:sp>
      <p:sp>
        <p:nvSpPr>
          <p:cNvPr id="6" name="Text 4"/>
          <p:cNvSpPr txBox="1"/>
          <p:nvPr/>
        </p:nvSpPr>
        <p:spPr>
          <a:xfrm>
            <a:off x="457200" y="1929765"/>
            <a:ext cx="8229600" cy="44196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We group the outliers by </a:t>
            </a:r>
            <a:r>
              <a:rPr lang="en-US" sz="1300" dirty="0">
                <a:solidFill>
                  <a:srgbClr val="B86E1E"/>
                </a:solidFill>
                <a:latin typeface="Courier New" pitchFamily="34" charset="0"/>
                <a:ea typeface="Courier New" pitchFamily="34" charset="-122"/>
                <a:cs typeface="Courier New" pitchFamily="34" charset="-120"/>
              </a:rPr>
              <a:t>Group</a:t>
            </a:r>
            <a:r>
              <a:rPr lang="en-US" sz="1500" dirty="0">
                <a:solidFill>
                  <a:srgbClr val="2B1D19"/>
                </a:solidFill>
              </a:rPr>
              <a:t> and count them, just like we did for all our games.</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Most expensive outliers aren't Indie games</a:t>
            </a:r>
            <a:endParaRPr lang="en-US" sz="2800" dirty="0"/>
          </a:p>
        </p:txBody>
      </p:sp>
      <p:sp>
        <p:nvSpPr>
          <p:cNvPr id="3" name="Text 1"/>
          <p:cNvSpPr txBox="1"/>
          <p:nvPr/>
        </p:nvSpPr>
        <p:spPr>
          <a:xfrm>
            <a:off x="457200" y="1051560"/>
            <a:ext cx="8229600" cy="457200"/>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dirty="0">
                <a:solidFill>
                  <a:srgbClr val="2B1D19"/>
                </a:solidFill>
              </a:rPr>
              <a:t>These 319 games pull the mean price of the other games up much more than the median.</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8229600" cy="914400"/>
        </p:xfrm>
        <a:graphic>
          <a:graphicData uri="http://schemas.openxmlformats.org/drawingml/2006/table">
            <a:tbl>
              <a:tblPr/>
              <a:tblGrid>
                <a:gridCol w="5486400"/>
                <a:gridCol w="2743200"/>
              </a:tblGrid>
              <a:tr h="0">
                <a:tc>
                  <a:txBody>
                    <a:bodyPr/>
                    <a:lstStyle/>
                    <a:p>
                      <a:pPr indent="0" marL="0">
                        <a:buNone/>
                      </a:pPr>
                      <a:r>
                        <a:rPr lang="en-US" sz="1400" b="1" dirty="0">
                          <a:solidFill>
                            <a:srgbClr val="FFFFFF"/>
                          </a:solidFill>
                        </a:rPr>
                        <a:t>Group</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Games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Indie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119</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Not Indie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319</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Keep or remove?</a:t>
            </a:r>
            <a:endParaRPr lang="en-US" sz="2800" dirty="0"/>
          </a:p>
        </p:txBody>
      </p:sp>
      <p:sp>
        <p:nvSpPr>
          <p:cNvPr id="3" name="Shape 1"/>
          <p:cNvSpPr/>
          <p:nvPr/>
        </p:nvSpPr>
        <p:spPr>
          <a:xfrm>
            <a:off x="457200" y="1051560"/>
            <a:ext cx="3977640" cy="3429000"/>
          </a:xfrm>
          <a:prstGeom prst="roundRect">
            <a:avLst>
              <a:gd name="adj" fmla="val 2133"/>
            </a:avLst>
          </a:prstGeom>
          <a:solidFill>
            <a:srgbClr val="FBF7F2"/>
          </a:solidFill>
          <a:ln w="12700">
            <a:solidFill>
              <a:srgbClr val="E5DBD2"/>
            </a:solidFill>
            <a:prstDash val="solid"/>
          </a:ln>
        </p:spPr>
      </p:sp>
      <p:sp>
        <p:nvSpPr>
          <p:cNvPr id="4" name="Text 2"/>
          <p:cNvSpPr txBox="1"/>
          <p:nvPr/>
        </p:nvSpPr>
        <p:spPr>
          <a:xfrm>
            <a:off x="640080" y="1188720"/>
            <a:ext cx="3611880" cy="411480"/>
          </a:xfrm>
          <a:prstGeom prst="rect">
            <a:avLst/>
          </a:prstGeom>
          <a:noFill/>
          <a:ln/>
        </p:spPr>
        <p:txBody>
          <a:bodyPr wrap="square" lIns="0" tIns="0" rIns="0" bIns="0" rtlCol="0" anchor="ctr">
            <a:normAutofit/>
          </a:bodyPr>
          <a:lstStyle/>
          <a:p>
            <a:pPr indent="0" marL="0">
              <a:buNone/>
            </a:pPr>
            <a:r>
              <a:rPr lang="en-US" sz="1800" b="1" dirty="0">
                <a:solidFill>
                  <a:srgbClr val="4E342E"/>
                </a:solidFill>
              </a:rPr>
              <a:t>A mistake</a:t>
            </a:r>
            <a:endParaRPr lang="en-US" sz="1800" dirty="0"/>
          </a:p>
        </p:txBody>
      </p:sp>
      <p:sp>
        <p:nvSpPr>
          <p:cNvPr id="5" name="Text 3"/>
          <p:cNvSpPr txBox="1"/>
          <p:nvPr/>
        </p:nvSpPr>
        <p:spPr>
          <a:xfrm>
            <a:off x="640080" y="1691640"/>
            <a:ext cx="3611880" cy="26517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500" dirty="0">
                <a:solidFill>
                  <a:srgbClr val="2B1D19"/>
                </a:solidFill>
              </a:rPr>
              <a:t>​</a:t>
            </a:r>
            <a:r>
              <a:rPr lang="en-US" sz="1500" dirty="0">
                <a:solidFill>
                  <a:srgbClr val="2B1D19"/>
                </a:solidFill>
              </a:rPr>
              <a:t>like a price of $9,999 typed by accident</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we fix it or remove it</a:t>
            </a:r>
            <a:endParaRPr lang="en-US" sz="1500" dirty="0"/>
          </a:p>
        </p:txBody>
      </p:sp>
      <p:sp>
        <p:nvSpPr>
          <p:cNvPr id="6" name="Shape 4"/>
          <p:cNvSpPr/>
          <p:nvPr/>
        </p:nvSpPr>
        <p:spPr>
          <a:xfrm>
            <a:off x="4709160" y="1051560"/>
            <a:ext cx="3977640" cy="3429000"/>
          </a:xfrm>
          <a:prstGeom prst="roundRect">
            <a:avLst>
              <a:gd name="adj" fmla="val 2133"/>
            </a:avLst>
          </a:prstGeom>
          <a:solidFill>
            <a:srgbClr val="F3ECE6"/>
          </a:solidFill>
          <a:ln w="12700">
            <a:solidFill>
              <a:srgbClr val="E5DBD2"/>
            </a:solidFill>
            <a:prstDash val="solid"/>
          </a:ln>
        </p:spPr>
      </p:sp>
      <p:sp>
        <p:nvSpPr>
          <p:cNvPr id="7" name="Text 5"/>
          <p:cNvSpPr txBox="1"/>
          <p:nvPr/>
        </p:nvSpPr>
        <p:spPr>
          <a:xfrm>
            <a:off x="4892040" y="1188720"/>
            <a:ext cx="3611880" cy="411480"/>
          </a:xfrm>
          <a:prstGeom prst="rect">
            <a:avLst/>
          </a:prstGeom>
          <a:noFill/>
          <a:ln/>
        </p:spPr>
        <p:txBody>
          <a:bodyPr wrap="square" lIns="0" tIns="0" rIns="0" bIns="0" rtlCol="0" anchor="ctr">
            <a:normAutofit/>
          </a:bodyPr>
          <a:lstStyle/>
          <a:p>
            <a:pPr indent="0" marL="0">
              <a:buNone/>
            </a:pPr>
            <a:r>
              <a:rPr lang="en-US" sz="1800" b="1" dirty="0">
                <a:solidFill>
                  <a:srgbClr val="4E342E"/>
                </a:solidFill>
              </a:rPr>
              <a:t>Real but unusual</a:t>
            </a:r>
            <a:endParaRPr lang="en-US" sz="1800" dirty="0"/>
          </a:p>
        </p:txBody>
      </p:sp>
      <p:sp>
        <p:nvSpPr>
          <p:cNvPr id="8" name="Text 6"/>
          <p:cNvSpPr txBox="1"/>
          <p:nvPr/>
        </p:nvSpPr>
        <p:spPr>
          <a:xfrm>
            <a:off x="4892040" y="1691640"/>
            <a:ext cx="3611880" cy="26517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500" dirty="0">
                <a:solidFill>
                  <a:srgbClr val="2B1D19"/>
                </a:solidFill>
              </a:rPr>
              <a:t>​</a:t>
            </a:r>
            <a:r>
              <a:rPr lang="en-US" sz="1500" dirty="0">
                <a:solidFill>
                  <a:srgbClr val="2B1D19"/>
                </a:solidFill>
              </a:rPr>
              <a:t>like a $69.99 sports game</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it's part of the story, so we keep it</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our 438 price outliers are real, so we keep them</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Making a prediction</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From 2019 to 2024, the number of games in </a:t>
            </a:r>
            <a:r>
              <a:rPr lang="en-US" sz="1600" dirty="0">
                <a:solidFill>
                  <a:srgbClr val="E8A55A"/>
                </a:solidFill>
                <a:latin typeface="Courier New" pitchFamily="34" charset="0"/>
                <a:ea typeface="Courier New" pitchFamily="34" charset="-122"/>
                <a:cs typeface="Courier New" pitchFamily="34" charset="-120"/>
              </a:rPr>
              <a:t>per_year</a:t>
            </a:r>
            <a:r>
              <a:rPr lang="en-US" sz="1800" dirty="0">
                <a:solidFill>
                  <a:srgbClr val="F7EFE6"/>
                </a:solidFill>
              </a:rPr>
              <a:t> went up and down but mostly grew. Can we predict how many 2025 games our data should have?</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Predict 2025 from the average change</a:t>
            </a:r>
            <a:endParaRPr lang="en-US" sz="2800" dirty="0"/>
          </a:p>
        </p:txBody>
      </p:sp>
      <p:sp>
        <p:nvSpPr>
          <p:cNvPr id="3" name="Code panel"/>
          <p:cNvSpPr/>
          <p:nvPr/>
        </p:nvSpPr>
        <p:spPr>
          <a:xfrm>
            <a:off x="457200" y="1051560"/>
            <a:ext cx="8229600" cy="1501140"/>
          </a:xfrm>
          <a:prstGeom prst="roundRect">
            <a:avLst>
              <a:gd name="adj" fmla="val 3655"/>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new cell</a:t>
            </a:r>
            <a:endParaRPr lang="en-US" sz="1200" dirty="0"/>
          </a:p>
        </p:txBody>
      </p:sp>
      <p:sp>
        <p:nvSpPr>
          <p:cNvPr id="5" name="Code"/>
          <p:cNvSpPr txBox="1"/>
          <p:nvPr/>
        </p:nvSpPr>
        <p:spPr>
          <a:xfrm>
            <a:off x="594360" y="1508760"/>
            <a:ext cx="7955280" cy="871220"/>
          </a:xfrm>
          <a:prstGeom prst="rect">
            <a:avLst/>
          </a:prstGeom>
          <a:noFill/>
          <a:ln/>
        </p:spPr>
        <p:txBody>
          <a:bodyPr wrap="square" lIns="0" tIns="0" rIns="0" bIns="0" rtlCol="0" anchor="t"/>
          <a:lstStyle/>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1  </a:t>
            </a:r>
            <a:r>
              <a:rPr lang="en-US" sz="1300" dirty="0">
                <a:solidFill>
                  <a:srgbClr val="F7EFE6"/>
                </a:solidFill>
                <a:latin typeface="Courier New" pitchFamily="34" charset="0"/>
                <a:ea typeface="Courier New" pitchFamily="34" charset="-122"/>
                <a:cs typeface="Courier New" pitchFamily="34" charset="-120"/>
              </a:rPr>
              <a:t>recent = per_year.filter(pl.col("Release year").is_between(2019, 2024))</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2  </a:t>
            </a:r>
            <a:r>
              <a:rPr lang="en-US" sz="1300" dirty="0">
                <a:solidFill>
                  <a:srgbClr val="F7EFE6"/>
                </a:solidFill>
                <a:latin typeface="Courier New" pitchFamily="34" charset="0"/>
                <a:ea typeface="Courier New" pitchFamily="34" charset="-122"/>
                <a:cs typeface="Courier New" pitchFamily="34" charset="-120"/>
              </a:rPr>
              <a:t>average_growth = recent["Games"].diff().mean()</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3  </a:t>
            </a:r>
            <a:r>
              <a:rPr lang="en-US" sz="1300" dirty="0">
                <a:solidFill>
                  <a:srgbClr val="F7EFE6"/>
                </a:solidFill>
                <a:latin typeface="Courier New" pitchFamily="34" charset="0"/>
                <a:ea typeface="Courier New" pitchFamily="34" charset="-122"/>
                <a:cs typeface="Courier New" pitchFamily="34" charset="-120"/>
              </a:rPr>
              <a:t>prediction_2025 = recent["Games"][-1] + average_growth</a:t>
            </a:r>
            <a:endParaRPr lang="en-US" sz="1300" dirty="0"/>
          </a:p>
          <a:p>
            <a:pPr indent="0" marL="0">
              <a:lnSpc>
                <a:spcPts val="1625"/>
              </a:lnSpc>
              <a:buNone/>
            </a:pPr>
            <a:r>
              <a:rPr lang="en-US" sz="1300" dirty="0">
                <a:solidFill>
                  <a:srgbClr val="9C8A80"/>
                </a:solidFill>
                <a:latin typeface="Courier New" pitchFamily="34" charset="0"/>
                <a:ea typeface="Courier New" pitchFamily="34" charset="-122"/>
                <a:cs typeface="Courier New" pitchFamily="34" charset="-120"/>
              </a:rPr>
              <a:t> 4  </a:t>
            </a:r>
            <a:r>
              <a:rPr lang="en-US" sz="1300" dirty="0">
                <a:solidFill>
                  <a:srgbClr val="F7EFE6"/>
                </a:solidFill>
                <a:latin typeface="Courier New" pitchFamily="34" charset="0"/>
                <a:ea typeface="Courier New" pitchFamily="34" charset="-122"/>
                <a:cs typeface="Courier New" pitchFamily="34" charset="-120"/>
              </a:rPr>
              <a:t>average_growth, prediction_2025</a:t>
            </a:r>
            <a:endParaRPr lang="en-US" sz="1300" dirty="0"/>
          </a:p>
        </p:txBody>
      </p:sp>
      <p:sp>
        <p:nvSpPr>
          <p:cNvPr id="6" name="Text 4"/>
          <p:cNvSpPr txBox="1"/>
          <p:nvPr/>
        </p:nvSpPr>
        <p:spPr>
          <a:xfrm>
            <a:off x="457200" y="2644140"/>
            <a:ext cx="8229600" cy="384048"/>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dirty="0">
                <a:solidFill>
                  <a:srgbClr val="2B1D19"/>
                </a:solidFill>
              </a:rPr>
              <a:t>The output is </a:t>
            </a:r>
            <a:r>
              <a:rPr lang="en-US" sz="1500" b="1" dirty="0">
                <a:solidFill>
                  <a:srgbClr val="2B1D19"/>
                </a:solidFill>
              </a:rPr>
              <a:t>(30.0, 959.0)</a:t>
            </a:r>
            <a:r>
              <a:rPr lang="en-US" sz="1500" dirty="0">
                <a:solidFill>
                  <a:srgbClr val="2B1D19"/>
                </a:solidFill>
              </a:rPr>
              <a:t>: about 30 more games each year, so we predict </a:t>
            </a:r>
            <a:r>
              <a:rPr lang="en-US" sz="1500" b="1" dirty="0">
                <a:solidFill>
                  <a:srgbClr val="2B1D19"/>
                </a:solidFill>
              </a:rPr>
              <a:t>959</a:t>
            </a:r>
            <a:r>
              <a:rPr lang="en-US" sz="1500" dirty="0">
                <a:solidFill>
                  <a:srgbClr val="2B1D19"/>
                </a:solidFill>
              </a:rPr>
              <a:t>.</a:t>
            </a:r>
            <a:endParaRPr lang="en-US" sz="1500" dirty="0"/>
          </a:p>
        </p:txBody>
      </p:sp>
      <p:sp>
        <p:nvSpPr>
          <p:cNvPr id="7" name="Text 5"/>
          <p:cNvSpPr txBox="1"/>
          <p:nvPr/>
        </p:nvSpPr>
        <p:spPr>
          <a:xfrm>
            <a:off x="457200" y="3101340"/>
            <a:ext cx="8229600" cy="128016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We assume the next year changes by the same amount as an average year did. We use only 2019 to 2024, because recent years are more like 2025 than 2010 was.</a:t>
            </a:r>
            <a:endParaRPr lang="en-US" sz="1500" dirty="0"/>
          </a:p>
          <a:p>
            <a:pPr marL="342900" indent="-342900">
              <a:spcAft>
                <a:spcPts val="600"/>
              </a:spcAft>
              <a:buSzPct val="100000"/>
              <a:buChar char="•"/>
            </a:pPr>
            <a:r>
              <a:rPr lang="en-US" sz="1500" dirty="0">
                <a:solidFill>
                  <a:srgbClr val="2B1D19"/>
                </a:solidFill>
              </a:rPr>
              <a:t>​</a:t>
            </a:r>
            <a:r>
              <a:rPr lang="en-US" sz="1500" b="1" dirty="0">
                <a:solidFill>
                  <a:srgbClr val="2B1D19"/>
                </a:solidFill>
              </a:rPr>
              <a:t>line 2</a:t>
            </a:r>
            <a:r>
              <a:rPr lang="en-US" sz="1500" dirty="0">
                <a:solidFill>
                  <a:srgbClr val="2B1D19"/>
                </a:solidFill>
              </a:rPr>
              <a:t> → </a:t>
            </a:r>
            <a:r>
              <a:rPr lang="en-US" sz="1300" dirty="0">
                <a:solidFill>
                  <a:srgbClr val="B86E1E"/>
                </a:solidFill>
                <a:latin typeface="Courier New" pitchFamily="34" charset="0"/>
                <a:ea typeface="Courier New" pitchFamily="34" charset="-122"/>
                <a:cs typeface="Courier New" pitchFamily="34" charset="-120"/>
              </a:rPr>
              <a:t>diff</a:t>
            </a:r>
            <a:r>
              <a:rPr lang="en-US" sz="1500" dirty="0">
                <a:solidFill>
                  <a:srgbClr val="2B1D19"/>
                </a:solidFill>
              </a:rPr>
              <a:t> finds the change from each year to the next, then </a:t>
            </a:r>
            <a:r>
              <a:rPr lang="en-US" sz="1300" dirty="0">
                <a:solidFill>
                  <a:srgbClr val="B86E1E"/>
                </a:solidFill>
                <a:latin typeface="Courier New" pitchFamily="34" charset="0"/>
                <a:ea typeface="Courier New" pitchFamily="34" charset="-122"/>
                <a:cs typeface="Courier New" pitchFamily="34" charset="-120"/>
              </a:rPr>
              <a:t>mean</a:t>
            </a:r>
            <a:r>
              <a:rPr lang="en-US" sz="1500" dirty="0">
                <a:solidFill>
                  <a:srgbClr val="2B1D19"/>
                </a:solidFill>
              </a:rPr>
              <a:t> averages it</a:t>
            </a:r>
            <a:endParaRPr lang="en-US" sz="1500" dirty="0"/>
          </a:p>
          <a:p>
            <a:pPr marL="342900" indent="-342900">
              <a:spcAft>
                <a:spcPts val="600"/>
              </a:spcAft>
              <a:buSzPct val="100000"/>
              <a:buChar char="•"/>
            </a:pPr>
            <a:r>
              <a:rPr lang="en-US" sz="1500" dirty="0">
                <a:solidFill>
                  <a:srgbClr val="2B1D19"/>
                </a:solidFill>
              </a:rPr>
              <a:t>​</a:t>
            </a:r>
            <a:r>
              <a:rPr lang="en-US" sz="1500" b="1" dirty="0">
                <a:solidFill>
                  <a:srgbClr val="2B1D19"/>
                </a:solidFill>
              </a:rPr>
              <a:t>line 3</a:t>
            </a:r>
            <a:r>
              <a:rPr lang="en-US" sz="1500" dirty="0">
                <a:solidFill>
                  <a:srgbClr val="2B1D19"/>
                </a:solidFill>
              </a:rPr>
              <a:t> → adds the average change to the last count, using </a:t>
            </a:r>
            <a:r>
              <a:rPr lang="en-US" sz="1300" dirty="0">
                <a:solidFill>
                  <a:srgbClr val="B86E1E"/>
                </a:solidFill>
                <a:latin typeface="Courier New" pitchFamily="34" charset="0"/>
                <a:ea typeface="Courier New" pitchFamily="34" charset="-122"/>
                <a:cs typeface="Courier New" pitchFamily="34" charset="-120"/>
              </a:rPr>
              <a:t>[-1]</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CHECKING OUR PREDICTION</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Our data has only 424 games from 2025</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That's less than half our prediction of 959. Our prediction was way off. Why?</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Why so few 2025 games?</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2000" dirty="0">
                <a:solidFill>
                  <a:srgbClr val="2B1D19"/>
                </a:solidFill>
              </a:rPr>
              <a:t>​</a:t>
            </a:r>
            <a:r>
              <a:rPr lang="en-US" sz="2000" dirty="0">
                <a:solidFill>
                  <a:srgbClr val="2B1D19"/>
                </a:solidFill>
              </a:rPr>
              <a:t>our data only includes games with at least </a:t>
            </a:r>
            <a:r>
              <a:rPr lang="en-US" sz="2000" b="1" dirty="0">
                <a:solidFill>
                  <a:srgbClr val="2B1D19"/>
                </a:solidFill>
              </a:rPr>
              <a:t>500 reviews</a:t>
            </a:r>
            <a:endParaRPr lang="en-US" sz="2000" dirty="0"/>
          </a:p>
          <a:p>
            <a:pPr marL="342900" indent="-342900">
              <a:spcAft>
                <a:spcPts val="800"/>
              </a:spcAft>
              <a:buSzPct val="100000"/>
              <a:buChar char="•"/>
            </a:pPr>
            <a:r>
              <a:rPr lang="en-US" sz="2000" dirty="0">
                <a:solidFill>
                  <a:srgbClr val="2B1D19"/>
                </a:solidFill>
              </a:rPr>
              <a:t>​</a:t>
            </a:r>
            <a:r>
              <a:rPr lang="en-US" sz="2000" dirty="0">
                <a:solidFill>
                  <a:srgbClr val="2B1D19"/>
                </a:solidFill>
              </a:rPr>
              <a:t>a game from December 2025 has had far less time to collect reviews</a:t>
            </a:r>
            <a:endParaRPr lang="en-US" sz="2000" dirty="0"/>
          </a:p>
          <a:p>
            <a:pPr marL="342900" indent="-342900">
              <a:spcAft>
                <a:spcPts val="800"/>
              </a:spcAft>
              <a:buSzPct val="100000"/>
              <a:buChar char="•"/>
            </a:pPr>
            <a:r>
              <a:rPr lang="en-US" sz="2000" dirty="0">
                <a:solidFill>
                  <a:srgbClr val="2B1D19"/>
                </a:solidFill>
              </a:rPr>
              <a:t>​</a:t>
            </a:r>
            <a:r>
              <a:rPr lang="en-US" sz="2000" dirty="0">
                <a:solidFill>
                  <a:srgbClr val="2B1D19"/>
                </a:solidFill>
              </a:rPr>
              <a:t>many 2025 games exist but haven't reached 500 yet</a:t>
            </a:r>
            <a:endParaRPr lang="en-US" sz="2000" dirty="0"/>
          </a:p>
          <a:p>
            <a:pPr marL="342900" indent="-342900">
              <a:spcAft>
                <a:spcPts val="800"/>
              </a:spcAft>
              <a:buSzPct val="100000"/>
              <a:buChar char="•"/>
            </a:pPr>
            <a:r>
              <a:rPr lang="en-US" sz="2000" dirty="0">
                <a:solidFill>
                  <a:srgbClr val="2B1D19"/>
                </a:solidFill>
              </a:rPr>
              <a:t>​</a:t>
            </a:r>
            <a:r>
              <a:rPr lang="en-US" sz="2000" dirty="0">
                <a:solidFill>
                  <a:srgbClr val="2B1D19"/>
                </a:solidFill>
              </a:rPr>
              <a:t>so it's because of </a:t>
            </a:r>
            <a:r>
              <a:rPr lang="en-US" sz="2000" b="1" dirty="0">
                <a:solidFill>
                  <a:srgbClr val="2B1D19"/>
                </a:solidFill>
              </a:rPr>
              <a:t>how our data was chosen</a:t>
            </a:r>
            <a:r>
              <a:rPr lang="en-US" sz="2000" dirty="0">
                <a:solidFill>
                  <a:srgbClr val="2B1D19"/>
                </a:solidFill>
              </a:rPr>
              <a:t>, not fewer games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Predictions are guesses with reasons</a:t>
            </a:r>
            <a:endParaRPr lang="en-US" sz="2800" dirty="0"/>
          </a:p>
        </p:txBody>
      </p:sp>
      <p:sp>
        <p:nvSpPr>
          <p:cNvPr id="3" name="warning box"/>
          <p:cNvSpPr/>
          <p:nvPr/>
        </p:nvSpPr>
        <p:spPr>
          <a:xfrm>
            <a:off x="457200" y="1051560"/>
            <a:ext cx="8229600" cy="2519680"/>
          </a:xfrm>
          <a:prstGeom prst="roundRect">
            <a:avLst>
              <a:gd name="adj" fmla="val 2903"/>
            </a:avLst>
          </a:prstGeom>
          <a:solidFill>
            <a:srgbClr val="FDE4EF"/>
          </a:solidFill>
          <a:ln w="12700">
            <a:solidFill>
              <a:srgbClr val="FDE4EF"/>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B0185E"/>
                </a:solidFill>
              </a:rPr>
              <a:t>Watch out</a:t>
            </a:r>
            <a:endParaRPr lang="en-US" sz="1600" dirty="0"/>
          </a:p>
        </p:txBody>
      </p:sp>
      <p:sp>
        <p:nvSpPr>
          <p:cNvPr id="5" name="Text 3"/>
          <p:cNvSpPr txBox="1"/>
          <p:nvPr/>
        </p:nvSpPr>
        <p:spPr>
          <a:xfrm>
            <a:off x="685800" y="1600200"/>
            <a:ext cx="7772400" cy="18338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A prediction assumes the future will behave like the past. When it doesn't, that's not a failure: finding out </a:t>
            </a:r>
            <a:r>
              <a:rPr lang="en-US" sz="2000" b="1" dirty="0">
                <a:solidFill>
                  <a:srgbClr val="2B1D19"/>
                </a:solidFill>
              </a:rPr>
              <a:t>why</a:t>
            </a:r>
            <a:r>
              <a:rPr lang="en-US" sz="2000" dirty="0">
                <a:solidFill>
                  <a:srgbClr val="2B1D19"/>
                </a:solidFill>
              </a:rPr>
              <a:t> often teaches us something important about our data. When we put a prediction in our story, we say what it's based on, and we check it if we can.</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4572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CHECK YOUR UNDERSTANDING</a:t>
            </a:r>
            <a:endParaRPr lang="en-US" sz="1400" dirty="0"/>
          </a:p>
        </p:txBody>
      </p:sp>
      <p:sp>
        <p:nvSpPr>
          <p:cNvPr id="3" name="Text 1"/>
          <p:cNvSpPr txBox="1"/>
          <p:nvPr/>
        </p:nvSpPr>
        <p:spPr>
          <a:xfrm>
            <a:off x="457200" y="1005840"/>
            <a:ext cx="7498080" cy="3108960"/>
          </a:xfrm>
          <a:prstGeom prst="rect">
            <a:avLst/>
          </a:prstGeom>
          <a:noFill/>
          <a:ln/>
        </p:spPr>
        <p:txBody>
          <a:bodyPr wrap="square" lIns="0" tIns="0" rIns="0" bIns="0" rtlCol="0" anchor="t">
            <a:normAutofit/>
          </a:bodyPr>
          <a:lstStyle/>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What does the IQR measure?</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Q1 is $1.49 and Q3 is $9.59. What is the upper fence?</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We found 438 price outliers. Why didn't we delete them?</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We predicted 959 games from 2025 but found 424. Why?</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Your data story</a:t>
            </a:r>
            <a:endParaRPr lang="en-US" sz="2800" dirty="0"/>
          </a:p>
        </p:txBody>
      </p:sp>
      <p:sp>
        <p:nvSpPr>
          <p:cNvPr id="3" name="Shape 1"/>
          <p:cNvSpPr/>
          <p:nvPr/>
        </p:nvSpPr>
        <p:spPr>
          <a:xfrm>
            <a:off x="457200" y="1051560"/>
            <a:ext cx="2651760" cy="3429000"/>
          </a:xfrm>
          <a:prstGeom prst="roundRect">
            <a:avLst>
              <a:gd name="adj" fmla="val 2759"/>
            </a:avLst>
          </a:prstGeom>
          <a:solidFill>
            <a:srgbClr val="4E342E"/>
          </a:solidFill>
          <a:ln w="12700">
            <a:solidFill>
              <a:srgbClr val="4E342E"/>
            </a:solidFill>
            <a:prstDash val="solid"/>
          </a:ln>
        </p:spPr>
      </p:sp>
      <p:sp>
        <p:nvSpPr>
          <p:cNvPr id="4" name="Text 2"/>
          <p:cNvSpPr txBox="1"/>
          <p:nvPr/>
        </p:nvSpPr>
        <p:spPr>
          <a:xfrm>
            <a:off x="685800" y="1280160"/>
            <a:ext cx="2194560" cy="822960"/>
          </a:xfrm>
          <a:prstGeom prst="rect">
            <a:avLst/>
          </a:prstGeom>
          <a:noFill/>
          <a:ln/>
        </p:spPr>
        <p:txBody>
          <a:bodyPr wrap="square" lIns="0" tIns="0" rIns="0" bIns="0" rtlCol="0" anchor="t"/>
          <a:lstStyle/>
          <a:p>
            <a:pPr indent="0" marL="0">
              <a:buNone/>
            </a:pPr>
            <a:r>
              <a:rPr lang="en-US" sz="1500" dirty="0">
                <a:solidFill>
                  <a:srgbClr val="F7EFE6"/>
                </a:solidFill>
              </a:rPr>
              <a:t>In my_data_story.md, add the heading</a:t>
            </a:r>
            <a:endParaRPr lang="en-US" sz="1500" dirty="0"/>
          </a:p>
        </p:txBody>
      </p:sp>
      <p:sp>
        <p:nvSpPr>
          <p:cNvPr id="5" name="Text 3"/>
          <p:cNvSpPr txBox="1"/>
          <p:nvPr/>
        </p:nvSpPr>
        <p:spPr>
          <a:xfrm>
            <a:off x="685800" y="2148840"/>
            <a:ext cx="2194560" cy="1097280"/>
          </a:xfrm>
          <a:prstGeom prst="rect">
            <a:avLst/>
          </a:prstGeom>
          <a:noFill/>
          <a:ln/>
        </p:spPr>
        <p:txBody>
          <a:bodyPr wrap="square" lIns="0" tIns="0" rIns="0" bIns="0" rtlCol="0" anchor="t">
            <a:normAutofit/>
          </a:bodyPr>
          <a:lstStyle/>
          <a:p>
            <a:pPr indent="0" marL="0">
              <a:buNone/>
            </a:pPr>
            <a:r>
              <a:rPr lang="en-US" sz="1800" b="1" dirty="0">
                <a:solidFill>
                  <a:srgbClr val="E8A55A"/>
                </a:solidFill>
                <a:latin typeface="Courier New" pitchFamily="34" charset="0"/>
                <a:ea typeface="Courier New" pitchFamily="34" charset="-122"/>
                <a:cs typeface="Courier New" pitchFamily="34" charset="-120"/>
              </a:rPr>
              <a:t>## Outliers and predictions</a:t>
            </a:r>
            <a:endParaRPr lang="en-US" sz="1800" dirty="0"/>
          </a:p>
        </p:txBody>
      </p:sp>
      <p:sp>
        <p:nvSpPr>
          <p:cNvPr id="6" name="Text 4"/>
          <p:cNvSpPr txBox="1"/>
          <p:nvPr/>
        </p:nvSpPr>
        <p:spPr>
          <a:xfrm>
            <a:off x="3383280" y="1097280"/>
            <a:ext cx="5303520" cy="3383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Find the outliers in one number column your question uses. Record how many there are.</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Sort the outliers so the most extreme come first, and check their values are real. Decide whether to keep them, and write down why.</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If your question is about change over time, make a prediction and write down what it's based on.</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Add any new limitations you've found to your list under </a:t>
            </a:r>
            <a:r>
              <a:rPr lang="en-US" sz="1400" dirty="0">
                <a:solidFill>
                  <a:srgbClr val="B86E1E"/>
                </a:solidFill>
                <a:latin typeface="Courier New" pitchFamily="34" charset="0"/>
                <a:ea typeface="Courier New" pitchFamily="34" charset="-122"/>
                <a:cs typeface="Courier New" pitchFamily="34" charset="-120"/>
              </a:rPr>
              <a:t>## Clean data</a:t>
            </a:r>
            <a:r>
              <a:rPr lang="en-US" sz="1600" dirty="0">
                <a:solidFill>
                  <a:srgbClr val="2B1D19"/>
                </a:solidFill>
              </a:rPr>
              <a:t>.</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Steam Data Stories">
  <a:themeElements>
    <a:clrScheme name="Steam Data Stories">
      <a:dk1>
        <a:srgbClr val="2B1D19"/>
      </a:dk1>
      <a:lt1>
        <a:srgbClr val="FFFFFF"/>
      </a:lt1>
      <a:dk2>
        <a:srgbClr val="4E342E"/>
      </a:dk2>
      <a:lt2>
        <a:srgbClr val="F7EFE6"/>
      </a:lt2>
      <a:accent1>
        <a:srgbClr val="E8A55A"/>
      </a:accent1>
      <a:accent2>
        <a:srgbClr val="6D4C41"/>
      </a:accent2>
      <a:accent3>
        <a:srgbClr val="1D5F8A"/>
      </a:accent3>
      <a:accent4>
        <a:srgbClr val="2E6B30"/>
      </a:accent4>
      <a:accent5>
        <a:srgbClr val="B0185E"/>
      </a:accent5>
      <a:accent6>
        <a:srgbClr val="8A5A00"/>
      </a:accent6>
      <a:hlink>
        <a:srgbClr val="B86E1E"/>
      </a:hlink>
      <a:folHlink>
        <a:srgbClr val="6D4C41"/>
      </a:folHlink>
    </a:clrScheme>
    <a:fontScheme name="Steam Data Stori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Outliers and Predictions</dc:title>
  <dc:subject>PptxGenJS Presentation</dc:subject>
  <dc:creator>Steam Data Stories</dc:creator>
  <cp:lastModifiedBy>Steam Data Stories</cp:lastModifiedBy>
  <cp:revision>1</cp:revision>
  <dcterms:created xsi:type="dcterms:W3CDTF">2026-10-12T04:52:50Z</dcterms:created>
  <dcterms:modified xsi:type="dcterms:W3CDTF">2026-10-12T04:52:50Z</dcterms:modified>
</cp:coreProperties>
</file>