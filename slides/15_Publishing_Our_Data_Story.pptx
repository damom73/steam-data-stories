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528cbee-a670-2331-4ac2-8131b49423d7}">
          <p14:sldIdLst>
            <p14:sldId id="256"/>
            <p14:sldId id="257"/>
            <p14:sldId id="258"/>
            <p14:sldId id="259"/>
          </p14:sldIdLst>
        </p14:section>
        <p14:section name="Writing with mo.md" id="{e5527c31-be01-54f0-0075-99db0b103eb2}">
          <p14:sldIdLst>
            <p14:sldId id="260"/>
            <p14:sldId id="261"/>
            <p14:sldId id="262"/>
            <p14:sldId id="263"/>
            <p14:sldId id="264"/>
          </p14:sldIdLst>
        </p14:section>
        <p14:section name="Putting numbers in our text" id="{e812d2cc-a52b-d1d7-bc3d-244c7800f768}">
          <p14:sldIdLst>
            <p14:sldId id="265"/>
            <p14:sldId id="266"/>
            <p14:sldId id="267"/>
            <p14:sldId id="268"/>
            <p14:sldId id="269"/>
          </p14:sldIdLst>
        </p14:section>
        <p14:section name="Being honest about limitations" id="{e405dce7-fcd7-0a78-5958-c715a01b0d1b}">
          <p14:sldIdLst>
            <p14:sldId id="270"/>
            <p14:sldId id="271"/>
            <p14:sldId id="272"/>
            <p14:sldId id="273"/>
          </p14:sldIdLst>
        </p14:section>
        <p14:section name="Tidying for our audience" id="{22fcb9d0-3d41-a46f-17e6-8f1cad671200}">
          <p14:sldIdLst>
            <p14:sldId id="274"/>
            <p14:sldId id="275"/>
            <p14:sldId id="276"/>
            <p14:sldId id="277"/>
          </p14:sldIdLst>
        </p14:section>
        <p14:section name="Checking the app view" id="{f5464f4f-2660-2810-0f2d-b528442aad30}">
          <p14:sldIdLst>
            <p14:sldId id="278"/>
            <p14:sldId id="279"/>
            <p14:sldId id="280"/>
          </p14:sldIdLst>
        </p14:section>
        <p14:section name="Getting ready for the class server" id="{759f1e4e-9c83-0f52-5f41-a5874415c670}">
          <p14:sldIdLst>
            <p14:sldId id="281"/>
            <p14:sldId id="282"/>
          </p14:sldIdLst>
        </p14:section>
        <p14:section name="Handing in our story" id="{0a1c8a93-649b-9194-dffb-bb55ceb5058b}">
          <p14:sldIdLst>
            <p14:sldId id="283"/>
            <p14:sldId id="284"/>
            <p14:sldId id="285"/>
            <p14:sldId id="286"/>
          </p14:sldIdLst>
        </p14:section>
        <p14:section name="Wrap up" id="{7ff95917-2839-9132-9689-2893e8a7b38e}">
          <p14:sldIdLst>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Resolution lesson: we write the words of our story, tidy the notebook for the app view and hand it in for the class server. About 60 minutes: 5 min hook, 20 min mo.md and f-strings, 10 min limitations, 10 min tidying and app view, 10 min class server and hand-in, 5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By the end of the lesson every student should have a story that runs on the class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lesson, have the class server address ready and know how students will hand in their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could follow our notebook right now? (Only us: it's full of code and working tables.) Today we write the story in words, with only the charts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have been writing Markdown in my_data_story.md since they started their data story: # for headings, ** for bold, - for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audience needs to know where the evidence came from, but not every cleaning step. Start marimo with marimo edit steam_story.py and press Ctrl+Shift+R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Line 1 shows the text as formatted Markdown. Lines 2 and 10 start and end the three-quote string. Line 3 is a level 1 heading, our title. Lines 5 to 7 hook the audience; line 9 says what data we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 shows a large title and two paragraphs, with no code in sight. Share a few rewritten openings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drag handle. Students used to Jupyter may worry that moving cells breaks things; in marimo it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to a typed number if we fix a mistake in our data or get a newer copy? (The text is now wrong.) We take indie_score and other_score out of per_group, then put an f in front of the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what the text will say. Lines 1 and 2 take the first and second values of the Median review score column and give them clear names. Line 4 starts the f-string with an f. Lines 7 and 8 put the values into the text, in bold.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need to take the prices out of the prices table with their own clear names first, the same way as indie_score.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heading, sentence, chart pattern repeats for every insight in their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using their own groups must check their table is sorted, and which group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makes our story more trustworthy, not less. We write the answer in plain words without new numbers, because our audience has already seen the evidence, and give each limitation its own dot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Lines 3 to 7 are the answer. Line 9 is a level 3 heading for the limitations, and lines 11 to 17 are four list items. This is the end of our story, so leave it at the bottom of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find the matching notes in their own my_data_story.md. Every limitation in their Resolution should already be written down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 "our data might be wrong" or "we didn't have enough time". Push for a fact, then its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 scored.select(...) table we used to check our new columns. Our audience doesn't need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work through their notebook from top to bottom, dragging cells into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this on one cell before students do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student's story suddenly fills with errors, check whether they deleted a whole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need to stop marimo edit first, so they have a free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Mac it's still Ctrl+C in the terminal. If students forget to stop marimo edit, the terminal is busy and nothing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students up to read each other's app view if time allows: fresh eyes catch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computer, marimo starts in our project folder, so it works. On the class server it can't find our data, and our story would show a blank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only shows up when the notebook runs somewhere else. While they're here, students delete the games line too, because the audience doesn't need the raw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exactly how to hand in their files for your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must still be called steam_story.py, and the Parquet file must be inside the data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class server on the projector and click into one or two stories once they're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class server can't find the data, the story shows an empty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The numbers come straight from our data, so if our data changes the text changes with it.
2. We sorted per_group by Group, so Indie is always the first row.
3. Only the last line that shows the table. Deleting the cell removes its variable, so every cell that uses it stops with an error.
4. The class server starts marimo in a different folder, so the plain path can't find our data. mo.notebook_dir() finds the folder the notebook is saved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will need part of next lesson to finish task 1. The class server address matters next time, when they present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RESOLUTION</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15</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Publishing Our Data Story</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154680"/>
          </a:xfrm>
          <a:prstGeom prst="roundRect">
            <a:avLst>
              <a:gd name="adj" fmla="val 2319"/>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write the words of our story with </a:t>
            </a:r>
            <a:r>
              <a:rPr lang="en-US" sz="1800" dirty="0">
                <a:solidFill>
                  <a:srgbClr val="B86E1E"/>
                </a:solidFill>
                <a:latin typeface="Courier New" pitchFamily="34" charset="0"/>
                <a:ea typeface="Courier New" pitchFamily="34" charset="-122"/>
                <a:cs typeface="Courier New" pitchFamily="34" charset="-120"/>
              </a:rPr>
              <a:t>mo.md</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put numbers from our data into our text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be honest about the limitations of our story</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tidy our notebook and check it in app view</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hand in our story for the class server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2697480"/>
          </a:xfrm>
          <a:prstGeom prst="roundRect">
            <a:avLst>
              <a:gd name="adj" fmla="val 2712"/>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0116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app view</a:t>
            </a:r>
            <a:r>
              <a:rPr lang="en-US" sz="2000" dirty="0">
                <a:solidFill>
                  <a:srgbClr val="2B1D19"/>
                </a:solidFill>
              </a:rPr>
              <a:t> – a way of showing a marimo notebook with the code hidden, so only the outputs and controls appear.</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class server</a:t>
            </a:r>
            <a:r>
              <a:rPr lang="en-US" sz="2000" dirty="0">
                <a:solidFill>
                  <a:srgbClr val="2B1D19"/>
                </a:solidFill>
              </a:rPr>
              <a:t> – a computer at school that runs everyone's notebooks so anyone on the school network can open them in a web browser.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WELCOME TO THE RESOLUTION</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Our audience needs the story, not our working</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The Resolution answers our question, says what the answer means, and is honest about what our data can't tell us.</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Writing with mo.md</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marimo can turn </a:t>
            </a:r>
            <a:r>
              <a:rPr lang="en-US" sz="1800" b="1" dirty="0">
                <a:solidFill>
                  <a:srgbClr val="F7EFE6"/>
                </a:solidFill>
              </a:rPr>
              <a:t>Markdown</a:t>
            </a:r>
            <a:r>
              <a:rPr lang="en-US" sz="1800" dirty="0">
                <a:solidFill>
                  <a:srgbClr val="F7EFE6"/>
                </a:solidFill>
              </a:rPr>
              <a:t> into formatted text in our notebook, using </a:t>
            </a:r>
            <a:r>
              <a:rPr lang="en-US" sz="1600" dirty="0">
                <a:solidFill>
                  <a:srgbClr val="E8A55A"/>
                </a:solidFill>
                <a:latin typeface="Courier New" pitchFamily="34" charset="0"/>
                <a:ea typeface="Courier New" pitchFamily="34" charset="-122"/>
                <a:cs typeface="Courier New" pitchFamily="34" charset="-120"/>
              </a:rPr>
              <a:t>mo.md</a:t>
            </a:r>
            <a:r>
              <a:rPr lang="en-US" sz="1800" dirty="0">
                <a:solidFill>
                  <a:srgbClr val="F7EFE6"/>
                </a:solidFill>
              </a:rPr>
              <a: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our Hook needs</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We start with the </a:t>
            </a:r>
            <a:r>
              <a:rPr lang="en-US" sz="1600" b="1" dirty="0">
                <a:solidFill>
                  <a:srgbClr val="2B1D19"/>
                </a:solidFill>
              </a:rPr>
              <a:t>Hook</a:t>
            </a:r>
            <a:r>
              <a:rPr lang="en-US" sz="1600" dirty="0">
                <a:solidFill>
                  <a:srgbClr val="2B1D19"/>
                </a:solidFill>
              </a:rPr>
              <a:t>, because it's the first thing our audience reads.</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800" dirty="0">
                <a:solidFill>
                  <a:srgbClr val="2B1D19"/>
                </a:solidFill>
              </a:rPr>
              <a:t>​</a:t>
            </a:r>
            <a:r>
              <a:rPr lang="en-US" sz="1800" dirty="0">
                <a:solidFill>
                  <a:srgbClr val="2B1D19"/>
                </a:solidFill>
              </a:rPr>
              <a:t>a </a:t>
            </a:r>
            <a:r>
              <a:rPr lang="en-US" sz="1800" b="1" dirty="0">
                <a:solidFill>
                  <a:srgbClr val="2B1D19"/>
                </a:solidFill>
              </a:rPr>
              <a:t>title</a:t>
            </a:r>
            <a:r>
              <a:rPr lang="en-US" sz="1800" dirty="0">
                <a:solidFill>
                  <a:srgbClr val="2B1D19"/>
                </a:solidFill>
              </a:rPr>
              <a:t> that asks our question</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a short </a:t>
            </a:r>
            <a:r>
              <a:rPr lang="en-US" sz="1800" b="1" dirty="0">
                <a:solidFill>
                  <a:srgbClr val="2B1D19"/>
                </a:solidFill>
              </a:rPr>
              <a:t>paragraph</a:t>
            </a:r>
            <a:r>
              <a:rPr lang="en-US" sz="1800" dirty="0">
                <a:solidFill>
                  <a:srgbClr val="2B1D19"/>
                </a:solidFill>
              </a:rPr>
              <a:t> that explains why the question is interesting</a:t>
            </a:r>
            <a:endParaRPr lang="en-US" sz="1800" dirty="0"/>
          </a:p>
          <a:p>
            <a:pPr marL="342900" indent="-342900">
              <a:spcAft>
                <a:spcPts val="800"/>
              </a:spcAft>
              <a:buSzPct val="100000"/>
              <a:buChar char="•"/>
            </a:pPr>
            <a:r>
              <a:rPr lang="en-US" sz="1800" dirty="0">
                <a:solidFill>
                  <a:srgbClr val="2B1D19"/>
                </a:solidFill>
              </a:rPr>
              <a:t>​</a:t>
            </a:r>
            <a:r>
              <a:rPr lang="en-US" sz="1800" b="1" dirty="0">
                <a:solidFill>
                  <a:srgbClr val="2B1D19"/>
                </a:solidFill>
              </a:rPr>
              <a:t>one sentence</a:t>
            </a:r>
            <a:r>
              <a:rPr lang="en-US" sz="1800" dirty="0">
                <a:solidFill>
                  <a:srgbClr val="2B1D19"/>
                </a:solidFill>
              </a:rPr>
              <a:t> that says what data we used: that's our whole Behind the Scenes</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three quotation marks let the text go over several lines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Write the Hook</a:t>
            </a:r>
            <a:endParaRPr lang="en-US" sz="2800" dirty="0"/>
          </a:p>
        </p:txBody>
      </p:sp>
      <p:sp>
        <p:nvSpPr>
          <p:cNvPr id="3" name="Code panel"/>
          <p:cNvSpPr/>
          <p:nvPr/>
        </p:nvSpPr>
        <p:spPr>
          <a:xfrm>
            <a:off x="457200" y="1051560"/>
            <a:ext cx="8229600" cy="2804160"/>
          </a:xfrm>
          <a:prstGeom prst="roundRect">
            <a:avLst>
              <a:gd name="adj" fmla="val 1957"/>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2141220"/>
          </a:xfrm>
          <a:prstGeom prst="rect">
            <a:avLst/>
          </a:prstGeom>
          <a:noFill/>
          <a:ln/>
        </p:spPr>
        <p:txBody>
          <a:bodyPr wrap="square" lIns="0" tIns="0" rIns="0" bIns="0" rtlCol="0" anchor="t"/>
          <a:lstStyle/>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1  </a:t>
            </a:r>
            <a:r>
              <a:rPr lang="en-US" sz="1200" dirty="0">
                <a:solidFill>
                  <a:srgbClr val="F7EFE6"/>
                </a:solidFill>
                <a:latin typeface="Courier New" pitchFamily="34" charset="0"/>
                <a:ea typeface="Courier New" pitchFamily="34" charset="-122"/>
                <a:cs typeface="Courier New" pitchFamily="34" charset="-120"/>
              </a:rPr>
              <a:t>mo.md(</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2  </a:t>
            </a:r>
            <a:r>
              <a:rPr lang="en-US" sz="1200" dirty="0">
                <a:solidFill>
                  <a:srgbClr val="F7EFE6"/>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3  </a:t>
            </a:r>
            <a:r>
              <a:rPr lang="en-US" sz="1200" dirty="0">
                <a:solidFill>
                  <a:srgbClr val="F7EFE6"/>
                </a:solidFill>
                <a:latin typeface="Courier New" pitchFamily="34" charset="0"/>
                <a:ea typeface="Courier New" pitchFamily="34" charset="-122"/>
                <a:cs typeface="Courier New" pitchFamily="34" charset="-120"/>
              </a:rPr>
              <a:t>    # Do Indie games review better?</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4  </a:t>
            </a:r>
            <a:r>
              <a:rPr lang="en-US" sz="1200" dirty="0">
                <a:solidFill>
                  <a:srgbClr val="F7EFE6"/>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5  </a:t>
            </a:r>
            <a:r>
              <a:rPr lang="en-US" sz="1200" dirty="0">
                <a:solidFill>
                  <a:srgbClr val="F7EFE6"/>
                </a:solidFill>
                <a:latin typeface="Courier New" pitchFamily="34" charset="0"/>
                <a:ea typeface="Courier New" pitchFamily="34" charset="-122"/>
                <a:cs typeface="Courier New" pitchFamily="34" charset="-120"/>
              </a:rPr>
              <a:t>    Indie games are made by small teams, often just a few people. Big</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6  </a:t>
            </a:r>
            <a:r>
              <a:rPr lang="en-US" sz="1200" dirty="0">
                <a:solidFill>
                  <a:srgbClr val="F7EFE6"/>
                </a:solidFill>
                <a:latin typeface="Courier New" pitchFamily="34" charset="0"/>
                <a:ea typeface="Courier New" pitchFamily="34" charset="-122"/>
                <a:cs typeface="Courier New" pitchFamily="34" charset="-120"/>
              </a:rPr>
              <a:t>    studios have hundreds of staff and much bigger budgets. So do players</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7  </a:t>
            </a:r>
            <a:r>
              <a:rPr lang="en-US" sz="1200" dirty="0">
                <a:solidFill>
                  <a:srgbClr val="F7EFE6"/>
                </a:solidFill>
                <a:latin typeface="Courier New" pitchFamily="34" charset="0"/>
                <a:ea typeface="Courier New" pitchFamily="34" charset="-122"/>
                <a:cs typeface="Courier New" pitchFamily="34" charset="-120"/>
              </a:rPr>
              <a:t>    like Indie games as much, and do Indie games cost less?</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8  </a:t>
            </a:r>
            <a:r>
              <a:rPr lang="en-US" sz="1200" dirty="0">
                <a:solidFill>
                  <a:srgbClr val="F7EFE6"/>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9  </a:t>
            </a:r>
            <a:r>
              <a:rPr lang="en-US" sz="1200" dirty="0">
                <a:solidFill>
                  <a:srgbClr val="F7EFE6"/>
                </a:solidFill>
                <a:latin typeface="Courier New" pitchFamily="34" charset="0"/>
                <a:ea typeface="Courier New" pitchFamily="34" charset="-122"/>
                <a:cs typeface="Courier New" pitchFamily="34" charset="-120"/>
              </a:rPr>
              <a:t>    To find out, we looked at 10,250 Steam games with at least 500 reviews.</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10  </a:t>
            </a:r>
            <a:r>
              <a:rPr lang="en-US" sz="1200" dirty="0">
                <a:solidFill>
                  <a:srgbClr val="F7EFE6"/>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11  </a:t>
            </a:r>
            <a:r>
              <a:rPr lang="en-US" sz="1200" dirty="0">
                <a:solidFill>
                  <a:srgbClr val="F7EFE6"/>
                </a:solidFill>
                <a:latin typeface="Courier New" pitchFamily="34" charset="0"/>
                <a:ea typeface="Courier New" pitchFamily="34" charset="-122"/>
                <a:cs typeface="Courier New" pitchFamily="34" charset="-120"/>
              </a:rPr>
              <a:t>)</a:t>
            </a:r>
            <a:endParaRPr lang="en-US" sz="1200" dirty="0"/>
          </a:p>
        </p:txBody>
      </p:sp>
      <p:sp>
        <p:nvSpPr>
          <p:cNvPr id="6" name="Text 4"/>
          <p:cNvSpPr txBox="1"/>
          <p:nvPr/>
        </p:nvSpPr>
        <p:spPr>
          <a:xfrm>
            <a:off x="457200" y="3947160"/>
            <a:ext cx="8229600" cy="57912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a:t>
            </a:r>
            <a:r>
              <a:rPr lang="en-US" sz="1300" dirty="0">
                <a:solidFill>
                  <a:srgbClr val="B86E1E"/>
                </a:solidFill>
                <a:latin typeface="Courier New" pitchFamily="34" charset="0"/>
                <a:ea typeface="Courier New" pitchFamily="34" charset="-122"/>
                <a:cs typeface="Courier New" pitchFamily="34" charset="-120"/>
              </a:rPr>
              <a:t>mo.md</a:t>
            </a:r>
            <a:r>
              <a:rPr lang="en-US" sz="1500" dirty="0">
                <a:solidFill>
                  <a:srgbClr val="2B1D19"/>
                </a:solidFill>
              </a:rPr>
              <a:t> shows Markdown as formatted text; three quotation marks let it run over several lines.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the Hook</a:t>
            </a:r>
            <a:endParaRPr lang="en-US" sz="2800" dirty="0"/>
          </a:p>
        </p:txBody>
      </p:sp>
      <p:sp>
        <p:nvSpPr>
          <p:cNvPr id="3" name="primm box"/>
          <p:cNvSpPr/>
          <p:nvPr/>
        </p:nvSpPr>
        <p:spPr>
          <a:xfrm>
            <a:off x="457200" y="1051560"/>
            <a:ext cx="8229600" cy="2037080"/>
          </a:xfrm>
          <a:prstGeom prst="roundRect">
            <a:avLst>
              <a:gd name="adj" fmla="val 3591"/>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351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Rewrite the introduction so it hooks our audience in a different way.</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For example, start with a surprising number.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Move the Hook to the top</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Cell order doesn't change our code</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Hover over the cell and drag the dots on its left edge to the very top. marimo works out which cells need which variables and runs them in the right order, so we can put our cells in whatever order tells our story best.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Putting numbers in our text</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Typed numbers go wrong when our data changes. Instead we give each number a clear name, then put it inside </a:t>
            </a:r>
            <a:r>
              <a:rPr lang="en-US" sz="1600" dirty="0">
                <a:solidFill>
                  <a:srgbClr val="E8A55A"/>
                </a:solidFill>
                <a:latin typeface="Courier New" pitchFamily="34" charset="0"/>
                <a:ea typeface="Courier New" pitchFamily="34" charset="-122"/>
                <a:cs typeface="Courier New" pitchFamily="34" charset="-120"/>
              </a:rPr>
              <a:t>{ }</a:t>
            </a:r>
            <a:r>
              <a:rPr lang="en-US" sz="1800" dirty="0">
                <a:solidFill>
                  <a:srgbClr val="F7EFE6"/>
                </a:solidFill>
              </a:rPr>
              <a:t> in an </a:t>
            </a:r>
            <a:r>
              <a:rPr lang="en-US" sz="1800" b="1" dirty="0">
                <a:solidFill>
                  <a:srgbClr val="F7EFE6"/>
                </a:solidFill>
              </a:rPr>
              <a:t>f-string</a:t>
            </a:r>
            <a:r>
              <a:rPr lang="en-US" sz="1800" dirty="0">
                <a:solidFill>
                  <a:srgbClr val="F7EFE6"/>
                </a:solidFill>
              </a:rPr>
              <a: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Numbers from our data</a:t>
            </a:r>
            <a:endParaRPr lang="en-US" sz="2800" dirty="0"/>
          </a:p>
        </p:txBody>
      </p:sp>
      <p:sp>
        <p:nvSpPr>
          <p:cNvPr id="3" name="Code panel"/>
          <p:cNvSpPr/>
          <p:nvPr/>
        </p:nvSpPr>
        <p:spPr>
          <a:xfrm>
            <a:off x="457200" y="1051560"/>
            <a:ext cx="8229600" cy="2929890"/>
          </a:xfrm>
          <a:prstGeom prst="roundRect">
            <a:avLst>
              <a:gd name="adj" fmla="val 187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22682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indie_score = per_group["Median review score"][0]</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other_score = per_group["Median review score"][1]</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mo.md(</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f"""</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 Players like Indie games more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6  </a:t>
            </a:r>
            <a:r>
              <a:rPr lang="en-US" sz="1400" dirty="0">
                <a:solidFill>
                  <a:srgbClr val="F7EFE6"/>
                </a:solidFill>
                <a:latin typeface="Courier New" pitchFamily="34" charset="0"/>
                <a:ea typeface="Courier New" pitchFamily="34" charset="-122"/>
                <a:cs typeface="Courier New" pitchFamily="34" charset="-120"/>
              </a:rPr>
              <a:t> </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7  </a:t>
            </a:r>
            <a:r>
              <a:rPr lang="en-US" sz="1400" dirty="0">
                <a:solidFill>
                  <a:srgbClr val="F7EFE6"/>
                </a:solidFill>
                <a:latin typeface="Courier New" pitchFamily="34" charset="0"/>
                <a:ea typeface="Courier New" pitchFamily="34" charset="-122"/>
                <a:cs typeface="Courier New" pitchFamily="34" charset="-120"/>
              </a:rPr>
              <a:t>    The typical Indie game gets **{indie_score}%** positive reviews,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8  </a:t>
            </a:r>
            <a:r>
              <a:rPr lang="en-US" sz="1400" dirty="0">
                <a:solidFill>
                  <a:srgbClr val="F7EFE6"/>
                </a:solidFill>
                <a:latin typeface="Courier New" pitchFamily="34" charset="0"/>
                <a:ea typeface="Courier New" pitchFamily="34" charset="-122"/>
                <a:cs typeface="Courier New" pitchFamily="34" charset="-120"/>
              </a:rPr>
              <a:t>    compared with **{other_score}%** for other games.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9  </a:t>
            </a:r>
            <a:r>
              <a:rPr lang="en-US" sz="1400" dirty="0">
                <a:solidFill>
                  <a:srgbClr val="F7EFE6"/>
                </a:solidFill>
                <a:latin typeface="Courier New" pitchFamily="34" charset="0"/>
                <a:ea typeface="Courier New" pitchFamily="34" charset="-122"/>
                <a:cs typeface="Courier New" pitchFamily="34" charset="-120"/>
              </a:rPr>
              <a:t>    """</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10  </a:t>
            </a:r>
            <a:r>
              <a:rPr lang="en-US" sz="1400" dirty="0">
                <a:solidFill>
                  <a:srgbClr val="F7EFE6"/>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457200" y="4072890"/>
            <a:ext cx="8229600" cy="4419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We give each number a clear name, then the </a:t>
            </a:r>
            <a:r>
              <a:rPr lang="en-US" sz="1300" dirty="0">
                <a:solidFill>
                  <a:srgbClr val="B86E1E"/>
                </a:solidFill>
                <a:latin typeface="Courier New" pitchFamily="34" charset="0"/>
                <a:ea typeface="Courier New" pitchFamily="34" charset="-122"/>
                <a:cs typeface="Courier New" pitchFamily="34" charset="-120"/>
              </a:rPr>
              <a:t>f</a:t>
            </a:r>
            <a:r>
              <a:rPr lang="en-US" sz="1500" dirty="0">
                <a:solidFill>
                  <a:srgbClr val="2B1D19"/>
                </a:solidFill>
              </a:rPr>
              <a:t> lets us put those names inside </a:t>
            </a:r>
            <a:r>
              <a:rPr lang="en-US" sz="1300" dirty="0">
                <a:solidFill>
                  <a:srgbClr val="B86E1E"/>
                </a:solidFill>
                <a:latin typeface="Courier New" pitchFamily="34" charset="0"/>
                <a:ea typeface="Courier New" pitchFamily="34" charset="-122"/>
                <a:cs typeface="Courier New" pitchFamily="34" charset="-120"/>
              </a:rPr>
              <a:t>{ }</a:t>
            </a:r>
            <a:r>
              <a:rPr lang="en-US" sz="1500" dirty="0">
                <a:solidFill>
                  <a:srgbClr val="2B1D19"/>
                </a:solidFill>
              </a:rPr>
              <a:t>.</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the text</a:t>
            </a:r>
            <a:endParaRPr lang="en-US" sz="2800" dirty="0"/>
          </a:p>
        </p:txBody>
      </p:sp>
      <p:sp>
        <p:nvSpPr>
          <p:cNvPr id="3" name="primm box"/>
          <p:cNvSpPr/>
          <p:nvPr/>
        </p:nvSpPr>
        <p:spPr>
          <a:xfrm>
            <a:off x="457200" y="1051560"/>
            <a:ext cx="8229600" cy="2037080"/>
          </a:xfrm>
          <a:prstGeom prst="roundRect">
            <a:avLst>
              <a:gd name="adj" fmla="val 3591"/>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351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Add a sentence that uses the median prices from the </a:t>
            </a:r>
            <a:r>
              <a:rPr lang="en-US" sz="1800" dirty="0">
                <a:solidFill>
                  <a:srgbClr val="B86E1E"/>
                </a:solidFill>
                <a:latin typeface="Courier New" pitchFamily="34" charset="0"/>
                <a:ea typeface="Courier New" pitchFamily="34" charset="-122"/>
                <a:cs typeface="Courier New" pitchFamily="34" charset="-120"/>
              </a:rPr>
              <a:t>prices</a:t>
            </a:r>
            <a:r>
              <a:rPr lang="en-US" sz="2000" dirty="0">
                <a:solidFill>
                  <a:srgbClr val="2B1D19"/>
                </a:solidFill>
              </a:rPr>
              <a:t> table.</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Say that they're in US dollars.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If our data changes, the text changes with it</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800" dirty="0">
                <a:solidFill>
                  <a:srgbClr val="2B1D19"/>
                </a:solidFill>
              </a:rPr>
              <a:t>​</a:t>
            </a:r>
            <a:r>
              <a:rPr lang="en-US" sz="1800" dirty="0">
                <a:solidFill>
                  <a:srgbClr val="2B1D19"/>
                </a:solidFill>
              </a:rPr>
              <a:t>the text says </a:t>
            </a:r>
            <a:r>
              <a:rPr lang="en-US" sz="1800" b="1" dirty="0">
                <a:solidFill>
                  <a:srgbClr val="2B1D19"/>
                </a:solidFill>
              </a:rPr>
              <a:t>86.5%</a:t>
            </a:r>
            <a:r>
              <a:rPr lang="en-US" sz="1800" dirty="0">
                <a:solidFill>
                  <a:srgbClr val="2B1D19"/>
                </a:solidFill>
              </a:rPr>
              <a:t> and </a:t>
            </a:r>
            <a:r>
              <a:rPr lang="en-US" sz="1800" b="1" dirty="0">
                <a:solidFill>
                  <a:srgbClr val="2B1D19"/>
                </a:solidFill>
              </a:rPr>
              <a:t>83.2%</a:t>
            </a:r>
            <a:r>
              <a:rPr lang="en-US" sz="1800" dirty="0">
                <a:solidFill>
                  <a:srgbClr val="2B1D19"/>
                </a:solidFill>
              </a:rPr>
              <a:t>, the same as our </a:t>
            </a:r>
            <a:r>
              <a:rPr lang="en-US" sz="1600" dirty="0">
                <a:solidFill>
                  <a:srgbClr val="B86E1E"/>
                </a:solidFill>
                <a:latin typeface="Courier New" pitchFamily="34" charset="0"/>
                <a:ea typeface="Courier New" pitchFamily="34" charset="-122"/>
                <a:cs typeface="Courier New" pitchFamily="34" charset="-120"/>
              </a:rPr>
              <a:t>per_group</a:t>
            </a:r>
            <a:r>
              <a:rPr lang="en-US" sz="1800" dirty="0">
                <a:solidFill>
                  <a:srgbClr val="2B1D19"/>
                </a:solidFill>
              </a:rPr>
              <a:t> table</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drag this cell just above the chart that shows the same finding</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each insight gets its own </a:t>
            </a:r>
            <a:r>
              <a:rPr lang="en-US" sz="1600" dirty="0">
                <a:solidFill>
                  <a:srgbClr val="B86E1E"/>
                </a:solidFill>
                <a:latin typeface="Courier New" pitchFamily="34" charset="0"/>
                <a:ea typeface="Courier New" pitchFamily="34" charset="-122"/>
                <a:cs typeface="Courier New" pitchFamily="34" charset="-120"/>
              </a:rPr>
              <a:t>mo.md</a:t>
            </a:r>
            <a:r>
              <a:rPr lang="en-US" sz="1800" dirty="0">
                <a:solidFill>
                  <a:srgbClr val="2B1D19"/>
                </a:solidFill>
              </a:rPr>
              <a:t> cell: a heading that states the insight</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then a sentence or two with the numbers, then the chart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Why [0] and [1]?</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When we made </a:t>
            </a:r>
            <a:r>
              <a:rPr lang="en-US" sz="1800" dirty="0">
                <a:solidFill>
                  <a:srgbClr val="B86E1E"/>
                </a:solidFill>
                <a:latin typeface="Courier New" pitchFamily="34" charset="0"/>
                <a:ea typeface="Courier New" pitchFamily="34" charset="-122"/>
                <a:cs typeface="Courier New" pitchFamily="34" charset="-120"/>
              </a:rPr>
              <a:t>per_group</a:t>
            </a:r>
            <a:r>
              <a:rPr lang="en-US" sz="2000" dirty="0">
                <a:solidFill>
                  <a:srgbClr val="2B1D19"/>
                </a:solidFill>
              </a:rPr>
              <a:t>, we sorted it by </a:t>
            </a:r>
            <a:r>
              <a:rPr lang="en-US" sz="1800" dirty="0">
                <a:solidFill>
                  <a:srgbClr val="B86E1E"/>
                </a:solidFill>
                <a:latin typeface="Courier New" pitchFamily="34" charset="0"/>
                <a:ea typeface="Courier New" pitchFamily="34" charset="-122"/>
                <a:cs typeface="Courier New" pitchFamily="34" charset="-120"/>
              </a:rPr>
              <a:t>Group</a:t>
            </a:r>
            <a:r>
              <a:rPr lang="en-US" sz="2000" dirty="0">
                <a:solidFill>
                  <a:srgbClr val="2B1D19"/>
                </a:solidFill>
              </a:rPr>
              <a:t>, so Indie is always the first row, </a:t>
            </a:r>
            <a:r>
              <a:rPr lang="en-US" sz="1800" dirty="0">
                <a:solidFill>
                  <a:srgbClr val="B86E1E"/>
                </a:solidFill>
                <a:latin typeface="Courier New" pitchFamily="34" charset="0"/>
                <a:ea typeface="Courier New" pitchFamily="34" charset="-122"/>
                <a:cs typeface="Courier New" pitchFamily="34" charset="-120"/>
              </a:rPr>
              <a:t>[0]</a:t>
            </a:r>
            <a:r>
              <a:rPr lang="en-US" sz="2000" dirty="0">
                <a:solidFill>
                  <a:srgbClr val="2B1D19"/>
                </a:solidFill>
              </a:rPr>
              <a:t>, and Not Indie is always the second, </a:t>
            </a:r>
            <a:r>
              <a:rPr lang="en-US" sz="1800" dirty="0">
                <a:solidFill>
                  <a:srgbClr val="B86E1E"/>
                </a:solidFill>
                <a:latin typeface="Courier New" pitchFamily="34" charset="0"/>
                <a:ea typeface="Courier New" pitchFamily="34" charset="-122"/>
                <a:cs typeface="Courier New" pitchFamily="34" charset="-120"/>
              </a:rPr>
              <a:t>[1]</a:t>
            </a:r>
            <a:r>
              <a:rPr lang="en-US" sz="2000" dirty="0">
                <a:solidFill>
                  <a:srgbClr val="2B1D19"/>
                </a:solidFill>
              </a:rPr>
              <a:t>. Without sorting, the rows could come out in a different order and our text could swap the two numbers.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Being honest about limitations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Our answer and our limitations go in the </a:t>
            </a:r>
            <a:r>
              <a:rPr lang="en-US" sz="1800" b="1" dirty="0">
                <a:solidFill>
                  <a:srgbClr val="F7EFE6"/>
                </a:solidFill>
              </a:rPr>
              <a:t>same cell</a:t>
            </a:r>
            <a:r>
              <a:rPr lang="en-US" sz="1800" dirty="0">
                <a:solidFill>
                  <a:srgbClr val="F7EFE6"/>
                </a:solidFill>
              </a:rPr>
              <a:t>: the answer says what we found, the limitations say how far to trust it.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we found, and our limitations</a:t>
            </a:r>
            <a:endParaRPr lang="en-US" sz="2800" dirty="0"/>
          </a:p>
        </p:txBody>
      </p:sp>
      <p:sp>
        <p:nvSpPr>
          <p:cNvPr id="3" name="Code panel"/>
          <p:cNvSpPr/>
          <p:nvPr/>
        </p:nvSpPr>
        <p:spPr>
          <a:xfrm>
            <a:off x="457200" y="1051560"/>
            <a:ext cx="8229600" cy="3474720"/>
          </a:xfrm>
          <a:prstGeom prst="roundRect">
            <a:avLst>
              <a:gd name="adj" fmla="val 1579"/>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3061970"/>
          </a:xfrm>
          <a:prstGeom prst="rect">
            <a:avLst/>
          </a:prstGeom>
          <a:noFill/>
          <a:ln/>
        </p:spPr>
        <p:txBody>
          <a:bodyPr wrap="square" lIns="0" tIns="0" rIns="0" bIns="0" rtlCol="0" anchor="t"/>
          <a:lstStyle/>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1  </a:t>
            </a:r>
            <a:r>
              <a:rPr lang="en-US" sz="1000" dirty="0">
                <a:solidFill>
                  <a:srgbClr val="F7EFE6"/>
                </a:solidFill>
                <a:latin typeface="Courier New" pitchFamily="34" charset="0"/>
                <a:ea typeface="Courier New" pitchFamily="34" charset="-122"/>
                <a:cs typeface="Courier New" pitchFamily="34" charset="-120"/>
              </a:rPr>
              <a:t>mo.md(</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2  </a:t>
            </a:r>
            <a:r>
              <a:rPr lang="en-US" sz="1000" dirty="0">
                <a:solidFill>
                  <a:srgbClr val="F7EFE6"/>
                </a:solidFill>
                <a:latin typeface="Courier New" pitchFamily="34" charset="0"/>
                <a:ea typeface="Courier New" pitchFamily="34" charset="-122"/>
                <a:cs typeface="Courier New" pitchFamily="34" charset="-120"/>
              </a:rPr>
              <a:t>    """</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3  </a:t>
            </a:r>
            <a:r>
              <a:rPr lang="en-US" sz="1000" dirty="0">
                <a:solidFill>
                  <a:srgbClr val="F7EFE6"/>
                </a:solidFill>
                <a:latin typeface="Courier New" pitchFamily="34" charset="0"/>
                <a:ea typeface="Courier New" pitchFamily="34" charset="-122"/>
                <a:cs typeface="Courier New" pitchFamily="34" charset="-120"/>
              </a:rPr>
              <a:t>    ## What we found</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4  </a:t>
            </a:r>
            <a:r>
              <a:rPr lang="en-US" sz="1000" dirty="0">
                <a:solidFill>
                  <a:srgbClr val="F7EFE6"/>
                </a:solidFill>
                <a:latin typeface="Courier New" pitchFamily="34" charset="0"/>
                <a:ea typeface="Courier New" pitchFamily="34" charset="-122"/>
                <a:cs typeface="Courier New" pitchFamily="34" charset="-120"/>
              </a:rPr>
              <a:t> </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5  </a:t>
            </a:r>
            <a:r>
              <a:rPr lang="en-US" sz="1000" dirty="0">
                <a:solidFill>
                  <a:srgbClr val="F7EFE6"/>
                </a:solidFill>
                <a:latin typeface="Courier New" pitchFamily="34" charset="0"/>
                <a:ea typeface="Courier New" pitchFamily="34" charset="-122"/>
                <a:cs typeface="Courier New" pitchFamily="34" charset="-120"/>
              </a:rPr>
              <a:t>    Indie games get a higher share of positive reviews than other games,</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6  </a:t>
            </a:r>
            <a:r>
              <a:rPr lang="en-US" sz="1000" dirty="0">
                <a:solidFill>
                  <a:srgbClr val="F7EFE6"/>
                </a:solidFill>
                <a:latin typeface="Courier New" pitchFamily="34" charset="0"/>
                <a:ea typeface="Courier New" pitchFamily="34" charset="-122"/>
                <a:cs typeface="Courier New" pitchFamily="34" charset="-120"/>
              </a:rPr>
              <a:t>    and they cost less. The review gap has lasted every year since 2017,</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7  </a:t>
            </a:r>
            <a:r>
              <a:rPr lang="en-US" sz="1000" dirty="0">
                <a:solidFill>
                  <a:srgbClr val="F7EFE6"/>
                </a:solidFill>
                <a:latin typeface="Courier New" pitchFamily="34" charset="0"/>
                <a:ea typeface="Courier New" pitchFamily="34" charset="-122"/>
                <a:cs typeface="Courier New" pitchFamily="34" charset="-120"/>
              </a:rPr>
              <a:t>    and the price gap has grown since 2020.</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8  </a:t>
            </a:r>
            <a:r>
              <a:rPr lang="en-US" sz="1000" dirty="0">
                <a:solidFill>
                  <a:srgbClr val="F7EFE6"/>
                </a:solidFill>
                <a:latin typeface="Courier New" pitchFamily="34" charset="0"/>
                <a:ea typeface="Courier New" pitchFamily="34" charset="-122"/>
                <a:cs typeface="Courier New" pitchFamily="34" charset="-120"/>
              </a:rPr>
              <a:t> </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9  </a:t>
            </a:r>
            <a:r>
              <a:rPr lang="en-US" sz="1000" dirty="0">
                <a:solidFill>
                  <a:srgbClr val="F7EFE6"/>
                </a:solidFill>
                <a:latin typeface="Courier New" pitchFamily="34" charset="0"/>
                <a:ea typeface="Courier New" pitchFamily="34" charset="-122"/>
                <a:cs typeface="Courier New" pitchFamily="34" charset="-120"/>
              </a:rPr>
              <a:t>    ### Limitations</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10  </a:t>
            </a:r>
            <a:r>
              <a:rPr lang="en-US" sz="1000" dirty="0">
                <a:solidFill>
                  <a:srgbClr val="F7EFE6"/>
                </a:solidFill>
                <a:latin typeface="Courier New" pitchFamily="34" charset="0"/>
                <a:ea typeface="Courier New" pitchFamily="34" charset="-122"/>
                <a:cs typeface="Courier New" pitchFamily="34" charset="-120"/>
              </a:rPr>
              <a:t> </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11  </a:t>
            </a:r>
            <a:r>
              <a:rPr lang="en-US" sz="1000" dirty="0">
                <a:solidFill>
                  <a:srgbClr val="F7EFE6"/>
                </a:solidFill>
                <a:latin typeface="Courier New" pitchFamily="34" charset="0"/>
                <a:ea typeface="Courier New" pitchFamily="34" charset="-122"/>
                <a:cs typeface="Courier New" pitchFamily="34" charset="-120"/>
              </a:rPr>
              <a:t>    - a game counts as Indie if Steam lists Indie in its genres, so our</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12  </a:t>
            </a:r>
            <a:r>
              <a:rPr lang="en-US" sz="1000" dirty="0">
                <a:solidFill>
                  <a:srgbClr val="F7EFE6"/>
                </a:solidFill>
                <a:latin typeface="Courier New" pitchFamily="34" charset="0"/>
                <a:ea typeface="Courier New" pitchFamily="34" charset="-122"/>
                <a:cs typeface="Courier New" pitchFamily="34" charset="-120"/>
              </a:rPr>
              <a:t>      other group isn't exactly the same as big studios</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13  </a:t>
            </a:r>
            <a:r>
              <a:rPr lang="en-US" sz="1000" dirty="0">
                <a:solidFill>
                  <a:srgbClr val="F7EFE6"/>
                </a:solidFill>
                <a:latin typeface="Courier New" pitchFamily="34" charset="0"/>
                <a:ea typeface="Courier New" pitchFamily="34" charset="-122"/>
                <a:cs typeface="Courier New" pitchFamily="34" charset="-120"/>
              </a:rPr>
              <a:t>    - we only used games with at least 500 reviews, which leaves out most</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14  </a:t>
            </a:r>
            <a:r>
              <a:rPr lang="en-US" sz="1000" dirty="0">
                <a:solidFill>
                  <a:srgbClr val="F7EFE6"/>
                </a:solidFill>
                <a:latin typeface="Courier New" pitchFamily="34" charset="0"/>
                <a:ea typeface="Courier New" pitchFamily="34" charset="-122"/>
                <a:cs typeface="Courier New" pitchFamily="34" charset="-120"/>
              </a:rPr>
              <a:t>      small games and many games from 2025</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15  </a:t>
            </a:r>
            <a:r>
              <a:rPr lang="en-US" sz="1000" dirty="0">
                <a:solidFill>
                  <a:srgbClr val="F7EFE6"/>
                </a:solidFill>
                <a:latin typeface="Courier New" pitchFamily="34" charset="0"/>
                <a:ea typeface="Courier New" pitchFamily="34" charset="-122"/>
                <a:cs typeface="Courier New" pitchFamily="34" charset="-120"/>
              </a:rPr>
              <a:t>    - our data is a snapshot of Steam from 5 October 2026</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16  </a:t>
            </a:r>
            <a:r>
              <a:rPr lang="en-US" sz="1000" dirty="0">
                <a:solidFill>
                  <a:srgbClr val="F7EFE6"/>
                </a:solidFill>
                <a:latin typeface="Courier New" pitchFamily="34" charset="0"/>
                <a:ea typeface="Courier New" pitchFamily="34" charset="-122"/>
                <a:cs typeface="Courier New" pitchFamily="34" charset="-120"/>
              </a:rPr>
              <a:t>    - our charts show that being Indie is related to better reviews, not</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17  </a:t>
            </a:r>
            <a:r>
              <a:rPr lang="en-US" sz="1000" dirty="0">
                <a:solidFill>
                  <a:srgbClr val="F7EFE6"/>
                </a:solidFill>
                <a:latin typeface="Courier New" pitchFamily="34" charset="0"/>
                <a:ea typeface="Courier New" pitchFamily="34" charset="-122"/>
                <a:cs typeface="Courier New" pitchFamily="34" charset="-120"/>
              </a:rPr>
              <a:t>      that it causes them</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18  </a:t>
            </a:r>
            <a:r>
              <a:rPr lang="en-US" sz="1000" dirty="0">
                <a:solidFill>
                  <a:srgbClr val="F7EFE6"/>
                </a:solidFill>
                <a:latin typeface="Courier New" pitchFamily="34" charset="0"/>
                <a:ea typeface="Courier New" pitchFamily="34" charset="-122"/>
                <a:cs typeface="Courier New" pitchFamily="34" charset="-120"/>
              </a:rPr>
              <a:t>    """</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19  </a:t>
            </a:r>
            <a:r>
              <a:rPr lang="en-US" sz="1000" dirty="0">
                <a:solidFill>
                  <a:srgbClr val="F7EFE6"/>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Where each limitation came from</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114800"/>
                <a:gridCol w="4114800"/>
              </a:tblGrid>
              <a:tr h="0">
                <a:tc>
                  <a:txBody>
                    <a:bodyPr/>
                    <a:lstStyle/>
                    <a:p>
                      <a:pPr indent="0" marL="0">
                        <a:buNone/>
                      </a:pPr>
                      <a:r>
                        <a:rPr lang="en-US" sz="1400" b="1" dirty="0">
                          <a:solidFill>
                            <a:srgbClr val="FFFFFF"/>
                          </a:solidFill>
                        </a:rPr>
                        <a:t>Limitation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Where we found it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how we chose our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when we made new columns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only games with at least 500 reviews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checking our prediction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related to, not caused by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our scatter plot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Limitations aren't excuses</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A limitation explains what our audience should keep in mind, not why our story might be wrong. Write it as a fact ("we only used games with at least 500 reviews"), then say what it means ("which leaves out most small games").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Tidying for our audience</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In the app view, every cell that shows an output appears on the page, including every working table.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Put our cells in story order</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6035040"/>
              </a:tblGrid>
              <a:tr h="0">
                <a:tc>
                  <a:txBody>
                    <a:bodyPr/>
                    <a:lstStyle/>
                    <a:p>
                      <a:pPr indent="0" marL="0">
                        <a:buNone/>
                      </a:pPr>
                      <a:r>
                        <a:rPr lang="en-US" sz="1400" b="1" dirty="0">
                          <a:solidFill>
                            <a:srgbClr val="FFFFFF"/>
                          </a:solidFill>
                        </a:rPr>
                        <a:t>Story stage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our audience sees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Hook</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our title and question, in a mo.md cell</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Behind the Scenes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one sentence about our data, in the Hook's mo.md cell</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Rising Insights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for each insight, a mo.md cell with a heading and the numbers, then its chart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Aha Moment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our Aha chart, then our UI elements and explore chart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Resolution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what we found and our limitations, in a mo.md cell</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Does our audience need to see this?</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For every other cell, ask that question. If not, delete the last line, the one that shows the output.</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800" dirty="0">
                <a:solidFill>
                  <a:srgbClr val="2B1D19"/>
                </a:solidFill>
              </a:rPr>
              <a:t>​</a:t>
            </a:r>
            <a:r>
              <a:rPr lang="en-US" sz="1800" dirty="0">
                <a:solidFill>
                  <a:srgbClr val="2B1D19"/>
                </a:solidFill>
              </a:rPr>
              <a:t>e.g. end the cell that makes </a:t>
            </a:r>
            <a:r>
              <a:rPr lang="en-US" sz="1600" dirty="0">
                <a:solidFill>
                  <a:srgbClr val="B86E1E"/>
                </a:solidFill>
                <a:latin typeface="Courier New" pitchFamily="34" charset="0"/>
                <a:ea typeface="Courier New" pitchFamily="34" charset="-122"/>
                <a:cs typeface="Courier New" pitchFamily="34" charset="-120"/>
              </a:rPr>
              <a:t>per_group</a:t>
            </a:r>
            <a:r>
              <a:rPr lang="en-US" sz="1800" dirty="0">
                <a:solidFill>
                  <a:srgbClr val="2B1D19"/>
                </a:solidFill>
              </a:rPr>
              <a:t> at the closing bracket</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delete the </a:t>
            </a:r>
            <a:r>
              <a:rPr lang="en-US" sz="1600" dirty="0">
                <a:solidFill>
                  <a:srgbClr val="B86E1E"/>
                </a:solidFill>
                <a:latin typeface="Courier New" pitchFamily="34" charset="0"/>
                <a:ea typeface="Courier New" pitchFamily="34" charset="-122"/>
                <a:cs typeface="Courier New" pitchFamily="34" charset="-120"/>
              </a:rPr>
              <a:t>per_group</a:t>
            </a:r>
            <a:r>
              <a:rPr lang="en-US" sz="1800" dirty="0">
                <a:solidFill>
                  <a:srgbClr val="2B1D19"/>
                </a:solidFill>
              </a:rPr>
              <a:t> line underneath</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the variable is still made, so every cell that uses it still works</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it just isn't shown</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Delete the line, not the cell</a:t>
            </a:r>
            <a:endParaRPr lang="en-US" sz="2800" dirty="0"/>
          </a:p>
        </p:txBody>
      </p:sp>
      <p:sp>
        <p:nvSpPr>
          <p:cNvPr id="3" name="warning box"/>
          <p:cNvSpPr/>
          <p:nvPr/>
        </p:nvSpPr>
        <p:spPr>
          <a:xfrm>
            <a:off x="457200" y="1051560"/>
            <a:ext cx="8229600" cy="1910080"/>
          </a:xfrm>
          <a:prstGeom prst="roundRect">
            <a:avLst>
              <a:gd name="adj" fmla="val 3830"/>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Only delete the line that </a:t>
            </a:r>
            <a:r>
              <a:rPr lang="en-US" sz="2000" b="1" dirty="0">
                <a:solidFill>
                  <a:srgbClr val="2B1D19"/>
                </a:solidFill>
              </a:rPr>
              <a:t>shows</a:t>
            </a:r>
            <a:r>
              <a:rPr lang="en-US" sz="2000" dirty="0">
                <a:solidFill>
                  <a:srgbClr val="2B1D19"/>
                </a:solidFill>
              </a:rPr>
              <a:t> a table. If we delete the whole cell, its variable disappears, and every cell that uses it stops with an error.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Checking the app view</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Let's see our story the way our audience will.</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Open our story in app view</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Terminal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marimo run steam_story.py</a:t>
            </a:r>
            <a:endParaRPr lang="en-US" sz="1400" dirty="0"/>
          </a:p>
        </p:txBody>
      </p:sp>
      <p:sp>
        <p:nvSpPr>
          <p:cNvPr id="6" name="Text 4"/>
          <p:cNvSpPr txBox="1"/>
          <p:nvPr/>
        </p:nvSpPr>
        <p:spPr>
          <a:xfrm>
            <a:off x="457200" y="1929765"/>
            <a:ext cx="38404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A new browser tab opens with our story, and no code.</a:t>
            </a:r>
            <a:endParaRPr lang="en-US" sz="1500" dirty="0"/>
          </a:p>
        </p:txBody>
      </p:sp>
      <p:sp>
        <p:nvSpPr>
          <p:cNvPr id="7" name="Text 5"/>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8" name="Text 6"/>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First click in the VS Code terminal, press </a:t>
            </a:r>
            <a:r>
              <a:rPr lang="en-US" sz="1500" b="1" dirty="0">
                <a:solidFill>
                  <a:srgbClr val="2B1D19"/>
                </a:solidFill>
              </a:rPr>
              <a:t>Ctrl+C</a:t>
            </a:r>
            <a:r>
              <a:rPr lang="en-US" sz="1500" dirty="0">
                <a:solidFill>
                  <a:srgbClr val="2B1D19"/>
                </a:solidFill>
              </a:rPr>
              <a:t>, type </a:t>
            </a:r>
            <a:r>
              <a:rPr lang="en-US" sz="1300" dirty="0">
                <a:solidFill>
                  <a:srgbClr val="B86E1E"/>
                </a:solidFill>
                <a:latin typeface="Courier New" pitchFamily="34" charset="0"/>
                <a:ea typeface="Courier New" pitchFamily="34" charset="-122"/>
                <a:cs typeface="Courier New" pitchFamily="34" charset="-120"/>
              </a:rPr>
              <a:t>y</a:t>
            </a:r>
            <a:r>
              <a:rPr lang="en-US" sz="1500" dirty="0">
                <a:solidFill>
                  <a:srgbClr val="2B1D19"/>
                </a:solidFill>
              </a:rPr>
              <a:t> and press </a:t>
            </a:r>
            <a:r>
              <a:rPr lang="en-US" sz="1500" b="1" dirty="0">
                <a:solidFill>
                  <a:srgbClr val="2B1D19"/>
                </a:solidFill>
              </a:rPr>
              <a:t>Enter</a:t>
            </a:r>
            <a:r>
              <a:rPr lang="en-US" sz="1500" dirty="0">
                <a:solidFill>
                  <a:srgbClr val="2B1D19"/>
                </a:solidFill>
              </a:rPr>
              <a:t> to stop editing. The </a:t>
            </a:r>
            <a:r>
              <a:rPr lang="en-US" sz="1300" dirty="0">
                <a:solidFill>
                  <a:srgbClr val="B86E1E"/>
                </a:solidFill>
                <a:latin typeface="Courier New" pitchFamily="34" charset="0"/>
                <a:ea typeface="Courier New" pitchFamily="34" charset="-122"/>
                <a:cs typeface="Courier New" pitchFamily="34" charset="-120"/>
              </a:rPr>
              <a:t>(.venv)</a:t>
            </a:r>
            <a:r>
              <a:rPr lang="en-US" sz="1500" dirty="0">
                <a:solidFill>
                  <a:srgbClr val="2B1D19"/>
                </a:solidFill>
              </a:rPr>
              <a:t> prompt comes back. Then run this command.</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story in app view</a:t>
            </a:r>
            <a:endParaRPr lang="en-US" sz="2800" dirty="0"/>
          </a:p>
        </p:txBody>
      </p:sp>
      <p:pic>
        <p:nvPicPr>
          <p:cNvPr id="3" name="Image 0" descr="marimo app view showing the title Do Indie games review better?, two paragraphs, the heading Players like Indie games more with its sentence, and the box plot of review scores">    </p:cNvPr>
          <p:cNvPicPr>
            <a:picLocks noChangeAspect="1"/>
          </p:cNvPicPr>
          <p:nvPr/>
        </p:nvPicPr>
        <p:blipFill>
          <a:blip r:embed="rId1"/>
          <a:stretch>
            <a:fillRect/>
          </a:stretch>
        </p:blipFill>
        <p:spPr>
          <a:xfrm>
            <a:off x="1102995" y="1051560"/>
            <a:ext cx="4286250" cy="3429000"/>
          </a:xfrm>
          <a:prstGeom prst="rect">
            <a:avLst/>
          </a:prstGeom>
        </p:spPr>
      </p:pic>
      <p:sp>
        <p:nvSpPr>
          <p:cNvPr id="4" name="Text 1"/>
          <p:cNvSpPr txBox="1"/>
          <p:nvPr/>
        </p:nvSpPr>
        <p:spPr>
          <a:xfrm>
            <a:off x="6309360" y="1097280"/>
            <a:ext cx="237744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2B1D19"/>
                </a:solidFill>
              </a:rPr>
              <a:t>​</a:t>
            </a:r>
            <a:r>
              <a:rPr lang="en-US" sz="1500" dirty="0">
                <a:solidFill>
                  <a:srgbClr val="2B1D19"/>
                </a:solidFill>
              </a:rPr>
              <a:t>read it top to bottom as if we've never seen it</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try the slider and the dropdown</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out of order, confusing or a working table? Stop with </a:t>
            </a:r>
            <a:r>
              <a:rPr lang="en-US" sz="1500" b="1" dirty="0">
                <a:solidFill>
                  <a:srgbClr val="2B1D19"/>
                </a:solidFill>
              </a:rPr>
              <a:t>Ctrl+C</a:t>
            </a:r>
            <a:r>
              <a:rPr lang="en-US" sz="1500" dirty="0">
                <a:solidFill>
                  <a:srgbClr val="2B1D19"/>
                </a:solidFill>
              </a:rPr>
              <a:t>, fix it in </a:t>
            </a:r>
            <a:r>
              <a:rPr lang="en-US" sz="1300" dirty="0">
                <a:solidFill>
                  <a:srgbClr val="B86E1E"/>
                </a:solidFill>
                <a:latin typeface="Courier New" pitchFamily="34" charset="0"/>
                <a:ea typeface="Courier New" pitchFamily="34" charset="-122"/>
                <a:cs typeface="Courier New" pitchFamily="34" charset="-120"/>
              </a:rPr>
              <a:t>marimo edit</a:t>
            </a:r>
            <a:r>
              <a:rPr lang="en-US" sz="1500" dirty="0">
                <a:solidFill>
                  <a:srgbClr val="2B1D19"/>
                </a:solidFill>
              </a:rPr>
              <a:t>, check again</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Getting ready for the class server</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600" dirty="0">
                <a:solidFill>
                  <a:srgbClr val="E8A55A"/>
                </a:solidFill>
                <a:latin typeface="Courier New" pitchFamily="34" charset="0"/>
                <a:ea typeface="Courier New" pitchFamily="34" charset="-122"/>
                <a:cs typeface="Courier New" pitchFamily="34" charset="-120"/>
              </a:rPr>
              <a:t>"data/clean_games.parquet"</a:t>
            </a:r>
            <a:r>
              <a:rPr lang="en-US" sz="1800" dirty="0">
                <a:solidFill>
                  <a:srgbClr val="F7EFE6"/>
                </a:solidFill>
              </a:rPr>
              <a:t> is found from the folder marimo was </a:t>
            </a:r>
            <a:r>
              <a:rPr lang="en-US" sz="1800" b="1" dirty="0">
                <a:solidFill>
                  <a:srgbClr val="F7EFE6"/>
                </a:solidFill>
              </a:rPr>
              <a:t>started</a:t>
            </a:r>
            <a:r>
              <a:rPr lang="en-US" sz="1800" dirty="0">
                <a:solidFill>
                  <a:srgbClr val="F7EFE6"/>
                </a:solidFill>
              </a:rPr>
              <a:t> in. The class server starts marimo in a different folder.</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Load our data from next to our notebook</a:t>
            </a:r>
            <a:endParaRPr lang="en-US" sz="2800" dirty="0"/>
          </a:p>
        </p:txBody>
      </p:sp>
      <p:sp>
        <p:nvSpPr>
          <p:cNvPr id="3" name="Code panel"/>
          <p:cNvSpPr/>
          <p:nvPr/>
        </p:nvSpPr>
        <p:spPr>
          <a:xfrm>
            <a:off x="457200" y="1051560"/>
            <a:ext cx="8229600" cy="1024890"/>
          </a:xfrm>
          <a:prstGeom prst="roundRect">
            <a:avLst>
              <a:gd name="adj" fmla="val 535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change existing cell</a:t>
            </a:r>
            <a:endParaRPr lang="en-US" sz="1200" dirty="0"/>
          </a:p>
        </p:txBody>
      </p:sp>
      <p:sp>
        <p:nvSpPr>
          <p:cNvPr id="5" name="Highlight"/>
          <p:cNvSpPr/>
          <p:nvPr/>
        </p:nvSpPr>
        <p:spPr>
          <a:xfrm>
            <a:off x="530352" y="1508760"/>
            <a:ext cx="8083296" cy="206375"/>
          </a:xfrm>
          <a:prstGeom prst="rect">
            <a:avLst/>
          </a:prstGeom>
          <a:solidFill>
            <a:srgbClr val="5A3A1E"/>
          </a:solidFill>
          <a:ln w="12700">
            <a:solidFill>
              <a:srgbClr val="5A3A1E"/>
            </a:solidFill>
            <a:prstDash val="solid"/>
          </a:ln>
        </p:spPr>
      </p:sp>
      <p:sp>
        <p:nvSpPr>
          <p:cNvPr id="6" name="Code"/>
          <p:cNvSpPr txBox="1"/>
          <p:nvPr/>
        </p:nvSpPr>
        <p:spPr>
          <a:xfrm>
            <a:off x="594360" y="1508760"/>
            <a:ext cx="7955280" cy="458470"/>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games = pl.read_parquet(mo.notebook_dir() / "data" / "clean_games.parquet")</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2  </a:t>
            </a:r>
            <a:r>
              <a:rPr lang="en-US" sz="1300" dirty="0">
                <a:solidFill>
                  <a:srgbClr val="F7EFE6"/>
                </a:solidFill>
                <a:latin typeface="Courier New" pitchFamily="34" charset="0"/>
                <a:ea typeface="Courier New" pitchFamily="34" charset="-122"/>
                <a:cs typeface="Courier New" pitchFamily="34" charset="-120"/>
              </a:rPr>
              <a:t>games</a:t>
            </a:r>
            <a:endParaRPr lang="en-US" sz="1300" dirty="0"/>
          </a:p>
        </p:txBody>
      </p:sp>
      <p:sp>
        <p:nvSpPr>
          <p:cNvPr id="7" name="Text 5"/>
          <p:cNvSpPr txBox="1"/>
          <p:nvPr/>
        </p:nvSpPr>
        <p:spPr>
          <a:xfrm>
            <a:off x="457200" y="2167890"/>
            <a:ext cx="822960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Nothing seems to change: </a:t>
            </a:r>
            <a:r>
              <a:rPr lang="en-US" sz="1300" dirty="0">
                <a:solidFill>
                  <a:srgbClr val="B86E1E"/>
                </a:solidFill>
                <a:latin typeface="Courier New" pitchFamily="34" charset="0"/>
                <a:ea typeface="Courier New" pitchFamily="34" charset="-122"/>
                <a:cs typeface="Courier New" pitchFamily="34" charset="-120"/>
              </a:rPr>
              <a:t>games</a:t>
            </a:r>
            <a:r>
              <a:rPr lang="en-US" sz="1500" dirty="0">
                <a:solidFill>
                  <a:srgbClr val="2B1D19"/>
                </a:solidFill>
              </a:rPr>
              <a:t> still has </a:t>
            </a:r>
            <a:r>
              <a:rPr lang="en-US" sz="1500" b="1" dirty="0">
                <a:solidFill>
                  <a:srgbClr val="2B1D19"/>
                </a:solidFill>
              </a:rPr>
              <a:t>10250</a:t>
            </a:r>
            <a:r>
              <a:rPr lang="en-US" sz="1500" dirty="0">
                <a:solidFill>
                  <a:srgbClr val="2B1D19"/>
                </a:solidFill>
              </a:rPr>
              <a:t> rows and </a:t>
            </a:r>
            <a:r>
              <a:rPr lang="en-US" sz="1500" b="1" dirty="0">
                <a:solidFill>
                  <a:srgbClr val="2B1D19"/>
                </a:solidFill>
              </a:rPr>
              <a:t>10</a:t>
            </a:r>
            <a:r>
              <a:rPr lang="en-US" sz="1500" dirty="0">
                <a:solidFill>
                  <a:srgbClr val="2B1D19"/>
                </a:solidFill>
              </a:rPr>
              <a:t> columns.</a:t>
            </a:r>
            <a:endParaRPr lang="en-US" sz="1500" dirty="0"/>
          </a:p>
        </p:txBody>
      </p:sp>
      <p:sp>
        <p:nvSpPr>
          <p:cNvPr id="8" name="Text 6"/>
          <p:cNvSpPr txBox="1"/>
          <p:nvPr/>
        </p:nvSpPr>
        <p:spPr>
          <a:xfrm>
            <a:off x="457200" y="2625090"/>
            <a:ext cx="8229600" cy="6705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a:t>
            </a:r>
            <a:r>
              <a:rPr lang="en-US" sz="1300" dirty="0">
                <a:solidFill>
                  <a:srgbClr val="B86E1E"/>
                </a:solidFill>
                <a:latin typeface="Courier New" pitchFamily="34" charset="0"/>
                <a:ea typeface="Courier New" pitchFamily="34" charset="-122"/>
                <a:cs typeface="Courier New" pitchFamily="34" charset="-120"/>
              </a:rPr>
              <a:t>mo.notebook_dir()</a:t>
            </a:r>
            <a:r>
              <a:rPr lang="en-US" sz="1500" dirty="0">
                <a:solidFill>
                  <a:srgbClr val="2B1D19"/>
                </a:solidFill>
              </a:rPr>
              <a:t> gives the folder our notebook is saved in, wherever that is, so this works on any computer.</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Handing in our story</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The class server needs two files, in the same folders as on our computer.</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two files to hand in</a:t>
            </a:r>
            <a:endParaRPr lang="en-US" sz="2800" dirty="0"/>
          </a:p>
        </p:txBody>
      </p:sp>
      <p:sp>
        <p:nvSpPr>
          <p:cNvPr id="3" name="Code panel"/>
          <p:cNvSpPr/>
          <p:nvPr/>
        </p:nvSpPr>
        <p:spPr>
          <a:xfrm>
            <a:off x="457200" y="1051560"/>
            <a:ext cx="3840480" cy="1501140"/>
          </a:xfrm>
          <a:prstGeom prst="roundRect">
            <a:avLst>
              <a:gd name="adj" fmla="val 3655"/>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Folders</a:t>
            </a:r>
            <a:endParaRPr lang="en-US" sz="1200" dirty="0"/>
          </a:p>
        </p:txBody>
      </p:sp>
      <p:sp>
        <p:nvSpPr>
          <p:cNvPr id="5" name="Code"/>
          <p:cNvSpPr txBox="1"/>
          <p:nvPr/>
        </p:nvSpPr>
        <p:spPr>
          <a:xfrm>
            <a:off x="594360" y="1508760"/>
            <a:ext cx="3566160" cy="9347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steam_data_stories/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steam_story.py</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data/</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clean_games.parquet</a:t>
            </a:r>
            <a:endParaRPr lang="en-US" sz="1400" dirty="0"/>
          </a:p>
        </p:txBody>
      </p:sp>
      <p:sp>
        <p:nvSpPr>
          <p:cNvPr id="6" name="Text 4"/>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Our teacher will tell us how to hand them in. Then we get an address for the class server, such as </a:t>
            </a:r>
            <a:r>
              <a:rPr lang="en-US" sz="1300" dirty="0">
                <a:solidFill>
                  <a:srgbClr val="B86E1E"/>
                </a:solidFill>
                <a:latin typeface="Courier New" pitchFamily="34" charset="0"/>
                <a:ea typeface="Courier New" pitchFamily="34" charset="-122"/>
                <a:cs typeface="Courier New" pitchFamily="34" charset="-120"/>
              </a:rPr>
              <a:t>http://192.168.1.50:2718</a:t>
            </a:r>
            <a:r>
              <a:rPr lang="en-US" sz="1500" dirty="0">
                <a:solidFill>
                  <a:srgbClr val="2B1D19"/>
                </a:solidFill>
              </a:rPr>
              <a:t>.</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Everyone's stories on the class server</a:t>
            </a:r>
            <a:endParaRPr lang="en-US" sz="2800" dirty="0"/>
          </a:p>
        </p:txBody>
      </p:sp>
      <p:pic>
        <p:nvPicPr>
          <p:cNvPr id="3" name="Image 0" descr="marimo home page listing the stories on the class server, with a card for each student's folder labelled with the student's name and Steam Story">    </p:cNvPr>
          <p:cNvPicPr>
            <a:picLocks noChangeAspect="1"/>
          </p:cNvPicPr>
          <p:nvPr/>
        </p:nvPicPr>
        <p:blipFill>
          <a:blip r:embed="rId1"/>
          <a:stretch>
            <a:fillRect/>
          </a:stretch>
        </p:blipFill>
        <p:spPr>
          <a:xfrm>
            <a:off x="764607" y="1051560"/>
            <a:ext cx="4963026" cy="3429000"/>
          </a:xfrm>
          <a:prstGeom prst="rect">
            <a:avLst/>
          </a:prstGeom>
        </p:spPr>
      </p:pic>
      <p:sp>
        <p:nvSpPr>
          <p:cNvPr id="4" name="Text 1"/>
          <p:cNvSpPr txBox="1"/>
          <p:nvPr/>
        </p:nvSpPr>
        <p:spPr>
          <a:xfrm>
            <a:off x="6309360" y="1097280"/>
            <a:ext cx="237744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2B1D19"/>
                </a:solidFill>
              </a:rPr>
              <a:t>​</a:t>
            </a:r>
            <a:r>
              <a:rPr lang="en-US" sz="1500" dirty="0">
                <a:solidFill>
                  <a:srgbClr val="2B1D19"/>
                </a:solidFill>
              </a:rPr>
              <a:t>open the address in a web browser</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there's a card for each person's story, labelled with their name</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click ours to open it in app view</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before handing in</a:t>
            </a:r>
            <a:endParaRPr lang="en-US" sz="2800" dirty="0"/>
          </a:p>
        </p:txBody>
      </p:sp>
      <p:sp>
        <p:nvSpPr>
          <p:cNvPr id="3" name="warning box"/>
          <p:cNvSpPr/>
          <p:nvPr/>
        </p:nvSpPr>
        <p:spPr>
          <a:xfrm>
            <a:off x="457200" y="1051560"/>
            <a:ext cx="8229600" cy="2468880"/>
          </a:xfrm>
          <a:prstGeom prst="roundRect">
            <a:avLst>
              <a:gd name="adj" fmla="val 296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7830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our story opens with </a:t>
            </a:r>
            <a:r>
              <a:rPr lang="en-US" sz="1800" dirty="0">
                <a:solidFill>
                  <a:srgbClr val="B86E1E"/>
                </a:solidFill>
                <a:latin typeface="Courier New" pitchFamily="34" charset="0"/>
                <a:ea typeface="Courier New" pitchFamily="34" charset="-122"/>
                <a:cs typeface="Courier New" pitchFamily="34" charset="-120"/>
              </a:rPr>
              <a:t>marimo run steam_story.py</a:t>
            </a:r>
            <a:r>
              <a:rPr lang="en-US" sz="2000" dirty="0">
                <a:solidFill>
                  <a:srgbClr val="2B1D19"/>
                </a:solidFill>
              </a:rPr>
              <a:t> and shows no errors</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the notebook is still called </a:t>
            </a:r>
            <a:r>
              <a:rPr lang="en-US" sz="2000" b="1" dirty="0">
                <a:solidFill>
                  <a:srgbClr val="2B1D19"/>
                </a:solidFill>
              </a:rPr>
              <a:t>steam_story.py</a:t>
            </a:r>
            <a:endParaRPr lang="en-US" sz="2000" dirty="0"/>
          </a:p>
          <a:p>
            <a:pPr marL="342900" indent="-342900">
              <a:spcAft>
                <a:spcPts val="1000"/>
              </a:spcAft>
              <a:buSzPct val="100000"/>
              <a:buChar char="•"/>
            </a:pPr>
            <a:r>
              <a:rPr lang="en-US" sz="2000" dirty="0">
                <a:solidFill>
                  <a:srgbClr val="2B1D19"/>
                </a:solidFill>
              </a:rPr>
              <a:t>​</a:t>
            </a:r>
            <a:r>
              <a:rPr lang="en-US" sz="2000" b="1" dirty="0">
                <a:solidFill>
                  <a:srgbClr val="2B1D19"/>
                </a:solidFill>
              </a:rPr>
              <a:t>clean_games.parquet</a:t>
            </a:r>
            <a:r>
              <a:rPr lang="en-US" sz="2000" dirty="0">
                <a:solidFill>
                  <a:srgbClr val="2B1D19"/>
                </a:solidFill>
              </a:rPr>
              <a:t> is inside the </a:t>
            </a:r>
            <a:r>
              <a:rPr lang="en-US" sz="2000" b="1" dirty="0">
                <a:solidFill>
                  <a:srgbClr val="2B1D19"/>
                </a:solidFill>
              </a:rPr>
              <a:t>data</a:t>
            </a:r>
            <a:r>
              <a:rPr lang="en-US" sz="2000" dirty="0">
                <a:solidFill>
                  <a:srgbClr val="2B1D19"/>
                </a:solidFill>
              </a:rPr>
              <a:t> folder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 we use an f-string instead of typing the numbers into our text?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does </a:t>
            </a:r>
            <a:r>
              <a:rPr lang="en-US" sz="1800" dirty="0">
                <a:solidFill>
                  <a:srgbClr val="E8A55A"/>
                </a:solidFill>
                <a:latin typeface="Courier New" pitchFamily="34" charset="0"/>
                <a:ea typeface="Courier New" pitchFamily="34" charset="-122"/>
                <a:cs typeface="Courier New" pitchFamily="34" charset="-120"/>
              </a:rPr>
              <a:t>per_group["Median review score"][0]</a:t>
            </a:r>
            <a:r>
              <a:rPr lang="en-US" sz="2000" dirty="0">
                <a:solidFill>
                  <a:srgbClr val="FFFFFF"/>
                </a:solidFill>
              </a:rPr>
              <a:t> always give the Indie score?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A table is cluttering our app view. What do we delete, and why not the whole cell?</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does our story need </a:t>
            </a:r>
            <a:r>
              <a:rPr lang="en-US" sz="1800" dirty="0">
                <a:solidFill>
                  <a:srgbClr val="E8A55A"/>
                </a:solidFill>
                <a:latin typeface="Courier New" pitchFamily="34" charset="0"/>
                <a:ea typeface="Courier New" pitchFamily="34" charset="-122"/>
                <a:cs typeface="Courier New" pitchFamily="34" charset="-120"/>
              </a:rPr>
              <a:t>mo.notebook_dir()</a:t>
            </a:r>
            <a:r>
              <a:rPr lang="en-US" sz="2000" dirty="0">
                <a:solidFill>
                  <a:srgbClr val="FFFFFF"/>
                </a:solidFill>
              </a:rPr>
              <a:t> on the class server?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Publishing</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the </a:t>
            </a:r>
            <a:r>
              <a:rPr lang="en-US" sz="1400" dirty="0">
                <a:solidFill>
                  <a:srgbClr val="B86E1E"/>
                </a:solidFill>
                <a:latin typeface="Courier New" pitchFamily="34" charset="0"/>
                <a:ea typeface="Courier New" pitchFamily="34" charset="-122"/>
                <a:cs typeface="Courier New" pitchFamily="34" charset="-120"/>
              </a:rPr>
              <a:t>mo.md</a:t>
            </a:r>
            <a:r>
              <a:rPr lang="en-US" sz="1600" dirty="0">
                <a:solidFill>
                  <a:srgbClr val="2B1D19"/>
                </a:solidFill>
              </a:rPr>
              <a:t> cells for your story: a Hook, a heading and sentence for each insight, and a Resolution with your limitations. Use an f-string for at least two numbers.</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Check your story with </a:t>
            </a:r>
            <a:r>
              <a:rPr lang="en-US" sz="1400" dirty="0">
                <a:solidFill>
                  <a:srgbClr val="B86E1E"/>
                </a:solidFill>
                <a:latin typeface="Courier New" pitchFamily="34" charset="0"/>
                <a:ea typeface="Courier New" pitchFamily="34" charset="-122"/>
                <a:cs typeface="Courier New" pitchFamily="34" charset="-120"/>
              </a:rPr>
              <a:t>marimo run</a:t>
            </a:r>
            <a:r>
              <a:rPr lang="en-US" sz="1600" dirty="0">
                <a:solidFill>
                  <a:srgbClr val="2B1D19"/>
                </a:solidFill>
              </a:rPr>
              <a:t>, then ask someone else to read it in app view. Could they follow it without you explaining? Record what they said, and what you changed.</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Change the cell that loads your data to use </a:t>
            </a:r>
            <a:r>
              <a:rPr lang="en-US" sz="1400" dirty="0">
                <a:solidFill>
                  <a:srgbClr val="B86E1E"/>
                </a:solidFill>
                <a:latin typeface="Courier New" pitchFamily="34" charset="0"/>
                <a:ea typeface="Courier New" pitchFamily="34" charset="-122"/>
                <a:cs typeface="Courier New" pitchFamily="34" charset="-120"/>
              </a:rPr>
              <a:t>mo.notebook_dir()</a:t>
            </a:r>
            <a:r>
              <a:rPr lang="en-US" sz="1600" dirty="0">
                <a:solidFill>
                  <a:srgbClr val="2B1D19"/>
                </a:solidFill>
              </a:rPr>
              <a:t>, then hand in your story. Record its address on the class server.</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Publishing Our Data Story</dc:title>
  <dc:subject>PptxGenJS Presentation</dc:subject>
  <dc:creator>Steam Data Stories</dc:creator>
  <cp:lastModifiedBy>Steam Data Stories</cp:lastModifiedBy>
  <cp:revision>1</cp:revision>
  <dcterms:created xsi:type="dcterms:W3CDTF">2026-10-12T04:53:01Z</dcterms:created>
  <dcterms:modified xsi:type="dcterms:W3CDTF">2026-10-12T04:53:01Z</dcterms:modified>
</cp:coreProperties>
</file>