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5d206a5-2ada-7996-e0a0-10a3bac75cf5}">
          <p14:sldIdLst>
            <p14:sldId id="256"/>
            <p14:sldId id="257"/>
            <p14:sldId id="258"/>
          </p14:sldIdLst>
        </p14:section>
        <p14:section name="Our example story so far" id="{bc40e0c9-d016-d3c5-c78f-d68d3e25d55f}">
          <p14:sldIdLst>
            <p14:sldId id="259"/>
            <p14:sldId id="260"/>
            <p14:sldId id="261"/>
          </p14:sldIdLst>
        </p14:section>
        <p14:section name="Planning our insights" id="{33ff23b8-1df1-8014-5ea8-64ad57682325}">
          <p14:sldIdLst>
            <p14:sldId id="262"/>
            <p14:sldId id="263"/>
            <p14:sldId id="264"/>
          </p14:sldIdLst>
        </p14:section>
        <p14:section name="Patterns we can reuse" id="{f96ff7cb-71b4-157a-851d-ded60a67994d}">
          <p14:sldIdLst>
            <p14:sldId id="265"/>
            <p14:sldId id="266"/>
            <p14:sldId id="267"/>
            <p14:sldId id="268"/>
          </p14:sldIdLst>
        </p14:section>
        <p14:section name="Building our insights" id="{6fe2d316-b95d-c812-2888-e50b2c96bf82}">
          <p14:sldIdLst>
            <p14:sldId id="269"/>
            <p14:sldId id="270"/>
            <p14:sldId id="271"/>
          </p14:sldIdLst>
        </p14:section>
        <p14:section name="Checking each insight" id="{cb5a77f0-704c-39d7-a942-053ca900c1e4}">
          <p14:sldIdLst>
            <p14:sldId id="272"/>
            <p14:sldId id="273"/>
          </p14:sldIdLst>
        </p14:section>
        <p14:section name="Checking with a partner" id="{43cad326-a798-ab08-115c-0ca1bf45c275}">
          <p14:sldIdLst>
            <p14:sldId id="274"/>
            <p14:sldId id="275"/>
          </p14:sldIdLst>
        </p14:section>
        <p14:section name="Wrap up" id="{32b9126a-024d-cb30-a30e-1754b6c6e754}">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Rising Insights lesson, and a workshop: there's no new code today. Students plan and build the insights for their own story. About 60 minutes: 5 min recap, 10 min planning, 30 min building and checking, 10 min partner check, 5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Stress that today is about applying, not learning new code: everything they need is a pattern they've already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open my_data_story.md now. Most will have partial notes for every step since they made their story notebook; today those notes become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 back at our example story first, so students can see what a finished set of insights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quickly. Ask: which of these is a single number, and which are charts? Which row isn't really a finding about Indie games? (The last one: it's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students should copy: headline number, then detail, then strength over time. Point out that a limitation is still worth recording as an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few minutes to reread their notes silently before they start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one row on the board using the example story, e.g. Indie games cost less / group summary / Price, Group / blank. Students often write a topic instead of an expected finding: push them to write a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the example table: that's exactly the order our example story followed.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table links each pattern to the page section where we learned it. Encourage students to open that page and copy from it rather than typing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of these patterns their first insight needs. Most will need a group label and a group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histograms of two groups need histnorm="percent", or the bigger group always looks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error today. Students met it when they explored their data. If a cell suddenly stops working after copying, this is the first thing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work time, about 30 minutes including checking. Circulate and check plans before students start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one insight at a time. Students who build all their charts first and check later tend to end up with five half-finished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prediction column is the Insight column of their plan. A surprise isn't a failure: it's often the best thing in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use this same checklist on their partner's work, so make sure they understand each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check would the scatter plot of price and review score need most? (Honest claim.) Which check catches a group with only five games? (Enough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students with someone who has a different question, so they come to the charts 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the ten seconds. If the partner's description doesn't match the intended finding, the title or chart needs work. Then students use the feedback on their own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It gives the headline finding first; the charts then show the same finding in more detail, and the trend makes it stronger.
2. The column names and the variable names. If two cells create the same variable, marimo stops both with a MultipleDefinitionError.
3. Honest claim: we should say "is related to", not "causes". (In our example, price isn't related to review score at all.)
4. Check the counts and leave out tiny groups, because there isn't enough data to trust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already added this heading when they planned. Task 3 matters for next time: they need to arrive knowing which insight becomes their Aha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RISING INSIGHTS</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13</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Our Own Insights</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2240280"/>
          </a:xfrm>
          <a:prstGeom prst="roundRect">
            <a:avLst>
              <a:gd name="adj" fmla="val 3265"/>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15544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plan the insights for our own data story</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reuse the patterns we've learned for finding insights</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check that each insight is ready for our audience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THIS LESSON</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No new code today: we pull our own work together</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Our </a:t>
            </a:r>
            <a:r>
              <a:rPr lang="en-US" sz="1600" b="1" dirty="0">
                <a:solidFill>
                  <a:srgbClr val="F7EFE6"/>
                </a:solidFill>
              </a:rPr>
              <a:t>Your data story</a:t>
            </a:r>
            <a:r>
              <a:rPr lang="en-US" sz="1600" dirty="0">
                <a:solidFill>
                  <a:srgbClr val="F7EFE6"/>
                </a:solidFill>
              </a:rPr>
              <a:t> tasks tried each step on our own question. Now we turn that work into Rising Insights that lead up to our Aha Moment.</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Our example story so far</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b="1" dirty="0">
                <a:solidFill>
                  <a:srgbClr val="F7EFE6"/>
                </a:solidFill>
              </a:rPr>
              <a:t>Do Indie games review as well as games from big studios, and do they cost less?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insights in our example story</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657600"/>
                <a:gridCol w="2560320"/>
                <a:gridCol w="2011680"/>
              </a:tblGrid>
              <a:tr h="0">
                <a:tc>
                  <a:txBody>
                    <a:bodyPr/>
                    <a:lstStyle/>
                    <a:p>
                      <a:pPr indent="0" marL="0">
                        <a:buNone/>
                      </a:pPr>
                      <a:r>
                        <a:rPr lang="en-US" sz="1400" b="1" dirty="0">
                          <a:solidFill>
                            <a:srgbClr val="FFFFFF"/>
                          </a:solidFill>
                        </a:rPr>
                        <a:t>Insight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Evidence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Where we found it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the typical Indie game gets more positive reviews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median review score 86.5 vs 83.2</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Summarising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Indie games cost less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median price US$3.84 vs US$4.99</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Summarising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a bigger share of Indie games get very high scores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histogram by group, as percentages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Bar Charts and Histograms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the whole spread of Indie scores sits higher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box plot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Box Plots and Better Charts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the gap has lasted every year since 2017</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line chart by year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Trends and Relationships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price isn't related to review score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scatter plot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Trends and Relationships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our data has fewer recent games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2025 prediction check</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Outliers and Predictions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Each insight builds on the one before</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2000" dirty="0">
                <a:solidFill>
                  <a:srgbClr val="2B1D19"/>
                </a:solidFill>
              </a:rPr>
              <a:t>​</a:t>
            </a:r>
            <a:r>
              <a:rPr lang="en-US" sz="2000" dirty="0">
                <a:solidFill>
                  <a:srgbClr val="2B1D19"/>
                </a:solidFill>
              </a:rPr>
              <a:t>the first is a </a:t>
            </a:r>
            <a:r>
              <a:rPr lang="en-US" sz="2000" b="1" dirty="0">
                <a:solidFill>
                  <a:srgbClr val="2B1D19"/>
                </a:solidFill>
              </a:rPr>
              <a:t>single number</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the next few show the </a:t>
            </a:r>
            <a:r>
              <a:rPr lang="en-US" sz="2000" b="1" dirty="0">
                <a:solidFill>
                  <a:srgbClr val="2B1D19"/>
                </a:solidFill>
              </a:rPr>
              <a:t>same finding in more detail</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the line chart shows it's </a:t>
            </a:r>
            <a:r>
              <a:rPr lang="en-US" sz="2000" b="1" dirty="0">
                <a:solidFill>
                  <a:srgbClr val="2B1D19"/>
                </a:solidFill>
              </a:rPr>
              <a:t>not a one-off</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the last row is a </a:t>
            </a:r>
            <a:r>
              <a:rPr lang="en-US" sz="2000" b="1" dirty="0">
                <a:solidFill>
                  <a:srgbClr val="2B1D19"/>
                </a:solidFill>
              </a:rPr>
              <a:t>limitation</a:t>
            </a:r>
            <a:r>
              <a:rPr lang="en-US" sz="2000" dirty="0">
                <a:solidFill>
                  <a:srgbClr val="2B1D19"/>
                </a:solidFill>
              </a:rPr>
              <a:t>, which we'll need in our Resolution</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Planning our insights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Read back through </a:t>
            </a:r>
            <a:r>
              <a:rPr lang="en-US" sz="1800" b="1" dirty="0">
                <a:solidFill>
                  <a:srgbClr val="F7EFE6"/>
                </a:solidFill>
              </a:rPr>
              <a:t>my_data_story.md</a:t>
            </a:r>
            <a:r>
              <a:rPr lang="en-US" sz="1800" dirty="0">
                <a:solidFill>
                  <a:srgbClr val="F7EFE6"/>
                </a:solidFill>
              </a:rPr>
              <a:t> from </a:t>
            </a:r>
            <a:r>
              <a:rPr lang="en-US" sz="1600" b="1" dirty="0">
                <a:solidFill>
                  <a:srgbClr val="E8A55A"/>
                </a:solidFill>
                <a:latin typeface="Courier New" pitchFamily="34" charset="0"/>
                <a:ea typeface="Courier New" pitchFamily="34" charset="-122"/>
                <a:cs typeface="Courier New" pitchFamily="34" charset="-120"/>
              </a:rPr>
              <a:t>## Choosing a question</a:t>
            </a:r>
            <a:r>
              <a:rPr lang="en-US" sz="1800" dirty="0">
                <a:solidFill>
                  <a:srgbClr val="F7EFE6"/>
                </a:solidFill>
              </a:rPr>
              <a:t> onwards, then plan </a:t>
            </a:r>
            <a:r>
              <a:rPr lang="en-US" sz="1800" b="1" dirty="0">
                <a:solidFill>
                  <a:srgbClr val="F7EFE6"/>
                </a:solidFill>
              </a:rPr>
              <a:t>three to five</a:t>
            </a:r>
            <a:r>
              <a:rPr lang="en-US" sz="1800" dirty="0">
                <a:solidFill>
                  <a:srgbClr val="F7EFE6"/>
                </a:solidFill>
              </a:rPr>
              <a:t> insights.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Plan our insights in a table</a:t>
            </a:r>
            <a:endParaRPr lang="en-US" sz="2800" dirty="0"/>
          </a:p>
        </p:txBody>
      </p:sp>
      <p:sp>
        <p:nvSpPr>
          <p:cNvPr id="3" name="Code panel"/>
          <p:cNvSpPr/>
          <p:nvPr/>
        </p:nvSpPr>
        <p:spPr>
          <a:xfrm>
            <a:off x="457200" y="1051560"/>
            <a:ext cx="5120640" cy="1263015"/>
          </a:xfrm>
          <a:prstGeom prst="roundRect">
            <a:avLst>
              <a:gd name="adj" fmla="val 4344"/>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my_data_story.md</a:t>
            </a:r>
            <a:endParaRPr lang="en-US" sz="1200" dirty="0"/>
          </a:p>
        </p:txBody>
      </p:sp>
      <p:sp>
        <p:nvSpPr>
          <p:cNvPr id="5" name="Code"/>
          <p:cNvSpPr txBox="1"/>
          <p:nvPr/>
        </p:nvSpPr>
        <p:spPr>
          <a:xfrm>
            <a:off x="594360" y="1508760"/>
            <a:ext cx="4846320" cy="617220"/>
          </a:xfrm>
          <a:prstGeom prst="rect">
            <a:avLst/>
          </a:prstGeom>
          <a:noFill/>
          <a:ln/>
        </p:spPr>
        <p:txBody>
          <a:bodyPr wrap="square" lIns="0" tIns="0" rIns="0" bIns="0" rtlCol="0" anchor="t"/>
          <a:lstStyle/>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1  </a:t>
            </a:r>
            <a:r>
              <a:rPr lang="en-US" sz="1200" dirty="0">
                <a:solidFill>
                  <a:srgbClr val="F7EFE6"/>
                </a:solidFill>
                <a:latin typeface="Courier New" pitchFamily="34" charset="0"/>
                <a:ea typeface="Courier New" pitchFamily="34" charset="-122"/>
                <a:cs typeface="Courier New" pitchFamily="34" charset="-120"/>
              </a:rPr>
              <a:t>| Insight | Summary or chart | Columns | Done? |</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2  </a:t>
            </a:r>
            <a:r>
              <a:rPr lang="en-US" sz="1200" dirty="0">
                <a:solidFill>
                  <a:srgbClr val="F7EFE6"/>
                </a:solidFill>
                <a:latin typeface="Courier New" pitchFamily="34" charset="0"/>
                <a:ea typeface="Courier New" pitchFamily="34" charset="-122"/>
                <a:cs typeface="Courier New" pitchFamily="34" charset="-120"/>
              </a:rPr>
              <a:t>| :-- | :-- | :-- | :-- |</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3  </a:t>
            </a:r>
            <a:r>
              <a:rPr lang="en-US" sz="1200" dirty="0">
                <a:solidFill>
                  <a:srgbClr val="F7EFE6"/>
                </a:solidFill>
                <a:latin typeface="Courier New" pitchFamily="34" charset="0"/>
                <a:ea typeface="Courier New" pitchFamily="34" charset="-122"/>
                <a:cs typeface="Courier New" pitchFamily="34" charset="-120"/>
              </a:rPr>
              <a:t>| ... | ... | ... | ... |</a:t>
            </a:r>
            <a:endParaRPr lang="en-US" sz="1200" dirty="0"/>
          </a:p>
        </p:txBody>
      </p:sp>
      <p:sp>
        <p:nvSpPr>
          <p:cNvPr id="6" name="Text 4"/>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7" name="Text 5"/>
          <p:cNvSpPr txBox="1"/>
          <p:nvPr/>
        </p:nvSpPr>
        <p:spPr>
          <a:xfrm>
            <a:off x="5852160" y="1399032"/>
            <a:ext cx="2834640" cy="6400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Add a new heading </a:t>
            </a:r>
            <a:r>
              <a:rPr lang="en-US" sz="1300" b="1" dirty="0">
                <a:solidFill>
                  <a:srgbClr val="B86E1E"/>
                </a:solidFill>
                <a:latin typeface="Courier New" pitchFamily="34" charset="0"/>
                <a:ea typeface="Courier New" pitchFamily="34" charset="-122"/>
                <a:cs typeface="Courier New" pitchFamily="34" charset="-120"/>
              </a:rPr>
              <a:t>## My insights</a:t>
            </a:r>
            <a:r>
              <a:rPr lang="en-US" sz="1500" dirty="0">
                <a:solidFill>
                  <a:srgbClr val="2B1D19"/>
                </a:solidFill>
              </a:rPr>
              <a:t>, then a table like this one.</a:t>
            </a:r>
            <a:endParaRPr lang="en-US" sz="1500" dirty="0"/>
          </a:p>
        </p:txBody>
      </p:sp>
      <p:sp>
        <p:nvSpPr>
          <p:cNvPr id="8" name="Text 6"/>
          <p:cNvSpPr txBox="1"/>
          <p:nvPr/>
        </p:nvSpPr>
        <p:spPr>
          <a:xfrm>
            <a:off x="5852160" y="2221992"/>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For each insight, write</a:t>
            </a:r>
            <a:endParaRPr lang="en-US" sz="1400" dirty="0"/>
          </a:p>
        </p:txBody>
      </p:sp>
      <p:sp>
        <p:nvSpPr>
          <p:cNvPr id="9" name="Text 7"/>
          <p:cNvSpPr txBox="1"/>
          <p:nvPr/>
        </p:nvSpPr>
        <p:spPr>
          <a:xfrm>
            <a:off x="5852160" y="2569464"/>
            <a:ext cx="2834640" cy="19568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Insight</a:t>
            </a:r>
            <a:r>
              <a:rPr lang="en-US" sz="1400" dirty="0">
                <a:solidFill>
                  <a:srgbClr val="2B1D19"/>
                </a:solidFill>
              </a:rPr>
              <a:t> → what you expect to find</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Summary or chart</a:t>
            </a:r>
            <a:r>
              <a:rPr lang="en-US" sz="1400" dirty="0">
                <a:solidFill>
                  <a:srgbClr val="2B1D19"/>
                </a:solidFill>
              </a:rPr>
              <a:t> → which pattern</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Columns</a:t>
            </a:r>
            <a:r>
              <a:rPr lang="en-US" sz="1400" dirty="0">
                <a:solidFill>
                  <a:srgbClr val="2B1D19"/>
                </a:solidFill>
              </a:rPr>
              <a:t> → the columns it needs</a:t>
            </a:r>
            <a:endParaRPr lang="en-US" sz="1400" dirty="0"/>
          </a:p>
          <a:p>
            <a:pPr marL="342900" indent="-342900">
              <a:spcAft>
                <a:spcPts val="400"/>
              </a:spcAft>
              <a:buSzPct val="100000"/>
              <a:buChar char="•"/>
            </a:pPr>
            <a:r>
              <a:rPr lang="en-US" sz="1400" dirty="0">
                <a:solidFill>
                  <a:srgbClr val="2B1D19"/>
                </a:solidFill>
              </a:rPr>
              <a:t>​</a:t>
            </a:r>
            <a:r>
              <a:rPr lang="en-US" sz="1400" b="1" dirty="0">
                <a:solidFill>
                  <a:srgbClr val="2B1D19"/>
                </a:solidFill>
              </a:rPr>
              <a:t>Done?</a:t>
            </a:r>
            <a:r>
              <a:rPr lang="en-US" sz="1400" dirty="0">
                <a:solidFill>
                  <a:srgbClr val="2B1D19"/>
                </a:solidFill>
              </a:rPr>
              <a:t> → empty until finished</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Start with a number, end with a chart</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A good order: one </a:t>
            </a:r>
            <a:r>
              <a:rPr lang="en-US" sz="2000" b="1" dirty="0">
                <a:solidFill>
                  <a:srgbClr val="2B1D19"/>
                </a:solidFill>
              </a:rPr>
              <a:t>summary table</a:t>
            </a:r>
            <a:r>
              <a:rPr lang="en-US" sz="2000" dirty="0">
                <a:solidFill>
                  <a:srgbClr val="2B1D19"/>
                </a:solidFill>
              </a:rPr>
              <a:t> that gives the headline number, then one or two </a:t>
            </a:r>
            <a:r>
              <a:rPr lang="en-US" sz="2000" b="1" dirty="0">
                <a:solidFill>
                  <a:srgbClr val="2B1D19"/>
                </a:solidFill>
              </a:rPr>
              <a:t>charts</a:t>
            </a:r>
            <a:r>
              <a:rPr lang="en-US" sz="2000" dirty="0">
                <a:solidFill>
                  <a:srgbClr val="2B1D19"/>
                </a:solidFill>
              </a:rPr>
              <a:t> that show the same finding in more detail, then a </a:t>
            </a:r>
            <a:r>
              <a:rPr lang="en-US" sz="2000" b="1" dirty="0">
                <a:solidFill>
                  <a:srgbClr val="2B1D19"/>
                </a:solidFill>
              </a:rPr>
              <a:t>trend or relationship</a:t>
            </a:r>
            <a:r>
              <a:rPr lang="en-US" sz="2000" dirty="0">
                <a:solidFill>
                  <a:srgbClr val="2B1D19"/>
                </a:solidFill>
              </a:rPr>
              <a:t> that makes it stronger.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Patterns we can reuse</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Every insight in our example came from one of these patterns. Copy the pattern, then change the column and variable names.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Patterns for new columns and summaries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188720"/>
                <a:gridCol w="1645920"/>
                <a:gridCol w="3749040"/>
                <a:gridCol w="1645920"/>
              </a:tblGrid>
              <a:tr h="0">
                <a:tc>
                  <a:txBody>
                    <a:bodyPr/>
                    <a:lstStyle/>
                    <a:p>
                      <a:pPr indent="0" marL="0">
                        <a:buNone/>
                      </a:pPr>
                      <a:r>
                        <a:rPr lang="en-US" sz="1400" b="1" dirty="0">
                          <a:solidFill>
                            <a:srgbClr val="FFFFFF"/>
                          </a:solidFill>
                        </a:rPr>
                        <a:t>Name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To find…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Pattern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Where we learned it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new column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a new column from other columns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200" b="1" dirty="0">
                          <a:solidFill>
                            <a:srgbClr val="B86E1E"/>
                          </a:solidFill>
                          <a:latin typeface="Courier New" pitchFamily="34" charset="0"/>
                          <a:ea typeface="Courier New" pitchFamily="34" charset="-122"/>
                          <a:cs typeface="Courier New" pitchFamily="34" charset="-120"/>
                        </a:rPr>
                        <a:t>with_columns(... .alias("New name"))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Calculating a review score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group label</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a label for each group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200" b="1" dirty="0">
                          <a:solidFill>
                            <a:srgbClr val="B86E1E"/>
                          </a:solidFill>
                          <a:latin typeface="Courier New" pitchFamily="34" charset="0"/>
                          <a:ea typeface="Courier New" pitchFamily="34" charset="-122"/>
                          <a:cs typeface="Courier New" pitchFamily="34" charset="-120"/>
                        </a:rPr>
                        <a:t>pl.when(...).then(...).otherwise(...)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Years and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group summary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a summary of each group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200" b="1" dirty="0">
                          <a:solidFill>
                            <a:srgbClr val="B86E1E"/>
                          </a:solidFill>
                          <a:latin typeface="Courier New" pitchFamily="34" charset="0"/>
                          <a:ea typeface="Courier New" pitchFamily="34" charset="-122"/>
                          <a:cs typeface="Courier New" pitchFamily="34" charset="-120"/>
                        </a:rPr>
                        <a:t>group_by("Group").agg(...)</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Comparing our two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bar chart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a comparison of one number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200" b="1" dirty="0">
                          <a:solidFill>
                            <a:srgbClr val="B86E1E"/>
                          </a:solidFill>
                          <a:latin typeface="Courier New" pitchFamily="34" charset="0"/>
                          <a:ea typeface="Courier New" pitchFamily="34" charset="-122"/>
                          <a:cs typeface="Courier New" pitchFamily="34" charset="-120"/>
                        </a:rPr>
                        <a:t>px.bar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Bar charts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Patterns for charts and outliers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371600"/>
                <a:gridCol w="2103120"/>
                <a:gridCol w="2926080"/>
                <a:gridCol w="1828800"/>
              </a:tblGrid>
              <a:tr h="0">
                <a:tc>
                  <a:txBody>
                    <a:bodyPr/>
                    <a:lstStyle/>
                    <a:p>
                      <a:pPr indent="0" marL="0">
                        <a:buNone/>
                      </a:pPr>
                      <a:r>
                        <a:rPr lang="en-US" sz="1400" b="1" dirty="0">
                          <a:solidFill>
                            <a:srgbClr val="FFFFFF"/>
                          </a:solidFill>
                        </a:rPr>
                        <a:t>Name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To find…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Pattern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Where we learned it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histogram</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how values are spread out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200" b="1" dirty="0">
                          <a:solidFill>
                            <a:srgbClr val="B86E1E"/>
                          </a:solidFill>
                          <a:latin typeface="Courier New" pitchFamily="34" charset="0"/>
                          <a:ea typeface="Courier New" pitchFamily="34" charset="-122"/>
                          <a:cs typeface="Courier New" pitchFamily="34" charset="-120"/>
                        </a:rPr>
                        <a:t>px.histogram</a:t>
                      </a:r>
                      <a:r>
                        <a:rPr lang="en-US" sz="1400" dirty="0">
                          <a:solidFill>
                            <a:srgbClr val="2B1D19"/>
                          </a:solidFill>
                        </a:rPr>
                        <a:t>, with </a:t>
                      </a:r>
                      <a:r>
                        <a:rPr lang="en-US" sz="1200" b="1" dirty="0">
                          <a:solidFill>
                            <a:srgbClr val="B86E1E"/>
                          </a:solidFill>
                          <a:latin typeface="Courier New" pitchFamily="34" charset="0"/>
                          <a:ea typeface="Courier New" pitchFamily="34" charset="-122"/>
                          <a:cs typeface="Courier New" pitchFamily="34" charset="-120"/>
                        </a:rPr>
                        <a:t>histnorm="percent"</a:t>
                      </a:r>
                      <a:r>
                        <a:rPr lang="en-US" sz="1400" dirty="0">
                          <a:solidFill>
                            <a:srgbClr val="2B1D19"/>
                          </a:solidFill>
                        </a:rPr>
                        <a:t> for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Comparing two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box plot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how spread compares between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200" b="1" dirty="0">
                          <a:solidFill>
                            <a:srgbClr val="B86E1E"/>
                          </a:solidFill>
                          <a:latin typeface="Courier New" pitchFamily="34" charset="0"/>
                          <a:ea typeface="Courier New" pitchFamily="34" charset="-122"/>
                          <a:cs typeface="Courier New" pitchFamily="34" charset="-120"/>
                        </a:rPr>
                        <a:t>px.box</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Box plots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line chart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a change over time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200" b="1" dirty="0">
                          <a:solidFill>
                            <a:srgbClr val="B86E1E"/>
                          </a:solidFill>
                          <a:latin typeface="Courier New" pitchFamily="34" charset="0"/>
                          <a:ea typeface="Courier New" pitchFamily="34" charset="-122"/>
                          <a:cs typeface="Courier New" pitchFamily="34" charset="-120"/>
                        </a:rPr>
                        <a:t>group_by("Release year", ...)</a:t>
                      </a:r>
                      <a:r>
                        <a:rPr lang="en-US" sz="1400" dirty="0">
                          <a:solidFill>
                            <a:srgbClr val="2B1D19"/>
                          </a:solidFill>
                        </a:rPr>
                        <a:t> then </a:t>
                      </a:r>
                      <a:r>
                        <a:rPr lang="en-US" sz="1200" b="1" dirty="0">
                          <a:solidFill>
                            <a:srgbClr val="B86E1E"/>
                          </a:solidFill>
                          <a:latin typeface="Courier New" pitchFamily="34" charset="0"/>
                          <a:ea typeface="Courier New" pitchFamily="34" charset="-122"/>
                          <a:cs typeface="Courier New" pitchFamily="34" charset="-120"/>
                        </a:rPr>
                        <a:t>px.line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Trends over time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scatter plot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a relationship between two numbers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200" b="1" dirty="0">
                          <a:solidFill>
                            <a:srgbClr val="B86E1E"/>
                          </a:solidFill>
                          <a:latin typeface="Courier New" pitchFamily="34" charset="0"/>
                          <a:ea typeface="Courier New" pitchFamily="34" charset="-122"/>
                          <a:cs typeface="Courier New" pitchFamily="34" charset="-120"/>
                        </a:rPr>
                        <a:t>px.scatter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Looking for a relationship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outliers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unusual values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IQR upper fence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Finding outliers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variable, one cell</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When we copy a pattern, give every new variable a new name, like </a:t>
            </a:r>
            <a:r>
              <a:rPr lang="en-US" sz="1800" b="1" dirty="0">
                <a:solidFill>
                  <a:srgbClr val="B86E1E"/>
                </a:solidFill>
                <a:latin typeface="Courier New" pitchFamily="34" charset="0"/>
                <a:ea typeface="Courier New" pitchFamily="34" charset="-122"/>
                <a:cs typeface="Courier New" pitchFamily="34" charset="-120"/>
              </a:rPr>
              <a:t>per_genre</a:t>
            </a:r>
            <a:r>
              <a:rPr lang="en-US" sz="2000" dirty="0">
                <a:solidFill>
                  <a:srgbClr val="2B1D19"/>
                </a:solidFill>
              </a:rPr>
              <a:t> instead of </a:t>
            </a:r>
            <a:r>
              <a:rPr lang="en-US" sz="1800" b="1" dirty="0">
                <a:solidFill>
                  <a:srgbClr val="B86E1E"/>
                </a:solidFill>
                <a:latin typeface="Courier New" pitchFamily="34" charset="0"/>
                <a:ea typeface="Courier New" pitchFamily="34" charset="-122"/>
                <a:cs typeface="Courier New" pitchFamily="34" charset="-120"/>
              </a:rPr>
              <a:t>per_group</a:t>
            </a:r>
            <a:r>
              <a:rPr lang="en-US" sz="2000" dirty="0">
                <a:solidFill>
                  <a:srgbClr val="2B1D19"/>
                </a:solidFill>
              </a:rPr>
              <a:t>. If two cells create the same variable, marimo stops both with a </a:t>
            </a:r>
            <a:r>
              <a:rPr lang="en-US" sz="1800" b="1" dirty="0">
                <a:solidFill>
                  <a:srgbClr val="B86E1E"/>
                </a:solidFill>
                <a:latin typeface="Courier New" pitchFamily="34" charset="0"/>
                <a:ea typeface="Courier New" pitchFamily="34" charset="-122"/>
                <a:cs typeface="Courier New" pitchFamily="34" charset="-120"/>
              </a:rPr>
              <a:t>MultipleDefinitionError</a:t>
            </a:r>
            <a:r>
              <a:rPr lang="en-US" sz="2000" dirty="0">
                <a:solidFill>
                  <a:srgbClr val="2B1D19"/>
                </a:solidFill>
              </a:rPr>
              <a: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Building our insights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Work through our plan one insight at a time.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For each insight</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Add a Markdown heading to </a:t>
            </a:r>
            <a:r>
              <a:rPr lang="en-US" sz="2000" b="1" dirty="0">
                <a:solidFill>
                  <a:srgbClr val="2B1D19"/>
                </a:solidFill>
              </a:rPr>
              <a:t>my_data_story.md</a:t>
            </a:r>
            <a:r>
              <a:rPr lang="en-US" sz="2000" dirty="0">
                <a:solidFill>
                  <a:srgbClr val="2B1D19"/>
                </a:solidFill>
              </a:rPr>
              <a:t> for the insight.</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Build the summary or chart in </a:t>
            </a:r>
            <a:r>
              <a:rPr lang="en-US" sz="2000" b="1" dirty="0">
                <a:solidFill>
                  <a:srgbClr val="2B1D19"/>
                </a:solidFill>
              </a:rPr>
              <a:t>steam_story.py</a:t>
            </a:r>
            <a:r>
              <a:rPr lang="en-US" sz="2000" dirty="0">
                <a:solidFill>
                  <a:srgbClr val="2B1D19"/>
                </a:solidFill>
              </a:rPr>
              <a:t>.</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Check it against our checklist, and fix anything that doesn't pass.</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Record the finding in one sentence, with a number, and tick it off.</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Predict before we build</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PRIMM</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For each insight, </a:t>
            </a:r>
            <a:r>
              <a:rPr lang="en-US" sz="2000" b="1" dirty="0">
                <a:solidFill>
                  <a:srgbClr val="2B1D19"/>
                </a:solidFill>
              </a:rPr>
              <a:t>predict</a:t>
            </a:r>
            <a:r>
              <a:rPr lang="en-US" sz="2000" dirty="0">
                <a:solidFill>
                  <a:srgbClr val="2B1D19"/>
                </a:solidFill>
              </a:rPr>
              <a:t> what we'll find before we build it, and write the prediction down. When we </a:t>
            </a:r>
            <a:r>
              <a:rPr lang="en-US" sz="2000" b="1" dirty="0">
                <a:solidFill>
                  <a:srgbClr val="2B1D19"/>
                </a:solidFill>
              </a:rPr>
              <a:t>run</a:t>
            </a:r>
            <a:r>
              <a:rPr lang="en-US" sz="2000" dirty="0">
                <a:solidFill>
                  <a:srgbClr val="2B1D19"/>
                </a:solidFill>
              </a:rPr>
              <a:t> it, compare the result with our prediction. A result that surprises us is often the most interesting part of our story.</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Checking each insight</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Before an insight goes into our story, it should pass every check.</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Is this insight ready for our audience?</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6217920"/>
              </a:tblGrid>
              <a:tr h="0">
                <a:tc>
                  <a:txBody>
                    <a:bodyPr/>
                    <a:lstStyle/>
                    <a:p>
                      <a:pPr indent="0" marL="0">
                        <a:buNone/>
                      </a:pPr>
                      <a:r>
                        <a:rPr lang="en-US" sz="1400" b="1" dirty="0">
                          <a:solidFill>
                            <a:srgbClr val="FFFFFF"/>
                          </a:solidFill>
                        </a:rPr>
                        <a:t>Check</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to look for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Enough data</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every group has plenty of rows; check the counts and leave out tiny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Right average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we chose the mean or the median on purpose, and can say why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Right chart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chart type matches the question, using our Choosing a chart table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Headline title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the title states the finding, and the finding is true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Clear labels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axes and legend use words our audience understands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Honest claim</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we say "is related to", not "causes", unless we have much stronger evidence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Checking with a partner</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When our insights are ready, swap notebooks with a partner.</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For each of our partner's insights</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Read only the chart title and look at the chart for </a:t>
            </a:r>
            <a:r>
              <a:rPr lang="en-US" sz="2000" b="1" dirty="0">
                <a:solidFill>
                  <a:srgbClr val="2B1D19"/>
                </a:solidFill>
              </a:rPr>
              <a:t>ten seconds</a:t>
            </a:r>
            <a:r>
              <a:rPr lang="en-US" sz="2000" dirty="0">
                <a:solidFill>
                  <a:srgbClr val="2B1D19"/>
                </a:solidFill>
              </a:rPr>
              <a:t>. Write down what it seems to show.</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Check it against our checklist.</a:t>
            </a:r>
            <a:endParaRPr lang="en-US" sz="2000" dirty="0"/>
          </a:p>
          <a:p>
            <a:pPr marL="342900" indent="-342900">
              <a:spcAft>
                <a:spcPts val="800"/>
              </a:spcAft>
              <a:buSzPct val="100000"/>
              <a:buFont typeface="+mj-lt"/>
              <a:buAutoNum type="arabicPeriod" startAt="1"/>
            </a:pPr>
            <a:r>
              <a:rPr lang="en-US" sz="2000" dirty="0">
                <a:solidFill>
                  <a:srgbClr val="2B1D19"/>
                </a:solidFill>
              </a:rPr>
              <a:t>​</a:t>
            </a:r>
            <a:r>
              <a:rPr lang="en-US" sz="2000" dirty="0">
                <a:solidFill>
                  <a:srgbClr val="2B1D19"/>
                </a:solidFill>
              </a:rPr>
              <a:t>Give them </a:t>
            </a:r>
            <a:r>
              <a:rPr lang="en-US" sz="2000" b="1" dirty="0">
                <a:solidFill>
                  <a:srgbClr val="2B1D19"/>
                </a:solidFill>
              </a:rPr>
              <a:t>one thing that works well</a:t>
            </a:r>
            <a:r>
              <a:rPr lang="en-US" sz="2000" dirty="0">
                <a:solidFill>
                  <a:srgbClr val="2B1D19"/>
                </a:solidFill>
              </a:rPr>
              <a:t> and </a:t>
            </a:r>
            <a:r>
              <a:rPr lang="en-US" sz="2000" b="1" dirty="0">
                <a:solidFill>
                  <a:srgbClr val="2B1D19"/>
                </a:solidFill>
              </a:rPr>
              <a:t>one thing to improve</a:t>
            </a:r>
            <a:r>
              <a:rPr lang="en-US" sz="2000" dirty="0">
                <a:solidFill>
                  <a:srgbClr val="2B1D19"/>
                </a:solidFill>
              </a:rPr>
              <a: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does our example story start with a single number before any charts?</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We copy the group summary pattern for a new question. What must we change, and why?</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A chart's title says "Higher prices cause better reviews". Which check does it fail?</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One group has only a handful of games. What should we do?</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My insights</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Make sure every insight in your table is done, with a one-sentence finding that includes a number.</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Record the feedback from your partner, and what you changed because of it.</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Choose the </a:t>
            </a:r>
            <a:r>
              <a:rPr lang="en-US" sz="1600" b="1" dirty="0">
                <a:solidFill>
                  <a:srgbClr val="2B1D19"/>
                </a:solidFill>
              </a:rPr>
              <a:t>one</a:t>
            </a:r>
            <a:r>
              <a:rPr lang="en-US" sz="1600" dirty="0">
                <a:solidFill>
                  <a:srgbClr val="2B1D19"/>
                </a:solidFill>
              </a:rPr>
              <a:t> insight that best answers your question. That's the one you'll turn into your Aha Moment.</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Our Own Insights</dc:title>
  <dc:subject>PptxGenJS Presentation</dc:subject>
  <dc:creator>Steam Data Stories</dc:creator>
  <cp:lastModifiedBy>Steam Data Stories</cp:lastModifiedBy>
  <cp:revision>1</cp:revision>
  <dcterms:created xsi:type="dcterms:W3CDTF">2026-10-13T11:23:07Z</dcterms:created>
  <dcterms:modified xsi:type="dcterms:W3CDTF">2026-10-13T11:23:07Z</dcterms:modified>
</cp:coreProperties>
</file>