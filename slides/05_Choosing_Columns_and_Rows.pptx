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977fe99-f6a1-fab7-bd6e-619bfa82a742}">
          <p14:sldIdLst>
            <p14:sldId id="256"/>
            <p14:sldId id="257"/>
            <p14:sldId id="258"/>
            <p14:sldId id="259"/>
          </p14:sldIdLst>
        </p14:section>
        <p14:section name="Choosing columns" id="{2572515c-01cc-1f28-45a7-1ea1fc960f55}">
          <p14:sldIdLst>
            <p14:sldId id="260"/>
            <p14:sldId id="261"/>
            <p14:sldId id="262"/>
            <p14:sldId id="263"/>
            <p14:sldId id="264"/>
          </p14:sldIdLst>
        </p14:section>
        <p14:section name="Choosing rows" id="{94ac2811-bf96-482b-0a9d-3d56b50d1f34}">
          <p14:sldIdLst>
            <p14:sldId id="265"/>
            <p14:sldId id="266"/>
            <p14:sldId id="267"/>
          </p14:sldIdLst>
        </p14:section>
        <p14:section name="Combining conditions" id="{b30fee79-3329-0e04-821a-f1fdcf5f7113}">
          <p14:sldIdLst>
            <p14:sldId id="268"/>
            <p14:sldId id="269"/>
            <p14:sldId id="270"/>
            <p14:sldId id="271"/>
            <p14:sldId id="272"/>
            <p14:sldId id="273"/>
            <p14:sldId id="274"/>
            <p14:sldId id="275"/>
          </p14:sldIdLst>
        </p14:section>
        <p14:section name="Finding the Indie games" id="{25e71df0-82aa-af17-2833-0dd4e67f700d}">
          <p14:sldIdLst>
            <p14:sldId id="276"/>
            <p14:sldId id="277"/>
            <p14:sldId id="278"/>
          </p14:sldIdLst>
        </p14:section>
        <p14:section name="Wrap up" id="{4dd94a7f-d358-2110-4839-71eff475b026}">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Behind the Scenes lesson. We cut our data down to the columns and rows our question needs. About 60 minutes: 5 min hook, 15 min choosing columns, 10 min choosing rows, 15 min combining conditions and the error, 5 min Indie games, 10 min Your data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intentions aloud. Point out select is for columns and filter is for rows; students mix these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Expression is the harder term. We'll see it in action when we filter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when we removed the support emails: we already have public_games, with 12 columns and 10,250 rows. Our question only needs some of them. Smaller tables are easier to read and easier to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marimo with marimo edit clean_steam.py and press Ctrl+Shift+R (Cmd+Shift+R on a Mac) to run the earlier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columns one at a time and ask students to decide before revealing the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leaves 10 columns. We'll use select to keep just those.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ask students to predict how many rows and columns selected will have before running. We start from public_games, the version without support emails. Each cleaning step starts from the variable the step before made and gives its result a new name, so we can always look back at an earlier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will come back to this in Your data story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question is partly about price, so a good first question is: how many games cost money, and how many are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height gives the number of rows. Explain pl.col("Price"): it means the Price column, and it's an expression, a description of what to do with a column that Polars works out for every row at once. We'll use pl.col in almost every cell from now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1,411. Students can check: 8,839 + 1,411 = 10,250.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row has to pass two conditions at once. Python's symbol for and between Polars conditions is &amp;. Tell students to type the next cell exactly as shown, even though it has a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type it exactly as it is, then run it. Most will expect a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error in parts: type, message, where. The suggestions don't fit our case, which is a good lesson: suggestions are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with BIDMAS in maths: brackets first. Draw the brackets on the board around each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change the existing cell, not add a new one. Point to the title: change existing cell.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students where | is on the keyboard (Shift and backslash).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common filter mistake. Refer back to it whenever students hit the ambiguous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need |, Price == 0 and Recommendations &gt; 100000, each in brackets. The page doesn't give the answer, so check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Keeping them lets us look through them and check that our definition of Indie picks the games we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PRIMM: predict how many rows indie_games will have. Modify: put ~ in front of pl.col to find the games that aren't Indie. (10,250 − 6,243 = 4,007.)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scroll across to the Genres column and check a few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Cold-call or use mini whiteboards.
Answers:
1. select chooses columns; filter chooses rows.
2. It only chooses which columns to keep; every row stays.
3. Python does &amp; before &gt;, so it tried 0 &amp; pl.col("Recommendations") first. Each condition needs its own brackets.
4. | (or).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last 10 minutes. Remind students not to remove columns from select, because later lessons use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5989320" y="914400"/>
            <a:ext cx="2743200" cy="2743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4E342E"/>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001000" y="4069080"/>
            <a:ext cx="777240" cy="77724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pic>
        <p:nvPicPr>
          <p:cNvPr id="2" name="Image 0" descr="/home/claude/steam-data-stories/docs/assets/logo.png">    </p:cNvPr>
          <p:cNvPicPr>
            <a:picLocks noChangeAspect="1"/>
          </p:cNvPicPr>
          <p:nvPr/>
        </p:nvPicPr>
        <p:blipFill>
          <a:blip r:embed="rId1"/>
          <a:stretch>
            <a:fillRect/>
          </a:stretch>
        </p:blipFill>
        <p:spPr>
          <a:xfrm>
            <a:off x="8503920" y="4572000"/>
            <a:ext cx="411480" cy="411480"/>
          </a:xfrm>
          <a:prstGeom prst="rect">
            <a:avLst/>
          </a:prstGeom>
        </p:spPr>
      </p:pic>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457200" y="914400"/>
            <a:ext cx="530352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BEHIND THE SCENES</a:t>
            </a:r>
            <a:endParaRPr lang="en-US" sz="1400" dirty="0"/>
          </a:p>
        </p:txBody>
      </p:sp>
      <p:sp>
        <p:nvSpPr>
          <p:cNvPr id="3" name="Text 1"/>
          <p:cNvSpPr txBox="1"/>
          <p:nvPr/>
        </p:nvSpPr>
        <p:spPr>
          <a:xfrm>
            <a:off x="457200" y="1325880"/>
            <a:ext cx="5303520" cy="457200"/>
          </a:xfrm>
          <a:prstGeom prst="rect">
            <a:avLst/>
          </a:prstGeom>
          <a:noFill/>
          <a:ln/>
        </p:spPr>
        <p:txBody>
          <a:bodyPr wrap="square" lIns="0" tIns="0" rIns="0" bIns="0" rtlCol="0" anchor="ctr"/>
          <a:lstStyle/>
          <a:p>
            <a:pPr indent="0" marL="0">
              <a:buNone/>
            </a:pPr>
            <a:r>
              <a:rPr lang="en-US" sz="2000" dirty="0">
                <a:solidFill>
                  <a:srgbClr val="F7EFE6"/>
                </a:solidFill>
              </a:rPr>
              <a:t>Lesson 5</a:t>
            </a:r>
            <a:endParaRPr lang="en-US" sz="2000" dirty="0"/>
          </a:p>
        </p:txBody>
      </p:sp>
      <p:sp>
        <p:nvSpPr>
          <p:cNvPr id="4" name="Text 2"/>
          <p:cNvSpPr txBox="1"/>
          <p:nvPr/>
        </p:nvSpPr>
        <p:spPr>
          <a:xfrm>
            <a:off x="457200" y="1783080"/>
            <a:ext cx="5303520" cy="1463040"/>
          </a:xfrm>
          <a:prstGeom prst="rect">
            <a:avLst/>
          </a:prstGeom>
          <a:noFill/>
          <a:ln/>
        </p:spPr>
        <p:txBody>
          <a:bodyPr wrap="square" lIns="0" tIns="0" rIns="0" bIns="0" rtlCol="0" anchor="t">
            <a:normAutofit/>
          </a:bodyPr>
          <a:lstStyle/>
          <a:p>
            <a:pPr indent="0" marL="0">
              <a:buNone/>
            </a:pPr>
            <a:r>
              <a:rPr lang="en-US" sz="4000" b="1" dirty="0">
                <a:solidFill>
                  <a:srgbClr val="FFFFFF"/>
                </a:solidFill>
              </a:rPr>
              <a:t>Choosing Columns and Rows</a:t>
            </a:r>
            <a:endParaRPr lang="en-US" sz="4000" dirty="0"/>
          </a:p>
        </p:txBody>
      </p:sp>
      <p:sp>
        <p:nvSpPr>
          <p:cNvPr id="5" name="Text 3"/>
          <p:cNvSpPr txBox="1"/>
          <p:nvPr/>
        </p:nvSpPr>
        <p:spPr>
          <a:xfrm>
            <a:off x="457200" y="4206240"/>
            <a:ext cx="5303520" cy="365760"/>
          </a:xfrm>
          <a:prstGeom prst="rect">
            <a:avLst/>
          </a:prstGeom>
          <a:noFill/>
          <a:ln/>
        </p:spPr>
        <p:txBody>
          <a:bodyPr wrap="square" lIns="0" tIns="0" rIns="0" bIns="0" rtlCol="0" anchor="ctr"/>
          <a:lstStyle/>
          <a:p>
            <a:pPr indent="0" marL="0">
              <a:buNone/>
            </a:pPr>
            <a:r>
              <a:rPr lang="en-US" sz="1400" dirty="0">
                <a:solidFill>
                  <a:srgbClr val="F7EFE6"/>
                </a:solidFill>
              </a:rPr>
              <a:t>Steam Data Stories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In this lesson we will learn</a:t>
            </a:r>
            <a:endParaRPr lang="en-US" sz="2800" dirty="0"/>
          </a:p>
        </p:txBody>
      </p:sp>
      <p:sp>
        <p:nvSpPr>
          <p:cNvPr id="3" name="learn box"/>
          <p:cNvSpPr/>
          <p:nvPr/>
        </p:nvSpPr>
        <p:spPr>
          <a:xfrm>
            <a:off x="457200" y="1097280"/>
            <a:ext cx="8229600" cy="3154680"/>
          </a:xfrm>
          <a:prstGeom prst="roundRect">
            <a:avLst>
              <a:gd name="adj" fmla="val 2319"/>
            </a:avLst>
          </a:prstGeom>
          <a:solidFill>
            <a:srgbClr val="FFF4DC"/>
          </a:solidFill>
          <a:ln w="12700">
            <a:solidFill>
              <a:srgbClr val="FFF4DC"/>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8A5A00"/>
                </a:solidFill>
              </a:rPr>
              <a:t>Learning intentions</a:t>
            </a:r>
            <a:endParaRPr lang="en-US" sz="1600" dirty="0"/>
          </a:p>
        </p:txBody>
      </p:sp>
      <p:sp>
        <p:nvSpPr>
          <p:cNvPr id="5" name="Text 3"/>
          <p:cNvSpPr txBox="1"/>
          <p:nvPr/>
        </p:nvSpPr>
        <p:spPr>
          <a:xfrm>
            <a:off x="685800" y="1645920"/>
            <a:ext cx="7772400" cy="24688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dirty="0">
                <a:solidFill>
                  <a:srgbClr val="2B1D19"/>
                </a:solidFill>
              </a:rPr>
              <a:t>why cleaning is the Behind the Scenes stage of our story</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keep only the columns we need with </a:t>
            </a:r>
            <a:r>
              <a:rPr lang="en-US" sz="1800" dirty="0">
                <a:solidFill>
                  <a:srgbClr val="B86E1E"/>
                </a:solidFill>
                <a:latin typeface="Courier New" pitchFamily="34" charset="0"/>
                <a:ea typeface="Courier New" pitchFamily="34" charset="-122"/>
                <a:cs typeface="Courier New" pitchFamily="34" charset="-120"/>
              </a:rPr>
              <a:t>select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keep only the rows we need with </a:t>
            </a:r>
            <a:r>
              <a:rPr lang="en-US" sz="1800" dirty="0">
                <a:solidFill>
                  <a:srgbClr val="B86E1E"/>
                </a:solidFill>
                <a:latin typeface="Courier New" pitchFamily="34" charset="0"/>
                <a:ea typeface="Courier New" pitchFamily="34" charset="-122"/>
                <a:cs typeface="Courier New" pitchFamily="34" charset="-120"/>
              </a:rPr>
              <a:t>filter</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combine conditions with </a:t>
            </a:r>
            <a:r>
              <a:rPr lang="en-US" sz="1800" dirty="0">
                <a:solidFill>
                  <a:srgbClr val="B86E1E"/>
                </a:solidFill>
                <a:latin typeface="Courier New" pitchFamily="34" charset="0"/>
                <a:ea typeface="Courier New" pitchFamily="34" charset="-122"/>
                <a:cs typeface="Courier New" pitchFamily="34" charset="-120"/>
              </a:rPr>
              <a:t>&amp;</a:t>
            </a:r>
            <a:r>
              <a:rPr lang="en-US" sz="2000" dirty="0">
                <a:solidFill>
                  <a:srgbClr val="2B1D19"/>
                </a:solidFill>
              </a:rPr>
              <a:t> and </a:t>
            </a:r>
            <a:r>
              <a:rPr lang="en-US" sz="1800" dirty="0">
                <a:solidFill>
                  <a:srgbClr val="B86E1E"/>
                </a:solidFill>
                <a:latin typeface="Courier New" pitchFamily="34" charset="0"/>
                <a:ea typeface="Courier New" pitchFamily="34" charset="-122"/>
                <a:cs typeface="Courier New" pitchFamily="34" charset="-120"/>
              </a:rPr>
              <a:t>|</a:t>
            </a:r>
            <a:endParaRPr lang="en-US" sz="2000" dirty="0"/>
          </a:p>
          <a:p>
            <a:pPr marL="342900" indent="-342900">
              <a:spcAft>
                <a:spcPts val="1200"/>
              </a:spcAft>
              <a:buSzPct val="100000"/>
              <a:buChar char="•"/>
            </a:pPr>
            <a:r>
              <a:rPr lang="en-US" sz="2000" dirty="0">
                <a:solidFill>
                  <a:srgbClr val="2B1D19"/>
                </a:solidFill>
              </a:rPr>
              <a:t>​</a:t>
            </a:r>
            <a:r>
              <a:rPr lang="en-US" sz="2000" dirty="0">
                <a:solidFill>
                  <a:srgbClr val="2B1D19"/>
                </a:solidFill>
              </a:rPr>
              <a:t>how to find the Indie games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Terminology</a:t>
            </a:r>
            <a:endParaRPr lang="en-US" sz="2800" dirty="0"/>
          </a:p>
        </p:txBody>
      </p:sp>
      <p:sp>
        <p:nvSpPr>
          <p:cNvPr id="3" name="terms box"/>
          <p:cNvSpPr/>
          <p:nvPr/>
        </p:nvSpPr>
        <p:spPr>
          <a:xfrm>
            <a:off x="457200" y="1097280"/>
            <a:ext cx="8229600" cy="2697480"/>
          </a:xfrm>
          <a:prstGeom prst="roundRect">
            <a:avLst>
              <a:gd name="adj" fmla="val 2712"/>
            </a:avLst>
          </a:prstGeom>
          <a:solidFill>
            <a:srgbClr val="EEEEEE"/>
          </a:solidFill>
          <a:ln w="12700">
            <a:solidFill>
              <a:srgbClr val="EEEEEE"/>
            </a:solidFill>
            <a:prstDash val="solid"/>
          </a:ln>
        </p:spPr>
      </p:sp>
      <p:sp>
        <p:nvSpPr>
          <p:cNvPr id="4" name="Text 2"/>
          <p:cNvSpPr txBox="1"/>
          <p:nvPr/>
        </p:nvSpPr>
        <p:spPr>
          <a:xfrm>
            <a:off x="685800" y="1234440"/>
            <a:ext cx="7772400" cy="365760"/>
          </a:xfrm>
          <a:prstGeom prst="rect">
            <a:avLst/>
          </a:prstGeom>
          <a:noFill/>
          <a:ln/>
        </p:spPr>
        <p:txBody>
          <a:bodyPr wrap="square" lIns="0" tIns="0" rIns="0" bIns="0" rtlCol="0" anchor="ctr"/>
          <a:lstStyle/>
          <a:p>
            <a:pPr indent="0" marL="0">
              <a:buNone/>
            </a:pPr>
            <a:r>
              <a:rPr lang="en-US" sz="1600" b="1" dirty="0">
                <a:solidFill>
                  <a:srgbClr val="424242"/>
                </a:solidFill>
              </a:rPr>
              <a:t>New terms</a:t>
            </a:r>
            <a:endParaRPr lang="en-US" sz="1600" dirty="0"/>
          </a:p>
        </p:txBody>
      </p:sp>
      <p:sp>
        <p:nvSpPr>
          <p:cNvPr id="5" name="Text 3"/>
          <p:cNvSpPr txBox="1"/>
          <p:nvPr/>
        </p:nvSpPr>
        <p:spPr>
          <a:xfrm>
            <a:off x="685800" y="1645920"/>
            <a:ext cx="7772400" cy="2011680"/>
          </a:xfrm>
          <a:prstGeom prst="rect">
            <a:avLst/>
          </a:prstGeom>
          <a:noFill/>
          <a:ln/>
        </p:spPr>
        <p:txBody>
          <a:bodyPr wrap="square" lIns="0" tIns="0" rIns="0" bIns="0" rtlCol="0" anchor="t">
            <a:normAutofit/>
          </a:bodyPr>
          <a:lstStyle/>
          <a:p>
            <a:pPr marL="342900" indent="-342900">
              <a:spcAft>
                <a:spcPts val="1200"/>
              </a:spcAft>
              <a:buSzPct val="100000"/>
              <a:buChar char="•"/>
            </a:pPr>
            <a:r>
              <a:rPr lang="en-US" sz="2000" dirty="0">
                <a:solidFill>
                  <a:srgbClr val="2B1D19"/>
                </a:solidFill>
              </a:rPr>
              <a:t>​</a:t>
            </a:r>
            <a:r>
              <a:rPr lang="en-US" sz="2000" b="1" dirty="0">
                <a:solidFill>
                  <a:srgbClr val="2B1D19"/>
                </a:solidFill>
              </a:rPr>
              <a:t>data cleaning</a:t>
            </a:r>
            <a:r>
              <a:rPr lang="en-US" sz="2000" dirty="0">
                <a:solidFill>
                  <a:srgbClr val="2B1D19"/>
                </a:solidFill>
              </a:rPr>
              <a:t> – finding and fixing problems in data so we can trust the results.</a:t>
            </a:r>
            <a:endParaRPr lang="en-US" sz="2000" dirty="0"/>
          </a:p>
          <a:p>
            <a:pPr marL="342900" indent="-342900">
              <a:spcAft>
                <a:spcPts val="1200"/>
              </a:spcAft>
              <a:buSzPct val="100000"/>
              <a:buChar char="•"/>
            </a:pPr>
            <a:r>
              <a:rPr lang="en-US" sz="2000" dirty="0">
                <a:solidFill>
                  <a:srgbClr val="2B1D19"/>
                </a:solidFill>
              </a:rPr>
              <a:t>​</a:t>
            </a:r>
            <a:r>
              <a:rPr lang="en-US" sz="2000" b="1" dirty="0">
                <a:solidFill>
                  <a:srgbClr val="2B1D19"/>
                </a:solidFill>
              </a:rPr>
              <a:t>expression</a:t>
            </a:r>
            <a:r>
              <a:rPr lang="en-US" sz="2000" dirty="0">
                <a:solidFill>
                  <a:srgbClr val="2B1D19"/>
                </a:solidFill>
              </a:rPr>
              <a:t> – a description of what to do with a column, such as </a:t>
            </a:r>
            <a:r>
              <a:rPr lang="en-US" sz="1800" dirty="0">
                <a:solidFill>
                  <a:srgbClr val="B86E1E"/>
                </a:solidFill>
                <a:latin typeface="Courier New" pitchFamily="34" charset="0"/>
                <a:ea typeface="Courier New" pitchFamily="34" charset="-122"/>
                <a:cs typeface="Courier New" pitchFamily="34" charset="-120"/>
              </a:rPr>
              <a:t>pl.col("Price") &gt; 0</a:t>
            </a:r>
            <a:r>
              <a:rPr lang="en-US" sz="2000" dirty="0">
                <a:solidFill>
                  <a:srgbClr val="2B1D19"/>
                </a:solidFill>
              </a:rPr>
              <a:t>, which Polars works out for every row at once.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9144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BEHIND THE SCENES</a:t>
            </a:r>
            <a:endParaRPr lang="en-US" sz="1400" dirty="0"/>
          </a:p>
        </p:txBody>
      </p:sp>
      <p:sp>
        <p:nvSpPr>
          <p:cNvPr id="3" name="Text 1"/>
          <p:cNvSpPr txBox="1"/>
          <p:nvPr/>
        </p:nvSpPr>
        <p:spPr>
          <a:xfrm>
            <a:off x="457200" y="1325880"/>
            <a:ext cx="7863840" cy="1828800"/>
          </a:xfrm>
          <a:prstGeom prst="rect">
            <a:avLst/>
          </a:prstGeom>
          <a:noFill/>
          <a:ln/>
        </p:spPr>
        <p:txBody>
          <a:bodyPr wrap="square" lIns="0" tIns="0" rIns="0" bIns="0" rtlCol="0" anchor="t">
            <a:normAutofit/>
          </a:bodyPr>
          <a:lstStyle/>
          <a:p>
            <a:pPr indent="0" marL="0">
              <a:spcAft>
                <a:spcPts val="800"/>
              </a:spcAft>
              <a:buNone/>
            </a:pPr>
            <a:r>
              <a:rPr lang="en-US" sz="3000" b="1" dirty="0">
                <a:solidFill>
                  <a:srgbClr val="FFFFFF"/>
                </a:solidFill>
              </a:rPr>
              <a:t>​</a:t>
            </a:r>
            <a:r>
              <a:rPr lang="en-US" sz="3000" b="1" dirty="0">
                <a:solidFill>
                  <a:srgbClr val="FFFFFF"/>
                </a:solidFill>
              </a:rPr>
              <a:t>Our audience will never see this stage, but this is where we earn their trust</a:t>
            </a:r>
            <a:endParaRPr lang="en-US" sz="3000" dirty="0"/>
          </a:p>
        </p:txBody>
      </p:sp>
      <p:sp>
        <p:nvSpPr>
          <p:cNvPr id="4" name="Text 2"/>
          <p:cNvSpPr txBox="1"/>
          <p:nvPr/>
        </p:nvSpPr>
        <p:spPr>
          <a:xfrm>
            <a:off x="457200" y="3246120"/>
            <a:ext cx="7315200" cy="914400"/>
          </a:xfrm>
          <a:prstGeom prst="rect">
            <a:avLst/>
          </a:prstGeom>
          <a:noFill/>
          <a:ln/>
        </p:spPr>
        <p:txBody>
          <a:bodyPr wrap="square" lIns="0" tIns="0" rIns="0" bIns="0" rtlCol="0" anchor="t"/>
          <a:lstStyle/>
          <a:p>
            <a:pPr indent="0" marL="0">
              <a:spcAft>
                <a:spcPts val="800"/>
              </a:spcAft>
              <a:buNone/>
            </a:pPr>
            <a:r>
              <a:rPr lang="en-US" sz="1600" dirty="0">
                <a:solidFill>
                  <a:srgbClr val="F7EFE6"/>
                </a:solidFill>
              </a:rPr>
              <a:t>​</a:t>
            </a:r>
            <a:r>
              <a:rPr lang="en-US" sz="1600" dirty="0">
                <a:solidFill>
                  <a:srgbClr val="F7EFE6"/>
                </a:solidFill>
              </a:rPr>
              <a:t>If our data is wrong, every chart and every claim in our story is wrong too.</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Choosing columns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Our question: do Indie games get a higher review score than other games, and do they cost less?</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Which columns does our question need?</a:t>
            </a:r>
            <a:endParaRPr lang="en-US" sz="28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914400"/>
                <a:gridCol w="5120640"/>
              </a:tblGrid>
              <a:tr h="0">
                <a:tc>
                  <a:txBody>
                    <a:bodyPr/>
                    <a:lstStyle/>
                    <a:p>
                      <a:pPr indent="0" marL="0">
                        <a:buNone/>
                      </a:pPr>
                      <a:r>
                        <a:rPr lang="en-US" sz="1400" b="1" dirty="0">
                          <a:solidFill>
                            <a:srgbClr val="FFFFFF"/>
                          </a:solidFill>
                        </a:rPr>
                        <a:t>Column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AppID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only column that's different for every game, to check for repeats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Name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so we can recognise each game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Release date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to see whether things change over time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Price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answers the "do they cost less?" part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Positive and Negative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we'll calculate each game's review score from them</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Recommendations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another way to measure how popular a game is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Which columns does our question need? (continued)</a:t>
            </a:r>
            <a:endParaRPr lang="en-US" sz="28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2194560"/>
                <a:gridCol w="1097280"/>
                <a:gridCol w="4937760"/>
              </a:tblGrid>
              <a:tr h="0">
                <a:tc>
                  <a:txBody>
                    <a:bodyPr/>
                    <a:lstStyle/>
                    <a:p>
                      <a:pPr indent="0" marL="0">
                        <a:buNone/>
                      </a:pPr>
                      <a:r>
                        <a:rPr lang="en-US" sz="1400" b="1" dirty="0">
                          <a:solidFill>
                            <a:srgbClr val="FFFFFF"/>
                          </a:solidFill>
                        </a:rPr>
                        <a:t>Column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Why</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Metacritic score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to compare critics' scores with players' reviews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Developers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so we can see who made each game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Genres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keep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it tells us which games are 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Achievements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leave out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the number of achievements doesn't help answer our question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Publishers</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leave out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we're using Genres to decide which games are Indie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Keep only the columns we need</a:t>
            </a:r>
            <a:endParaRPr lang="en-US" sz="2800" dirty="0"/>
          </a:p>
        </p:txBody>
      </p:sp>
      <p:sp>
        <p:nvSpPr>
          <p:cNvPr id="3" name="Code panel"/>
          <p:cNvSpPr/>
          <p:nvPr/>
        </p:nvSpPr>
        <p:spPr>
          <a:xfrm>
            <a:off x="457200" y="1051560"/>
            <a:ext cx="4099560" cy="3474720"/>
          </a:xfrm>
          <a:prstGeom prst="roundRect">
            <a:avLst>
              <a:gd name="adj" fmla="val 1579"/>
            </a:avLst>
          </a:prstGeom>
          <a:solidFill>
            <a:srgbClr val="2B1D19"/>
          </a:solidFill>
          <a:ln w="12700">
            <a:solidFill>
              <a:srgbClr val="2B1D19"/>
            </a:solidFill>
            <a:prstDash val="solid"/>
          </a:ln>
        </p:spPr>
      </p:sp>
      <p:sp>
        <p:nvSpPr>
          <p:cNvPr id="4" name="Text 2"/>
          <p:cNvSpPr txBox="1"/>
          <p:nvPr/>
        </p:nvSpPr>
        <p:spPr>
          <a:xfrm>
            <a:off x="640080" y="1161288"/>
            <a:ext cx="373380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3825240" cy="293497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selected = public_games.select(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"AppID",</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    "Name",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    "Release date",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5  </a:t>
            </a:r>
            <a:r>
              <a:rPr lang="en-US" sz="1400" dirty="0">
                <a:solidFill>
                  <a:srgbClr val="F7EFE6"/>
                </a:solidFill>
                <a:latin typeface="Courier New" pitchFamily="34" charset="0"/>
                <a:ea typeface="Courier New" pitchFamily="34" charset="-122"/>
                <a:cs typeface="Courier New" pitchFamily="34" charset="-120"/>
              </a:rPr>
              <a:t>    "Price",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6  </a:t>
            </a:r>
            <a:r>
              <a:rPr lang="en-US" sz="1400" dirty="0">
                <a:solidFill>
                  <a:srgbClr val="F7EFE6"/>
                </a:solidFill>
                <a:latin typeface="Courier New" pitchFamily="34" charset="0"/>
                <a:ea typeface="Courier New" pitchFamily="34" charset="-122"/>
                <a:cs typeface="Courier New" pitchFamily="34" charset="-120"/>
              </a:rPr>
              <a:t>    "Positive",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7  </a:t>
            </a:r>
            <a:r>
              <a:rPr lang="en-US" sz="1400" dirty="0">
                <a:solidFill>
                  <a:srgbClr val="F7EFE6"/>
                </a:solidFill>
                <a:latin typeface="Courier New" pitchFamily="34" charset="0"/>
                <a:ea typeface="Courier New" pitchFamily="34" charset="-122"/>
                <a:cs typeface="Courier New" pitchFamily="34" charset="-120"/>
              </a:rPr>
              <a:t>    "Negative",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8  </a:t>
            </a:r>
            <a:r>
              <a:rPr lang="en-US" sz="1400" dirty="0">
                <a:solidFill>
                  <a:srgbClr val="F7EFE6"/>
                </a:solidFill>
                <a:latin typeface="Courier New" pitchFamily="34" charset="0"/>
                <a:ea typeface="Courier New" pitchFamily="34" charset="-122"/>
                <a:cs typeface="Courier New" pitchFamily="34" charset="-120"/>
              </a:rPr>
              <a:t>    "Recommendations",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9  </a:t>
            </a:r>
            <a:r>
              <a:rPr lang="en-US" sz="1400" dirty="0">
                <a:solidFill>
                  <a:srgbClr val="F7EFE6"/>
                </a:solidFill>
                <a:latin typeface="Courier New" pitchFamily="34" charset="0"/>
                <a:ea typeface="Courier New" pitchFamily="34" charset="-122"/>
                <a:cs typeface="Courier New" pitchFamily="34" charset="-120"/>
              </a:rPr>
              <a:t>    "Metacritic score",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10  </a:t>
            </a:r>
            <a:r>
              <a:rPr lang="en-US" sz="1400" dirty="0">
                <a:solidFill>
                  <a:srgbClr val="F7EFE6"/>
                </a:solidFill>
                <a:latin typeface="Courier New" pitchFamily="34" charset="0"/>
                <a:ea typeface="Courier New" pitchFamily="34" charset="-122"/>
                <a:cs typeface="Courier New" pitchFamily="34" charset="-120"/>
              </a:rPr>
              <a:t>    "Developers",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11  </a:t>
            </a:r>
            <a:r>
              <a:rPr lang="en-US" sz="1400" dirty="0">
                <a:solidFill>
                  <a:srgbClr val="F7EFE6"/>
                </a:solidFill>
                <a:latin typeface="Courier New" pitchFamily="34" charset="0"/>
                <a:ea typeface="Courier New" pitchFamily="34" charset="-122"/>
                <a:cs typeface="Courier New" pitchFamily="34" charset="-120"/>
              </a:rPr>
              <a:t>    "Genres",</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12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13  </a:t>
            </a:r>
            <a:r>
              <a:rPr lang="en-US" sz="1400" dirty="0">
                <a:solidFill>
                  <a:srgbClr val="F7EFE6"/>
                </a:solidFill>
                <a:latin typeface="Courier New" pitchFamily="34" charset="0"/>
                <a:ea typeface="Courier New" pitchFamily="34" charset="-122"/>
                <a:cs typeface="Courier New" pitchFamily="34" charset="-120"/>
              </a:rPr>
              <a:t>selected</a:t>
            </a:r>
            <a:endParaRPr lang="en-US" sz="1400" dirty="0"/>
          </a:p>
        </p:txBody>
      </p:sp>
      <p:sp>
        <p:nvSpPr>
          <p:cNvPr id="6" name="Text 4"/>
          <p:cNvSpPr txBox="1"/>
          <p:nvPr/>
        </p:nvSpPr>
        <p:spPr>
          <a:xfrm>
            <a:off x="4831080" y="1051560"/>
            <a:ext cx="385572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7" name="Text 5"/>
          <p:cNvSpPr txBox="1"/>
          <p:nvPr/>
        </p:nvSpPr>
        <p:spPr>
          <a:xfrm>
            <a:off x="4831080" y="1399032"/>
            <a:ext cx="3855720" cy="86868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300" dirty="0">
                <a:solidFill>
                  <a:srgbClr val="B86E1E"/>
                </a:solidFill>
                <a:latin typeface="Courier New" pitchFamily="34" charset="0"/>
                <a:ea typeface="Courier New" pitchFamily="34" charset="-122"/>
                <a:cs typeface="Courier New" pitchFamily="34" charset="-120"/>
              </a:rPr>
              <a:t>select</a:t>
            </a:r>
            <a:r>
              <a:rPr lang="en-US" sz="1500" dirty="0">
                <a:solidFill>
                  <a:srgbClr val="2B1D19"/>
                </a:solidFill>
              </a:rPr>
              <a:t> keeps just the columns we list, in the order we list them. We store the result in a new variable, </a:t>
            </a:r>
            <a:r>
              <a:rPr lang="en-US" sz="1300" dirty="0">
                <a:solidFill>
                  <a:srgbClr val="B86E1E"/>
                </a:solidFill>
                <a:latin typeface="Courier New" pitchFamily="34" charset="0"/>
                <a:ea typeface="Courier New" pitchFamily="34" charset="-122"/>
                <a:cs typeface="Courier New" pitchFamily="34" charset="-120"/>
              </a:rPr>
              <a:t>selected</a:t>
            </a:r>
            <a:r>
              <a:rPr lang="en-US" sz="1500" dirty="0">
                <a:solidFill>
                  <a:srgbClr val="2B1D19"/>
                </a:solidFill>
              </a:rPr>
              <a:t>.</a:t>
            </a:r>
            <a:endParaRPr lang="en-US" sz="1500" dirty="0"/>
          </a:p>
        </p:txBody>
      </p:sp>
      <p:sp>
        <p:nvSpPr>
          <p:cNvPr id="8" name="Text 6"/>
          <p:cNvSpPr txBox="1"/>
          <p:nvPr/>
        </p:nvSpPr>
        <p:spPr>
          <a:xfrm>
            <a:off x="4831080" y="2450592"/>
            <a:ext cx="3855720" cy="320040"/>
          </a:xfrm>
          <a:prstGeom prst="rect">
            <a:avLst/>
          </a:prstGeom>
          <a:noFill/>
          <a:ln/>
        </p:spPr>
        <p:txBody>
          <a:bodyPr wrap="square" lIns="0" tIns="0" rIns="0" bIns="0" rtlCol="0" anchor="ctr"/>
          <a:lstStyle/>
          <a:p>
            <a:pPr indent="0" marL="0">
              <a:buNone/>
            </a:pPr>
            <a:r>
              <a:rPr lang="en-US" sz="1400" b="1" dirty="0">
                <a:solidFill>
                  <a:srgbClr val="B86E1E"/>
                </a:solidFill>
              </a:rPr>
              <a:t>What we see</a:t>
            </a:r>
            <a:endParaRPr lang="en-US" sz="1400" dirty="0"/>
          </a:p>
        </p:txBody>
      </p:sp>
      <p:sp>
        <p:nvSpPr>
          <p:cNvPr id="9" name="Text 7"/>
          <p:cNvSpPr txBox="1"/>
          <p:nvPr/>
        </p:nvSpPr>
        <p:spPr>
          <a:xfrm>
            <a:off x="4831080" y="2798064"/>
            <a:ext cx="3855720" cy="1728216"/>
          </a:xfrm>
          <a:prstGeom prst="rect">
            <a:avLst/>
          </a:prstGeom>
          <a:noFill/>
          <a:ln/>
        </p:spPr>
        <p:txBody>
          <a:bodyPr wrap="square" lIns="0" tIns="0" rIns="0" bIns="0" rtlCol="0" anchor="t">
            <a:normAutofit/>
          </a:bodyPr>
          <a:lstStyle/>
          <a:p>
            <a:pPr marL="342900" indent="-342900">
              <a:spcAft>
                <a:spcPts val="400"/>
              </a:spcAft>
              <a:buSzPct val="100000"/>
              <a:buChar char="•"/>
            </a:pPr>
            <a:r>
              <a:rPr lang="en-US" sz="1400" dirty="0">
                <a:solidFill>
                  <a:srgbClr val="2B1D19"/>
                </a:solidFill>
              </a:rPr>
              <a:t>​</a:t>
            </a:r>
            <a:r>
              <a:rPr lang="en-US" sz="1400" b="1" dirty="0">
                <a:solidFill>
                  <a:srgbClr val="2B1D19"/>
                </a:solidFill>
              </a:rPr>
              <a:t>10</a:t>
            </a:r>
            <a:r>
              <a:rPr lang="en-US" sz="1400" dirty="0">
                <a:solidFill>
                  <a:srgbClr val="2B1D19"/>
                </a:solidFill>
              </a:rPr>
              <a:t> columns instead of 12</a:t>
            </a:r>
            <a:endParaRPr lang="en-US" sz="1400" dirty="0"/>
          </a:p>
          <a:p>
            <a:pPr marL="342900" indent="-342900">
              <a:spcAft>
                <a:spcPts val="400"/>
              </a:spcAft>
              <a:buSzPct val="100000"/>
              <a:buChar char="•"/>
            </a:pPr>
            <a:r>
              <a:rPr lang="en-US" sz="1400" dirty="0">
                <a:solidFill>
                  <a:srgbClr val="2B1D19"/>
                </a:solidFill>
              </a:rPr>
              <a:t>​</a:t>
            </a:r>
            <a:r>
              <a:rPr lang="en-US" sz="1400" dirty="0">
                <a:solidFill>
                  <a:srgbClr val="2B1D19"/>
                </a:solidFill>
              </a:rPr>
              <a:t>still all </a:t>
            </a:r>
            <a:r>
              <a:rPr lang="en-US" sz="1400" b="1" dirty="0">
                <a:solidFill>
                  <a:srgbClr val="2B1D19"/>
                </a:solidFill>
              </a:rPr>
              <a:t>10,250</a:t>
            </a:r>
            <a:r>
              <a:rPr lang="en-US" sz="1400" dirty="0">
                <a:solidFill>
                  <a:srgbClr val="2B1D19"/>
                </a:solidFill>
              </a:rPr>
              <a:t> rows</a:t>
            </a:r>
            <a:endParaRPr lang="en-US" sz="1400" dirty="0"/>
          </a:p>
          <a:p>
            <a:pPr marL="342900" indent="-342900">
              <a:spcAft>
                <a:spcPts val="400"/>
              </a:spcAft>
              <a:buSzPct val="100000"/>
              <a:buChar char="•"/>
            </a:pPr>
            <a:r>
              <a:rPr lang="en-US" sz="1400" dirty="0">
                <a:solidFill>
                  <a:srgbClr val="2B1D19"/>
                </a:solidFill>
              </a:rPr>
              <a:t>​</a:t>
            </a:r>
            <a:r>
              <a:rPr lang="en-US" sz="1400" dirty="0">
                <a:solidFill>
                  <a:srgbClr val="2B1D19"/>
                </a:solidFill>
              </a:rPr>
              <a:t>so </a:t>
            </a:r>
            <a:r>
              <a:rPr lang="en-US" sz="1200" dirty="0">
                <a:solidFill>
                  <a:srgbClr val="B86E1E"/>
                </a:solidFill>
                <a:latin typeface="Courier New" pitchFamily="34" charset="0"/>
                <a:ea typeface="Courier New" pitchFamily="34" charset="-122"/>
                <a:cs typeface="Courier New" pitchFamily="34" charset="-120"/>
              </a:rPr>
              <a:t>select</a:t>
            </a:r>
            <a:r>
              <a:rPr lang="en-US" sz="1400" dirty="0">
                <a:solidFill>
                  <a:srgbClr val="2B1D19"/>
                </a:solidFill>
              </a:rPr>
              <a:t> never changes the number of rows: it only chooses columns</a:t>
            </a:r>
            <a:endParaRPr lang="en-US" sz="14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Achievements and Publishers might suit your question</a:t>
            </a:r>
            <a:endParaRPr lang="en-US" sz="2800" dirty="0"/>
          </a:p>
        </p:txBody>
      </p:sp>
      <p:sp>
        <p:nvSpPr>
          <p:cNvPr id="3" name="tip box"/>
          <p:cNvSpPr/>
          <p:nvPr/>
        </p:nvSpPr>
        <p:spPr>
          <a:xfrm>
            <a:off x="457200" y="1051560"/>
            <a:ext cx="8229600" cy="2519680"/>
          </a:xfrm>
          <a:prstGeom prst="roundRect">
            <a:avLst>
              <a:gd name="adj" fmla="val 2903"/>
            </a:avLst>
          </a:prstGeom>
          <a:solidFill>
            <a:srgbClr val="E3F1FB"/>
          </a:solidFill>
          <a:ln w="12700">
            <a:solidFill>
              <a:srgbClr val="E3F1FB"/>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1D5F8A"/>
                </a:solidFill>
              </a:rPr>
              <a:t>Your question</a:t>
            </a:r>
            <a:endParaRPr lang="en-US" sz="1600" dirty="0"/>
          </a:p>
        </p:txBody>
      </p:sp>
      <p:sp>
        <p:nvSpPr>
          <p:cNvPr id="5" name="Text 3"/>
          <p:cNvSpPr txBox="1"/>
          <p:nvPr/>
        </p:nvSpPr>
        <p:spPr>
          <a:xfrm>
            <a:off x="685800" y="1600200"/>
            <a:ext cx="7772400" cy="18338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Our example question doesn't need them, but your own question might. Do games with more achievements get more recommendations? Do games from publishers that release lots of games get better reviews? If your question uses them, add them to your </a:t>
            </a:r>
            <a:r>
              <a:rPr lang="en-US" sz="1800" dirty="0">
                <a:solidFill>
                  <a:srgbClr val="B86E1E"/>
                </a:solidFill>
                <a:latin typeface="Courier New" pitchFamily="34" charset="0"/>
                <a:ea typeface="Courier New" pitchFamily="34" charset="-122"/>
                <a:cs typeface="Courier New" pitchFamily="34" charset="-120"/>
              </a:rPr>
              <a:t>select</a:t>
            </a:r>
            <a:r>
              <a:rPr lang="en-US" sz="2000" dirty="0">
                <a:solidFill>
                  <a:srgbClr val="2B1D19"/>
                </a:solidFill>
              </a:rPr>
              <a:t> cell.</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Choosing rows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To keep only some rows, we use </a:t>
            </a:r>
            <a:r>
              <a:rPr lang="en-US" sz="1600" dirty="0">
                <a:solidFill>
                  <a:srgbClr val="E8A55A"/>
                </a:solidFill>
                <a:latin typeface="Courier New" pitchFamily="34" charset="0"/>
                <a:ea typeface="Courier New" pitchFamily="34" charset="-122"/>
                <a:cs typeface="Courier New" pitchFamily="34" charset="-120"/>
              </a:rPr>
              <a:t>filter</a:t>
            </a:r>
            <a:r>
              <a:rPr lang="en-US" sz="1800" dirty="0">
                <a:solidFill>
                  <a:srgbClr val="F7EFE6"/>
                </a:solidFill>
              </a:rPr>
              <a:t> with a condition. Rows where the condition is </a:t>
            </a:r>
            <a:r>
              <a:rPr lang="en-US" sz="1600" dirty="0">
                <a:solidFill>
                  <a:srgbClr val="E8A55A"/>
                </a:solidFill>
                <a:latin typeface="Courier New" pitchFamily="34" charset="0"/>
                <a:ea typeface="Courier New" pitchFamily="34" charset="-122"/>
                <a:cs typeface="Courier New" pitchFamily="34" charset="-120"/>
              </a:rPr>
              <a:t>True</a:t>
            </a:r>
            <a:r>
              <a:rPr lang="en-US" sz="1800" dirty="0">
                <a:solidFill>
                  <a:srgbClr val="F7EFE6"/>
                </a:solidFill>
              </a:rPr>
              <a:t> are kept.</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How many games cost money?</a:t>
            </a:r>
            <a:endParaRPr lang="en-US" sz="2800" dirty="0"/>
          </a:p>
        </p:txBody>
      </p:sp>
      <p:sp>
        <p:nvSpPr>
          <p:cNvPr id="3" name="Code panel"/>
          <p:cNvSpPr/>
          <p:nvPr/>
        </p:nvSpPr>
        <p:spPr>
          <a:xfrm>
            <a:off x="457200" y="1051560"/>
            <a:ext cx="5120640" cy="1024890"/>
          </a:xfrm>
          <a:prstGeom prst="roundRect">
            <a:avLst>
              <a:gd name="adj" fmla="val 5353"/>
            </a:avLst>
          </a:prstGeom>
          <a:solidFill>
            <a:srgbClr val="2B1D19"/>
          </a:solidFill>
          <a:ln w="12700">
            <a:solidFill>
              <a:srgbClr val="2B1D19"/>
            </a:solidFill>
            <a:prstDash val="solid"/>
          </a:ln>
        </p:spPr>
      </p:sp>
      <p:sp>
        <p:nvSpPr>
          <p:cNvPr id="4" name="Text 2"/>
          <p:cNvSpPr txBox="1"/>
          <p:nvPr/>
        </p:nvSpPr>
        <p:spPr>
          <a:xfrm>
            <a:off x="640080" y="1161288"/>
            <a:ext cx="475488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4846320" cy="426720"/>
          </a:xfrm>
          <a:prstGeom prst="rect">
            <a:avLst/>
          </a:prstGeom>
          <a:noFill/>
          <a:ln/>
        </p:spPr>
        <p:txBody>
          <a:bodyPr wrap="square" lIns="0" tIns="0" rIns="0" bIns="0" rtlCol="0" anchor="t"/>
          <a:lstStyle/>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1  </a:t>
            </a:r>
            <a:r>
              <a:rPr lang="en-US" sz="1200" dirty="0">
                <a:solidFill>
                  <a:srgbClr val="F7EFE6"/>
                </a:solidFill>
                <a:latin typeface="Courier New" pitchFamily="34" charset="0"/>
                <a:ea typeface="Courier New" pitchFamily="34" charset="-122"/>
                <a:cs typeface="Courier New" pitchFamily="34" charset="-120"/>
              </a:rPr>
              <a:t>paid_games = selected.filter(pl.col("Price") &gt; 0)</a:t>
            </a:r>
            <a:endParaRPr lang="en-US" sz="1200" dirty="0"/>
          </a:p>
          <a:p>
            <a:pPr indent="0" marL="0">
              <a:lnSpc>
                <a:spcPts val="1500"/>
              </a:lnSpc>
              <a:buNone/>
            </a:pPr>
            <a:r>
              <a:rPr lang="en-US" sz="1200" dirty="0">
                <a:solidFill>
                  <a:srgbClr val="9C8A80"/>
                </a:solidFill>
                <a:latin typeface="Courier New" pitchFamily="34" charset="0"/>
                <a:ea typeface="Courier New" pitchFamily="34" charset="-122"/>
                <a:cs typeface="Courier New" pitchFamily="34" charset="-120"/>
              </a:rPr>
              <a:t> 2  </a:t>
            </a:r>
            <a:r>
              <a:rPr lang="en-US" sz="1200" dirty="0">
                <a:solidFill>
                  <a:srgbClr val="F7EFE6"/>
                </a:solidFill>
                <a:latin typeface="Courier New" pitchFamily="34" charset="0"/>
                <a:ea typeface="Courier New" pitchFamily="34" charset="-122"/>
                <a:cs typeface="Courier New" pitchFamily="34" charset="-120"/>
              </a:rPr>
              <a:t>paid_games.height</a:t>
            </a:r>
            <a:endParaRPr lang="en-US" sz="1200" dirty="0"/>
          </a:p>
        </p:txBody>
      </p:sp>
      <p:sp>
        <p:nvSpPr>
          <p:cNvPr id="6" name="Text 4"/>
          <p:cNvSpPr txBox="1"/>
          <p:nvPr/>
        </p:nvSpPr>
        <p:spPr>
          <a:xfrm>
            <a:off x="457200" y="2167890"/>
            <a:ext cx="512064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output is </a:t>
            </a:r>
            <a:r>
              <a:rPr lang="en-US" sz="1500" b="1" dirty="0">
                <a:solidFill>
                  <a:srgbClr val="2B1D19"/>
                </a:solidFill>
              </a:rPr>
              <a:t>8839</a:t>
            </a:r>
            <a:r>
              <a:rPr lang="en-US" sz="1500" dirty="0">
                <a:solidFill>
                  <a:srgbClr val="2B1D19"/>
                </a:solidFill>
              </a:rPr>
              <a:t>. The other 1,411 are free.</a:t>
            </a:r>
            <a:endParaRPr lang="en-US" sz="1500" dirty="0"/>
          </a:p>
        </p:txBody>
      </p:sp>
      <p:sp>
        <p:nvSpPr>
          <p:cNvPr id="7" name="primm box"/>
          <p:cNvSpPr/>
          <p:nvPr/>
        </p:nvSpPr>
        <p:spPr>
          <a:xfrm>
            <a:off x="457200" y="2670810"/>
            <a:ext cx="5120640" cy="1056640"/>
          </a:xfrm>
          <a:prstGeom prst="roundRect">
            <a:avLst>
              <a:gd name="adj" fmla="val 6923"/>
            </a:avLst>
          </a:prstGeom>
          <a:solidFill>
            <a:srgbClr val="E6F2E6"/>
          </a:solidFill>
          <a:ln w="12700">
            <a:solidFill>
              <a:srgbClr val="E6F2E6"/>
            </a:solidFill>
            <a:prstDash val="solid"/>
          </a:ln>
        </p:spPr>
      </p:sp>
      <p:sp>
        <p:nvSpPr>
          <p:cNvPr id="8" name="Text 6"/>
          <p:cNvSpPr txBox="1"/>
          <p:nvPr/>
        </p:nvSpPr>
        <p:spPr>
          <a:xfrm>
            <a:off x="685800" y="2807970"/>
            <a:ext cx="4663440" cy="365760"/>
          </a:xfrm>
          <a:prstGeom prst="rect">
            <a:avLst/>
          </a:prstGeom>
          <a:noFill/>
          <a:ln/>
        </p:spPr>
        <p:txBody>
          <a:bodyPr wrap="square" lIns="0" tIns="0" rIns="0" bIns="0" rtlCol="0" anchor="ctr"/>
          <a:lstStyle/>
          <a:p>
            <a:pPr indent="0" marL="0">
              <a:buNone/>
            </a:pPr>
            <a:r>
              <a:rPr lang="en-US" sz="1600" b="1" dirty="0">
                <a:solidFill>
                  <a:srgbClr val="2E6B30"/>
                </a:solidFill>
              </a:rPr>
              <a:t>Predict</a:t>
            </a:r>
            <a:endParaRPr lang="en-US" sz="1600" dirty="0"/>
          </a:p>
        </p:txBody>
      </p:sp>
      <p:sp>
        <p:nvSpPr>
          <p:cNvPr id="9" name="Text 7"/>
          <p:cNvSpPr txBox="1"/>
          <p:nvPr/>
        </p:nvSpPr>
        <p:spPr>
          <a:xfrm>
            <a:off x="685800" y="3173730"/>
            <a:ext cx="4663440" cy="37084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How many of our 10,250 games cost money?</a:t>
            </a:r>
            <a:endParaRPr lang="en-US" sz="1500" dirty="0"/>
          </a:p>
        </p:txBody>
      </p:sp>
      <p:sp>
        <p:nvSpPr>
          <p:cNvPr id="10" name="Text 8"/>
          <p:cNvSpPr txBox="1"/>
          <p:nvPr/>
        </p:nvSpPr>
        <p:spPr>
          <a:xfrm>
            <a:off x="5852160" y="1051560"/>
            <a:ext cx="2834640" cy="320040"/>
          </a:xfrm>
          <a:prstGeom prst="rect">
            <a:avLst/>
          </a:prstGeom>
          <a:noFill/>
          <a:ln/>
        </p:spPr>
        <p:txBody>
          <a:bodyPr wrap="square" lIns="0" tIns="0" rIns="0" bIns="0" rtlCol="0" anchor="ctr"/>
          <a:lstStyle/>
          <a:p>
            <a:pPr indent="0" marL="0">
              <a:buNone/>
            </a:pPr>
            <a:r>
              <a:rPr lang="en-US" sz="1400" b="1" dirty="0">
                <a:solidFill>
                  <a:srgbClr val="B86E1E"/>
                </a:solidFill>
              </a:rPr>
              <a:t>Why</a:t>
            </a:r>
            <a:endParaRPr lang="en-US" sz="1400" dirty="0"/>
          </a:p>
        </p:txBody>
      </p:sp>
      <p:sp>
        <p:nvSpPr>
          <p:cNvPr id="11" name="Text 9"/>
          <p:cNvSpPr txBox="1"/>
          <p:nvPr/>
        </p:nvSpPr>
        <p:spPr>
          <a:xfrm>
            <a:off x="5852160" y="1399032"/>
            <a:ext cx="2834640" cy="3017520"/>
          </a:xfrm>
          <a:prstGeom prst="rect">
            <a:avLst/>
          </a:prstGeom>
          <a:noFill/>
          <a:ln/>
        </p:spPr>
        <p:txBody>
          <a:bodyPr wrap="square" lIns="0" tIns="0" rIns="0" bIns="0" rtlCol="0" anchor="t">
            <a:normAutofit/>
          </a:bodyPr>
          <a:lstStyle/>
          <a:p>
            <a:pPr indent="0" marL="0">
              <a:spcAft>
                <a:spcPts val="800"/>
              </a:spcAft>
              <a:buNone/>
            </a:pPr>
            <a:r>
              <a:rPr lang="en-US" sz="1500" dirty="0">
                <a:solidFill>
                  <a:srgbClr val="2B1D19"/>
                </a:solidFill>
              </a:rPr>
              <a:t>​</a:t>
            </a:r>
            <a:r>
              <a:rPr lang="en-US" sz="1500" dirty="0">
                <a:solidFill>
                  <a:srgbClr val="2B1D19"/>
                </a:solidFill>
              </a:rPr>
              <a:t>Free games might behave differently from paid games, so it's worth knowing how many there are. We keep only the rows where </a:t>
            </a:r>
            <a:r>
              <a:rPr lang="en-US" sz="1300" dirty="0">
                <a:solidFill>
                  <a:srgbClr val="B86E1E"/>
                </a:solidFill>
                <a:latin typeface="Courier New" pitchFamily="34" charset="0"/>
                <a:ea typeface="Courier New" pitchFamily="34" charset="-122"/>
                <a:cs typeface="Courier New" pitchFamily="34" charset="-120"/>
              </a:rPr>
              <a:t>Price</a:t>
            </a:r>
            <a:r>
              <a:rPr lang="en-US" sz="1500" dirty="0">
                <a:solidFill>
                  <a:srgbClr val="2B1D19"/>
                </a:solidFill>
              </a:rPr>
              <a:t> is more than 0.</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Find the free games</a:t>
            </a:r>
            <a:endParaRPr lang="en-US" sz="2800" dirty="0"/>
          </a:p>
        </p:txBody>
      </p:sp>
      <p:sp>
        <p:nvSpPr>
          <p:cNvPr id="3" name="primm box"/>
          <p:cNvSpPr/>
          <p:nvPr/>
        </p:nvSpPr>
        <p:spPr>
          <a:xfrm>
            <a:off x="457200" y="1051560"/>
            <a:ext cx="8229600" cy="1732280"/>
          </a:xfrm>
          <a:prstGeom prst="roundRect">
            <a:avLst>
              <a:gd name="adj" fmla="val 4223"/>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0464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a:t>
            </a:r>
            <a:r>
              <a:rPr lang="en-US" sz="1800" dirty="0">
                <a:solidFill>
                  <a:srgbClr val="B86E1E"/>
                </a:solidFill>
                <a:latin typeface="Courier New" pitchFamily="34" charset="0"/>
                <a:ea typeface="Courier New" pitchFamily="34" charset="-122"/>
                <a:cs typeface="Courier New" pitchFamily="34" charset="-120"/>
              </a:rPr>
              <a:t>&gt; 0</a:t>
            </a:r>
            <a:r>
              <a:rPr lang="en-US" sz="2000" dirty="0">
                <a:solidFill>
                  <a:srgbClr val="2B1D19"/>
                </a:solidFill>
              </a:rPr>
              <a:t> to </a:t>
            </a:r>
            <a:r>
              <a:rPr lang="en-US" sz="1800" dirty="0">
                <a:solidFill>
                  <a:srgbClr val="B86E1E"/>
                </a:solidFill>
                <a:latin typeface="Courier New" pitchFamily="34" charset="0"/>
                <a:ea typeface="Courier New" pitchFamily="34" charset="-122"/>
                <a:cs typeface="Courier New" pitchFamily="34" charset="-120"/>
              </a:rPr>
              <a:t>== 0</a:t>
            </a:r>
            <a:r>
              <a:rPr lang="en-US" sz="2000" dirty="0">
                <a:solidFill>
                  <a:srgbClr val="2B1D19"/>
                </a:solidFill>
              </a:rPr>
              <a:t> to find the free games instead.</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How many are there?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Combining conditions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Paid games that are also very popular: </a:t>
            </a:r>
            <a:r>
              <a:rPr lang="en-US" sz="1600" dirty="0">
                <a:solidFill>
                  <a:srgbClr val="E8A55A"/>
                </a:solidFill>
                <a:latin typeface="Courier New" pitchFamily="34" charset="0"/>
                <a:ea typeface="Courier New" pitchFamily="34" charset="-122"/>
                <a:cs typeface="Courier New" pitchFamily="34" charset="-120"/>
              </a:rPr>
              <a:t>Price</a:t>
            </a:r>
            <a:r>
              <a:rPr lang="en-US" sz="1800" dirty="0">
                <a:solidFill>
                  <a:srgbClr val="F7EFE6"/>
                </a:solidFill>
              </a:rPr>
              <a:t> more than 0 </a:t>
            </a:r>
            <a:r>
              <a:rPr lang="en-US" sz="1800" b="1" dirty="0">
                <a:solidFill>
                  <a:srgbClr val="F7EFE6"/>
                </a:solidFill>
              </a:rPr>
              <a:t>and</a:t>
            </a:r>
            <a:r>
              <a:rPr lang="en-US" sz="1800" dirty="0">
                <a:solidFill>
                  <a:srgbClr val="F7EFE6"/>
                </a:solidFill>
              </a:rPr>
              <a:t> </a:t>
            </a:r>
            <a:r>
              <a:rPr lang="en-US" sz="1600" dirty="0">
                <a:solidFill>
                  <a:srgbClr val="E8A55A"/>
                </a:solidFill>
                <a:latin typeface="Courier New" pitchFamily="34" charset="0"/>
                <a:ea typeface="Courier New" pitchFamily="34" charset="-122"/>
                <a:cs typeface="Courier New" pitchFamily="34" charset="-120"/>
              </a:rPr>
              <a:t>Recommendations</a:t>
            </a:r>
            <a:r>
              <a:rPr lang="en-US" sz="1800" dirty="0">
                <a:solidFill>
                  <a:srgbClr val="F7EFE6"/>
                </a:solidFill>
              </a:rPr>
              <a:t> more than 10,000.</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First try: join the conditions with &amp;</a:t>
            </a:r>
            <a:endParaRPr lang="en-US" sz="2800" dirty="0"/>
          </a:p>
        </p:txBody>
      </p:sp>
      <p:sp>
        <p:nvSpPr>
          <p:cNvPr id="3" name="Code panel"/>
          <p:cNvSpPr/>
          <p:nvPr/>
        </p:nvSpPr>
        <p:spPr>
          <a:xfrm>
            <a:off x="457200" y="1051560"/>
            <a:ext cx="8229600" cy="1501140"/>
          </a:xfrm>
          <a:prstGeom prst="roundRect">
            <a:avLst>
              <a:gd name="adj" fmla="val 3655"/>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7955280" cy="9347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popular_paid = selected.filter(</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pl.col("Price") &gt; 0 &amp; pl.col("Recommendations") &gt; 10000</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popular_paid.height</a:t>
            </a:r>
            <a:endParaRPr lang="en-US" sz="1400" dirty="0"/>
          </a:p>
        </p:txBody>
      </p:sp>
      <p:sp>
        <p:nvSpPr>
          <p:cNvPr id="6" name="Text 4"/>
          <p:cNvSpPr txBox="1"/>
          <p:nvPr/>
        </p:nvSpPr>
        <p:spPr>
          <a:xfrm>
            <a:off x="457200" y="2644140"/>
            <a:ext cx="8229600" cy="6705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We say a game is very popular if it has more than 10,000 recommendations. A row has to pass both conditions, so we join them with </a:t>
            </a:r>
            <a:r>
              <a:rPr lang="en-US" sz="1300" dirty="0">
                <a:solidFill>
                  <a:srgbClr val="B86E1E"/>
                </a:solidFill>
                <a:latin typeface="Courier New" pitchFamily="34" charset="0"/>
                <a:ea typeface="Courier New" pitchFamily="34" charset="-122"/>
                <a:cs typeface="Courier New" pitchFamily="34" charset="-120"/>
              </a:rPr>
              <a:t>&amp;</a:t>
            </a:r>
            <a:r>
              <a:rPr lang="en-US" sz="1500" dirty="0">
                <a:solidFill>
                  <a:srgbClr val="2B1D19"/>
                </a:solidFill>
              </a:rPr>
              <a:t>.</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The truth value of an Expr is ambiguous</a:t>
            </a:r>
            <a:endParaRPr lang="en-US" sz="2800" dirty="0"/>
          </a:p>
        </p:txBody>
      </p:sp>
      <p:pic>
        <p:nvPicPr>
          <p:cNvPr id="3" name="Image 0" descr="marimo showing a TypeError under the popular_paid cell, with line 2 highlighted">    </p:cNvPr>
          <p:cNvPicPr>
            <a:picLocks noChangeAspect="1"/>
          </p:cNvPicPr>
          <p:nvPr/>
        </p:nvPicPr>
        <p:blipFill>
          <a:blip r:embed="rId1"/>
          <a:stretch>
            <a:fillRect/>
          </a:stretch>
        </p:blipFill>
        <p:spPr>
          <a:xfrm>
            <a:off x="457200" y="1415120"/>
            <a:ext cx="5394960" cy="2701880"/>
          </a:xfrm>
          <a:prstGeom prst="rect">
            <a:avLst/>
          </a:prstGeom>
        </p:spPr>
      </p:pic>
      <p:sp>
        <p:nvSpPr>
          <p:cNvPr id="4" name="warning box"/>
          <p:cNvSpPr/>
          <p:nvPr/>
        </p:nvSpPr>
        <p:spPr>
          <a:xfrm>
            <a:off x="6035040" y="1051560"/>
            <a:ext cx="2651760" cy="3429000"/>
          </a:xfrm>
          <a:prstGeom prst="roundRect">
            <a:avLst>
              <a:gd name="adj" fmla="val 2759"/>
            </a:avLst>
          </a:prstGeom>
          <a:solidFill>
            <a:srgbClr val="FDE4EF"/>
          </a:solidFill>
          <a:ln w="12700">
            <a:solidFill>
              <a:srgbClr val="FDE4EF"/>
            </a:solidFill>
            <a:prstDash val="solid"/>
          </a:ln>
        </p:spPr>
      </p:sp>
      <p:sp>
        <p:nvSpPr>
          <p:cNvPr id="5" name="Text 2"/>
          <p:cNvSpPr txBox="1"/>
          <p:nvPr/>
        </p:nvSpPr>
        <p:spPr>
          <a:xfrm>
            <a:off x="6263640" y="1188720"/>
            <a:ext cx="2194560" cy="365760"/>
          </a:xfrm>
          <a:prstGeom prst="rect">
            <a:avLst/>
          </a:prstGeom>
          <a:noFill/>
          <a:ln/>
        </p:spPr>
        <p:txBody>
          <a:bodyPr wrap="square" lIns="0" tIns="0" rIns="0" bIns="0" rtlCol="0" anchor="ctr"/>
          <a:lstStyle/>
          <a:p>
            <a:pPr indent="0" marL="0">
              <a:buNone/>
            </a:pPr>
            <a:r>
              <a:rPr lang="en-US" sz="1600" b="1" dirty="0">
                <a:solidFill>
                  <a:srgbClr val="B0185E"/>
                </a:solidFill>
              </a:rPr>
              <a:t>Reading the error</a:t>
            </a:r>
            <a:endParaRPr lang="en-US" sz="1600" dirty="0"/>
          </a:p>
        </p:txBody>
      </p:sp>
      <p:sp>
        <p:nvSpPr>
          <p:cNvPr id="6" name="Text 3"/>
          <p:cNvSpPr txBox="1"/>
          <p:nvPr/>
        </p:nvSpPr>
        <p:spPr>
          <a:xfrm>
            <a:off x="6263640" y="1600200"/>
            <a:ext cx="2194560" cy="274320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300" dirty="0">
                <a:solidFill>
                  <a:srgbClr val="2B1D19"/>
                </a:solidFill>
              </a:rPr>
              <a:t>​</a:t>
            </a:r>
            <a:r>
              <a:rPr lang="en-US" sz="1300" b="1" dirty="0">
                <a:solidFill>
                  <a:srgbClr val="2B1D19"/>
                </a:solidFill>
              </a:rPr>
              <a:t>TypeError</a:t>
            </a:r>
            <a:r>
              <a:rPr lang="en-US" sz="1300" dirty="0">
                <a:solidFill>
                  <a:srgbClr val="2B1D19"/>
                </a:solidFill>
              </a:rPr>
              <a:t> → Python tried to treat an expression as a single </a:t>
            </a:r>
            <a:r>
              <a:rPr lang="en-US" sz="1100" dirty="0">
                <a:solidFill>
                  <a:srgbClr val="B86E1E"/>
                </a:solidFill>
                <a:latin typeface="Courier New" pitchFamily="34" charset="0"/>
                <a:ea typeface="Courier New" pitchFamily="34" charset="-122"/>
                <a:cs typeface="Courier New" pitchFamily="34" charset="-120"/>
              </a:rPr>
              <a:t>True</a:t>
            </a:r>
            <a:r>
              <a:rPr lang="en-US" sz="1300" dirty="0">
                <a:solidFill>
                  <a:srgbClr val="2B1D19"/>
                </a:solidFill>
              </a:rPr>
              <a:t> or </a:t>
            </a:r>
            <a:r>
              <a:rPr lang="en-US" sz="1100" dirty="0">
                <a:solidFill>
                  <a:srgbClr val="B86E1E"/>
                </a:solidFill>
                <a:latin typeface="Courier New" pitchFamily="34" charset="0"/>
                <a:ea typeface="Courier New" pitchFamily="34" charset="-122"/>
                <a:cs typeface="Courier New" pitchFamily="34" charset="-120"/>
              </a:rPr>
              <a:t>False</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the truth value of an Expr is ambiguous</a:t>
            </a:r>
            <a:r>
              <a:rPr lang="en-US" sz="1300" dirty="0">
                <a:solidFill>
                  <a:srgbClr val="2B1D19"/>
                </a:solidFill>
              </a:rPr>
              <a:t> → Python couldn't decide if it was </a:t>
            </a:r>
            <a:r>
              <a:rPr lang="en-US" sz="1100" dirty="0">
                <a:solidFill>
                  <a:srgbClr val="B86E1E"/>
                </a:solidFill>
                <a:latin typeface="Courier New" pitchFamily="34" charset="0"/>
                <a:ea typeface="Courier New" pitchFamily="34" charset="-122"/>
                <a:cs typeface="Courier New" pitchFamily="34" charset="-120"/>
              </a:rPr>
              <a:t>True</a:t>
            </a:r>
            <a:r>
              <a:rPr lang="en-US" sz="1300" dirty="0">
                <a:solidFill>
                  <a:srgbClr val="2B1D19"/>
                </a:solidFill>
              </a:rPr>
              <a:t> or </a:t>
            </a:r>
            <a:r>
              <a:rPr lang="en-US" sz="1100" dirty="0">
                <a:solidFill>
                  <a:srgbClr val="B86E1E"/>
                </a:solidFill>
                <a:latin typeface="Courier New" pitchFamily="34" charset="0"/>
                <a:ea typeface="Courier New" pitchFamily="34" charset="-122"/>
                <a:cs typeface="Courier New" pitchFamily="34" charset="-120"/>
              </a:rPr>
              <a:t>False</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the highlighted line</a:t>
            </a:r>
            <a:r>
              <a:rPr lang="en-US" sz="1300" dirty="0">
                <a:solidFill>
                  <a:srgbClr val="2B1D19"/>
                </a:solidFill>
              </a:rPr>
              <a:t> → line 2 of our cell caused the error</a:t>
            </a:r>
            <a:endParaRPr lang="en-US" sz="1300" dirty="0"/>
          </a:p>
          <a:p>
            <a:pPr marL="342900" indent="-342900">
              <a:spcAft>
                <a:spcPts val="600"/>
              </a:spcAft>
              <a:buSzPct val="100000"/>
              <a:buChar char="•"/>
            </a:pPr>
            <a:r>
              <a:rPr lang="en-US" sz="1300" dirty="0">
                <a:solidFill>
                  <a:srgbClr val="2B1D19"/>
                </a:solidFill>
              </a:rPr>
              <a:t>​</a:t>
            </a:r>
            <a:r>
              <a:rPr lang="en-US" sz="1300" b="1" dirty="0">
                <a:solidFill>
                  <a:srgbClr val="2B1D19"/>
                </a:solidFill>
              </a:rPr>
              <a:t>the suggestions</a:t>
            </a:r>
            <a:r>
              <a:rPr lang="en-US" sz="1300" dirty="0">
                <a:solidFill>
                  <a:srgbClr val="2B1D19"/>
                </a:solidFill>
              </a:rPr>
              <a:t> → common causes, such as </a:t>
            </a:r>
            <a:r>
              <a:rPr lang="en-US" sz="1100" dirty="0">
                <a:solidFill>
                  <a:srgbClr val="B86E1E"/>
                </a:solidFill>
                <a:latin typeface="Courier New" pitchFamily="34" charset="0"/>
                <a:ea typeface="Courier New" pitchFamily="34" charset="-122"/>
                <a:cs typeface="Courier New" pitchFamily="34" charset="-120"/>
              </a:rPr>
              <a:t>and</a:t>
            </a:r>
            <a:r>
              <a:rPr lang="en-US" sz="1300" dirty="0">
                <a:solidFill>
                  <a:srgbClr val="2B1D19"/>
                </a:solidFill>
              </a:rPr>
              <a:t> instead of </a:t>
            </a:r>
            <a:r>
              <a:rPr lang="en-US" sz="1100" dirty="0">
                <a:solidFill>
                  <a:srgbClr val="B86E1E"/>
                </a:solidFill>
                <a:latin typeface="Courier New" pitchFamily="34" charset="0"/>
                <a:ea typeface="Courier New" pitchFamily="34" charset="-122"/>
                <a:cs typeface="Courier New" pitchFamily="34" charset="-120"/>
              </a:rPr>
              <a:t>&amp;</a:t>
            </a:r>
            <a:r>
              <a:rPr lang="en-US" sz="1300" dirty="0">
                <a:solidFill>
                  <a:srgbClr val="2B1D19"/>
                </a:solidFill>
              </a:rPr>
              <a:t>. We already use </a:t>
            </a:r>
            <a:r>
              <a:rPr lang="en-US" sz="1100" dirty="0">
                <a:solidFill>
                  <a:srgbClr val="B86E1E"/>
                </a:solidFill>
                <a:latin typeface="Courier New" pitchFamily="34" charset="0"/>
                <a:ea typeface="Courier New" pitchFamily="34" charset="-122"/>
                <a:cs typeface="Courier New" pitchFamily="34" charset="-120"/>
              </a:rPr>
              <a:t>&amp;</a:t>
            </a:r>
            <a:r>
              <a:rPr lang="en-US" sz="1300" dirty="0">
                <a:solidFill>
                  <a:srgbClr val="2B1D19"/>
                </a:solidFill>
              </a:rPr>
              <a:t>, so it's something else</a:t>
            </a:r>
            <a:endParaRPr lang="en-US" sz="13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Why it fails: the order Python works things out</a:t>
            </a:r>
            <a:endParaRPr lang="en-US" sz="2800" dirty="0"/>
          </a:p>
        </p:txBody>
      </p:sp>
      <p:sp>
        <p:nvSpPr>
          <p:cNvPr id="3" name="Text 1"/>
          <p:cNvSpPr txBox="1"/>
          <p:nvPr/>
        </p:nvSpPr>
        <p:spPr>
          <a:xfrm>
            <a:off x="457200" y="1097280"/>
            <a:ext cx="8229600" cy="3383280"/>
          </a:xfrm>
          <a:prstGeom prst="rect">
            <a:avLst/>
          </a:prstGeom>
          <a:noFill/>
          <a:ln/>
        </p:spPr>
        <p:txBody>
          <a:bodyPr wrap="square" lIns="0" tIns="0" rIns="0" bIns="0" rtlCol="0" anchor="t">
            <a:normAutofit/>
          </a:bodyPr>
          <a:lstStyle/>
          <a:p>
            <a:pPr marL="342900" indent="-342900">
              <a:spcAft>
                <a:spcPts val="800"/>
              </a:spcAft>
              <a:buSzPct val="100000"/>
              <a:buChar char="•"/>
            </a:pPr>
            <a:r>
              <a:rPr lang="en-US" sz="1700" dirty="0">
                <a:solidFill>
                  <a:srgbClr val="2B1D19"/>
                </a:solidFill>
              </a:rPr>
              <a:t>​</a:t>
            </a:r>
            <a:r>
              <a:rPr lang="en-US" sz="1700" dirty="0">
                <a:solidFill>
                  <a:srgbClr val="2B1D19"/>
                </a:solidFill>
              </a:rPr>
              <a:t>Python does </a:t>
            </a:r>
            <a:r>
              <a:rPr lang="en-US" sz="1500" dirty="0">
                <a:solidFill>
                  <a:srgbClr val="B86E1E"/>
                </a:solidFill>
                <a:latin typeface="Courier New" pitchFamily="34" charset="0"/>
                <a:ea typeface="Courier New" pitchFamily="34" charset="-122"/>
                <a:cs typeface="Courier New" pitchFamily="34" charset="-120"/>
              </a:rPr>
              <a:t>&amp;</a:t>
            </a:r>
            <a:r>
              <a:rPr lang="en-US" sz="1700" dirty="0">
                <a:solidFill>
                  <a:srgbClr val="2B1D19"/>
                </a:solidFill>
              </a:rPr>
              <a:t> </a:t>
            </a:r>
            <a:r>
              <a:rPr lang="en-US" sz="1700" b="1" dirty="0">
                <a:solidFill>
                  <a:srgbClr val="2B1D19"/>
                </a:solidFill>
              </a:rPr>
              <a:t>before</a:t>
            </a:r>
            <a:r>
              <a:rPr lang="en-US" sz="1700" dirty="0">
                <a:solidFill>
                  <a:srgbClr val="2B1D19"/>
                </a:solidFill>
              </a:rPr>
              <a:t> </a:t>
            </a:r>
            <a:r>
              <a:rPr lang="en-US" sz="1500" dirty="0">
                <a:solidFill>
                  <a:srgbClr val="B86E1E"/>
                </a:solidFill>
                <a:latin typeface="Courier New" pitchFamily="34" charset="0"/>
                <a:ea typeface="Courier New" pitchFamily="34" charset="-122"/>
                <a:cs typeface="Courier New" pitchFamily="34" charset="-120"/>
              </a:rPr>
              <a:t>&gt;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so it tried to work out </a:t>
            </a:r>
            <a:r>
              <a:rPr lang="en-US" sz="1500" dirty="0">
                <a:solidFill>
                  <a:srgbClr val="B86E1E"/>
                </a:solidFill>
                <a:latin typeface="Courier New" pitchFamily="34" charset="0"/>
                <a:ea typeface="Courier New" pitchFamily="34" charset="-122"/>
                <a:cs typeface="Courier New" pitchFamily="34" charset="-120"/>
              </a:rPr>
              <a:t>0 &amp; pl.col("Recommendations")</a:t>
            </a:r>
            <a:r>
              <a:rPr lang="en-US" sz="1700" dirty="0">
                <a:solidFill>
                  <a:srgbClr val="2B1D19"/>
                </a:solidFill>
              </a:rPr>
              <a:t> first</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which makes no sense</a:t>
            </a:r>
            <a:endParaRPr lang="en-US" sz="1700" dirty="0"/>
          </a:p>
          <a:p>
            <a:pPr marL="342900" indent="-342900">
              <a:spcAft>
                <a:spcPts val="800"/>
              </a:spcAft>
              <a:buSzPct val="100000"/>
              <a:buChar char="•"/>
            </a:pPr>
            <a:r>
              <a:rPr lang="en-US" sz="1700" dirty="0">
                <a:solidFill>
                  <a:srgbClr val="2B1D19"/>
                </a:solidFill>
              </a:rPr>
              <a:t>​</a:t>
            </a:r>
            <a:r>
              <a:rPr lang="en-US" sz="1700" dirty="0">
                <a:solidFill>
                  <a:srgbClr val="2B1D19"/>
                </a:solidFill>
              </a:rPr>
              <a:t>fix: put each condition in its </a:t>
            </a:r>
            <a:r>
              <a:rPr lang="en-US" sz="1700" b="1" dirty="0">
                <a:solidFill>
                  <a:srgbClr val="2B1D19"/>
                </a:solidFill>
              </a:rPr>
              <a:t>own brackets</a:t>
            </a:r>
            <a:r>
              <a:rPr lang="en-US" sz="1700" dirty="0">
                <a:solidFill>
                  <a:srgbClr val="2B1D19"/>
                </a:solidFill>
              </a:rPr>
              <a:t>, so each comparison happens first</a:t>
            </a:r>
            <a:endParaRPr lang="en-US" sz="17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Put each condition in its own brackets</a:t>
            </a:r>
            <a:endParaRPr lang="en-US" sz="2800" dirty="0"/>
          </a:p>
        </p:txBody>
      </p:sp>
      <p:sp>
        <p:nvSpPr>
          <p:cNvPr id="3" name="Code panel"/>
          <p:cNvSpPr/>
          <p:nvPr/>
        </p:nvSpPr>
        <p:spPr>
          <a:xfrm>
            <a:off x="457200" y="1051560"/>
            <a:ext cx="8229600" cy="1501140"/>
          </a:xfrm>
          <a:prstGeom prst="roundRect">
            <a:avLst>
              <a:gd name="adj" fmla="val 3655"/>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change existing cell</a:t>
            </a:r>
            <a:endParaRPr lang="en-US" sz="1200" dirty="0"/>
          </a:p>
        </p:txBody>
      </p:sp>
      <p:sp>
        <p:nvSpPr>
          <p:cNvPr id="5" name="Highlight"/>
          <p:cNvSpPr/>
          <p:nvPr/>
        </p:nvSpPr>
        <p:spPr>
          <a:xfrm>
            <a:off x="530352" y="1731010"/>
            <a:ext cx="8083296" cy="222250"/>
          </a:xfrm>
          <a:prstGeom prst="rect">
            <a:avLst/>
          </a:prstGeom>
          <a:solidFill>
            <a:srgbClr val="5A3A1E"/>
          </a:solidFill>
          <a:ln w="12700">
            <a:solidFill>
              <a:srgbClr val="5A3A1E"/>
            </a:solidFill>
            <a:prstDash val="solid"/>
          </a:ln>
        </p:spPr>
      </p:sp>
      <p:sp>
        <p:nvSpPr>
          <p:cNvPr id="6" name="Code"/>
          <p:cNvSpPr txBox="1"/>
          <p:nvPr/>
        </p:nvSpPr>
        <p:spPr>
          <a:xfrm>
            <a:off x="594360" y="1508760"/>
            <a:ext cx="7955280" cy="9347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popular_paid = selected.filter(</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    (pl.col("Price") &gt; 0) &amp; (pl.col("Recommendations") &gt; 10000)</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3  </a:t>
            </a:r>
            <a:r>
              <a:rPr lang="en-US" sz="1400" dirty="0">
                <a:solidFill>
                  <a:srgbClr val="F7EFE6"/>
                </a:solidFill>
                <a:latin typeface="Courier New" pitchFamily="34" charset="0"/>
                <a:ea typeface="Courier New" pitchFamily="34" charset="-122"/>
                <a:cs typeface="Courier New" pitchFamily="34" charset="-120"/>
              </a:rPr>
              <a:t>)</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4  </a:t>
            </a:r>
            <a:r>
              <a:rPr lang="en-US" sz="1400" dirty="0">
                <a:solidFill>
                  <a:srgbClr val="F7EFE6"/>
                </a:solidFill>
                <a:latin typeface="Courier New" pitchFamily="34" charset="0"/>
                <a:ea typeface="Courier New" pitchFamily="34" charset="-122"/>
                <a:cs typeface="Courier New" pitchFamily="34" charset="-120"/>
              </a:rPr>
              <a:t>popular_paid.height</a:t>
            </a:r>
            <a:endParaRPr lang="en-US" sz="1400" dirty="0"/>
          </a:p>
        </p:txBody>
      </p:sp>
      <p:sp>
        <p:nvSpPr>
          <p:cNvPr id="7" name="Text 5"/>
          <p:cNvSpPr txBox="1"/>
          <p:nvPr/>
        </p:nvSpPr>
        <p:spPr>
          <a:xfrm>
            <a:off x="457200" y="2644140"/>
            <a:ext cx="8229600" cy="384048"/>
          </a:xfrm>
          <a:prstGeom prst="rect">
            <a:avLst/>
          </a:prstGeom>
          <a:noFill/>
          <a:ln/>
        </p:spPr>
        <p:txBody>
          <a:bodyPr wrap="square" lIns="0" tIns="0" rIns="0" bIns="0" rtlCol="0" anchor="ctr">
            <a:normAutofit/>
          </a:bodyPr>
          <a:lstStyle/>
          <a:p>
            <a:pPr indent="0" marL="0">
              <a:spcAft>
                <a:spcPts val="800"/>
              </a:spcAft>
              <a:buNone/>
            </a:pPr>
            <a:r>
              <a:rPr lang="en-US" sz="1500" dirty="0">
                <a:solidFill>
                  <a:srgbClr val="2B1D19"/>
                </a:solidFill>
              </a:rPr>
              <a:t>​</a:t>
            </a:r>
            <a:r>
              <a:rPr lang="en-US" sz="1500" dirty="0">
                <a:solidFill>
                  <a:srgbClr val="2B1D19"/>
                </a:solidFill>
              </a:rPr>
              <a:t>The output is </a:t>
            </a:r>
            <a:r>
              <a:rPr lang="en-US" sz="1500" b="1" dirty="0">
                <a:solidFill>
                  <a:srgbClr val="2B1D19"/>
                </a:solidFill>
              </a:rPr>
              <a:t>1315</a:t>
            </a:r>
            <a:r>
              <a:rPr lang="en-US" sz="1500" dirty="0">
                <a:solidFill>
                  <a:srgbClr val="2B1D19"/>
                </a:solidFill>
              </a:rPr>
              <a:t>: only 1,315 paid games have more than 10,000 recommendations.</a:t>
            </a:r>
            <a:endParaRPr lang="en-US" sz="1500" dirty="0"/>
          </a:p>
        </p:txBody>
      </p:sp>
      <p:sp>
        <p:nvSpPr>
          <p:cNvPr id="8" name="Text 6"/>
          <p:cNvSpPr txBox="1"/>
          <p:nvPr/>
        </p:nvSpPr>
        <p:spPr>
          <a:xfrm>
            <a:off x="457200" y="3101340"/>
            <a:ext cx="8229600" cy="746760"/>
          </a:xfrm>
          <a:prstGeom prst="rect">
            <a:avLst/>
          </a:prstGeom>
          <a:noFill/>
          <a:ln/>
        </p:spPr>
        <p:txBody>
          <a:bodyPr wrap="square" lIns="0" tIns="0" rIns="0" bIns="0" rtlCol="0" anchor="t">
            <a:normAutofit/>
          </a:bodyPr>
          <a:lstStyle/>
          <a:p>
            <a:pPr marL="342900" indent="-342900">
              <a:spcAft>
                <a:spcPts val="600"/>
              </a:spcAft>
              <a:buSzPct val="100000"/>
              <a:buChar char="•"/>
            </a:pPr>
            <a:r>
              <a:rPr lang="en-US" sz="1500" dirty="0">
                <a:solidFill>
                  <a:srgbClr val="2B1D19"/>
                </a:solidFill>
              </a:rPr>
              <a:t>​</a:t>
            </a:r>
            <a:r>
              <a:rPr lang="en-US" sz="1500" b="1" dirty="0">
                <a:solidFill>
                  <a:srgbClr val="2B1D19"/>
                </a:solidFill>
              </a:rPr>
              <a:t>line 2</a:t>
            </a:r>
            <a:r>
              <a:rPr lang="en-US" sz="1500" dirty="0">
                <a:solidFill>
                  <a:srgbClr val="2B1D19"/>
                </a:solidFill>
              </a:rPr>
              <a:t> → each condition in its own brackets, joined with </a:t>
            </a:r>
            <a:r>
              <a:rPr lang="en-US" sz="1300" dirty="0">
                <a:solidFill>
                  <a:srgbClr val="B86E1E"/>
                </a:solidFill>
                <a:latin typeface="Courier New" pitchFamily="34" charset="0"/>
                <a:ea typeface="Courier New" pitchFamily="34" charset="-122"/>
                <a:cs typeface="Courier New" pitchFamily="34" charset="-120"/>
              </a:rPr>
              <a:t>&amp;</a:t>
            </a:r>
            <a:endParaRPr lang="en-US" sz="1500" dirty="0"/>
          </a:p>
          <a:p>
            <a:pPr marL="342900" indent="-342900">
              <a:spcAft>
                <a:spcPts val="600"/>
              </a:spcAft>
              <a:buSzPct val="100000"/>
              <a:buChar char="•"/>
            </a:pPr>
            <a:r>
              <a:rPr lang="en-US" sz="1500" dirty="0">
                <a:solidFill>
                  <a:srgbClr val="2B1D19"/>
                </a:solidFill>
              </a:rPr>
              <a:t>​</a:t>
            </a:r>
            <a:r>
              <a:rPr lang="en-US" sz="1500" dirty="0">
                <a:solidFill>
                  <a:srgbClr val="2B1D19"/>
                </a:solidFill>
              </a:rPr>
              <a:t>a row is kept only if </a:t>
            </a:r>
            <a:r>
              <a:rPr lang="en-US" sz="1500" b="1" dirty="0">
                <a:solidFill>
                  <a:srgbClr val="2B1D19"/>
                </a:solidFill>
              </a:rPr>
              <a:t>both</a:t>
            </a:r>
            <a:r>
              <a:rPr lang="en-US" sz="1500" dirty="0">
                <a:solidFill>
                  <a:srgbClr val="2B1D19"/>
                </a:solidFill>
              </a:rPr>
              <a:t> conditions are </a:t>
            </a:r>
            <a:r>
              <a:rPr lang="en-US" sz="1300" dirty="0">
                <a:solidFill>
                  <a:srgbClr val="B86E1E"/>
                </a:solidFill>
                <a:latin typeface="Courier New" pitchFamily="34" charset="0"/>
                <a:ea typeface="Courier New" pitchFamily="34" charset="-122"/>
                <a:cs typeface="Courier New" pitchFamily="34" charset="-120"/>
              </a:rPr>
              <a:t>True</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Three ways to combine conditions</a:t>
            </a:r>
            <a:endParaRPr lang="en-US" sz="28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914400"/>
        </p:xfrm>
        <a:graphic>
          <a:graphicData uri="http://schemas.openxmlformats.org/drawingml/2006/table">
            <a:tbl>
              <a:tblPr/>
              <a:tblGrid>
                <a:gridCol w="1645920"/>
                <a:gridCol w="1645920"/>
                <a:gridCol w="4937760"/>
              </a:tblGrid>
              <a:tr h="0">
                <a:tc>
                  <a:txBody>
                    <a:bodyPr/>
                    <a:lstStyle/>
                    <a:p>
                      <a:pPr indent="0" marL="0">
                        <a:buNone/>
                      </a:pPr>
                      <a:r>
                        <a:rPr lang="en-US" sz="1400" b="1" dirty="0">
                          <a:solidFill>
                            <a:srgbClr val="FFFFFF"/>
                          </a:solidFill>
                        </a:rPr>
                        <a:t>Operator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Meaning</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c>
                  <a:txBody>
                    <a:bodyPr/>
                    <a:lstStyle/>
                    <a:p>
                      <a:pPr indent="0" marL="0">
                        <a:buNone/>
                      </a:pPr>
                      <a:r>
                        <a:rPr lang="en-US" sz="1400" b="1" dirty="0">
                          <a:solidFill>
                            <a:srgbClr val="FFFFFF"/>
                          </a:solidFill>
                        </a:rPr>
                        <a:t>A row is kept when</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4E342E"/>
                    </a:solidFill>
                  </a:tcPr>
                </a:tc>
              </a:tr>
              <a:tr h="0">
                <a:tc>
                  <a:txBody>
                    <a:bodyPr/>
                    <a:lstStyle/>
                    <a:p>
                      <a:pPr indent="0" marL="0">
                        <a:buNone/>
                      </a:pPr>
                      <a:r>
                        <a:rPr lang="en-US" sz="1400" dirty="0">
                          <a:solidFill>
                            <a:srgbClr val="2B1D19"/>
                          </a:solidFill>
                        </a:rPr>
                        <a:t>​</a:t>
                      </a:r>
                      <a:r>
                        <a:rPr lang="en-US" sz="1400" dirty="0">
                          <a:solidFill>
                            <a:srgbClr val="2B1D19"/>
                          </a:solidFill>
                        </a:rPr>
                        <a:t>&amp;</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and</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both conditions are True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r h="0">
                <a:tc>
                  <a:txBody>
                    <a:bodyPr/>
                    <a:lstStyle/>
                    <a:p>
                      <a:pPr indent="0" marL="0">
                        <a:buNone/>
                      </a:pPr>
                      <a:r>
                        <a:rPr lang="en-US" sz="1400" dirty="0">
                          <a:solidFill>
                            <a:srgbClr val="2B1D19"/>
                          </a:solidFill>
                        </a:rPr>
                        <a:t>​</a:t>
                      </a:r>
                      <a:r>
                        <a:rPr lang="en-US" sz="1400" dirty="0">
                          <a:solidFill>
                            <a:srgbClr val="2B1D19"/>
                          </a:solidFill>
                        </a:rPr>
                        <a: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or</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c>
                  <a:txBody>
                    <a:bodyPr/>
                    <a:lstStyle/>
                    <a:p>
                      <a:pPr indent="0" marL="0">
                        <a:buNone/>
                      </a:pPr>
                      <a:r>
                        <a:rPr lang="en-US" sz="1400" dirty="0">
                          <a:solidFill>
                            <a:srgbClr val="2B1D19"/>
                          </a:solidFill>
                        </a:rPr>
                        <a:t>​</a:t>
                      </a:r>
                      <a:r>
                        <a:rPr lang="en-US" sz="1400" dirty="0">
                          <a:solidFill>
                            <a:srgbClr val="2B1D19"/>
                          </a:solidFill>
                        </a:rPr>
                        <a:t>at least one condition is True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BF7F2"/>
                    </a:solidFill>
                  </a:tcPr>
                </a:tc>
              </a:tr>
              <a:tr h="0">
                <a:tc>
                  <a:txBody>
                    <a:bodyPr/>
                    <a:lstStyle/>
                    <a:p>
                      <a:pPr indent="0" marL="0">
                        <a:buNone/>
                      </a:pPr>
                      <a:r>
                        <a:rPr lang="en-US" sz="1400" dirty="0">
                          <a:solidFill>
                            <a:srgbClr val="2B1D19"/>
                          </a:solidFill>
                        </a:rPr>
                        <a:t>​</a:t>
                      </a:r>
                      <a:r>
                        <a:rPr lang="en-US" sz="1400" dirty="0">
                          <a:solidFill>
                            <a:srgbClr val="2B1D19"/>
                          </a:solidFill>
                        </a:rPr>
                        <a: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not</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c>
                  <a:txBody>
                    <a:bodyPr/>
                    <a:lstStyle/>
                    <a:p>
                      <a:pPr indent="0" marL="0">
                        <a:buNone/>
                      </a:pPr>
                      <a:r>
                        <a:rPr lang="en-US" sz="1400" dirty="0">
                          <a:solidFill>
                            <a:srgbClr val="2B1D19"/>
                          </a:solidFill>
                        </a:rPr>
                        <a:t>​</a:t>
                      </a:r>
                      <a:r>
                        <a:rPr lang="en-US" sz="1400" dirty="0">
                          <a:solidFill>
                            <a:srgbClr val="2B1D19"/>
                          </a:solidFill>
                        </a:rPr>
                        <a:t>the condition is False</a:t>
                      </a:r>
                      <a:endParaRPr lang="en-US" sz="1400" dirty="0"/>
                    </a:p>
                  </a:txBody>
                  <a:tcPr marL="54864" marR="54864" marT="54864" marB="54864">
                    <a:lnL w="6350" cap="flat" cmpd="sng" algn="ctr">
                      <a:solidFill>
                        <a:srgbClr val="D8CFC7"/>
                      </a:solidFill>
                      <a:prstDash val="solid"/>
                      <a:round/>
                      <a:headEnd type="none" w="med" len="med"/>
                      <a:tailEnd type="none" w="med" len="med"/>
                    </a:lnL>
                    <a:lnR w="6350" cap="flat" cmpd="sng" algn="ctr">
                      <a:solidFill>
                        <a:srgbClr val="D8CFC7"/>
                      </a:solidFill>
                      <a:prstDash val="solid"/>
                      <a:round/>
                      <a:headEnd type="none" w="med" len="med"/>
                      <a:tailEnd type="none" w="med" len="med"/>
                    </a:lnR>
                    <a:lnT w="6350" cap="flat" cmpd="sng" algn="ctr">
                      <a:solidFill>
                        <a:srgbClr val="D8CFC7"/>
                      </a:solidFill>
                      <a:prstDash val="solid"/>
                      <a:round/>
                      <a:headEnd type="none" w="med" len="med"/>
                      <a:tailEnd type="none" w="med" len="med"/>
                    </a:lnT>
                    <a:lnB w="6350" cap="flat" cmpd="sng" algn="ctr">
                      <a:solidFill>
                        <a:srgbClr val="D8CFC7"/>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Use &amp; and |, not and and or</a:t>
            </a:r>
            <a:endParaRPr lang="en-US" sz="2800" dirty="0"/>
          </a:p>
        </p:txBody>
      </p:sp>
      <p:sp>
        <p:nvSpPr>
          <p:cNvPr id="3" name="warning box"/>
          <p:cNvSpPr/>
          <p:nvPr/>
        </p:nvSpPr>
        <p:spPr>
          <a:xfrm>
            <a:off x="457200" y="1051560"/>
            <a:ext cx="8229600" cy="1910080"/>
          </a:xfrm>
          <a:prstGeom prst="roundRect">
            <a:avLst>
              <a:gd name="adj" fmla="val 3830"/>
            </a:avLst>
          </a:prstGeom>
          <a:solidFill>
            <a:srgbClr val="FDE4EF"/>
          </a:solidFill>
          <a:ln w="12700">
            <a:solidFill>
              <a:srgbClr val="FDE4EF"/>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B0185E"/>
                </a:solidFill>
              </a:rPr>
              <a:t>Watch out</a:t>
            </a:r>
            <a:endParaRPr lang="en-US" sz="1600" dirty="0"/>
          </a:p>
        </p:txBody>
      </p:sp>
      <p:sp>
        <p:nvSpPr>
          <p:cNvPr id="5" name="Text 3"/>
          <p:cNvSpPr txBox="1"/>
          <p:nvPr/>
        </p:nvSpPr>
        <p:spPr>
          <a:xfrm>
            <a:off x="685800" y="1600200"/>
            <a:ext cx="7772400" cy="1224280"/>
          </a:xfrm>
          <a:prstGeom prst="rect">
            <a:avLst/>
          </a:prstGeom>
          <a:noFill/>
          <a:ln/>
        </p:spPr>
        <p:txBody>
          <a:bodyPr wrap="square" lIns="0" tIns="0" rIns="0" bIns="0" rtlCol="0" anchor="t">
            <a:normAutofit/>
          </a:bodyPr>
          <a:lstStyle/>
          <a:p>
            <a:pPr indent="0" marL="0">
              <a:spcAft>
                <a:spcPts val="800"/>
              </a:spcAft>
              <a:buNone/>
            </a:pPr>
            <a:r>
              <a:rPr lang="en-US" sz="2000" dirty="0">
                <a:solidFill>
                  <a:srgbClr val="2B1D19"/>
                </a:solidFill>
              </a:rPr>
              <a:t>​</a:t>
            </a:r>
            <a:r>
              <a:rPr lang="en-US" sz="2000" dirty="0">
                <a:solidFill>
                  <a:srgbClr val="2B1D19"/>
                </a:solidFill>
              </a:rPr>
              <a:t>In normal Python we write </a:t>
            </a:r>
            <a:r>
              <a:rPr lang="en-US" sz="1800" dirty="0">
                <a:solidFill>
                  <a:srgbClr val="B86E1E"/>
                </a:solidFill>
                <a:latin typeface="Courier New" pitchFamily="34" charset="0"/>
                <a:ea typeface="Courier New" pitchFamily="34" charset="-122"/>
                <a:cs typeface="Courier New" pitchFamily="34" charset="-120"/>
              </a:rPr>
              <a:t>and</a:t>
            </a:r>
            <a:r>
              <a:rPr lang="en-US" sz="2000" dirty="0">
                <a:solidFill>
                  <a:srgbClr val="2B1D19"/>
                </a:solidFill>
              </a:rPr>
              <a:t> and </a:t>
            </a:r>
            <a:r>
              <a:rPr lang="en-US" sz="1800" dirty="0">
                <a:solidFill>
                  <a:srgbClr val="B86E1E"/>
                </a:solidFill>
                <a:latin typeface="Courier New" pitchFamily="34" charset="0"/>
                <a:ea typeface="Courier New" pitchFamily="34" charset="-122"/>
                <a:cs typeface="Courier New" pitchFamily="34" charset="-120"/>
              </a:rPr>
              <a:t>or</a:t>
            </a:r>
            <a:r>
              <a:rPr lang="en-US" sz="2000" dirty="0">
                <a:solidFill>
                  <a:srgbClr val="2B1D19"/>
                </a:solidFill>
              </a:rPr>
              <a:t>. Polars expressions need </a:t>
            </a:r>
            <a:r>
              <a:rPr lang="en-US" sz="1800" dirty="0">
                <a:solidFill>
                  <a:srgbClr val="B86E1E"/>
                </a:solidFill>
                <a:latin typeface="Courier New" pitchFamily="34" charset="0"/>
                <a:ea typeface="Courier New" pitchFamily="34" charset="-122"/>
                <a:cs typeface="Courier New" pitchFamily="34" charset="-120"/>
              </a:rPr>
              <a:t>&amp;</a:t>
            </a:r>
            <a:r>
              <a:rPr lang="en-US" sz="2000" dirty="0">
                <a:solidFill>
                  <a:srgbClr val="2B1D19"/>
                </a:solidFill>
              </a:rPr>
              <a:t> and </a:t>
            </a:r>
            <a:r>
              <a:rPr lang="en-US" sz="1800" dirty="0">
                <a:solidFill>
                  <a:srgbClr val="B86E1E"/>
                </a:solidFill>
                <a:latin typeface="Courier New" pitchFamily="34" charset="0"/>
                <a:ea typeface="Courier New" pitchFamily="34" charset="-122"/>
                <a:cs typeface="Courier New" pitchFamily="34" charset="-120"/>
              </a:rPr>
              <a:t>|</a:t>
            </a:r>
            <a:r>
              <a:rPr lang="en-US" sz="2000" dirty="0">
                <a:solidFill>
                  <a:srgbClr val="2B1D19"/>
                </a:solidFill>
              </a:rPr>
              <a:t> instead, and each condition needs its own brackets.</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Free or very popular</a:t>
            </a:r>
            <a:endParaRPr lang="en-US" sz="2800" dirty="0"/>
          </a:p>
        </p:txBody>
      </p:sp>
      <p:sp>
        <p:nvSpPr>
          <p:cNvPr id="3" name="primm box"/>
          <p:cNvSpPr/>
          <p:nvPr/>
        </p:nvSpPr>
        <p:spPr>
          <a:xfrm>
            <a:off x="457200" y="1051560"/>
            <a:ext cx="8229600" cy="2037080"/>
          </a:xfrm>
          <a:prstGeom prst="roundRect">
            <a:avLst>
              <a:gd name="adj" fmla="val 3591"/>
            </a:avLst>
          </a:prstGeom>
          <a:solidFill>
            <a:srgbClr val="E6F2E6"/>
          </a:solidFill>
          <a:ln w="12700">
            <a:solidFill>
              <a:srgbClr val="E6F2E6"/>
            </a:solidFill>
            <a:prstDash val="solid"/>
          </a:ln>
        </p:spPr>
      </p:sp>
      <p:sp>
        <p:nvSpPr>
          <p:cNvPr id="4" name="Text 2"/>
          <p:cNvSpPr txBox="1"/>
          <p:nvPr/>
        </p:nvSpPr>
        <p:spPr>
          <a:xfrm>
            <a:off x="685800" y="1188720"/>
            <a:ext cx="7772400" cy="365760"/>
          </a:xfrm>
          <a:prstGeom prst="rect">
            <a:avLst/>
          </a:prstGeom>
          <a:noFill/>
          <a:ln/>
        </p:spPr>
        <p:txBody>
          <a:bodyPr wrap="square" lIns="0" tIns="0" rIns="0" bIns="0" rtlCol="0" anchor="ctr"/>
          <a:lstStyle/>
          <a:p>
            <a:pPr indent="0" marL="0">
              <a:buNone/>
            </a:pPr>
            <a:r>
              <a:rPr lang="en-US" sz="1600" b="1" dirty="0">
                <a:solidFill>
                  <a:srgbClr val="2E6B30"/>
                </a:solidFill>
              </a:rPr>
              <a:t>PRIMM</a:t>
            </a:r>
            <a:endParaRPr lang="en-US" sz="1600" dirty="0"/>
          </a:p>
        </p:txBody>
      </p:sp>
      <p:sp>
        <p:nvSpPr>
          <p:cNvPr id="5" name="Text 3"/>
          <p:cNvSpPr txBox="1"/>
          <p:nvPr/>
        </p:nvSpPr>
        <p:spPr>
          <a:xfrm>
            <a:off x="685800" y="1600200"/>
            <a:ext cx="7772400" cy="1351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Change the code to find games that are free </a:t>
            </a:r>
            <a:r>
              <a:rPr lang="en-US" sz="2000" b="1" dirty="0">
                <a:solidFill>
                  <a:srgbClr val="2B1D19"/>
                </a:solidFill>
              </a:rPr>
              <a:t>or</a:t>
            </a:r>
            <a:r>
              <a:rPr lang="en-US" sz="2000" dirty="0">
                <a:solidFill>
                  <a:srgbClr val="2B1D19"/>
                </a:solidFill>
              </a:rPr>
              <a:t> have more than 100,000 recommendations.</a:t>
            </a:r>
            <a:endParaRPr lang="en-US" sz="2000" dirty="0"/>
          </a:p>
          <a:p>
            <a:pPr marL="342900" indent="-342900">
              <a:spcAft>
                <a:spcPts val="1000"/>
              </a:spcAft>
              <a:buSzPct val="100000"/>
              <a:buFont typeface="+mj-lt"/>
              <a:buAutoNum type="arabicPeriod" startAt="1"/>
            </a:pPr>
            <a:r>
              <a:rPr lang="en-US" sz="2000" dirty="0">
                <a:solidFill>
                  <a:srgbClr val="2B1D19"/>
                </a:solidFill>
              </a:rPr>
              <a:t>​</a:t>
            </a:r>
            <a:r>
              <a:rPr lang="en-US" sz="2000" dirty="0">
                <a:solidFill>
                  <a:srgbClr val="2B1D19"/>
                </a:solidFill>
              </a:rPr>
              <a:t>How many are there?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457200" y="1554480"/>
            <a:ext cx="7498080" cy="914400"/>
          </a:xfrm>
          <a:prstGeom prst="rect">
            <a:avLst/>
          </a:prstGeom>
          <a:noFill/>
          <a:ln/>
        </p:spPr>
        <p:txBody>
          <a:bodyPr wrap="square" lIns="0" tIns="0" rIns="0" bIns="0" rtlCol="0" anchor="ctr">
            <a:normAutofit/>
          </a:bodyPr>
          <a:lstStyle/>
          <a:p>
            <a:pPr indent="0" marL="0">
              <a:buNone/>
            </a:pPr>
            <a:r>
              <a:rPr lang="en-US" sz="3600" b="1" dirty="0">
                <a:solidFill>
                  <a:srgbClr val="FFFFFF"/>
                </a:solidFill>
              </a:rPr>
              <a:t>Finding the Indie games</a:t>
            </a:r>
            <a:endParaRPr lang="en-US" sz="3600" dirty="0"/>
          </a:p>
        </p:txBody>
      </p:sp>
      <p:sp>
        <p:nvSpPr>
          <p:cNvPr id="3" name="Text 1"/>
          <p:cNvSpPr txBox="1"/>
          <p:nvPr/>
        </p:nvSpPr>
        <p:spPr>
          <a:xfrm>
            <a:off x="457200" y="2514600"/>
            <a:ext cx="7132320" cy="1097280"/>
          </a:xfrm>
          <a:prstGeom prst="rect">
            <a:avLst/>
          </a:prstGeom>
          <a:noFill/>
          <a:ln/>
        </p:spPr>
        <p:txBody>
          <a:bodyPr wrap="square" lIns="0" tIns="0" rIns="0" bIns="0" rtlCol="0" anchor="t"/>
          <a:lstStyle/>
          <a:p>
            <a:pPr indent="0" marL="0">
              <a:spcAft>
                <a:spcPts val="800"/>
              </a:spcAft>
              <a:buNone/>
            </a:pPr>
            <a:r>
              <a:rPr lang="en-US" sz="1800" dirty="0">
                <a:solidFill>
                  <a:srgbClr val="F7EFE6"/>
                </a:solidFill>
              </a:rPr>
              <a:t>​</a:t>
            </a:r>
            <a:r>
              <a:rPr lang="en-US" sz="1800" dirty="0">
                <a:solidFill>
                  <a:srgbClr val="F7EFE6"/>
                </a:solidFill>
              </a:rPr>
              <a:t>We counted the Indie games with </a:t>
            </a:r>
            <a:r>
              <a:rPr lang="en-US" sz="1600" dirty="0">
                <a:solidFill>
                  <a:srgbClr val="E8A55A"/>
                </a:solidFill>
                <a:latin typeface="Courier New" pitchFamily="34" charset="0"/>
                <a:ea typeface="Courier New" pitchFamily="34" charset="-122"/>
                <a:cs typeface="Courier New" pitchFamily="34" charset="-120"/>
              </a:rPr>
              <a:t>str.contains</a:t>
            </a:r>
            <a:r>
              <a:rPr lang="en-US" sz="1800" dirty="0">
                <a:solidFill>
                  <a:srgbClr val="F7EFE6"/>
                </a:solidFill>
              </a:rPr>
              <a:t>. Now let's keep them as their own DataFrame.</a:t>
            </a:r>
            <a:endParaRPr lang="en-US" sz="18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Keep the Indie games</a:t>
            </a:r>
            <a:endParaRPr lang="en-US" sz="2800" dirty="0"/>
          </a:p>
        </p:txBody>
      </p:sp>
      <p:sp>
        <p:nvSpPr>
          <p:cNvPr id="3" name="Code panel"/>
          <p:cNvSpPr/>
          <p:nvPr/>
        </p:nvSpPr>
        <p:spPr>
          <a:xfrm>
            <a:off x="457200" y="1051560"/>
            <a:ext cx="8229600" cy="1024890"/>
          </a:xfrm>
          <a:prstGeom prst="roundRect">
            <a:avLst>
              <a:gd name="adj" fmla="val 5353"/>
            </a:avLst>
          </a:prstGeom>
          <a:solidFill>
            <a:srgbClr val="2B1D19"/>
          </a:solidFill>
          <a:ln w="12700">
            <a:solidFill>
              <a:srgbClr val="2B1D19"/>
            </a:solidFill>
            <a:prstDash val="solid"/>
          </a:ln>
        </p:spPr>
      </p:sp>
      <p:sp>
        <p:nvSpPr>
          <p:cNvPr id="4" name="Text 2"/>
          <p:cNvSpPr txBox="1"/>
          <p:nvPr/>
        </p:nvSpPr>
        <p:spPr>
          <a:xfrm>
            <a:off x="640080" y="1161288"/>
            <a:ext cx="7863840" cy="274320"/>
          </a:xfrm>
          <a:prstGeom prst="rect">
            <a:avLst/>
          </a:prstGeom>
          <a:noFill/>
          <a:ln/>
        </p:spPr>
        <p:txBody>
          <a:bodyPr wrap="square" lIns="0" tIns="0" rIns="0" bIns="0" rtlCol="0" anchor="ctr"/>
          <a:lstStyle/>
          <a:p>
            <a:pPr indent="0" marL="0">
              <a:buNone/>
            </a:pPr>
            <a:r>
              <a:rPr lang="en-US" sz="1200" b="1" dirty="0">
                <a:solidFill>
                  <a:srgbClr val="E8A55A"/>
                </a:solidFill>
              </a:rPr>
              <a:t>clean_steam.py — new cell</a:t>
            </a:r>
            <a:endParaRPr lang="en-US" sz="1200" dirty="0"/>
          </a:p>
        </p:txBody>
      </p:sp>
      <p:sp>
        <p:nvSpPr>
          <p:cNvPr id="5" name="Code"/>
          <p:cNvSpPr txBox="1"/>
          <p:nvPr/>
        </p:nvSpPr>
        <p:spPr>
          <a:xfrm>
            <a:off x="594360" y="1508760"/>
            <a:ext cx="7955280" cy="490220"/>
          </a:xfrm>
          <a:prstGeom prst="rect">
            <a:avLst/>
          </a:prstGeom>
          <a:noFill/>
          <a:ln/>
        </p:spPr>
        <p:txBody>
          <a:bodyPr wrap="square" lIns="0" tIns="0" rIns="0" bIns="0" rtlCol="0" anchor="t"/>
          <a:lstStyle/>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1  </a:t>
            </a:r>
            <a:r>
              <a:rPr lang="en-US" sz="1400" dirty="0">
                <a:solidFill>
                  <a:srgbClr val="F7EFE6"/>
                </a:solidFill>
                <a:latin typeface="Courier New" pitchFamily="34" charset="0"/>
                <a:ea typeface="Courier New" pitchFamily="34" charset="-122"/>
                <a:cs typeface="Courier New" pitchFamily="34" charset="-120"/>
              </a:rPr>
              <a:t>indie_games = selected.filter(pl.col("Genres").str.contains("Indie"))</a:t>
            </a:r>
            <a:endParaRPr lang="en-US" sz="1400" dirty="0"/>
          </a:p>
          <a:p>
            <a:pPr indent="0" marL="0">
              <a:lnSpc>
                <a:spcPts val="1750"/>
              </a:lnSpc>
              <a:buNone/>
            </a:pPr>
            <a:r>
              <a:rPr lang="en-US" sz="1400" dirty="0">
                <a:solidFill>
                  <a:srgbClr val="9C8A80"/>
                </a:solidFill>
                <a:latin typeface="Courier New" pitchFamily="34" charset="0"/>
                <a:ea typeface="Courier New" pitchFamily="34" charset="-122"/>
                <a:cs typeface="Courier New" pitchFamily="34" charset="-120"/>
              </a:rPr>
              <a:t> 2  </a:t>
            </a:r>
            <a:r>
              <a:rPr lang="en-US" sz="1400" dirty="0">
                <a:solidFill>
                  <a:srgbClr val="F7EFE6"/>
                </a:solidFill>
                <a:latin typeface="Courier New" pitchFamily="34" charset="0"/>
                <a:ea typeface="Courier New" pitchFamily="34" charset="-122"/>
                <a:cs typeface="Courier New" pitchFamily="34" charset="-120"/>
              </a:rPr>
              <a:t>indie_games</a:t>
            </a:r>
            <a:endParaRPr lang="en-US" sz="1400" dirty="0"/>
          </a:p>
        </p:txBody>
      </p:sp>
      <p:sp>
        <p:nvSpPr>
          <p:cNvPr id="6" name="Text 4"/>
          <p:cNvSpPr txBox="1"/>
          <p:nvPr/>
        </p:nvSpPr>
        <p:spPr>
          <a:xfrm>
            <a:off x="457200" y="2167890"/>
            <a:ext cx="8229600" cy="670560"/>
          </a:xfrm>
          <a:prstGeom prst="rect">
            <a:avLst/>
          </a:prstGeom>
          <a:noFill/>
          <a:ln/>
        </p:spPr>
        <p:txBody>
          <a:bodyPr wrap="square" lIns="0" tIns="0" rIns="0" bIns="0" rtlCol="0" anchor="t">
            <a:normAutofit/>
          </a:bodyPr>
          <a:lstStyle/>
          <a:p>
            <a:pPr indent="0" marL="0">
              <a:spcAft>
                <a:spcPts val="600"/>
              </a:spcAft>
              <a:buNone/>
            </a:pPr>
            <a:r>
              <a:rPr lang="en-US" sz="1500" dirty="0">
                <a:solidFill>
                  <a:srgbClr val="2B1D19"/>
                </a:solidFill>
              </a:rPr>
              <a:t>​</a:t>
            </a:r>
            <a:r>
              <a:rPr lang="en-US" sz="1500" b="1" dirty="0">
                <a:solidFill>
                  <a:srgbClr val="2B1D19"/>
                </a:solidFill>
              </a:rPr>
              <a:t>Why:</a:t>
            </a:r>
            <a:r>
              <a:rPr lang="en-US" sz="1500" dirty="0">
                <a:solidFill>
                  <a:srgbClr val="2B1D19"/>
                </a:solidFill>
              </a:rPr>
              <a:t> We use the same </a:t>
            </a:r>
            <a:r>
              <a:rPr lang="en-US" sz="1300" dirty="0">
                <a:solidFill>
                  <a:srgbClr val="B86E1E"/>
                </a:solidFill>
                <a:latin typeface="Courier New" pitchFamily="34" charset="0"/>
                <a:ea typeface="Courier New" pitchFamily="34" charset="-122"/>
                <a:cs typeface="Courier New" pitchFamily="34" charset="-120"/>
              </a:rPr>
              <a:t>str.contains</a:t>
            </a:r>
            <a:r>
              <a:rPr lang="en-US" sz="1500" dirty="0">
                <a:solidFill>
                  <a:srgbClr val="2B1D19"/>
                </a:solidFill>
              </a:rPr>
              <a:t> condition as before, but inside a </a:t>
            </a:r>
            <a:r>
              <a:rPr lang="en-US" sz="1300" dirty="0">
                <a:solidFill>
                  <a:srgbClr val="B86E1E"/>
                </a:solidFill>
                <a:latin typeface="Courier New" pitchFamily="34" charset="0"/>
                <a:ea typeface="Courier New" pitchFamily="34" charset="-122"/>
                <a:cs typeface="Courier New" pitchFamily="34" charset="-120"/>
              </a:rPr>
              <a:t>filter</a:t>
            </a:r>
            <a:r>
              <a:rPr lang="en-US" sz="1500" dirty="0">
                <a:solidFill>
                  <a:srgbClr val="2B1D19"/>
                </a:solidFill>
              </a:rPr>
              <a:t>, so we keep the rows instead of counting them.</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6,243 Indie games</a:t>
            </a:r>
            <a:endParaRPr lang="en-US" sz="2800" dirty="0"/>
          </a:p>
        </p:txBody>
      </p:sp>
      <p:pic>
        <p:nvPicPr>
          <p:cNvPr id="3" name="Image 0" descr="The indie_games table in marimo's table viewer, showing 6,243 rows, with Indie in the Genres column of every row">    </p:cNvPr>
          <p:cNvPicPr>
            <a:picLocks noChangeAspect="1"/>
          </p:cNvPicPr>
          <p:nvPr/>
        </p:nvPicPr>
        <p:blipFill>
          <a:blip r:embed="rId1"/>
          <a:stretch>
            <a:fillRect/>
          </a:stretch>
        </p:blipFill>
        <p:spPr>
          <a:xfrm>
            <a:off x="1692579" y="1005840"/>
            <a:ext cx="5758841" cy="2743200"/>
          </a:xfrm>
          <a:prstGeom prst="rect">
            <a:avLst/>
          </a:prstGeom>
        </p:spPr>
      </p:pic>
      <p:sp>
        <p:nvSpPr>
          <p:cNvPr id="4" name="Text 1"/>
          <p:cNvSpPr txBox="1"/>
          <p:nvPr/>
        </p:nvSpPr>
        <p:spPr>
          <a:xfrm>
            <a:off x="457200" y="3858768"/>
            <a:ext cx="8229600" cy="667512"/>
          </a:xfrm>
          <a:prstGeom prst="rect">
            <a:avLst/>
          </a:prstGeom>
          <a:noFill/>
          <a:ln/>
        </p:spPr>
        <p:txBody>
          <a:bodyPr wrap="square" lIns="0" tIns="0" rIns="0" bIns="0" rtlCol="0" anchor="t">
            <a:normAutofit/>
          </a:bodyPr>
          <a:lstStyle/>
          <a:p>
            <a:pPr marL="342900" indent="-342900">
              <a:spcAft>
                <a:spcPts val="300"/>
              </a:spcAft>
              <a:buSzPct val="100000"/>
              <a:buChar char="•"/>
            </a:pPr>
            <a:r>
              <a:rPr lang="en-US" sz="1500" dirty="0">
                <a:solidFill>
                  <a:srgbClr val="2B1D19"/>
                </a:solidFill>
              </a:rPr>
              <a:t>​</a:t>
            </a:r>
            <a:r>
              <a:rPr lang="en-US" sz="1500" b="1" dirty="0">
                <a:solidFill>
                  <a:srgbClr val="2B1D19"/>
                </a:solidFill>
              </a:rPr>
              <a:t>6243</a:t>
            </a:r>
            <a:r>
              <a:rPr lang="en-US" sz="1500" dirty="0">
                <a:solidFill>
                  <a:srgbClr val="2B1D19"/>
                </a:solidFill>
              </a:rPr>
              <a:t> rows</a:t>
            </a:r>
            <a:endParaRPr lang="en-US" sz="1500" dirty="0"/>
          </a:p>
          <a:p>
            <a:pPr marL="342900" indent="-342900">
              <a:spcAft>
                <a:spcPts val="300"/>
              </a:spcAft>
              <a:buSzPct val="100000"/>
              <a:buChar char="•"/>
            </a:pPr>
            <a:r>
              <a:rPr lang="en-US" sz="1500" dirty="0">
                <a:solidFill>
                  <a:srgbClr val="2B1D19"/>
                </a:solidFill>
              </a:rPr>
              <a:t>​</a:t>
            </a:r>
            <a:r>
              <a:rPr lang="en-US" sz="1500" dirty="0">
                <a:solidFill>
                  <a:srgbClr val="2B1D19"/>
                </a:solidFill>
              </a:rPr>
              <a:t>matches our count from when we asked our question</a:t>
            </a:r>
            <a:endParaRPr lang="en-US" sz="1500" dirty="0"/>
          </a:p>
          <a:p>
            <a:pPr marL="342900" indent="-342900">
              <a:spcAft>
                <a:spcPts val="300"/>
              </a:spcAft>
              <a:buSzPct val="100000"/>
              <a:buChar char="•"/>
            </a:pPr>
            <a:r>
              <a:rPr lang="en-US" sz="1500" dirty="0">
                <a:solidFill>
                  <a:srgbClr val="2B1D19"/>
                </a:solidFill>
              </a:rPr>
              <a:t>​</a:t>
            </a:r>
            <a:r>
              <a:rPr lang="en-US" sz="1500" dirty="0">
                <a:solidFill>
                  <a:srgbClr val="2B1D19"/>
                </a:solidFill>
              </a:rPr>
              <a:t>every row has </a:t>
            </a:r>
            <a:r>
              <a:rPr lang="en-US" sz="1300" dirty="0">
                <a:solidFill>
                  <a:srgbClr val="B86E1E"/>
                </a:solidFill>
                <a:latin typeface="Courier New" pitchFamily="34" charset="0"/>
                <a:ea typeface="Courier New" pitchFamily="34" charset="-122"/>
                <a:cs typeface="Courier New" pitchFamily="34" charset="-120"/>
              </a:rPr>
              <a:t>Indie</a:t>
            </a:r>
            <a:r>
              <a:rPr lang="en-US" sz="1500" dirty="0">
                <a:solidFill>
                  <a:srgbClr val="2B1D19"/>
                </a:solidFill>
              </a:rPr>
              <a:t> somewhere in its </a:t>
            </a:r>
            <a:r>
              <a:rPr lang="en-US" sz="1300" dirty="0">
                <a:solidFill>
                  <a:srgbClr val="B86E1E"/>
                </a:solidFill>
                <a:latin typeface="Courier New" pitchFamily="34" charset="0"/>
                <a:ea typeface="Courier New" pitchFamily="34" charset="-122"/>
                <a:cs typeface="Courier New" pitchFamily="34" charset="-120"/>
              </a:rPr>
              <a:t>Genres</a:t>
            </a:r>
            <a:endParaRPr lang="en-US" sz="15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457200" y="457200"/>
            <a:ext cx="7772400" cy="365760"/>
          </a:xfrm>
          <a:prstGeom prst="rect">
            <a:avLst/>
          </a:prstGeom>
          <a:noFill/>
          <a:ln/>
        </p:spPr>
        <p:txBody>
          <a:bodyPr wrap="square" lIns="0" tIns="0" rIns="0" bIns="0" rtlCol="0" anchor="ctr"/>
          <a:lstStyle/>
          <a:p>
            <a:pPr indent="0" marL="0">
              <a:buNone/>
            </a:pPr>
            <a:r>
              <a:rPr lang="en-US" sz="1400" b="1" spc="200" kern="0" dirty="0">
                <a:solidFill>
                  <a:srgbClr val="E8A55A"/>
                </a:solidFill>
              </a:rPr>
              <a:t>CHECK YOUR UNDERSTANDING</a:t>
            </a:r>
            <a:endParaRPr lang="en-US" sz="1400" dirty="0"/>
          </a:p>
        </p:txBody>
      </p:sp>
      <p:sp>
        <p:nvSpPr>
          <p:cNvPr id="3" name="Text 1"/>
          <p:cNvSpPr txBox="1"/>
          <p:nvPr/>
        </p:nvSpPr>
        <p:spPr>
          <a:xfrm>
            <a:off x="457200" y="1005840"/>
            <a:ext cx="7498080" cy="3108960"/>
          </a:xfrm>
          <a:prstGeom prst="rect">
            <a:avLst/>
          </a:prstGeom>
          <a:noFill/>
          <a:ln/>
        </p:spPr>
        <p:txBody>
          <a:bodyPr wrap="square" lIns="0" tIns="0" rIns="0" bIns="0" rtlCol="0" anchor="t">
            <a:normAutofit/>
          </a:bodyPr>
          <a:lstStyle/>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Which method chooses columns, and which chooses rows?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does </a:t>
            </a:r>
            <a:r>
              <a:rPr lang="en-US" sz="1800" dirty="0">
                <a:solidFill>
                  <a:srgbClr val="E8A55A"/>
                </a:solidFill>
                <a:latin typeface="Courier New" pitchFamily="34" charset="0"/>
                <a:ea typeface="Courier New" pitchFamily="34" charset="-122"/>
                <a:cs typeface="Courier New" pitchFamily="34" charset="-120"/>
              </a:rPr>
              <a:t>select</a:t>
            </a:r>
            <a:r>
              <a:rPr lang="en-US" sz="2000" dirty="0">
                <a:solidFill>
                  <a:srgbClr val="FFFFFF"/>
                </a:solidFill>
              </a:rPr>
              <a:t> never change the number of rows?</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Why did our first </a:t>
            </a:r>
            <a:r>
              <a:rPr lang="en-US" sz="1800" dirty="0">
                <a:solidFill>
                  <a:srgbClr val="E8A55A"/>
                </a:solidFill>
                <a:latin typeface="Courier New" pitchFamily="34" charset="0"/>
                <a:ea typeface="Courier New" pitchFamily="34" charset="-122"/>
                <a:cs typeface="Courier New" pitchFamily="34" charset="-120"/>
              </a:rPr>
              <a:t>&amp;</a:t>
            </a:r>
            <a:r>
              <a:rPr lang="en-US" sz="2000" dirty="0">
                <a:solidFill>
                  <a:srgbClr val="FFFFFF"/>
                </a:solidFill>
              </a:rPr>
              <a:t> condition give a TypeError?</a:t>
            </a:r>
            <a:endParaRPr lang="en-US" sz="2000" dirty="0"/>
          </a:p>
          <a:p>
            <a:pPr marL="342900" indent="-342900">
              <a:spcAft>
                <a:spcPts val="1400"/>
              </a:spcAft>
              <a:buSzPct val="100000"/>
              <a:buFont typeface="+mj-lt"/>
              <a:buAutoNum type="arabicPeriod" startAt="1"/>
            </a:pPr>
            <a:r>
              <a:rPr lang="en-US" sz="2000" dirty="0">
                <a:solidFill>
                  <a:srgbClr val="FFFFFF"/>
                </a:solidFill>
              </a:rPr>
              <a:t>​</a:t>
            </a:r>
            <a:r>
              <a:rPr lang="en-US" sz="2000" dirty="0">
                <a:solidFill>
                  <a:srgbClr val="FFFFFF"/>
                </a:solidFill>
              </a:rPr>
              <a:t>Which operator keeps a row when at least one condition is True?</a:t>
            </a:r>
            <a:endParaRPr lang="en-US" sz="20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FE6"/>
                </a:solidFill>
              </a:defRPr>
            </a:lvl1pPr>
          </a:lstStyle>
          <a:p>
            <a:pPr algn="l"/>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itle"/>
          <p:cNvSpPr txBox="1"/>
          <p:nvPr/>
        </p:nvSpPr>
        <p:spPr>
          <a:xfrm>
            <a:off x="457200" y="274320"/>
            <a:ext cx="8229600" cy="640080"/>
          </a:xfrm>
          <a:prstGeom prst="rect">
            <a:avLst/>
          </a:prstGeom>
          <a:noFill/>
          <a:ln/>
        </p:spPr>
        <p:txBody>
          <a:bodyPr wrap="square" lIns="0" tIns="0" rIns="0" bIns="0" rtlCol="0" anchor="ctr">
            <a:normAutofit/>
          </a:bodyPr>
          <a:lstStyle/>
          <a:p>
            <a:pPr indent="0" marL="0">
              <a:buNone/>
            </a:pPr>
            <a:r>
              <a:rPr lang="en-US" sz="2800" b="1" dirty="0">
                <a:solidFill>
                  <a:srgbClr val="4E342E"/>
                </a:solidFill>
              </a:rPr>
              <a:t>Your data story</a:t>
            </a:r>
            <a:endParaRPr lang="en-US" sz="2800" dirty="0"/>
          </a:p>
        </p:txBody>
      </p:sp>
      <p:sp>
        <p:nvSpPr>
          <p:cNvPr id="3" name="Shape 1"/>
          <p:cNvSpPr/>
          <p:nvPr/>
        </p:nvSpPr>
        <p:spPr>
          <a:xfrm>
            <a:off x="457200" y="1051560"/>
            <a:ext cx="2651760" cy="3429000"/>
          </a:xfrm>
          <a:prstGeom prst="roundRect">
            <a:avLst>
              <a:gd name="adj" fmla="val 2759"/>
            </a:avLst>
          </a:prstGeom>
          <a:solidFill>
            <a:srgbClr val="4E342E"/>
          </a:solidFill>
          <a:ln w="12700">
            <a:solidFill>
              <a:srgbClr val="4E342E"/>
            </a:solidFill>
            <a:prstDash val="solid"/>
          </a:ln>
        </p:spPr>
      </p:sp>
      <p:sp>
        <p:nvSpPr>
          <p:cNvPr id="4" name="Text 2"/>
          <p:cNvSpPr txBox="1"/>
          <p:nvPr/>
        </p:nvSpPr>
        <p:spPr>
          <a:xfrm>
            <a:off x="685800" y="1280160"/>
            <a:ext cx="2194560" cy="822960"/>
          </a:xfrm>
          <a:prstGeom prst="rect">
            <a:avLst/>
          </a:prstGeom>
          <a:noFill/>
          <a:ln/>
        </p:spPr>
        <p:txBody>
          <a:bodyPr wrap="square" lIns="0" tIns="0" rIns="0" bIns="0" rtlCol="0" anchor="t"/>
          <a:lstStyle/>
          <a:p>
            <a:pPr indent="0" marL="0">
              <a:buNone/>
            </a:pPr>
            <a:r>
              <a:rPr lang="en-US" sz="1500" dirty="0">
                <a:solidFill>
                  <a:srgbClr val="F7EFE6"/>
                </a:solidFill>
              </a:rPr>
              <a:t>In my_data_story.md, add the heading</a:t>
            </a:r>
            <a:endParaRPr lang="en-US" sz="1500" dirty="0"/>
          </a:p>
        </p:txBody>
      </p:sp>
      <p:sp>
        <p:nvSpPr>
          <p:cNvPr id="5" name="Text 3"/>
          <p:cNvSpPr txBox="1"/>
          <p:nvPr/>
        </p:nvSpPr>
        <p:spPr>
          <a:xfrm>
            <a:off x="685800" y="2148840"/>
            <a:ext cx="2194560" cy="1097280"/>
          </a:xfrm>
          <a:prstGeom prst="rect">
            <a:avLst/>
          </a:prstGeom>
          <a:noFill/>
          <a:ln/>
        </p:spPr>
        <p:txBody>
          <a:bodyPr wrap="square" lIns="0" tIns="0" rIns="0" bIns="0" rtlCol="0" anchor="t">
            <a:normAutofit/>
          </a:bodyPr>
          <a:lstStyle/>
          <a:p>
            <a:pPr indent="0" marL="0">
              <a:buNone/>
            </a:pPr>
            <a:r>
              <a:rPr lang="en-US" sz="1800" b="1" dirty="0">
                <a:solidFill>
                  <a:srgbClr val="E8A55A"/>
                </a:solidFill>
                <a:latin typeface="Courier New" pitchFamily="34" charset="0"/>
                <a:ea typeface="Courier New" pitchFamily="34" charset="-122"/>
                <a:cs typeface="Courier New" pitchFamily="34" charset="-120"/>
              </a:rPr>
              <a:t>## Columns and rows</a:t>
            </a:r>
            <a:endParaRPr lang="en-US" sz="1800" dirty="0"/>
          </a:p>
        </p:txBody>
      </p:sp>
      <p:sp>
        <p:nvSpPr>
          <p:cNvPr id="6" name="Text 4"/>
          <p:cNvSpPr txBox="1"/>
          <p:nvPr/>
        </p:nvSpPr>
        <p:spPr>
          <a:xfrm>
            <a:off x="3383280" y="1097280"/>
            <a:ext cx="5303520" cy="3383280"/>
          </a:xfrm>
          <a:prstGeom prst="rect">
            <a:avLst/>
          </a:prstGeom>
          <a:noFill/>
          <a:ln/>
        </p:spPr>
        <p:txBody>
          <a:bodyPr wrap="square" lIns="0" tIns="0" rIns="0" bIns="0" rtlCol="0" anchor="t">
            <a:normAutofit/>
          </a:bodyPr>
          <a:lstStyle/>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List the columns your question needs and why. If any aren't in </a:t>
            </a:r>
            <a:r>
              <a:rPr lang="en-US" sz="1400" dirty="0">
                <a:solidFill>
                  <a:srgbClr val="B86E1E"/>
                </a:solidFill>
                <a:latin typeface="Courier New" pitchFamily="34" charset="0"/>
                <a:ea typeface="Courier New" pitchFamily="34" charset="-122"/>
                <a:cs typeface="Courier New" pitchFamily="34" charset="-120"/>
              </a:rPr>
              <a:t>selected</a:t>
            </a:r>
            <a:r>
              <a:rPr lang="en-US" sz="1600" dirty="0">
                <a:solidFill>
                  <a:srgbClr val="2B1D19"/>
                </a:solidFill>
              </a:rPr>
              <a:t>, add them to the </a:t>
            </a:r>
            <a:r>
              <a:rPr lang="en-US" sz="1400" dirty="0">
                <a:solidFill>
                  <a:srgbClr val="B86E1E"/>
                </a:solidFill>
                <a:latin typeface="Courier New" pitchFamily="34" charset="0"/>
                <a:ea typeface="Courier New" pitchFamily="34" charset="-122"/>
                <a:cs typeface="Courier New" pitchFamily="34" charset="-120"/>
              </a:rPr>
              <a:t>select</a:t>
            </a:r>
            <a:r>
              <a:rPr lang="en-US" sz="1600" dirty="0">
                <a:solidFill>
                  <a:srgbClr val="2B1D19"/>
                </a:solidFill>
              </a:rPr>
              <a:t> cell. Don't remove any columns.</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Write a </a:t>
            </a:r>
            <a:r>
              <a:rPr lang="en-US" sz="1400" dirty="0">
                <a:solidFill>
                  <a:srgbClr val="B86E1E"/>
                </a:solidFill>
                <a:latin typeface="Courier New" pitchFamily="34" charset="0"/>
                <a:ea typeface="Courier New" pitchFamily="34" charset="-122"/>
                <a:cs typeface="Courier New" pitchFamily="34" charset="-120"/>
              </a:rPr>
              <a:t>filter</a:t>
            </a:r>
            <a:r>
              <a:rPr lang="en-US" sz="1600" dirty="0">
                <a:solidFill>
                  <a:srgbClr val="2B1D19"/>
                </a:solidFill>
              </a:rPr>
              <a:t> that finds the rows your question is about. Record the condition and how many rows it keeps.</a:t>
            </a:r>
            <a:endParaRPr lang="en-US" sz="1600" dirty="0"/>
          </a:p>
          <a:p>
            <a:pPr marL="342900" indent="-342900">
              <a:spcAft>
                <a:spcPts val="1000"/>
              </a:spcAft>
              <a:buSzPct val="100000"/>
              <a:buFont typeface="+mj-lt"/>
              <a:buAutoNum type="arabicPeriod" startAt="1"/>
            </a:pPr>
            <a:r>
              <a:rPr lang="en-US" sz="1600" dirty="0">
                <a:solidFill>
                  <a:srgbClr val="2B1D19"/>
                </a:solidFill>
              </a:rPr>
              <a:t>​</a:t>
            </a:r>
            <a:r>
              <a:rPr lang="en-US" sz="1600" dirty="0">
                <a:solidFill>
                  <a:srgbClr val="2B1D19"/>
                </a:solidFill>
              </a:rPr>
              <a:t>If your question compares two groups, write one </a:t>
            </a:r>
            <a:r>
              <a:rPr lang="en-US" sz="1400" dirty="0">
                <a:solidFill>
                  <a:srgbClr val="B86E1E"/>
                </a:solidFill>
                <a:latin typeface="Courier New" pitchFamily="34" charset="0"/>
                <a:ea typeface="Courier New" pitchFamily="34" charset="-122"/>
                <a:cs typeface="Courier New" pitchFamily="34" charset="-120"/>
              </a:rPr>
              <a:t>filter</a:t>
            </a:r>
            <a:r>
              <a:rPr lang="en-US" sz="1600" dirty="0">
                <a:solidFill>
                  <a:srgbClr val="2B1D19"/>
                </a:solidFill>
              </a:rPr>
              <a:t> for each group, and record how many rows are in each.</a:t>
            </a:r>
            <a:endParaRPr lang="en-US" sz="1600" dirty="0"/>
          </a:p>
        </p:txBody>
      </p:sp>
      <p:sp>
        <p:nvSpPr>
          <p:cNvPr id="25" name="Slide Number Placeholder 0"/>
          <p:cNvSpPr>
            <a:spLocks noGrp="1"/>
          </p:cNvSpPr>
          <p:nvPr>
            <p:ph type="sldNum" sz="quarter" idx="4294967295"/>
          </p:nvPr>
        </p:nvSpPr>
        <p:spPr>
          <a:xfrm>
            <a:off x="365760" y="47091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6B6B"/>
                </a:solidFill>
              </a:defRPr>
            </a:lvl1pPr>
          </a:lstStyle>
          <a:p>
            <a:pPr algn="l"/>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Steam Data Stories">
  <a:themeElements>
    <a:clrScheme name="Steam Data Stories">
      <a:dk1>
        <a:srgbClr val="2B1D19"/>
      </a:dk1>
      <a:lt1>
        <a:srgbClr val="FFFFFF"/>
      </a:lt1>
      <a:dk2>
        <a:srgbClr val="4E342E"/>
      </a:dk2>
      <a:lt2>
        <a:srgbClr val="F7EFE6"/>
      </a:lt2>
      <a:accent1>
        <a:srgbClr val="E8A55A"/>
      </a:accent1>
      <a:accent2>
        <a:srgbClr val="6D4C41"/>
      </a:accent2>
      <a:accent3>
        <a:srgbClr val="1D5F8A"/>
      </a:accent3>
      <a:accent4>
        <a:srgbClr val="2E6B30"/>
      </a:accent4>
      <a:accent5>
        <a:srgbClr val="B0185E"/>
      </a:accent5>
      <a:accent6>
        <a:srgbClr val="8A5A00"/>
      </a:accent6>
      <a:hlink>
        <a:srgbClr val="B86E1E"/>
      </a:hlink>
      <a:folHlink>
        <a:srgbClr val="6D4C41"/>
      </a:folHlink>
    </a:clrScheme>
    <a:fontScheme name="Steam Data Stori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Columns and Rows</dc:title>
  <dc:subject>PptxGenJS Presentation</dc:subject>
  <dc:creator>Steam Data Stories</dc:creator>
  <cp:lastModifiedBy>Steam Data Stories</cp:lastModifiedBy>
  <cp:revision>1</cp:revision>
  <dcterms:created xsi:type="dcterms:W3CDTF">2026-10-12T04:52:26Z</dcterms:created>
  <dcterms:modified xsi:type="dcterms:W3CDTF">2026-10-12T04:52:26Z</dcterms:modified>
</cp:coreProperties>
</file>