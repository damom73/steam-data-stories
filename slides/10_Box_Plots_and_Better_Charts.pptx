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ca73169-f111-24f5-0eca-db98998caf33}">
          <p14:sldIdLst>
            <p14:sldId id="256"/>
            <p14:sldId id="257"/>
            <p14:sldId id="258"/>
            <p14:sldId id="259"/>
          </p14:sldIdLst>
        </p14:section>
        <p14:section name="Box plots" id="{ac064c9d-0da3-1ab9-8452-0cbe638fd1a0}">
          <p14:sldIdLst>
            <p14:sldId id="260"/>
            <p14:sldId id="261"/>
            <p14:sldId id="262"/>
            <p14:sldId id="263"/>
            <p14:sldId id="264"/>
            <p14:sldId id="265"/>
          </p14:sldIdLst>
        </p14:section>
        <p14:section name="Choosing a chart" id="{538866f9-aea8-2842-a076-f5107ebaacf2}">
          <p14:sldIdLst>
            <p14:sldId id="266"/>
            <p14:sldId id="267"/>
          </p14:sldIdLst>
        </p14:section>
        <p14:section name="Making a chart better" id="{c93bd5ba-ecd8-fe19-3f05-1586d7779eec}">
          <p14:sldIdLst>
            <p14:sldId id="268"/>
            <p14:sldId id="269"/>
            <p14:sldId id="270"/>
            <p14:sldId id="271"/>
            <p14:sldId id="272"/>
            <p14:sldId id="273"/>
            <p14:sldId id="274"/>
            <p14:sldId id="275"/>
            <p14:sldId id="276"/>
          </p14:sldIdLst>
        </p14:section>
        <p14:section name="Wrap up" id="{dda437a0-bc1d-ba09-7abc-2d1eaa063e5c}">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meet the box plot, then learn the small changes that turn a first-draft chart into one we can show an audience. About 60 minutes: 5 min hook, 15 min box plots, 5 min choosing a chart, 20 min making a chart better, 15 min Your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The last three are about the audience: a chart is only useful if someone else understands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new terms. Outliers come back in detail when we look for them; today we just need to recognise them as dots on a box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was hard to read about the split histogram? (Two sets of bars on top of each other.) Today's box plot shows the same comparison more simply.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marimo with marimo edit steam_story.py and press Ctrl+Shift+R (Cmd+Shift+R on a Mac) to run the earlier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point matters for students' own stories: if they use a box plot, they need to tell their audience how to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run, investigate. Line 1 starts a box plot with px.box; line 2 uses every game in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each part on the chart as you read it. We'll work out how Plotly decides what counts as an outlier when we look for outliers.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hover over each box to find these numbers. The key point: not just the Indie median is higher, the whole box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see lots of dots above the boxes: the expensive games. That sets up the outliers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use this table in Your data story to choose a chart for their own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met the first three. Line charts and scatter plots come when we look at trends and relationships. Ask students which row matches their own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spot problems with the chart before showing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Indie games are the focus of our story, so they should come first. Ask students to rank the problems: which would confuse an audience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fix matches one problem on the previous slide. Students change the existing cell next, not add a new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run, investigate. Line 7: the empty text for Group removes the x-axis label. Point to the title: change existing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before and after side by side if you can. Ask: which would you rather show your audience,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headline title is exactly what a data story needs. Ask students to turn a describing title into a headline, e.g. Review scores of all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Consistency is a gift to the audience. Students should use the same category_orders on every chart in their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would be an untrue headline for this chart? (All Indie games get better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a few aloud. Check each one is true for the data, as the warning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or use mini whiteboards.
Answers:
1. The middle half of the values, from the 25% value to the 75% value. The line inside it is the median.
2. A scatter plot, px.scatter.
3. A headline title states what the chart shows (the finding), not what it is.
4. So Indie always comes first and always gets the same colour, and the audience doesn't have to read the legend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students up for the ten-second test. If the partner can't say the finding, the chart or title needs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RISING INSIGHTS</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Lesson 10</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Box Plots and Better Charts</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 this lesson we will learn</a:t>
            </a:r>
            <a:endParaRPr lang="en-US" sz="2800" dirty="0"/>
          </a:p>
        </p:txBody>
      </p:sp>
      <p:sp>
        <p:nvSpPr>
          <p:cNvPr id="3" name="learn box"/>
          <p:cNvSpPr/>
          <p:nvPr/>
        </p:nvSpPr>
        <p:spPr>
          <a:xfrm>
            <a:off x="457200" y="1097280"/>
            <a:ext cx="8229600" cy="2697480"/>
          </a:xfrm>
          <a:prstGeom prst="roundRect">
            <a:avLst>
              <a:gd name="adj" fmla="val 2712"/>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20116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how to draw and read a box plot</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choose the right chart for our question</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write a headline title that tells the finding</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make charts clearer with labels, colours and order</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3154680"/>
          </a:xfrm>
          <a:prstGeom prst="roundRect">
            <a:avLst>
              <a:gd name="adj" fmla="val 2319"/>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24688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box plot</a:t>
            </a:r>
            <a:r>
              <a:rPr lang="en-US" sz="2000" dirty="0">
                <a:solidFill>
                  <a:srgbClr val="2B1D19"/>
                </a:solidFill>
              </a:rPr>
              <a:t> – a chart that shows the median, the middle half and the spread of a group's values as a box with whiskers.</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outlier</a:t>
            </a:r>
            <a:r>
              <a:rPr lang="en-US" sz="2000" dirty="0">
                <a:solidFill>
                  <a:srgbClr val="2B1D19"/>
                </a:solidFill>
              </a:rPr>
              <a:t> – a value much further away from the rest of the values than most.</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headline title</a:t>
            </a:r>
            <a:r>
              <a:rPr lang="en-US" sz="2000" dirty="0">
                <a:solidFill>
                  <a:srgbClr val="2B1D19"/>
                </a:solidFill>
              </a:rPr>
              <a:t> – a chart title that states what the chart shows, rather than what it is.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REMEMBER</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The right chart can make a difference obvious. The wrong one can hide it.</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Our bar chart made Indie and other games look the same. Our split histogram showed the difference, but it was crowded.</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Box plots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A </a:t>
            </a:r>
            <a:r>
              <a:rPr lang="en-US" sz="1800" b="1" dirty="0">
                <a:solidFill>
                  <a:srgbClr val="F7EFE6"/>
                </a:solidFill>
              </a:rPr>
              <a:t>box plot</a:t>
            </a:r>
            <a:r>
              <a:rPr lang="en-US" sz="1800" dirty="0">
                <a:solidFill>
                  <a:srgbClr val="F7EFE6"/>
                </a:solidFill>
              </a:rPr>
              <a:t> squeezes a whole histogram into one box, so we can compare the spread of several groups side by side.</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When to use a box plot</a:t>
            </a:r>
            <a:endParaRPr lang="en-US" sz="2800" dirty="0"/>
          </a:p>
        </p:txBody>
      </p:sp>
      <p:sp>
        <p:nvSpPr>
          <p:cNvPr id="3" name="tip box"/>
          <p:cNvSpPr/>
          <p:nvPr/>
        </p:nvSpPr>
        <p:spPr>
          <a:xfrm>
            <a:off x="457200" y="1051560"/>
            <a:ext cx="8229600" cy="3317240"/>
          </a:xfrm>
          <a:prstGeom prst="roundRect">
            <a:avLst>
              <a:gd name="adj" fmla="val 2205"/>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When to use it</a:t>
            </a:r>
            <a:endParaRPr lang="en-US" sz="1600" dirty="0"/>
          </a:p>
        </p:txBody>
      </p:sp>
      <p:sp>
        <p:nvSpPr>
          <p:cNvPr id="5" name="Text 3"/>
          <p:cNvSpPr txBox="1"/>
          <p:nvPr/>
        </p:nvSpPr>
        <p:spPr>
          <a:xfrm>
            <a:off x="685800" y="1600200"/>
            <a:ext cx="7772400" cy="263144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2B1D19"/>
                </a:solidFill>
              </a:rPr>
              <a:t>​</a:t>
            </a:r>
            <a:r>
              <a:rPr lang="en-US" sz="1700" dirty="0">
                <a:solidFill>
                  <a:srgbClr val="2B1D19"/>
                </a:solidFill>
              </a:rPr>
              <a:t>we want to </a:t>
            </a:r>
            <a:r>
              <a:rPr lang="en-US" sz="1700" b="1" dirty="0">
                <a:solidFill>
                  <a:srgbClr val="2B1D19"/>
                </a:solidFill>
              </a:rPr>
              <a:t>compare the spread of a number across groups</a:t>
            </a:r>
            <a:endParaRPr lang="en-US" sz="1700" dirty="0"/>
          </a:p>
          <a:p>
            <a:pPr marL="342900" indent="-342900">
              <a:spcAft>
                <a:spcPts val="1000"/>
              </a:spcAft>
              <a:buSzPct val="100000"/>
              <a:buChar char="•"/>
            </a:pPr>
            <a:r>
              <a:rPr lang="en-US" sz="1700" dirty="0">
                <a:solidFill>
                  <a:srgbClr val="2B1D19"/>
                </a:solidFill>
              </a:rPr>
              <a:t>​</a:t>
            </a:r>
            <a:r>
              <a:rPr lang="en-US" sz="1700" dirty="0">
                <a:solidFill>
                  <a:srgbClr val="2B1D19"/>
                </a:solidFill>
              </a:rPr>
              <a:t>not just which median is higher, but whether the middle half sits higher</a:t>
            </a:r>
            <a:endParaRPr lang="en-US" sz="1700" dirty="0"/>
          </a:p>
          <a:p>
            <a:pPr marL="342900" indent="-342900">
              <a:spcAft>
                <a:spcPts val="1000"/>
              </a:spcAft>
              <a:buSzPct val="100000"/>
              <a:buChar char="•"/>
            </a:pPr>
            <a:r>
              <a:rPr lang="en-US" sz="1700" dirty="0">
                <a:solidFill>
                  <a:srgbClr val="2B1D19"/>
                </a:solidFill>
              </a:rPr>
              <a:t>​</a:t>
            </a:r>
            <a:r>
              <a:rPr lang="en-US" sz="1700" dirty="0">
                <a:solidFill>
                  <a:srgbClr val="2B1D19"/>
                </a:solidFill>
              </a:rPr>
              <a:t>and which group has more unusual values</a:t>
            </a:r>
            <a:endParaRPr lang="en-US" sz="1700" dirty="0"/>
          </a:p>
          <a:p>
            <a:pPr marL="342900" indent="-342900">
              <a:spcAft>
                <a:spcPts val="1000"/>
              </a:spcAft>
              <a:buSzPct val="100000"/>
              <a:buChar char="•"/>
            </a:pPr>
            <a:r>
              <a:rPr lang="en-US" sz="1700" dirty="0">
                <a:solidFill>
                  <a:srgbClr val="2B1D19"/>
                </a:solidFill>
              </a:rPr>
              <a:t>​</a:t>
            </a:r>
            <a:r>
              <a:rPr lang="en-US" sz="1700" dirty="0">
                <a:solidFill>
                  <a:srgbClr val="2B1D19"/>
                </a:solidFill>
              </a:rPr>
              <a:t>tidier than overlapping histograms, especially with three or more groups</a:t>
            </a:r>
            <a:endParaRPr lang="en-US" sz="1700" dirty="0"/>
          </a:p>
          <a:p>
            <a:pPr marL="342900" indent="-342900">
              <a:spcAft>
                <a:spcPts val="1000"/>
              </a:spcAft>
              <a:buSzPct val="100000"/>
              <a:buChar char="•"/>
            </a:pPr>
            <a:r>
              <a:rPr lang="en-US" sz="1700" dirty="0">
                <a:solidFill>
                  <a:srgbClr val="2B1D19"/>
                </a:solidFill>
              </a:rPr>
              <a:t>​</a:t>
            </a:r>
            <a:r>
              <a:rPr lang="en-US" sz="1700" b="1" dirty="0">
                <a:solidFill>
                  <a:srgbClr val="2B1D19"/>
                </a:solidFill>
              </a:rPr>
              <a:t>not</a:t>
            </a:r>
            <a:r>
              <a:rPr lang="en-US" sz="1700" dirty="0">
                <a:solidFill>
                  <a:srgbClr val="2B1D19"/>
                </a:solidFill>
              </a:rPr>
              <a:t> for an audience that has never seen one, unless we explain it first</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Our first box plot</a:t>
            </a:r>
            <a:endParaRPr lang="en-US" sz="2800" dirty="0"/>
          </a:p>
        </p:txBody>
      </p:sp>
      <p:sp>
        <p:nvSpPr>
          <p:cNvPr id="3" name="Code panel"/>
          <p:cNvSpPr/>
          <p:nvPr/>
        </p:nvSpPr>
        <p:spPr>
          <a:xfrm>
            <a:off x="457200" y="1051560"/>
            <a:ext cx="3840480" cy="1739265"/>
          </a:xfrm>
          <a:prstGeom prst="roundRect">
            <a:avLst>
              <a:gd name="adj" fmla="val 3154"/>
            </a:avLst>
          </a:prstGeom>
          <a:solidFill>
            <a:srgbClr val="2B1D19"/>
          </a:solidFill>
          <a:ln w="12700">
            <a:solidFill>
              <a:srgbClr val="2B1D19"/>
            </a:solidFill>
            <a:prstDash val="solid"/>
          </a:ln>
        </p:spPr>
      </p:sp>
      <p:sp>
        <p:nvSpPr>
          <p:cNvPr id="4" name="Text 2"/>
          <p:cNvSpPr txBox="1"/>
          <p:nvPr/>
        </p:nvSpPr>
        <p:spPr>
          <a:xfrm>
            <a:off x="640080" y="1161288"/>
            <a:ext cx="347472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3566160" cy="1156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px.box(</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    scored,</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    x="Group",</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    y="Review score",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5  </a:t>
            </a:r>
            <a:r>
              <a:rPr lang="en-US" sz="1400" dirty="0">
                <a:solidFill>
                  <a:srgbClr val="F7EFE6"/>
                </a:solidFill>
                <a:latin typeface="Courier New" pitchFamily="34" charset="0"/>
                <a:ea typeface="Courier New" pitchFamily="34" charset="-122"/>
                <a:cs typeface="Courier New" pitchFamily="34" charset="-120"/>
              </a:rPr>
              <a:t>)</a:t>
            </a:r>
            <a:endParaRPr lang="en-US" sz="1400" dirty="0"/>
          </a:p>
        </p:txBody>
      </p:sp>
      <p:sp>
        <p:nvSpPr>
          <p:cNvPr id="6" name="primm box"/>
          <p:cNvSpPr/>
          <p:nvPr/>
        </p:nvSpPr>
        <p:spPr>
          <a:xfrm>
            <a:off x="457200" y="2927985"/>
            <a:ext cx="3840480" cy="1285240"/>
          </a:xfrm>
          <a:prstGeom prst="roundRect">
            <a:avLst>
              <a:gd name="adj" fmla="val 5692"/>
            </a:avLst>
          </a:prstGeom>
          <a:solidFill>
            <a:srgbClr val="E6F2E6"/>
          </a:solidFill>
          <a:ln w="12700">
            <a:solidFill>
              <a:srgbClr val="E6F2E6"/>
            </a:solidFill>
            <a:prstDash val="solid"/>
          </a:ln>
        </p:spPr>
      </p:sp>
      <p:sp>
        <p:nvSpPr>
          <p:cNvPr id="7" name="Text 5"/>
          <p:cNvSpPr txBox="1"/>
          <p:nvPr/>
        </p:nvSpPr>
        <p:spPr>
          <a:xfrm>
            <a:off x="685800" y="3065145"/>
            <a:ext cx="338328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8" name="Text 6"/>
          <p:cNvSpPr txBox="1"/>
          <p:nvPr/>
        </p:nvSpPr>
        <p:spPr>
          <a:xfrm>
            <a:off x="685800" y="3430905"/>
            <a:ext cx="3383280" cy="5994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What will the chart look like? Which box will sit higher?</a:t>
            </a:r>
            <a:endParaRPr lang="en-US" sz="1500" dirty="0"/>
          </a:p>
        </p:txBody>
      </p:sp>
      <p:sp>
        <p:nvSpPr>
          <p:cNvPr id="9" name="Text 7"/>
          <p:cNvSpPr txBox="1"/>
          <p:nvPr/>
        </p:nvSpPr>
        <p:spPr>
          <a:xfrm>
            <a:off x="4572000" y="1051560"/>
            <a:ext cx="411480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0" name="Text 8"/>
          <p:cNvSpPr txBox="1"/>
          <p:nvPr/>
        </p:nvSpPr>
        <p:spPr>
          <a:xfrm>
            <a:off x="4572000" y="1399032"/>
            <a:ext cx="411480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A box plot shows the same comparison as our split histogram more simply, with one box per group. So </a:t>
            </a:r>
            <a:r>
              <a:rPr lang="en-US" sz="1300" dirty="0">
                <a:solidFill>
                  <a:srgbClr val="B86E1E"/>
                </a:solidFill>
                <a:latin typeface="Courier New" pitchFamily="34" charset="0"/>
                <a:ea typeface="Courier New" pitchFamily="34" charset="-122"/>
                <a:cs typeface="Courier New" pitchFamily="34" charset="-120"/>
              </a:rPr>
              <a:t>Group</a:t>
            </a:r>
            <a:r>
              <a:rPr lang="en-US" sz="1500" dirty="0">
                <a:solidFill>
                  <a:srgbClr val="2B1D19"/>
                </a:solidFill>
              </a:rPr>
              <a:t> goes on the x-axis and </a:t>
            </a:r>
            <a:r>
              <a:rPr lang="en-US" sz="1300" dirty="0">
                <a:solidFill>
                  <a:srgbClr val="B86E1E"/>
                </a:solidFill>
                <a:latin typeface="Courier New" pitchFamily="34" charset="0"/>
                <a:ea typeface="Courier New" pitchFamily="34" charset="-122"/>
                <a:cs typeface="Courier New" pitchFamily="34" charset="-120"/>
              </a:rPr>
              <a:t>Review score</a:t>
            </a:r>
            <a:r>
              <a:rPr lang="en-US" sz="1500" dirty="0">
                <a:solidFill>
                  <a:srgbClr val="2B1D19"/>
                </a:solidFill>
              </a:rPr>
              <a:t> on the y-axis.</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How to read a box plot</a:t>
            </a:r>
            <a:endParaRPr lang="en-US" sz="2800" dirty="0"/>
          </a:p>
        </p:txBody>
      </p:sp>
      <p:pic>
        <p:nvPicPr>
          <p:cNvPr id="3" name="Image 0" descr="Box plot with no title, showing a box for Not Indie on the left and Indie on the right; the Indie box sits slightly higher">    </p:cNvPr>
          <p:cNvPicPr>
            <a:picLocks noChangeAspect="1"/>
          </p:cNvPicPr>
          <p:nvPr/>
        </p:nvPicPr>
        <p:blipFill>
          <a:blip r:embed="rId1"/>
          <a:stretch>
            <a:fillRect/>
          </a:stretch>
        </p:blipFill>
        <p:spPr>
          <a:xfrm>
            <a:off x="3931920" y="1468120"/>
            <a:ext cx="4754880" cy="2641600"/>
          </a:xfrm>
          <a:prstGeom prst="rect">
            <a:avLst/>
          </a:prstGeom>
        </p:spPr>
      </p:pic>
      <p:sp>
        <p:nvSpPr>
          <p:cNvPr id="4" name="Text 1"/>
          <p:cNvSpPr txBox="1"/>
          <p:nvPr/>
        </p:nvSpPr>
        <p:spPr>
          <a:xfrm>
            <a:off x="457200" y="1097280"/>
            <a:ext cx="32004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the </a:t>
            </a:r>
            <a:r>
              <a:rPr lang="en-US" sz="1700" b="1" dirty="0">
                <a:solidFill>
                  <a:srgbClr val="2B1D19"/>
                </a:solidFill>
              </a:rPr>
              <a:t>line inside the box</a:t>
            </a:r>
            <a:r>
              <a:rPr lang="en-US" sz="1700" dirty="0">
                <a:solidFill>
                  <a:srgbClr val="2B1D19"/>
                </a:solidFill>
              </a:rPr>
              <a:t> is the median</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the </a:t>
            </a:r>
            <a:r>
              <a:rPr lang="en-US" sz="1700" b="1" dirty="0">
                <a:solidFill>
                  <a:srgbClr val="2B1D19"/>
                </a:solidFill>
              </a:rPr>
              <a:t>box</a:t>
            </a:r>
            <a:r>
              <a:rPr lang="en-US" sz="1700" dirty="0">
                <a:solidFill>
                  <a:srgbClr val="2B1D19"/>
                </a:solidFill>
              </a:rPr>
              <a:t> holds the middle half, from the 25% value to the 75% value</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the </a:t>
            </a:r>
            <a:r>
              <a:rPr lang="en-US" sz="1700" b="1" dirty="0">
                <a:solidFill>
                  <a:srgbClr val="2B1D19"/>
                </a:solidFill>
              </a:rPr>
              <a:t>whiskers</a:t>
            </a:r>
            <a:r>
              <a:rPr lang="en-US" sz="1700" dirty="0">
                <a:solidFill>
                  <a:srgbClr val="2B1D19"/>
                </a:solidFill>
              </a:rPr>
              <a:t> reach the most extreme values that aren't outliers</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the </a:t>
            </a:r>
            <a:r>
              <a:rPr lang="en-US" sz="1700" b="1" dirty="0">
                <a:solidFill>
                  <a:srgbClr val="2B1D19"/>
                </a:solidFill>
              </a:rPr>
              <a:t>dots</a:t>
            </a:r>
            <a:r>
              <a:rPr lang="en-US" sz="1700" dirty="0">
                <a:solidFill>
                  <a:srgbClr val="2B1D19"/>
                </a:solidFill>
              </a:rPr>
              <a:t> are </a:t>
            </a:r>
            <a:r>
              <a:rPr lang="en-US" sz="1700" b="1" dirty="0">
                <a:solidFill>
                  <a:srgbClr val="2B1D19"/>
                </a:solidFill>
              </a:rPr>
              <a:t>outliers</a:t>
            </a:r>
            <a:r>
              <a:rPr lang="en-US" sz="1700" dirty="0">
                <a:solidFill>
                  <a:srgbClr val="2B1D19"/>
                </a:solidFill>
              </a:rPr>
              <a:t>: much further away than the rest</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HOVER OVER EACH BOX</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The whole Indie box sits higher, not just its median</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Indie box: </a:t>
            </a:r>
            <a:r>
              <a:rPr lang="en-US" sz="1600" b="1" dirty="0">
                <a:solidFill>
                  <a:srgbClr val="F7EFE6"/>
                </a:solidFill>
              </a:rPr>
              <a:t>77.6</a:t>
            </a:r>
            <a:r>
              <a:rPr lang="en-US" sz="1600" dirty="0">
                <a:solidFill>
                  <a:srgbClr val="F7EFE6"/>
                </a:solidFill>
              </a:rPr>
              <a:t> to </a:t>
            </a:r>
            <a:r>
              <a:rPr lang="en-US" sz="1600" b="1" dirty="0">
                <a:solidFill>
                  <a:srgbClr val="F7EFE6"/>
                </a:solidFill>
              </a:rPr>
              <a:t>92.7</a:t>
            </a:r>
            <a:r>
              <a:rPr lang="en-US" sz="1600" dirty="0">
                <a:solidFill>
                  <a:srgbClr val="F7EFE6"/>
                </a:solidFill>
              </a:rPr>
              <a:t>. Not Indie box: </a:t>
            </a:r>
            <a:r>
              <a:rPr lang="en-US" sz="1600" b="1" dirty="0">
                <a:solidFill>
                  <a:srgbClr val="F7EFE6"/>
                </a:solidFill>
              </a:rPr>
              <a:t>72.7</a:t>
            </a:r>
            <a:r>
              <a:rPr lang="en-US" sz="1600" dirty="0">
                <a:solidFill>
                  <a:srgbClr val="F7EFE6"/>
                </a:solidFill>
              </a:rPr>
              <a:t> to </a:t>
            </a:r>
            <a:r>
              <a:rPr lang="en-US" sz="1600" b="1" dirty="0">
                <a:solidFill>
                  <a:srgbClr val="F7EFE6"/>
                </a:solidFill>
              </a:rPr>
              <a:t>90.5</a:t>
            </a:r>
            <a:r>
              <a:rPr lang="en-US" sz="1600" dirty="0">
                <a:solidFill>
                  <a:srgbClr val="F7EFE6"/>
                </a:solidFill>
              </a:rPr>
              <a:t>.</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Modify: a box plot of prices</a:t>
            </a:r>
            <a:endParaRPr lang="en-US" sz="2800" dirty="0"/>
          </a:p>
        </p:txBody>
      </p:sp>
      <p:sp>
        <p:nvSpPr>
          <p:cNvPr id="3" name="primm box"/>
          <p:cNvSpPr/>
          <p:nvPr/>
        </p:nvSpPr>
        <p:spPr>
          <a:xfrm>
            <a:off x="457200" y="1051560"/>
            <a:ext cx="8229600" cy="1732280"/>
          </a:xfrm>
          <a:prstGeom prst="roundRect">
            <a:avLst>
              <a:gd name="adj" fmla="val 4223"/>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0464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Change </a:t>
            </a:r>
            <a:r>
              <a:rPr lang="en-US" sz="1800" dirty="0">
                <a:solidFill>
                  <a:srgbClr val="B86E1E"/>
                </a:solidFill>
                <a:latin typeface="Courier New" pitchFamily="34" charset="0"/>
                <a:ea typeface="Courier New" pitchFamily="34" charset="-122"/>
                <a:cs typeface="Courier New" pitchFamily="34" charset="-120"/>
              </a:rPr>
              <a:t>"Review score"</a:t>
            </a:r>
            <a:r>
              <a:rPr lang="en-US" sz="2000" dirty="0">
                <a:solidFill>
                  <a:srgbClr val="2B1D19"/>
                </a:solidFill>
              </a:rPr>
              <a:t> to </a:t>
            </a:r>
            <a:r>
              <a:rPr lang="en-US" sz="1800" dirty="0">
                <a:solidFill>
                  <a:srgbClr val="B86E1E"/>
                </a:solidFill>
                <a:latin typeface="Courier New" pitchFamily="34" charset="0"/>
                <a:ea typeface="Courier New" pitchFamily="34" charset="-122"/>
                <a:cs typeface="Courier New" pitchFamily="34" charset="-120"/>
              </a:rPr>
              <a:t>"Price"</a:t>
            </a:r>
            <a:r>
              <a:rPr lang="en-US" sz="2000" dirty="0">
                <a:solidFill>
                  <a:srgbClr val="2B1D19"/>
                </a:solidFill>
              </a:rPr>
              <a:t>.</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What do the boxes tell us about prices?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Choosing a chart</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Different charts answer different kinds of questions.</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Which chart answers our question?</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4206240"/>
                <a:gridCol w="1828800"/>
                <a:gridCol w="2194560"/>
              </a:tblGrid>
              <a:tr h="0">
                <a:tc>
                  <a:txBody>
                    <a:bodyPr/>
                    <a:lstStyle/>
                    <a:p>
                      <a:pPr indent="0" marL="0">
                        <a:buNone/>
                      </a:pPr>
                      <a:r>
                        <a:rPr lang="en-US" sz="1400" b="1" dirty="0">
                          <a:solidFill>
                            <a:srgbClr val="FFFFFF"/>
                          </a:solidFill>
                        </a:rPr>
                        <a:t>Our question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Chart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Plotly Express function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how does one number compare across groups?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bar chart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px.bar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how are values spread out?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histogram</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px.histogram</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how does the spread compare between groups?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box plot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px.box</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how does something change over time?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line chart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px.line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are two number columns related?</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scatter plot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px.scatter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Making a chart better</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Our box plot works, but it's not ready for an audience yet.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What's wrong with our box plot?</a:t>
            </a:r>
            <a:endParaRPr lang="en-US" sz="2800" dirty="0"/>
          </a:p>
        </p:txBody>
      </p:sp>
      <p:pic>
        <p:nvPicPr>
          <p:cNvPr id="3" name="Image 0" descr="Box plot with no title, showing a box for Not Indie on the left and Indie on the right">    </p:cNvPr>
          <p:cNvPicPr>
            <a:picLocks noChangeAspect="1"/>
          </p:cNvPicPr>
          <p:nvPr/>
        </p:nvPicPr>
        <p:blipFill>
          <a:blip r:embed="rId1"/>
          <a:stretch>
            <a:fillRect/>
          </a:stretch>
        </p:blipFill>
        <p:spPr>
          <a:xfrm>
            <a:off x="3931920" y="1468120"/>
            <a:ext cx="4754880" cy="2641600"/>
          </a:xfrm>
          <a:prstGeom prst="rect">
            <a:avLst/>
          </a:prstGeom>
        </p:spPr>
      </p:pic>
      <p:sp>
        <p:nvSpPr>
          <p:cNvPr id="4" name="Text 1"/>
          <p:cNvSpPr txBox="1"/>
          <p:nvPr/>
        </p:nvSpPr>
        <p:spPr>
          <a:xfrm>
            <a:off x="457200" y="1097280"/>
            <a:ext cx="3200400" cy="338328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it has </a:t>
            </a:r>
            <a:r>
              <a:rPr lang="en-US" sz="1700" b="1" dirty="0">
                <a:solidFill>
                  <a:srgbClr val="2B1D19"/>
                </a:solidFill>
              </a:rPr>
              <a:t>no title</a:t>
            </a:r>
            <a:r>
              <a:rPr lang="en-US" sz="1700" dirty="0">
                <a:solidFill>
                  <a:srgbClr val="2B1D19"/>
                </a:solidFill>
              </a:rPr>
              <a:t>, so the audience doesn't know what it's about</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the y-axis says </a:t>
            </a:r>
            <a:r>
              <a:rPr lang="en-US" sz="1500" dirty="0">
                <a:solidFill>
                  <a:srgbClr val="B86E1E"/>
                </a:solidFill>
                <a:latin typeface="Courier New" pitchFamily="34" charset="0"/>
                <a:ea typeface="Courier New" pitchFamily="34" charset="-122"/>
                <a:cs typeface="Courier New" pitchFamily="34" charset="-120"/>
              </a:rPr>
              <a:t>Review score</a:t>
            </a:r>
            <a:r>
              <a:rPr lang="en-US" sz="1700" dirty="0">
                <a:solidFill>
                  <a:srgbClr val="2B1D19"/>
                </a:solidFill>
              </a:rPr>
              <a:t>, which our audience hasn't heard of</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the x-axis label </a:t>
            </a:r>
            <a:r>
              <a:rPr lang="en-US" sz="1500" dirty="0">
                <a:solidFill>
                  <a:srgbClr val="B86E1E"/>
                </a:solidFill>
                <a:latin typeface="Courier New" pitchFamily="34" charset="0"/>
                <a:ea typeface="Courier New" pitchFamily="34" charset="-122"/>
                <a:cs typeface="Courier New" pitchFamily="34" charset="-120"/>
              </a:rPr>
              <a:t>Group</a:t>
            </a:r>
            <a:r>
              <a:rPr lang="en-US" sz="1700" dirty="0">
                <a:solidFill>
                  <a:srgbClr val="2B1D19"/>
                </a:solidFill>
              </a:rPr>
              <a:t> doesn't add anything</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dirty="0">
                <a:solidFill>
                  <a:srgbClr val="2B1D19"/>
                </a:solidFill>
              </a:rPr>
              <a:t>both boxes are the same colour, and </a:t>
            </a:r>
            <a:r>
              <a:rPr lang="en-US" sz="1500" dirty="0">
                <a:solidFill>
                  <a:srgbClr val="B86E1E"/>
                </a:solidFill>
                <a:latin typeface="Courier New" pitchFamily="34" charset="0"/>
                <a:ea typeface="Courier New" pitchFamily="34" charset="-122"/>
                <a:cs typeface="Courier New" pitchFamily="34" charset="-120"/>
              </a:rPr>
              <a:t>Not Indie</a:t>
            </a:r>
            <a:r>
              <a:rPr lang="en-US" sz="1700" dirty="0">
                <a:solidFill>
                  <a:srgbClr val="2B1D19"/>
                </a:solidFill>
              </a:rPr>
              <a:t> comes first</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One fix for each problem</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5852160"/>
              </a:tblGrid>
              <a:tr h="0">
                <a:tc>
                  <a:txBody>
                    <a:bodyPr/>
                    <a:lstStyle/>
                    <a:p>
                      <a:pPr indent="0" marL="0">
                        <a:buNone/>
                      </a:pPr>
                      <a:r>
                        <a:rPr lang="en-US" sz="1400" b="1" dirty="0">
                          <a:solidFill>
                            <a:srgbClr val="FFFFFF"/>
                          </a:solidFill>
                        </a:rPr>
                        <a:t>Fix</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What it does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200" dirty="0">
                          <a:solidFill>
                            <a:srgbClr val="B86E1E"/>
                          </a:solidFill>
                          <a:latin typeface="Courier New" pitchFamily="34" charset="0"/>
                          <a:ea typeface="Courier New" pitchFamily="34" charset="-122"/>
                          <a:cs typeface="Courier New" pitchFamily="34" charset="-120"/>
                        </a:rPr>
                        <a:t>color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gives each group its own colour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200" dirty="0">
                          <a:solidFill>
                            <a:srgbClr val="B86E1E"/>
                          </a:solidFill>
                          <a:latin typeface="Courier New" pitchFamily="34" charset="0"/>
                          <a:ea typeface="Courier New" pitchFamily="34" charset="-122"/>
                          <a:cs typeface="Courier New" pitchFamily="34" charset="-120"/>
                        </a:rPr>
                        <a:t>category_orders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puts Indie first, because it's the focus of our story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200" dirty="0">
                          <a:solidFill>
                            <a:srgbClr val="B86E1E"/>
                          </a:solidFill>
                          <a:latin typeface="Courier New" pitchFamily="34" charset="0"/>
                          <a:ea typeface="Courier New" pitchFamily="34" charset="-122"/>
                          <a:cs typeface="Courier New" pitchFamily="34" charset="-120"/>
                        </a:rPr>
                        <a:t>labels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swaps column names for words our audience understands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200" dirty="0">
                          <a:solidFill>
                            <a:srgbClr val="B86E1E"/>
                          </a:solidFill>
                          <a:latin typeface="Courier New" pitchFamily="34" charset="0"/>
                          <a:ea typeface="Courier New" pitchFamily="34" charset="-122"/>
                          <a:cs typeface="Courier New" pitchFamily="34" charset="-120"/>
                        </a:rPr>
                        <a:t>title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states the finding</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Make the box plot ready for an audience</a:t>
            </a:r>
            <a:endParaRPr lang="en-US" sz="2800" dirty="0"/>
          </a:p>
        </p:txBody>
      </p:sp>
      <p:sp>
        <p:nvSpPr>
          <p:cNvPr id="3" name="Code panel"/>
          <p:cNvSpPr/>
          <p:nvPr/>
        </p:nvSpPr>
        <p:spPr>
          <a:xfrm>
            <a:off x="457200" y="1051560"/>
            <a:ext cx="8229600" cy="2691765"/>
          </a:xfrm>
          <a:prstGeom prst="roundRect">
            <a:avLst>
              <a:gd name="adj" fmla="val 2038"/>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change existing cell</a:t>
            </a:r>
            <a:endParaRPr lang="en-US" sz="1200" dirty="0"/>
          </a:p>
        </p:txBody>
      </p:sp>
      <p:sp>
        <p:nvSpPr>
          <p:cNvPr id="5" name="Highlight"/>
          <p:cNvSpPr/>
          <p:nvPr/>
        </p:nvSpPr>
        <p:spPr>
          <a:xfrm>
            <a:off x="530352" y="2461260"/>
            <a:ext cx="8083296" cy="238125"/>
          </a:xfrm>
          <a:prstGeom prst="rect">
            <a:avLst/>
          </a:prstGeom>
          <a:solidFill>
            <a:srgbClr val="5A3A1E"/>
          </a:solidFill>
          <a:ln w="12700">
            <a:solidFill>
              <a:srgbClr val="5A3A1E"/>
            </a:solidFill>
            <a:prstDash val="solid"/>
          </a:ln>
        </p:spPr>
      </p:sp>
      <p:sp>
        <p:nvSpPr>
          <p:cNvPr id="6" name="Highlight"/>
          <p:cNvSpPr/>
          <p:nvPr/>
        </p:nvSpPr>
        <p:spPr>
          <a:xfrm>
            <a:off x="530352" y="2699385"/>
            <a:ext cx="8083296" cy="238125"/>
          </a:xfrm>
          <a:prstGeom prst="rect">
            <a:avLst/>
          </a:prstGeom>
          <a:solidFill>
            <a:srgbClr val="5A3A1E"/>
          </a:solidFill>
          <a:ln w="12700">
            <a:solidFill>
              <a:srgbClr val="5A3A1E"/>
            </a:solidFill>
            <a:prstDash val="solid"/>
          </a:ln>
        </p:spPr>
      </p:sp>
      <p:sp>
        <p:nvSpPr>
          <p:cNvPr id="7" name="Highlight"/>
          <p:cNvSpPr/>
          <p:nvPr/>
        </p:nvSpPr>
        <p:spPr>
          <a:xfrm>
            <a:off x="530352" y="2937510"/>
            <a:ext cx="8083296" cy="238125"/>
          </a:xfrm>
          <a:prstGeom prst="rect">
            <a:avLst/>
          </a:prstGeom>
          <a:solidFill>
            <a:srgbClr val="5A3A1E"/>
          </a:solidFill>
          <a:ln w="12700">
            <a:solidFill>
              <a:srgbClr val="5A3A1E"/>
            </a:solidFill>
            <a:prstDash val="solid"/>
          </a:ln>
        </p:spPr>
      </p:sp>
      <p:sp>
        <p:nvSpPr>
          <p:cNvPr id="8" name="Highlight"/>
          <p:cNvSpPr/>
          <p:nvPr/>
        </p:nvSpPr>
        <p:spPr>
          <a:xfrm>
            <a:off x="530352" y="3175635"/>
            <a:ext cx="8083296" cy="238125"/>
          </a:xfrm>
          <a:prstGeom prst="rect">
            <a:avLst/>
          </a:prstGeom>
          <a:solidFill>
            <a:srgbClr val="5A3A1E"/>
          </a:solidFill>
          <a:ln w="12700">
            <a:solidFill>
              <a:srgbClr val="5A3A1E"/>
            </a:solidFill>
            <a:prstDash val="solid"/>
          </a:ln>
        </p:spPr>
      </p:sp>
      <p:sp>
        <p:nvSpPr>
          <p:cNvPr id="9" name="Code"/>
          <p:cNvSpPr txBox="1"/>
          <p:nvPr/>
        </p:nvSpPr>
        <p:spPr>
          <a:xfrm>
            <a:off x="594360" y="1508760"/>
            <a:ext cx="7955280" cy="2188845"/>
          </a:xfrm>
          <a:prstGeom prst="rect">
            <a:avLst/>
          </a:prstGeom>
          <a:noFill/>
          <a:ln/>
        </p:spPr>
        <p:txBody>
          <a:bodyPr wrap="square" lIns="0" tIns="0" rIns="0" bIns="0" rtlCol="0" anchor="t"/>
          <a:lstStyle/>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1  </a:t>
            </a:r>
            <a:r>
              <a:rPr lang="en-US" sz="1500" dirty="0">
                <a:solidFill>
                  <a:srgbClr val="F7EFE6"/>
                </a:solidFill>
                <a:latin typeface="Courier New" pitchFamily="34" charset="0"/>
                <a:ea typeface="Courier New" pitchFamily="34" charset="-122"/>
                <a:cs typeface="Courier New" pitchFamily="34" charset="-120"/>
              </a:rPr>
              <a:t>px.box(</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2  </a:t>
            </a:r>
            <a:r>
              <a:rPr lang="en-US" sz="1500" dirty="0">
                <a:solidFill>
                  <a:srgbClr val="F7EFE6"/>
                </a:solidFill>
                <a:latin typeface="Courier New" pitchFamily="34" charset="0"/>
                <a:ea typeface="Courier New" pitchFamily="34" charset="-122"/>
                <a:cs typeface="Courier New" pitchFamily="34" charset="-120"/>
              </a:rPr>
              <a:t>    scored,</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3  </a:t>
            </a:r>
            <a:r>
              <a:rPr lang="en-US" sz="1500" dirty="0">
                <a:solidFill>
                  <a:srgbClr val="F7EFE6"/>
                </a:solidFill>
                <a:latin typeface="Courier New" pitchFamily="34" charset="0"/>
                <a:ea typeface="Courier New" pitchFamily="34" charset="-122"/>
                <a:cs typeface="Courier New" pitchFamily="34" charset="-120"/>
              </a:rPr>
              <a:t>    x="Group",</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4  </a:t>
            </a:r>
            <a:r>
              <a:rPr lang="en-US" sz="1500" dirty="0">
                <a:solidFill>
                  <a:srgbClr val="F7EFE6"/>
                </a:solidFill>
                <a:latin typeface="Courier New" pitchFamily="34" charset="0"/>
                <a:ea typeface="Courier New" pitchFamily="34" charset="-122"/>
                <a:cs typeface="Courier New" pitchFamily="34" charset="-120"/>
              </a:rPr>
              <a:t>    y="Review score",</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5  </a:t>
            </a:r>
            <a:r>
              <a:rPr lang="en-US" sz="1500" dirty="0">
                <a:solidFill>
                  <a:srgbClr val="F7EFE6"/>
                </a:solidFill>
                <a:latin typeface="Courier New" pitchFamily="34" charset="0"/>
                <a:ea typeface="Courier New" pitchFamily="34" charset="-122"/>
                <a:cs typeface="Courier New" pitchFamily="34" charset="-120"/>
              </a:rPr>
              <a:t>    color="Group",</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6  </a:t>
            </a:r>
            <a:r>
              <a:rPr lang="en-US" sz="1500" dirty="0">
                <a:solidFill>
                  <a:srgbClr val="F7EFE6"/>
                </a:solidFill>
                <a:latin typeface="Courier New" pitchFamily="34" charset="0"/>
                <a:ea typeface="Courier New" pitchFamily="34" charset="-122"/>
                <a:cs typeface="Courier New" pitchFamily="34" charset="-120"/>
              </a:rPr>
              <a:t>    category_orders={"Group": ["Indie", "Not Indie"]},</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7  </a:t>
            </a:r>
            <a:r>
              <a:rPr lang="en-US" sz="1500" dirty="0">
                <a:solidFill>
                  <a:srgbClr val="F7EFE6"/>
                </a:solidFill>
                <a:latin typeface="Courier New" pitchFamily="34" charset="0"/>
                <a:ea typeface="Courier New" pitchFamily="34" charset="-122"/>
                <a:cs typeface="Courier New" pitchFamily="34" charset="-120"/>
              </a:rPr>
              <a:t>    labels={"Group": "", "Review score": "Positive reviews (%)"},</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8  </a:t>
            </a:r>
            <a:r>
              <a:rPr lang="en-US" sz="1500" dirty="0">
                <a:solidFill>
                  <a:srgbClr val="F7EFE6"/>
                </a:solidFill>
                <a:latin typeface="Courier New" pitchFamily="34" charset="0"/>
                <a:ea typeface="Courier New" pitchFamily="34" charset="-122"/>
                <a:cs typeface="Courier New" pitchFamily="34" charset="-120"/>
              </a:rPr>
              <a:t>    title="Indie games get a higher share of positive reviews",</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9  </a:t>
            </a:r>
            <a:r>
              <a:rPr lang="en-US" sz="1500" dirty="0">
                <a:solidFill>
                  <a:srgbClr val="F7EFE6"/>
                </a:solidFill>
                <a:latin typeface="Courier New" pitchFamily="34" charset="0"/>
                <a:ea typeface="Courier New" pitchFamily="34" charset="-122"/>
                <a:cs typeface="Courier New" pitchFamily="34" charset="-120"/>
              </a:rPr>
              <a:t>)</a:t>
            </a:r>
            <a:endParaRPr lang="en-US" sz="1500" dirty="0"/>
          </a:p>
        </p:txBody>
      </p:sp>
      <p:sp>
        <p:nvSpPr>
          <p:cNvPr id="10" name="Text 8"/>
          <p:cNvSpPr txBox="1"/>
          <p:nvPr/>
        </p:nvSpPr>
        <p:spPr>
          <a:xfrm>
            <a:off x="457200" y="3834765"/>
            <a:ext cx="8229600" cy="4419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Lines 5 to 8 fix our four problems: colour, order, labels and title.</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A chart ready for an audience</a:t>
            </a:r>
            <a:endParaRPr lang="en-US" sz="2800" dirty="0"/>
          </a:p>
        </p:txBody>
      </p:sp>
      <p:pic>
        <p:nvPicPr>
          <p:cNvPr id="3" name="Image 0" descr="Box plot titled Indie games get a higher share of positive reviews, with a blue Indie box on the left and a red Not Indie box on the right, and the y-axis labelled Positive reviews (%)">    </p:cNvPr>
          <p:cNvPicPr>
            <a:picLocks noChangeAspect="1"/>
          </p:cNvPicPr>
          <p:nvPr/>
        </p:nvPicPr>
        <p:blipFill>
          <a:blip r:embed="rId1"/>
          <a:stretch>
            <a:fillRect/>
          </a:stretch>
        </p:blipFill>
        <p:spPr>
          <a:xfrm>
            <a:off x="1897380" y="1051560"/>
            <a:ext cx="5349240" cy="2971800"/>
          </a:xfrm>
          <a:prstGeom prst="rect">
            <a:avLst/>
          </a:prstGeom>
        </p:spPr>
      </p:pic>
      <p:sp>
        <p:nvSpPr>
          <p:cNvPr id="4" name="Text 1"/>
          <p:cNvSpPr txBox="1"/>
          <p:nvPr/>
        </p:nvSpPr>
        <p:spPr>
          <a:xfrm>
            <a:off x="457200" y="4069080"/>
            <a:ext cx="8229600" cy="411480"/>
          </a:xfrm>
          <a:prstGeom prst="rect">
            <a:avLst/>
          </a:prstGeom>
          <a:noFill/>
          <a:ln/>
        </p:spPr>
        <p:txBody>
          <a:bodyPr wrap="square" lIns="0" tIns="0" rIns="0" bIns="0" rtlCol="0" anchor="ctr"/>
          <a:lstStyle/>
          <a:p>
            <a:pPr algn="ctr" indent="0" marL="0">
              <a:spcAft>
                <a:spcPts val="800"/>
              </a:spcAft>
              <a:buNone/>
            </a:pPr>
            <a:r>
              <a:rPr lang="en-US" sz="1300" i="1" dirty="0">
                <a:solidFill>
                  <a:srgbClr val="6B6B6B"/>
                </a:solidFill>
              </a:rPr>
              <a:t>​</a:t>
            </a:r>
            <a:r>
              <a:rPr lang="en-US" sz="1300" i="1" dirty="0">
                <a:solidFill>
                  <a:srgbClr val="6B6B6B"/>
                </a:solidFill>
              </a:rPr>
              <a:t>Indie first and in blue, a clear y-axis label, and a title that states the finding.</a:t>
            </a:r>
            <a:endParaRPr lang="en-US" sz="13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TITLES THAT TELL</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Indie games get a higher share of positive reviews</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This </a:t>
            </a:r>
            <a:r>
              <a:rPr lang="en-US" sz="1600" b="1" dirty="0">
                <a:solidFill>
                  <a:srgbClr val="F7EFE6"/>
                </a:solidFill>
              </a:rPr>
              <a:t>headline title</a:t>
            </a:r>
            <a:r>
              <a:rPr lang="en-US" sz="1600" dirty="0">
                <a:solidFill>
                  <a:srgbClr val="F7EFE6"/>
                </a:solidFill>
              </a:rPr>
              <a:t> says what the chart </a:t>
            </a:r>
            <a:r>
              <a:rPr lang="en-US" sz="1600" b="1" dirty="0">
                <a:solidFill>
                  <a:srgbClr val="F7EFE6"/>
                </a:solidFill>
              </a:rPr>
              <a:t>shows</a:t>
            </a:r>
            <a:r>
              <a:rPr lang="en-US" sz="1600" dirty="0">
                <a:solidFill>
                  <a:srgbClr val="F7EFE6"/>
                </a:solidFill>
              </a:rPr>
              <a:t>, not what it </a:t>
            </a:r>
            <a:r>
              <a:rPr lang="en-US" sz="1600" b="1" dirty="0">
                <a:solidFill>
                  <a:srgbClr val="F7EFE6"/>
                </a:solidFill>
              </a:rPr>
              <a:t>is</a:t>
            </a:r>
            <a:r>
              <a:rPr lang="en-US" sz="1600" dirty="0">
                <a:solidFill>
                  <a:srgbClr val="F7EFE6"/>
                </a:solidFill>
              </a:rPr>
              <a:t> ("Review scores by group"). Our audience gets the finding before they even read the axes.</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Keep colours the same</a:t>
            </a:r>
            <a:endParaRPr lang="en-US" sz="2800" dirty="0"/>
          </a:p>
        </p:txBody>
      </p:sp>
      <p:sp>
        <p:nvSpPr>
          <p:cNvPr id="3" name="tip box"/>
          <p:cNvSpPr/>
          <p:nvPr/>
        </p:nvSpPr>
        <p:spPr>
          <a:xfrm>
            <a:off x="457200" y="1051560"/>
            <a:ext cx="8229600" cy="2214880"/>
          </a:xfrm>
          <a:prstGeom prst="roundRect">
            <a:avLst>
              <a:gd name="adj" fmla="val 33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Tip</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With </a:t>
            </a:r>
            <a:r>
              <a:rPr lang="en-US" sz="1800" dirty="0">
                <a:solidFill>
                  <a:srgbClr val="B86E1E"/>
                </a:solidFill>
                <a:latin typeface="Courier New" pitchFamily="34" charset="0"/>
                <a:ea typeface="Courier New" pitchFamily="34" charset="-122"/>
                <a:cs typeface="Courier New" pitchFamily="34" charset="-120"/>
              </a:rPr>
              <a:t>category_orders</a:t>
            </a:r>
            <a:r>
              <a:rPr lang="en-US" sz="2000" dirty="0">
                <a:solidFill>
                  <a:srgbClr val="2B1D19"/>
                </a:solidFill>
              </a:rPr>
              <a:t>, Indie is always first, so Plotly always gives it the first colour: blue. If we use the same order on every chart, Indie stays blue throughout our story, and our audience doesn't have to read the legend each time.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A headline must be true</a:t>
            </a:r>
            <a:endParaRPr lang="en-US" sz="2800" dirty="0"/>
          </a:p>
        </p:txBody>
      </p:sp>
      <p:sp>
        <p:nvSpPr>
          <p:cNvPr id="3" name="warning box"/>
          <p:cNvSpPr/>
          <p:nvPr/>
        </p:nvSpPr>
        <p:spPr>
          <a:xfrm>
            <a:off x="457200" y="1051560"/>
            <a:ext cx="8229600" cy="2214880"/>
          </a:xfrm>
          <a:prstGeom prst="roundRect">
            <a:avLst>
              <a:gd name="adj" fmla="val 330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A headline title is a claim, so it has to match the data. Before we write one, we check the numbers behind it. Ours is true for the medians and the middle half of each group, but there are still plenty of Indie games with low scores.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Modify: write your own headline</a:t>
            </a:r>
            <a:endParaRPr lang="en-US" sz="2800" dirty="0"/>
          </a:p>
        </p:txBody>
      </p:sp>
      <p:sp>
        <p:nvSpPr>
          <p:cNvPr id="3" name="primm box"/>
          <p:cNvSpPr/>
          <p:nvPr/>
        </p:nvSpPr>
        <p:spPr>
          <a:xfrm>
            <a:off x="457200" y="1051560"/>
            <a:ext cx="8229600" cy="1605280"/>
          </a:xfrm>
          <a:prstGeom prst="roundRect">
            <a:avLst>
              <a:gd name="adj" fmla="val 4557"/>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9194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Write a different headline title that still states the finding.</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What does the box in a box plot show?</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Which chart would we use to see whether two number columns are related?</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What is the difference between a headline title and a normal title?</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do we use </a:t>
            </a:r>
            <a:r>
              <a:rPr lang="en-US" sz="1800" dirty="0">
                <a:solidFill>
                  <a:srgbClr val="E8A55A"/>
                </a:solidFill>
                <a:latin typeface="Courier New" pitchFamily="34" charset="0"/>
                <a:ea typeface="Courier New" pitchFamily="34" charset="-122"/>
                <a:cs typeface="Courier New" pitchFamily="34" charset="-120"/>
              </a:rPr>
              <a:t>category_orders</a:t>
            </a:r>
            <a:r>
              <a:rPr lang="en-US" sz="2000" dirty="0">
                <a:solidFill>
                  <a:srgbClr val="FFFFFF"/>
                </a:solidFill>
              </a:rPr>
              <a:t> on every chart?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Your data story</a:t>
            </a:r>
            <a:endParaRPr lang="en-US" sz="2800" dirty="0"/>
          </a:p>
        </p:txBody>
      </p:sp>
      <p:sp>
        <p:nvSpPr>
          <p:cNvPr id="3" name="Shape 1"/>
          <p:cNvSpPr/>
          <p:nvPr/>
        </p:nvSpPr>
        <p:spPr>
          <a:xfrm>
            <a:off x="457200" y="1051560"/>
            <a:ext cx="2651760" cy="3429000"/>
          </a:xfrm>
          <a:prstGeom prst="roundRect">
            <a:avLst>
              <a:gd name="adj" fmla="val 2759"/>
            </a:avLst>
          </a:prstGeom>
          <a:solidFill>
            <a:srgbClr val="4E342E"/>
          </a:solidFill>
          <a:ln w="12700">
            <a:solidFill>
              <a:srgbClr val="4E342E"/>
            </a:solidFill>
            <a:prstDash val="solid"/>
          </a:ln>
        </p:spPr>
      </p:sp>
      <p:sp>
        <p:nvSpPr>
          <p:cNvPr id="4" name="Text 2"/>
          <p:cNvSpPr txBox="1"/>
          <p:nvPr/>
        </p:nvSpPr>
        <p:spPr>
          <a:xfrm>
            <a:off x="685800" y="1280160"/>
            <a:ext cx="2194560" cy="822960"/>
          </a:xfrm>
          <a:prstGeom prst="rect">
            <a:avLst/>
          </a:prstGeom>
          <a:noFill/>
          <a:ln/>
        </p:spPr>
        <p:txBody>
          <a:bodyPr wrap="square" lIns="0" tIns="0" rIns="0" bIns="0" rtlCol="0" anchor="t"/>
          <a:lstStyle/>
          <a:p>
            <a:pPr indent="0" marL="0">
              <a:buNone/>
            </a:pPr>
            <a:r>
              <a:rPr lang="en-US" sz="1500" dirty="0">
                <a:solidFill>
                  <a:srgbClr val="F7EFE6"/>
                </a:solidFill>
              </a:rPr>
              <a:t>In my_data_story.md, add the heading</a:t>
            </a:r>
            <a:endParaRPr lang="en-US" sz="1500" dirty="0"/>
          </a:p>
        </p:txBody>
      </p:sp>
      <p:sp>
        <p:nvSpPr>
          <p:cNvPr id="5" name="Text 3"/>
          <p:cNvSpPr txBox="1"/>
          <p:nvPr/>
        </p:nvSpPr>
        <p:spPr>
          <a:xfrm>
            <a:off x="685800" y="2148840"/>
            <a:ext cx="2194560" cy="1097280"/>
          </a:xfrm>
          <a:prstGeom prst="rect">
            <a:avLst/>
          </a:prstGeom>
          <a:noFill/>
          <a:ln/>
        </p:spPr>
        <p:txBody>
          <a:bodyPr wrap="square" lIns="0" tIns="0" rIns="0" bIns="0" rtlCol="0" anchor="t">
            <a:normAutofit/>
          </a:bodyPr>
          <a:lstStyle/>
          <a:p>
            <a:pPr indent="0" marL="0">
              <a:buNone/>
            </a:pPr>
            <a:r>
              <a:rPr lang="en-US" sz="1800" b="1" dirty="0">
                <a:solidFill>
                  <a:srgbClr val="E8A55A"/>
                </a:solidFill>
                <a:latin typeface="Courier New" pitchFamily="34" charset="0"/>
                <a:ea typeface="Courier New" pitchFamily="34" charset="-122"/>
                <a:cs typeface="Courier New" pitchFamily="34" charset="-120"/>
              </a:rPr>
              <a:t>## Better charts</a:t>
            </a:r>
            <a:endParaRPr lang="en-US" sz="1800" dirty="0"/>
          </a:p>
        </p:txBody>
      </p:sp>
      <p:sp>
        <p:nvSpPr>
          <p:cNvPr id="6" name="Text 4"/>
          <p:cNvSpPr txBox="1"/>
          <p:nvPr/>
        </p:nvSpPr>
        <p:spPr>
          <a:xfrm>
            <a:off x="3383280" y="1097280"/>
            <a:ext cx="5303520" cy="3383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Choose the best chart for your question, using the chart table. Write down why it suits your question.</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Draw it, then improve it with a headline title, clear labels and colours. Record the title.</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Show your chart to someone else for ten seconds, then ask them what it shows. Did they get your finding? Write down what they said.</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Box Plots and Better Charts</dc:title>
  <dc:subject>PptxGenJS Presentation</dc:subject>
  <dc:creator>Steam Data Stories</dc:creator>
  <cp:lastModifiedBy>Steam Data Stories</cp:lastModifiedBy>
  <cp:revision>1</cp:revision>
  <dcterms:created xsi:type="dcterms:W3CDTF">2026-10-12T04:52:44Z</dcterms:created>
  <dcterms:modified xsi:type="dcterms:W3CDTF">2026-10-12T04:52:44Z</dcterms:modified>
</cp:coreProperties>
</file>