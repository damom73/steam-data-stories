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b6b7661-9b4f-0326-88ed-be60de462b6d}">
          <p14:sldIdLst>
            <p14:sldId id="256"/>
            <p14:sldId id="257"/>
            <p14:sldId id="258"/>
            <p14:sldId id="259"/>
            <p14:sldId id="260"/>
          </p14:sldIdLst>
        </p14:section>
        <p14:section name="Comparing our two groups" id="{58ee154c-dfd4-13dc-265d-787e166276ea}">
          <p14:sldIdLst>
            <p14:sldId id="261"/>
            <p14:sldId id="262"/>
            <p14:sldId id="263"/>
            <p14:sldId id="264"/>
            <p14:sldId id="265"/>
          </p14:sldIdLst>
        </p14:section>
        <p14:section name="Mean or median?" id="{6c4a09b4-db77-8d5d-eb94-5e7c251b17d4}">
          <p14:sldIdLst>
            <p14:sldId id="266"/>
            <p14:sldId id="267"/>
            <p14:sldId id="268"/>
            <p14:sldId id="269"/>
            <p14:sldId id="270"/>
            <p14:sldId id="271"/>
            <p14:sldId id="272"/>
          </p14:sldIdLst>
        </p14:section>
        <p14:section name="Games per year" id="{2206f436-62e4-e232-aa05-0466ec9e2080}">
          <p14:sldIdLst>
            <p14:sldId id="273"/>
            <p14:sldId id="274"/>
            <p14:sldId id="275"/>
            <p14:sldId id="276"/>
            <p14:sldId id="277"/>
          </p14:sldIdLst>
        </p14:section>
        <p14:section name="Wrap up" id="{fa18906d-588f-66b4-7c8a-1feeb9345e21}">
          <p14:sldIdLst>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turn 10,250 rows into a few clear numbers our audience can understand, and get our first piece of evidence. About 60 minutes: 5 min hook, 15 min comparing our two groups, 15 min mean or median, 15 min games per year,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The last one is the big idea of the lesson: the average we choose changes the story we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students remember mean (add up and divide) and median (the middle value when sorted) from maths.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when we made new columns in steam_story.py. Ask: what numbers would our audience want to see? (How Indie games compare with the others; how many games came out each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it out: split the class into two groups, each group works out its average age, then combine the answers on the board as a two-row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steam_story.py and press Ctrl+Shift+R (Cmd+Shift+R on a Mac) to run the earlier cells. We use the median rather than the mean for now; we'll see why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ask students to predict how many rows per_group will have and which group will score higher, then run. The next slide explains each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1 opens a bracket so our code can go over several lines; line 8 closes it. Line 6 closes agg, which combines the answers into one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add an alias and a comma. The page doesn't give the answer, so check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Games column first: both groups are big enough to trust. This sentence is a model for the finding students write 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round the mean to 2 decimal places because prices are in dollars and cents.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which will be bigger for each group, the mean or the median. Line 4 finds the median Price; line 5 finds the mean Price, rounded to 2 decimal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do you notice about the gap between the groups? Let students spot that the means are further apart than the medians before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example of a limitation students should mention in their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would a handful of expensive games change the mean but hardly change the median? (The mean adds up every value; the median only cares about the middle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is wrong, but we need to choose the one that matches what we want to say, and tell our audience which one we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need these for their own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year with only a few games can't tell us much. We sort by year so the table reads in time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how many rows per_year will have. Compare it with per_group: only line 2 (Release year instead of Group) and line 7 (sort by Release year)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students only change line 2, the sort on line 7 still says Release year, so ask them to predict what happens and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shows the first page of the table (1997 to 2006), where the small early years are. Have students page forward to the end to find 2024 and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games would you want before you trust a year's median? There's no single right answer; the point is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Split the rows into groups, apply a calculation to each group, combine the answers into one smaller table.
2. The number of rows in each group.
3. Prices are skewed: a few $60 or $70 games pull the mean up, and most of them aren't Indie.
4. It's from just 1 game. A summary of one or two games isn't evidence of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Model sentence from the page: The typical Indie game gets 86.5% positive reviews, compared with 83.2% for other games.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RISING INSIGHTS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8</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Summarising Groups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2697480"/>
          </a:xfrm>
          <a:prstGeom prst="roundRect">
            <a:avLst>
              <a:gd name="adj" fmla="val 2712"/>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how to split data into groups with </a:t>
            </a:r>
            <a:r>
              <a:rPr lang="en-US" sz="1800" dirty="0">
                <a:solidFill>
                  <a:srgbClr val="B86E1E"/>
                </a:solidFill>
                <a:latin typeface="Courier New" pitchFamily="34" charset="0"/>
                <a:ea typeface="Courier New" pitchFamily="34" charset="-122"/>
                <a:cs typeface="Courier New" pitchFamily="34" charset="-120"/>
              </a:rPr>
              <a:t>group_by</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summarise each group with </a:t>
            </a:r>
            <a:r>
              <a:rPr lang="en-US" sz="1800" dirty="0">
                <a:solidFill>
                  <a:srgbClr val="B86E1E"/>
                </a:solidFill>
                <a:latin typeface="Courier New" pitchFamily="34" charset="0"/>
                <a:ea typeface="Courier New" pitchFamily="34" charset="-122"/>
                <a:cs typeface="Courier New" pitchFamily="34" charset="-120"/>
              </a:rPr>
              <a:t>agg</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count rows with </a:t>
            </a:r>
            <a:r>
              <a:rPr lang="en-US" sz="1800" dirty="0">
                <a:solidFill>
                  <a:srgbClr val="B86E1E"/>
                </a:solidFill>
                <a:latin typeface="Courier New" pitchFamily="34" charset="0"/>
                <a:ea typeface="Courier New" pitchFamily="34" charset="-122"/>
                <a:cs typeface="Courier New" pitchFamily="34" charset="-120"/>
              </a:rPr>
              <a:t>pl.len</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when to use the mean and when to use the median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697480"/>
          </a:xfrm>
          <a:prstGeom prst="roundRect">
            <a:avLst>
              <a:gd name="adj" fmla="val 2712"/>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aggregate</a:t>
            </a:r>
            <a:r>
              <a:rPr lang="en-US" sz="2000" dirty="0">
                <a:solidFill>
                  <a:srgbClr val="2B1D19"/>
                </a:solidFill>
              </a:rPr>
              <a:t> – to combine the values in a group into one number, such as a count, mean or median.</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skewed</a:t>
            </a:r>
            <a:r>
              <a:rPr lang="en-US" sz="2000" dirty="0">
                <a:solidFill>
                  <a:srgbClr val="2B1D19"/>
                </a:solidFill>
              </a:rPr>
              <a:t> – describes data where a few values are much bigger or smaller than the rest, which pulls the mean away from the median.</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REMEMBER</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Every game now has a review score, a release year and a group</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But a table of 10,250 games can't tell a story by itself. Our audience needs a few clear numbers.</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Split, apply, combine</a:t>
            </a:r>
            <a:endParaRPr lang="en-US" sz="2800" dirty="0"/>
          </a:p>
        </p:txBody>
      </p:sp>
      <p:sp>
        <p:nvSpPr>
          <p:cNvPr id="3" name="Text 1"/>
          <p:cNvSpPr txBox="1"/>
          <p:nvPr/>
        </p:nvSpPr>
        <p:spPr>
          <a:xfrm>
            <a:off x="457200" y="1097280"/>
            <a:ext cx="8229600" cy="68580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2B1D19"/>
                </a:solidFill>
              </a:rPr>
              <a:t>​</a:t>
            </a:r>
            <a:r>
              <a:rPr lang="en-US" sz="1600" dirty="0">
                <a:solidFill>
                  <a:srgbClr val="2B1D19"/>
                </a:solidFill>
              </a:rPr>
              <a:t>Every summary in this lesson follows the same three steps.</a:t>
            </a:r>
            <a:endParaRPr lang="en-US" sz="1600" dirty="0"/>
          </a:p>
        </p:txBody>
      </p:sp>
      <p:sp>
        <p:nvSpPr>
          <p:cNvPr id="4" name="Text 2"/>
          <p:cNvSpPr txBox="1"/>
          <p:nvPr/>
        </p:nvSpPr>
        <p:spPr>
          <a:xfrm>
            <a:off x="457200" y="1874520"/>
            <a:ext cx="8229600" cy="2606040"/>
          </a:xfrm>
          <a:prstGeom prst="rect">
            <a:avLst/>
          </a:prstGeom>
          <a:noFill/>
          <a:ln/>
        </p:spPr>
        <p:txBody>
          <a:bodyPr wrap="square" lIns="0" tIns="0" rIns="0" bIns="0" rtlCol="0" anchor="t">
            <a:normAutofit/>
          </a:bodyPr>
          <a:lstStyle/>
          <a:p>
            <a:pPr marL="342900" indent="-342900">
              <a:spcAft>
                <a:spcPts val="800"/>
              </a:spcAft>
              <a:buSzPct val="100000"/>
              <a:buFont typeface="+mj-lt"/>
              <a:buAutoNum type="arabicPeriod" startAt="1"/>
            </a:pPr>
            <a:r>
              <a:rPr lang="en-US" sz="1700" dirty="0">
                <a:solidFill>
                  <a:srgbClr val="2B1D19"/>
                </a:solidFill>
              </a:rPr>
              <a:t>​</a:t>
            </a:r>
            <a:r>
              <a:rPr lang="en-US" sz="1700" b="1" dirty="0">
                <a:solidFill>
                  <a:srgbClr val="2B1D19"/>
                </a:solidFill>
              </a:rPr>
              <a:t>split</a:t>
            </a:r>
            <a:r>
              <a:rPr lang="en-US" sz="1700" dirty="0">
                <a:solidFill>
                  <a:srgbClr val="2B1D19"/>
                </a:solidFill>
              </a:rPr>
              <a:t> the rows into groups, such as </a:t>
            </a:r>
            <a:r>
              <a:rPr lang="en-US" sz="1500" dirty="0">
                <a:solidFill>
                  <a:srgbClr val="B86E1E"/>
                </a:solidFill>
                <a:latin typeface="Courier New" pitchFamily="34" charset="0"/>
                <a:ea typeface="Courier New" pitchFamily="34" charset="-122"/>
                <a:cs typeface="Courier New" pitchFamily="34" charset="-120"/>
              </a:rPr>
              <a:t>Indie</a:t>
            </a:r>
            <a:r>
              <a:rPr lang="en-US" sz="1700" dirty="0">
                <a:solidFill>
                  <a:srgbClr val="2B1D19"/>
                </a:solidFill>
              </a:rPr>
              <a:t> and </a:t>
            </a:r>
            <a:r>
              <a:rPr lang="en-US" sz="1500" dirty="0">
                <a:solidFill>
                  <a:srgbClr val="B86E1E"/>
                </a:solidFill>
                <a:latin typeface="Courier New" pitchFamily="34" charset="0"/>
                <a:ea typeface="Courier New" pitchFamily="34" charset="-122"/>
                <a:cs typeface="Courier New" pitchFamily="34" charset="-120"/>
              </a:rPr>
              <a:t>Not Indie</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b="1" dirty="0">
                <a:solidFill>
                  <a:srgbClr val="2B1D19"/>
                </a:solidFill>
              </a:rPr>
              <a:t>apply</a:t>
            </a:r>
            <a:r>
              <a:rPr lang="en-US" sz="1700" dirty="0">
                <a:solidFill>
                  <a:srgbClr val="2B1D19"/>
                </a:solidFill>
              </a:rPr>
              <a:t> a calculation to each group, such as its median review score</a:t>
            </a:r>
            <a:endParaRPr lang="en-US" sz="1700" dirty="0"/>
          </a:p>
          <a:p>
            <a:pPr marL="342900" indent="-342900">
              <a:spcAft>
                <a:spcPts val="800"/>
              </a:spcAft>
              <a:buSzPct val="100000"/>
              <a:buFont typeface="+mj-lt"/>
              <a:buAutoNum type="arabicPeriod" startAt="1"/>
            </a:pPr>
            <a:r>
              <a:rPr lang="en-US" sz="1700" dirty="0">
                <a:solidFill>
                  <a:srgbClr val="2B1D19"/>
                </a:solidFill>
              </a:rPr>
              <a:t>​</a:t>
            </a:r>
            <a:r>
              <a:rPr lang="en-US" sz="1700" b="1" dirty="0">
                <a:solidFill>
                  <a:srgbClr val="2B1D19"/>
                </a:solidFill>
              </a:rPr>
              <a:t>combine</a:t>
            </a:r>
            <a:r>
              <a:rPr lang="en-US" sz="1700" dirty="0">
                <a:solidFill>
                  <a:srgbClr val="2B1D19"/>
                </a:solidFill>
              </a:rPr>
              <a:t> the answers into a new, much smaller table, with one row per group</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Comparing our two groups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For each group: how many games, so we know if we can trust it, and its median review score, for a typical game.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Summarise each group</a:t>
            </a:r>
            <a:endParaRPr lang="en-US" sz="2800" dirty="0"/>
          </a:p>
        </p:txBody>
      </p:sp>
      <p:sp>
        <p:nvSpPr>
          <p:cNvPr id="3" name="Code panel"/>
          <p:cNvSpPr/>
          <p:nvPr/>
        </p:nvSpPr>
        <p:spPr>
          <a:xfrm>
            <a:off x="457200" y="1051560"/>
            <a:ext cx="8229600" cy="2691765"/>
          </a:xfrm>
          <a:prstGeom prst="roundRect">
            <a:avLst>
              <a:gd name="adj" fmla="val 2038"/>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045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per_group =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scored.group_by("Group")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.agg(</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pl.len().alias("Games"),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pl.col("Review score").median().alias("Median 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    .sort("Group")</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8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9  </a:t>
            </a:r>
            <a:r>
              <a:rPr lang="en-US" sz="1400" dirty="0">
                <a:solidFill>
                  <a:srgbClr val="F7EFE6"/>
                </a:solidFill>
                <a:latin typeface="Courier New" pitchFamily="34" charset="0"/>
                <a:ea typeface="Courier New" pitchFamily="34" charset="-122"/>
                <a:cs typeface="Courier New" pitchFamily="34" charset="-120"/>
              </a:rPr>
              <a:t>per_group</a:t>
            </a:r>
            <a:endParaRPr lang="en-US" sz="1400" dirty="0"/>
          </a:p>
        </p:txBody>
      </p:sp>
      <p:sp>
        <p:nvSpPr>
          <p:cNvPr id="6" name="Text 4"/>
          <p:cNvSpPr txBox="1"/>
          <p:nvPr/>
        </p:nvSpPr>
        <p:spPr>
          <a:xfrm>
            <a:off x="457200" y="3834765"/>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For each group: how many games, and its median review score.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Split, apply, combine in code</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b="1" dirty="0">
                <a:solidFill>
                  <a:srgbClr val="2B1D19"/>
                </a:solidFill>
              </a:rPr>
              <a:t>line 2</a:t>
            </a:r>
            <a:r>
              <a:rPr lang="en-US" sz="1700" dirty="0">
                <a:solidFill>
                  <a:srgbClr val="2B1D19"/>
                </a:solidFill>
              </a:rPr>
              <a:t> → </a:t>
            </a:r>
            <a:r>
              <a:rPr lang="en-US" sz="1500" dirty="0">
                <a:solidFill>
                  <a:srgbClr val="B86E1E"/>
                </a:solidFill>
                <a:latin typeface="Courier New" pitchFamily="34" charset="0"/>
                <a:ea typeface="Courier New" pitchFamily="34" charset="-122"/>
                <a:cs typeface="Courier New" pitchFamily="34" charset="-120"/>
              </a:rPr>
              <a:t>group_by</a:t>
            </a:r>
            <a:r>
              <a:rPr lang="en-US" sz="1700" dirty="0">
                <a:solidFill>
                  <a:srgbClr val="2B1D19"/>
                </a:solidFill>
              </a:rPr>
              <a:t> </a:t>
            </a:r>
            <a:r>
              <a:rPr lang="en-US" sz="1700" b="1" dirty="0">
                <a:solidFill>
                  <a:srgbClr val="2B1D19"/>
                </a:solidFill>
              </a:rPr>
              <a:t>splits</a:t>
            </a:r>
            <a:r>
              <a:rPr lang="en-US" sz="1700" dirty="0">
                <a:solidFill>
                  <a:srgbClr val="2B1D19"/>
                </a:solidFill>
              </a:rPr>
              <a:t> the rows of </a:t>
            </a:r>
            <a:r>
              <a:rPr lang="en-US" sz="1500" dirty="0">
                <a:solidFill>
                  <a:srgbClr val="B86E1E"/>
                </a:solidFill>
                <a:latin typeface="Courier New" pitchFamily="34" charset="0"/>
                <a:ea typeface="Courier New" pitchFamily="34" charset="-122"/>
                <a:cs typeface="Courier New" pitchFamily="34" charset="-120"/>
              </a:rPr>
              <a:t>scored</a:t>
            </a:r>
            <a:r>
              <a:rPr lang="en-US" sz="1700" dirty="0">
                <a:solidFill>
                  <a:srgbClr val="2B1D19"/>
                </a:solidFill>
              </a:rPr>
              <a:t> by </a:t>
            </a:r>
            <a:r>
              <a:rPr lang="en-US" sz="1500" dirty="0">
                <a:solidFill>
                  <a:srgbClr val="B86E1E"/>
                </a:solidFill>
                <a:latin typeface="Courier New" pitchFamily="34" charset="0"/>
                <a:ea typeface="Courier New" pitchFamily="34" charset="-122"/>
                <a:cs typeface="Courier New" pitchFamily="34" charset="-120"/>
              </a:rPr>
              <a:t>Group</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line 3</a:t>
            </a:r>
            <a:r>
              <a:rPr lang="en-US" sz="1700" dirty="0">
                <a:solidFill>
                  <a:srgbClr val="2B1D19"/>
                </a:solidFill>
              </a:rPr>
              <a:t> → </a:t>
            </a:r>
            <a:r>
              <a:rPr lang="en-US" sz="1500" dirty="0">
                <a:solidFill>
                  <a:srgbClr val="B86E1E"/>
                </a:solidFill>
                <a:latin typeface="Courier New" pitchFamily="34" charset="0"/>
                <a:ea typeface="Courier New" pitchFamily="34" charset="-122"/>
                <a:cs typeface="Courier New" pitchFamily="34" charset="-120"/>
              </a:rPr>
              <a:t>agg</a:t>
            </a:r>
            <a:r>
              <a:rPr lang="en-US" sz="1700" dirty="0">
                <a:solidFill>
                  <a:srgbClr val="2B1D19"/>
                </a:solidFill>
              </a:rPr>
              <a:t>, short for aggregate, </a:t>
            </a:r>
            <a:r>
              <a:rPr lang="en-US" sz="1700" b="1" dirty="0">
                <a:solidFill>
                  <a:srgbClr val="2B1D19"/>
                </a:solidFill>
              </a:rPr>
              <a:t>applies</a:t>
            </a:r>
            <a:r>
              <a:rPr lang="en-US" sz="1700" dirty="0">
                <a:solidFill>
                  <a:srgbClr val="2B1D19"/>
                </a:solidFill>
              </a:rPr>
              <a:t> calculations to each group</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line 4</a:t>
            </a:r>
            <a:r>
              <a:rPr lang="en-US" sz="1700" dirty="0">
                <a:solidFill>
                  <a:srgbClr val="2B1D19"/>
                </a:solidFill>
              </a:rPr>
              <a:t> → </a:t>
            </a:r>
            <a:r>
              <a:rPr lang="en-US" sz="1500" dirty="0">
                <a:solidFill>
                  <a:srgbClr val="B86E1E"/>
                </a:solidFill>
                <a:latin typeface="Courier New" pitchFamily="34" charset="0"/>
                <a:ea typeface="Courier New" pitchFamily="34" charset="-122"/>
                <a:cs typeface="Courier New" pitchFamily="34" charset="-120"/>
              </a:rPr>
              <a:t>pl.len</a:t>
            </a:r>
            <a:r>
              <a:rPr lang="en-US" sz="1700" dirty="0">
                <a:solidFill>
                  <a:srgbClr val="2B1D19"/>
                </a:solidFill>
              </a:rPr>
              <a:t> counts the rows in each group, named </a:t>
            </a:r>
            <a:r>
              <a:rPr lang="en-US" sz="1500" dirty="0">
                <a:solidFill>
                  <a:srgbClr val="B86E1E"/>
                </a:solidFill>
                <a:latin typeface="Courier New" pitchFamily="34" charset="0"/>
                <a:ea typeface="Courier New" pitchFamily="34" charset="-122"/>
                <a:cs typeface="Courier New" pitchFamily="34" charset="-120"/>
              </a:rPr>
              <a:t>Games</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line 5</a:t>
            </a:r>
            <a:r>
              <a:rPr lang="en-US" sz="1700" dirty="0">
                <a:solidFill>
                  <a:srgbClr val="2B1D19"/>
                </a:solidFill>
              </a:rPr>
              <a:t> → the median </a:t>
            </a:r>
            <a:r>
              <a:rPr lang="en-US" sz="1500" dirty="0">
                <a:solidFill>
                  <a:srgbClr val="B86E1E"/>
                </a:solidFill>
                <a:latin typeface="Courier New" pitchFamily="34" charset="0"/>
                <a:ea typeface="Courier New" pitchFamily="34" charset="-122"/>
                <a:cs typeface="Courier New" pitchFamily="34" charset="-120"/>
              </a:rPr>
              <a:t>Review score</a:t>
            </a:r>
            <a:r>
              <a:rPr lang="en-US" sz="1700" dirty="0">
                <a:solidFill>
                  <a:srgbClr val="2B1D19"/>
                </a:solidFill>
              </a:rPr>
              <a:t> of each group</a:t>
            </a:r>
            <a:endParaRPr lang="en-US" sz="1700" dirty="0"/>
          </a:p>
          <a:p>
            <a:pPr marL="342900" indent="-342900">
              <a:spcAft>
                <a:spcPts val="800"/>
              </a:spcAft>
              <a:buSzPct val="100000"/>
              <a:buChar char="•"/>
            </a:pPr>
            <a:r>
              <a:rPr lang="en-US" sz="1700" dirty="0">
                <a:solidFill>
                  <a:srgbClr val="2B1D19"/>
                </a:solidFill>
              </a:rPr>
              <a:t>​</a:t>
            </a:r>
            <a:r>
              <a:rPr lang="en-US" sz="1700" b="1" dirty="0">
                <a:solidFill>
                  <a:srgbClr val="2B1D19"/>
                </a:solidFill>
              </a:rPr>
              <a:t>line 7</a:t>
            </a:r>
            <a:r>
              <a:rPr lang="en-US" sz="1700" dirty="0">
                <a:solidFill>
                  <a:srgbClr val="2B1D19"/>
                </a:solidFill>
              </a:rPr>
              <a:t> → sorts by </a:t>
            </a:r>
            <a:r>
              <a:rPr lang="en-US" sz="1500" dirty="0">
                <a:solidFill>
                  <a:srgbClr val="B86E1E"/>
                </a:solidFill>
                <a:latin typeface="Courier New" pitchFamily="34" charset="0"/>
                <a:ea typeface="Courier New" pitchFamily="34" charset="-122"/>
                <a:cs typeface="Courier New" pitchFamily="34" charset="-120"/>
              </a:rPr>
              <a:t>Group</a:t>
            </a:r>
            <a:r>
              <a:rPr lang="en-US" sz="1700" dirty="0">
                <a:solidFill>
                  <a:srgbClr val="2B1D19"/>
                </a:solidFill>
              </a:rPr>
              <a:t>, because </a:t>
            </a:r>
            <a:r>
              <a:rPr lang="en-US" sz="1500" dirty="0">
                <a:solidFill>
                  <a:srgbClr val="B86E1E"/>
                </a:solidFill>
                <a:latin typeface="Courier New" pitchFamily="34" charset="0"/>
                <a:ea typeface="Courier New" pitchFamily="34" charset="-122"/>
                <a:cs typeface="Courier New" pitchFamily="34" charset="-120"/>
              </a:rPr>
              <a:t>group_by</a:t>
            </a:r>
            <a:r>
              <a:rPr lang="en-US" sz="1700" dirty="0">
                <a:solidFill>
                  <a:srgbClr val="2B1D19"/>
                </a:solidFill>
              </a:rPr>
              <a:t> doesn't keep any order</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Which group gets more recommendations?</a:t>
            </a:r>
            <a:endParaRPr lang="en-US" sz="2800" dirty="0"/>
          </a:p>
        </p:txBody>
      </p:sp>
      <p:sp>
        <p:nvSpPr>
          <p:cNvPr id="3" name="primm box"/>
          <p:cNvSpPr/>
          <p:nvPr/>
        </p:nvSpPr>
        <p:spPr>
          <a:xfrm>
            <a:off x="457200" y="1051560"/>
            <a:ext cx="8229600" cy="2037080"/>
          </a:xfrm>
          <a:prstGeom prst="roundRect">
            <a:avLst>
              <a:gd name="adj" fmla="val 3591"/>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351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Add a line inside </a:t>
            </a:r>
            <a:r>
              <a:rPr lang="en-US" sz="1800" dirty="0">
                <a:solidFill>
                  <a:srgbClr val="B86E1E"/>
                </a:solidFill>
                <a:latin typeface="Courier New" pitchFamily="34" charset="0"/>
                <a:ea typeface="Courier New" pitchFamily="34" charset="-122"/>
                <a:cs typeface="Courier New" pitchFamily="34" charset="-120"/>
              </a:rPr>
              <a:t>agg</a:t>
            </a:r>
            <a:r>
              <a:rPr lang="en-US" sz="2000" dirty="0">
                <a:solidFill>
                  <a:srgbClr val="2B1D19"/>
                </a:solidFill>
              </a:rPr>
              <a:t> that works out the median </a:t>
            </a:r>
            <a:r>
              <a:rPr lang="en-US" sz="1800" dirty="0">
                <a:solidFill>
                  <a:srgbClr val="B86E1E"/>
                </a:solidFill>
                <a:latin typeface="Courier New" pitchFamily="34" charset="0"/>
                <a:ea typeface="Courier New" pitchFamily="34" charset="-122"/>
                <a:cs typeface="Courier New" pitchFamily="34" charset="-120"/>
              </a:rPr>
              <a:t>Recommendations</a:t>
            </a:r>
            <a:r>
              <a:rPr lang="en-US" sz="2000" dirty="0">
                <a:solidFill>
                  <a:srgbClr val="2B1D19"/>
                </a:solidFill>
              </a:rPr>
              <a:t> of each group.</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Which group gets more recommendations?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Our first piece of evidence</a:t>
            </a:r>
            <a:endParaRPr lang="en-US" sz="2800" dirty="0"/>
          </a:p>
        </p:txBody>
      </p:sp>
      <p:sp>
        <p:nvSpPr>
          <p:cNvPr id="3" name="Text 1"/>
          <p:cNvSpPr txBox="1"/>
          <p:nvPr/>
        </p:nvSpPr>
        <p:spPr>
          <a:xfrm>
            <a:off x="457200" y="1051560"/>
            <a:ext cx="8229600" cy="457200"/>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typical Indie game gets </a:t>
            </a:r>
            <a:r>
              <a:rPr lang="en-US" sz="1500" b="1" dirty="0">
                <a:solidFill>
                  <a:srgbClr val="2B1D19"/>
                </a:solidFill>
              </a:rPr>
              <a:t>86.5%</a:t>
            </a:r>
            <a:r>
              <a:rPr lang="en-US" sz="1500" dirty="0">
                <a:solidFill>
                  <a:srgbClr val="2B1D19"/>
                </a:solidFill>
              </a:rPr>
              <a:t> positive reviews, compared with </a:t>
            </a:r>
            <a:r>
              <a:rPr lang="en-US" sz="1500" b="1" dirty="0">
                <a:solidFill>
                  <a:srgbClr val="2B1D19"/>
                </a:solidFill>
              </a:rPr>
              <a:t>83.2%</a:t>
            </a:r>
            <a:r>
              <a:rPr lang="en-US" sz="1500" dirty="0">
                <a:solidFill>
                  <a:srgbClr val="2B1D19"/>
                </a:solidFill>
              </a:rPr>
              <a:t> for other games.</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2743200"/>
                <a:gridCol w="2286000"/>
                <a:gridCol w="3200400"/>
              </a:tblGrid>
              <a:tr h="0">
                <a:tc>
                  <a:txBody>
                    <a:bodyPr/>
                    <a:lstStyle/>
                    <a:p>
                      <a:pPr indent="0" marL="0">
                        <a:buNone/>
                      </a:pPr>
                      <a:r>
                        <a:rPr lang="en-US" sz="1400" b="1" dirty="0">
                          <a:solidFill>
                            <a:srgbClr val="FFFFFF"/>
                          </a:solidFill>
                        </a:rPr>
                        <a:t>Group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Games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Median review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6243</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86.5</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Not 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4007</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83.2</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Mean or median?</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Do Indie games cost less? The two kinds of average don't always agree, so we'll work out both, side by side.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Median and mean price of each group</a:t>
            </a:r>
            <a:endParaRPr lang="en-US" sz="2800" dirty="0"/>
          </a:p>
        </p:txBody>
      </p:sp>
      <p:sp>
        <p:nvSpPr>
          <p:cNvPr id="3" name="Code panel"/>
          <p:cNvSpPr/>
          <p:nvPr/>
        </p:nvSpPr>
        <p:spPr>
          <a:xfrm>
            <a:off x="457200" y="1051560"/>
            <a:ext cx="8229600" cy="2691765"/>
          </a:xfrm>
          <a:prstGeom prst="roundRect">
            <a:avLst>
              <a:gd name="adj" fmla="val 2038"/>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188845"/>
          </a:xfrm>
          <a:prstGeom prst="rect">
            <a:avLst/>
          </a:prstGeom>
          <a:noFill/>
          <a:ln/>
        </p:spPr>
        <p:txBody>
          <a:bodyPr wrap="square" lIns="0" tIns="0" rIns="0" bIns="0" rtlCol="0" anchor="t"/>
          <a:lstStyle/>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1  </a:t>
            </a:r>
            <a:r>
              <a:rPr lang="en-US" sz="1500" dirty="0">
                <a:solidFill>
                  <a:srgbClr val="F7EFE6"/>
                </a:solidFill>
                <a:latin typeface="Courier New" pitchFamily="34" charset="0"/>
                <a:ea typeface="Courier New" pitchFamily="34" charset="-122"/>
                <a:cs typeface="Courier New" pitchFamily="34" charset="-120"/>
              </a:rPr>
              <a:t>prices = (</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2  </a:t>
            </a:r>
            <a:r>
              <a:rPr lang="en-US" sz="1500" dirty="0">
                <a:solidFill>
                  <a:srgbClr val="F7EFE6"/>
                </a:solidFill>
                <a:latin typeface="Courier New" pitchFamily="34" charset="0"/>
                <a:ea typeface="Courier New" pitchFamily="34" charset="-122"/>
                <a:cs typeface="Courier New" pitchFamily="34" charset="-120"/>
              </a:rPr>
              <a:t>    scored.group_by("Group")</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3  </a:t>
            </a:r>
            <a:r>
              <a:rPr lang="en-US" sz="1500" dirty="0">
                <a:solidFill>
                  <a:srgbClr val="F7EFE6"/>
                </a:solidFill>
                <a:latin typeface="Courier New" pitchFamily="34" charset="0"/>
                <a:ea typeface="Courier New" pitchFamily="34" charset="-122"/>
                <a:cs typeface="Courier New" pitchFamily="34" charset="-120"/>
              </a:rPr>
              <a:t>    .agg(</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4  </a:t>
            </a:r>
            <a:r>
              <a:rPr lang="en-US" sz="1500" dirty="0">
                <a:solidFill>
                  <a:srgbClr val="F7EFE6"/>
                </a:solidFill>
                <a:latin typeface="Courier New" pitchFamily="34" charset="0"/>
                <a:ea typeface="Courier New" pitchFamily="34" charset="-122"/>
                <a:cs typeface="Courier New" pitchFamily="34" charset="-120"/>
              </a:rPr>
              <a:t>        pl.col("Price").median().alias("Median price"),</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5  </a:t>
            </a:r>
            <a:r>
              <a:rPr lang="en-US" sz="1500" dirty="0">
                <a:solidFill>
                  <a:srgbClr val="F7EFE6"/>
                </a:solidFill>
                <a:latin typeface="Courier New" pitchFamily="34" charset="0"/>
                <a:ea typeface="Courier New" pitchFamily="34" charset="-122"/>
                <a:cs typeface="Courier New" pitchFamily="34" charset="-120"/>
              </a:rPr>
              <a:t>        pl.col("Price").mean().round(2).alias("Mean price"),</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6  </a:t>
            </a:r>
            <a:r>
              <a:rPr lang="en-US" sz="1500" dirty="0">
                <a:solidFill>
                  <a:srgbClr val="F7EFE6"/>
                </a:solidFill>
                <a:latin typeface="Courier New" pitchFamily="34" charset="0"/>
                <a:ea typeface="Courier New" pitchFamily="34" charset="-122"/>
                <a:cs typeface="Courier New" pitchFamily="34" charset="-120"/>
              </a:rPr>
              <a:t>    )</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7  </a:t>
            </a:r>
            <a:r>
              <a:rPr lang="en-US" sz="1500" dirty="0">
                <a:solidFill>
                  <a:srgbClr val="F7EFE6"/>
                </a:solidFill>
                <a:latin typeface="Courier New" pitchFamily="34" charset="0"/>
                <a:ea typeface="Courier New" pitchFamily="34" charset="-122"/>
                <a:cs typeface="Courier New" pitchFamily="34" charset="-120"/>
              </a:rPr>
              <a:t>    .sort("Group")</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8  </a:t>
            </a:r>
            <a:r>
              <a:rPr lang="en-US" sz="1500" dirty="0">
                <a:solidFill>
                  <a:srgbClr val="F7EFE6"/>
                </a:solidFill>
                <a:latin typeface="Courier New" pitchFamily="34" charset="0"/>
                <a:ea typeface="Courier New" pitchFamily="34" charset="-122"/>
                <a:cs typeface="Courier New" pitchFamily="34" charset="-120"/>
              </a:rPr>
              <a:t>)</a:t>
            </a:r>
            <a:endParaRPr lang="en-US" sz="1500" dirty="0"/>
          </a:p>
          <a:p>
            <a:pPr indent="0" marL="0">
              <a:lnSpc>
                <a:spcPts val="1875"/>
              </a:lnSpc>
              <a:buNone/>
            </a:pPr>
            <a:r>
              <a:rPr lang="en-US" sz="1500" dirty="0">
                <a:solidFill>
                  <a:srgbClr val="9C8A80"/>
                </a:solidFill>
                <a:latin typeface="Courier New" pitchFamily="34" charset="0"/>
                <a:ea typeface="Courier New" pitchFamily="34" charset="-122"/>
                <a:cs typeface="Courier New" pitchFamily="34" charset="-120"/>
              </a:rPr>
              <a:t> 9  </a:t>
            </a:r>
            <a:r>
              <a:rPr lang="en-US" sz="1500" dirty="0">
                <a:solidFill>
                  <a:srgbClr val="F7EFE6"/>
                </a:solidFill>
                <a:latin typeface="Courier New" pitchFamily="34" charset="0"/>
                <a:ea typeface="Courier New" pitchFamily="34" charset="-122"/>
                <a:cs typeface="Courier New" pitchFamily="34" charset="-120"/>
              </a:rPr>
              <a:t>prices</a:t>
            </a:r>
            <a:endParaRPr lang="en-US" sz="1500" dirty="0"/>
          </a:p>
        </p:txBody>
      </p:sp>
      <p:sp>
        <p:nvSpPr>
          <p:cNvPr id="6" name="Text 4"/>
          <p:cNvSpPr txBox="1"/>
          <p:nvPr/>
        </p:nvSpPr>
        <p:spPr>
          <a:xfrm>
            <a:off x="457200" y="3834765"/>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Both averages side by side, so we can see whether they agree.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Indie games cost less by either measure</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400" b="1" dirty="0">
                          <a:solidFill>
                            <a:srgbClr val="FFFFFF"/>
                          </a:solidFill>
                        </a:rPr>
                        <a:t>Group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Median 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Mean 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3.84</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5.57</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Not 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4.99</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8.32</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What currency are these prices in?</a:t>
            </a:r>
            <a:endParaRPr lang="en-US" sz="2800" dirty="0"/>
          </a:p>
        </p:txBody>
      </p:sp>
      <p:sp>
        <p:nvSpPr>
          <p:cNvPr id="3" name="tip box"/>
          <p:cNvSpPr/>
          <p:nvPr/>
        </p:nvSpPr>
        <p:spPr>
          <a:xfrm>
            <a:off x="457200" y="1051560"/>
            <a:ext cx="8229600" cy="2214880"/>
          </a:xfrm>
          <a:prstGeom prst="roundRect">
            <a:avLst>
              <a:gd name="adj" fmla="val 33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US dollars</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The data was collected from the US Steam store, on one day, so a game on sale that day shows its sale price. When we write about prices in our story, say they're in US dollars, so our audience doesn't read them as Australian dollars.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Look at the gap</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the median prices are only </a:t>
            </a:r>
            <a:r>
              <a:rPr lang="en-US" sz="1700" b="1" dirty="0">
                <a:solidFill>
                  <a:srgbClr val="2B1D19"/>
                </a:solidFill>
              </a:rPr>
              <a:t>$1.15</a:t>
            </a:r>
            <a:r>
              <a:rPr lang="en-US" sz="1700" dirty="0">
                <a:solidFill>
                  <a:srgbClr val="2B1D19"/>
                </a:solidFill>
              </a:rPr>
              <a:t> apart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the mean prices are </a:t>
            </a:r>
            <a:r>
              <a:rPr lang="en-US" sz="1700" b="1" dirty="0">
                <a:solidFill>
                  <a:srgbClr val="2B1D19"/>
                </a:solidFill>
              </a:rPr>
              <a:t>$2.75</a:t>
            </a:r>
            <a:r>
              <a:rPr lang="en-US" sz="1700" dirty="0">
                <a:solidFill>
                  <a:srgbClr val="2B1D19"/>
                </a:solidFill>
              </a:rPr>
              <a:t> apart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most games are cheap, but a few cost $60 or $70</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those few pull the mean up, and most of them aren't Indie games</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When data is skewed, they tell different stories</a:t>
            </a:r>
            <a:endParaRPr lang="en-US" sz="2800" dirty="0"/>
          </a:p>
        </p:txBody>
      </p:sp>
      <p:sp>
        <p:nvSpPr>
          <p:cNvPr id="3" name="Shape 1"/>
          <p:cNvSpPr/>
          <p:nvPr/>
        </p:nvSpPr>
        <p:spPr>
          <a:xfrm>
            <a:off x="457200" y="1051560"/>
            <a:ext cx="3977640" cy="3429000"/>
          </a:xfrm>
          <a:prstGeom prst="roundRect">
            <a:avLst>
              <a:gd name="adj" fmla="val 2133"/>
            </a:avLst>
          </a:prstGeom>
          <a:solidFill>
            <a:srgbClr val="FBF7F2"/>
          </a:solidFill>
          <a:ln w="12700">
            <a:solidFill>
              <a:srgbClr val="E5DBD2"/>
            </a:solidFill>
            <a:prstDash val="solid"/>
          </a:ln>
        </p:spPr>
      </p:sp>
      <p:sp>
        <p:nvSpPr>
          <p:cNvPr id="4" name="Text 2"/>
          <p:cNvSpPr txBox="1"/>
          <p:nvPr/>
        </p:nvSpPr>
        <p:spPr>
          <a:xfrm>
            <a:off x="64008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Median</a:t>
            </a:r>
            <a:endParaRPr lang="en-US" sz="1800" dirty="0"/>
          </a:p>
        </p:txBody>
      </p:sp>
      <p:sp>
        <p:nvSpPr>
          <p:cNvPr id="5" name="Text 3"/>
          <p:cNvSpPr txBox="1"/>
          <p:nvPr/>
        </p:nvSpPr>
        <p:spPr>
          <a:xfrm>
            <a:off x="64008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describes a </a:t>
            </a:r>
            <a:r>
              <a:rPr lang="en-US" sz="1500" b="1" dirty="0">
                <a:solidFill>
                  <a:srgbClr val="2B1D19"/>
                </a:solidFill>
              </a:rPr>
              <a:t>typical</a:t>
            </a:r>
            <a:r>
              <a:rPr lang="en-US" sz="1500" dirty="0">
                <a:solidFill>
                  <a:srgbClr val="2B1D19"/>
                </a:solidFill>
              </a:rPr>
              <a:t> game</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for prices, it gives the fairer picture of what a typical game costs</a:t>
            </a:r>
            <a:endParaRPr lang="en-US" sz="1500" dirty="0"/>
          </a:p>
        </p:txBody>
      </p:sp>
      <p:sp>
        <p:nvSpPr>
          <p:cNvPr id="6" name="Shape 4"/>
          <p:cNvSpPr/>
          <p:nvPr/>
        </p:nvSpPr>
        <p:spPr>
          <a:xfrm>
            <a:off x="4709160" y="1051560"/>
            <a:ext cx="3977640" cy="3429000"/>
          </a:xfrm>
          <a:prstGeom prst="roundRect">
            <a:avLst>
              <a:gd name="adj" fmla="val 2133"/>
            </a:avLst>
          </a:prstGeom>
          <a:solidFill>
            <a:srgbClr val="F3ECE6"/>
          </a:solidFill>
          <a:ln w="12700">
            <a:solidFill>
              <a:srgbClr val="E5DBD2"/>
            </a:solidFill>
            <a:prstDash val="solid"/>
          </a:ln>
        </p:spPr>
      </p:sp>
      <p:sp>
        <p:nvSpPr>
          <p:cNvPr id="7" name="Text 5"/>
          <p:cNvSpPr txBox="1"/>
          <p:nvPr/>
        </p:nvSpPr>
        <p:spPr>
          <a:xfrm>
            <a:off x="4892040" y="1188720"/>
            <a:ext cx="3611880" cy="411480"/>
          </a:xfrm>
          <a:prstGeom prst="rect">
            <a:avLst/>
          </a:prstGeom>
          <a:noFill/>
          <a:ln/>
        </p:spPr>
        <p:txBody>
          <a:bodyPr wrap="square" lIns="0" tIns="0" rIns="0" bIns="0" rtlCol="0" anchor="ctr">
            <a:normAutofit/>
          </a:bodyPr>
          <a:lstStyle/>
          <a:p>
            <a:pPr indent="0" marL="0">
              <a:buNone/>
            </a:pPr>
            <a:r>
              <a:rPr lang="en-US" sz="1800" b="1" dirty="0">
                <a:solidFill>
                  <a:srgbClr val="4E342E"/>
                </a:solidFill>
              </a:rPr>
              <a:t>Mean</a:t>
            </a:r>
            <a:endParaRPr lang="en-US" sz="1800" dirty="0"/>
          </a:p>
        </p:txBody>
      </p:sp>
      <p:sp>
        <p:nvSpPr>
          <p:cNvPr id="8" name="Text 6"/>
          <p:cNvSpPr txBox="1"/>
          <p:nvPr/>
        </p:nvSpPr>
        <p:spPr>
          <a:xfrm>
            <a:off x="4892040" y="1691640"/>
            <a:ext cx="3611880" cy="2651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dirty="0">
                <a:solidFill>
                  <a:srgbClr val="2B1D19"/>
                </a:solidFill>
              </a:rPr>
              <a:t>is pulled towards the few </a:t>
            </a:r>
            <a:r>
              <a:rPr lang="en-US" sz="1500" b="1" dirty="0">
                <a:solidFill>
                  <a:srgbClr val="2B1D19"/>
                </a:solidFill>
              </a:rPr>
              <a:t>very large</a:t>
            </a:r>
            <a:r>
              <a:rPr lang="en-US" sz="1500" dirty="0">
                <a:solidFill>
                  <a:srgbClr val="2B1D19"/>
                </a:solidFill>
              </a:rPr>
              <a:t> values</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here, a few $60 or $70 games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Other ways to summarise</a:t>
            </a:r>
            <a:endParaRPr lang="en-US" sz="2800" dirty="0"/>
          </a:p>
        </p:txBody>
      </p:sp>
      <p:sp>
        <p:nvSpPr>
          <p:cNvPr id="3" name="tip box"/>
          <p:cNvSpPr/>
          <p:nvPr/>
        </p:nvSpPr>
        <p:spPr>
          <a:xfrm>
            <a:off x="457200" y="1051560"/>
            <a:ext cx="8229600" cy="1910080"/>
          </a:xfrm>
          <a:prstGeom prst="roundRect">
            <a:avLst>
              <a:gd name="adj" fmla="val 3830"/>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Inside agg</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We can use </a:t>
            </a:r>
            <a:r>
              <a:rPr lang="en-US" sz="1800" dirty="0">
                <a:solidFill>
                  <a:srgbClr val="B86E1E"/>
                </a:solidFill>
                <a:latin typeface="Courier New" pitchFamily="34" charset="0"/>
                <a:ea typeface="Courier New" pitchFamily="34" charset="-122"/>
                <a:cs typeface="Courier New" pitchFamily="34" charset="-120"/>
              </a:rPr>
              <a:t>mean</a:t>
            </a:r>
            <a:r>
              <a:rPr lang="en-US" sz="2000" dirty="0">
                <a:solidFill>
                  <a:srgbClr val="2B1D19"/>
                </a:solidFill>
              </a:rPr>
              <a:t>, </a:t>
            </a:r>
            <a:r>
              <a:rPr lang="en-US" sz="1800" dirty="0">
                <a:solidFill>
                  <a:srgbClr val="B86E1E"/>
                </a:solidFill>
                <a:latin typeface="Courier New" pitchFamily="34" charset="0"/>
                <a:ea typeface="Courier New" pitchFamily="34" charset="-122"/>
                <a:cs typeface="Courier New" pitchFamily="34" charset="-120"/>
              </a:rPr>
              <a:t>median</a:t>
            </a:r>
            <a:r>
              <a:rPr lang="en-US" sz="2000" dirty="0">
                <a:solidFill>
                  <a:srgbClr val="2B1D19"/>
                </a:solidFill>
              </a:rPr>
              <a:t>, </a:t>
            </a:r>
            <a:r>
              <a:rPr lang="en-US" sz="1800" dirty="0">
                <a:solidFill>
                  <a:srgbClr val="B86E1E"/>
                </a:solidFill>
                <a:latin typeface="Courier New" pitchFamily="34" charset="0"/>
                <a:ea typeface="Courier New" pitchFamily="34" charset="-122"/>
                <a:cs typeface="Courier New" pitchFamily="34" charset="-120"/>
              </a:rPr>
              <a:t>min</a:t>
            </a:r>
            <a:r>
              <a:rPr lang="en-US" sz="2000" dirty="0">
                <a:solidFill>
                  <a:srgbClr val="2B1D19"/>
                </a:solidFill>
              </a:rPr>
              <a:t>, </a:t>
            </a:r>
            <a:r>
              <a:rPr lang="en-US" sz="1800" dirty="0">
                <a:solidFill>
                  <a:srgbClr val="B86E1E"/>
                </a:solidFill>
                <a:latin typeface="Courier New" pitchFamily="34" charset="0"/>
                <a:ea typeface="Courier New" pitchFamily="34" charset="-122"/>
                <a:cs typeface="Courier New" pitchFamily="34" charset="-120"/>
              </a:rPr>
              <a:t>max</a:t>
            </a:r>
            <a:r>
              <a:rPr lang="en-US" sz="2000" dirty="0">
                <a:solidFill>
                  <a:srgbClr val="2B1D19"/>
                </a:solidFill>
              </a:rPr>
              <a:t> and </a:t>
            </a:r>
            <a:r>
              <a:rPr lang="en-US" sz="1800" dirty="0">
                <a:solidFill>
                  <a:srgbClr val="B86E1E"/>
                </a:solidFill>
                <a:latin typeface="Courier New" pitchFamily="34" charset="0"/>
                <a:ea typeface="Courier New" pitchFamily="34" charset="-122"/>
                <a:cs typeface="Courier New" pitchFamily="34" charset="-120"/>
              </a:rPr>
              <a:t>sum</a:t>
            </a:r>
            <a:r>
              <a:rPr lang="en-US" sz="2000" dirty="0">
                <a:solidFill>
                  <a:srgbClr val="2B1D19"/>
                </a:solidFill>
              </a:rPr>
              <a:t> on any column, and </a:t>
            </a:r>
            <a:r>
              <a:rPr lang="en-US" sz="1800" dirty="0">
                <a:solidFill>
                  <a:srgbClr val="B86E1E"/>
                </a:solidFill>
                <a:latin typeface="Courier New" pitchFamily="34" charset="0"/>
                <a:ea typeface="Courier New" pitchFamily="34" charset="-122"/>
                <a:cs typeface="Courier New" pitchFamily="34" charset="-120"/>
              </a:rPr>
              <a:t>pl.len()</a:t>
            </a:r>
            <a:r>
              <a:rPr lang="en-US" sz="2000" dirty="0">
                <a:solidFill>
                  <a:srgbClr val="2B1D19"/>
                </a:solidFill>
              </a:rPr>
              <a:t> to count rows. We can use as many as we like, each with its own </a:t>
            </a:r>
            <a:r>
              <a:rPr lang="en-US" sz="1800" dirty="0">
                <a:solidFill>
                  <a:srgbClr val="B86E1E"/>
                </a:solidFill>
                <a:latin typeface="Courier New" pitchFamily="34" charset="0"/>
                <a:ea typeface="Courier New" pitchFamily="34" charset="-122"/>
                <a:cs typeface="Courier New" pitchFamily="34" charset="-120"/>
              </a:rPr>
              <a:t>alias</a:t>
            </a:r>
            <a:r>
              <a:rPr lang="en-US" sz="2000" dirty="0">
                <a:solidFill>
                  <a:srgbClr val="2B1D19"/>
                </a:solidFill>
              </a:rPr>
              <a:t>.</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Games per year</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We can group by any column. Before we compare years, we need to know how many games each year has.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Count and score the games in each year</a:t>
            </a:r>
            <a:endParaRPr lang="en-US" sz="2800" dirty="0"/>
          </a:p>
        </p:txBody>
      </p:sp>
      <p:sp>
        <p:nvSpPr>
          <p:cNvPr id="3" name="Code panel"/>
          <p:cNvSpPr/>
          <p:nvPr/>
        </p:nvSpPr>
        <p:spPr>
          <a:xfrm>
            <a:off x="457200" y="1051560"/>
            <a:ext cx="8229600" cy="2691765"/>
          </a:xfrm>
          <a:prstGeom prst="roundRect">
            <a:avLst>
              <a:gd name="adj" fmla="val 2038"/>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steam_story.py — new cell</a:t>
            </a:r>
            <a:endParaRPr lang="en-US" sz="1200" dirty="0"/>
          </a:p>
        </p:txBody>
      </p:sp>
      <p:sp>
        <p:nvSpPr>
          <p:cNvPr id="5" name="Code"/>
          <p:cNvSpPr txBox="1"/>
          <p:nvPr/>
        </p:nvSpPr>
        <p:spPr>
          <a:xfrm>
            <a:off x="594360" y="1508760"/>
            <a:ext cx="7955280" cy="2045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per_year =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scored.group_by("Release year")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.agg(</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pl.len().alias("Games"),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pl.col("Review score").median().alias("Median review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    )</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    .sort("Release year")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8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9  </a:t>
            </a:r>
            <a:r>
              <a:rPr lang="en-US" sz="1400" dirty="0">
                <a:solidFill>
                  <a:srgbClr val="F7EFE6"/>
                </a:solidFill>
                <a:latin typeface="Courier New" pitchFamily="34" charset="0"/>
                <a:ea typeface="Courier New" pitchFamily="34" charset="-122"/>
                <a:cs typeface="Courier New" pitchFamily="34" charset="-120"/>
              </a:rPr>
              <a:t>per_year</a:t>
            </a:r>
            <a:endParaRPr lang="en-US" sz="1400" dirty="0"/>
          </a:p>
        </p:txBody>
      </p:sp>
      <p:sp>
        <p:nvSpPr>
          <p:cNvPr id="6" name="Text 4"/>
          <p:cNvSpPr txBox="1"/>
          <p:nvPr/>
        </p:nvSpPr>
        <p:spPr>
          <a:xfrm>
            <a:off x="457200" y="3834765"/>
            <a:ext cx="8229600" cy="4419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A year with only a few games can't tell us much, so we count them first.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Group by something else</a:t>
            </a:r>
            <a:endParaRPr lang="en-US" sz="2800" dirty="0"/>
          </a:p>
        </p:txBody>
      </p:sp>
      <p:sp>
        <p:nvSpPr>
          <p:cNvPr id="3" name="primm box"/>
          <p:cNvSpPr/>
          <p:nvPr/>
        </p:nvSpPr>
        <p:spPr>
          <a:xfrm>
            <a:off x="457200" y="1051560"/>
            <a:ext cx="8229600" cy="1732280"/>
          </a:xfrm>
          <a:prstGeom prst="roundRect">
            <a:avLst>
              <a:gd name="adj" fmla="val 4223"/>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0464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dirty="0">
                <a:solidFill>
                  <a:srgbClr val="B86E1E"/>
                </a:solidFill>
                <a:latin typeface="Courier New" pitchFamily="34" charset="0"/>
                <a:ea typeface="Courier New" pitchFamily="34" charset="-122"/>
                <a:cs typeface="Courier New" pitchFamily="34" charset="-120"/>
              </a:rPr>
              <a:t>"Release year"</a:t>
            </a:r>
            <a:r>
              <a:rPr lang="en-US" sz="2000" dirty="0">
                <a:solidFill>
                  <a:srgbClr val="2B1D19"/>
                </a:solidFill>
              </a:rPr>
              <a:t> on line 2 to </a:t>
            </a:r>
            <a:r>
              <a:rPr lang="en-US" sz="1800" dirty="0">
                <a:solidFill>
                  <a:srgbClr val="B86E1E"/>
                </a:solidFill>
                <a:latin typeface="Courier New" pitchFamily="34" charset="0"/>
                <a:ea typeface="Courier New" pitchFamily="34" charset="-122"/>
                <a:cs typeface="Courier New" pitchFamily="34" charset="-120"/>
              </a:rPr>
              <a:t>"Metacritic score"</a:t>
            </a:r>
            <a:r>
              <a:rPr lang="en-US" sz="2000" dirty="0">
                <a:solidFill>
                  <a:srgbClr val="2B1D19"/>
                </a:solidFill>
              </a:rPr>
              <a:t>.</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What does the new table tell us?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One row per year</a:t>
            </a:r>
            <a:endParaRPr lang="en-US" sz="2800" dirty="0"/>
          </a:p>
        </p:txBody>
      </p:sp>
      <p:pic>
        <p:nvPicPr>
          <p:cNvPr id="3" name="Image 0" descr="The per_year table in marimo with the Release year, Games and Median review score columns, showing the first page, 1997 to 2006, and 29 rows">    </p:cNvPr>
          <p:cNvPicPr>
            <a:picLocks noChangeAspect="1"/>
          </p:cNvPicPr>
          <p:nvPr/>
        </p:nvPicPr>
        <p:blipFill>
          <a:blip r:embed="rId1"/>
          <a:stretch>
            <a:fillRect/>
          </a:stretch>
        </p:blipFill>
        <p:spPr>
          <a:xfrm>
            <a:off x="457200" y="1051560"/>
            <a:ext cx="5577840" cy="3288564"/>
          </a:xfrm>
          <a:prstGeom prst="rect">
            <a:avLst/>
          </a:prstGeom>
        </p:spPr>
      </p:pic>
      <p:sp>
        <p:nvSpPr>
          <p:cNvPr id="4" name="Text 1"/>
          <p:cNvSpPr txBox="1"/>
          <p:nvPr/>
        </p:nvSpPr>
        <p:spPr>
          <a:xfrm>
            <a:off x="6309360" y="1097280"/>
            <a:ext cx="237744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500" dirty="0">
                <a:solidFill>
                  <a:srgbClr val="2B1D19"/>
                </a:solidFill>
              </a:rPr>
              <a:t>​</a:t>
            </a:r>
            <a:r>
              <a:rPr lang="en-US" sz="1500" dirty="0">
                <a:solidFill>
                  <a:srgbClr val="2B1D19"/>
                </a:solidFill>
              </a:rPr>
              <a:t>29 rows, from 1997 to 2025</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the busiest year is </a:t>
            </a:r>
            <a:r>
              <a:rPr lang="en-US" sz="1500" b="1" dirty="0">
                <a:solidFill>
                  <a:srgbClr val="2B1D19"/>
                </a:solidFill>
              </a:rPr>
              <a:t>2024</a:t>
            </a:r>
            <a:r>
              <a:rPr lang="en-US" sz="1500" dirty="0">
                <a:solidFill>
                  <a:srgbClr val="2B1D19"/>
                </a:solidFill>
              </a:rPr>
              <a:t>, with 929 games</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2025 has only </a:t>
            </a:r>
            <a:r>
              <a:rPr lang="en-US" sz="1500" b="1" dirty="0">
                <a:solidFill>
                  <a:srgbClr val="2B1D19"/>
                </a:solidFill>
              </a:rPr>
              <a:t>424</a:t>
            </a:r>
            <a:r>
              <a:rPr lang="en-US" sz="1500" dirty="0">
                <a:solidFill>
                  <a:srgbClr val="2B1D19"/>
                </a:solidFill>
              </a:rPr>
              <a:t>, less than half of 2024</a:t>
            </a:r>
            <a:endParaRPr lang="en-US" sz="1500" dirty="0"/>
          </a:p>
          <a:p>
            <a:pPr marL="342900" indent="-342900">
              <a:spcAft>
                <a:spcPts val="800"/>
              </a:spcAft>
              <a:buSzPct val="100000"/>
              <a:buChar char="•"/>
            </a:pPr>
            <a:r>
              <a:rPr lang="en-US" sz="1500" dirty="0">
                <a:solidFill>
                  <a:srgbClr val="2B1D19"/>
                </a:solidFill>
              </a:rPr>
              <a:t>​</a:t>
            </a:r>
            <a:r>
              <a:rPr lang="en-US" sz="1500" dirty="0">
                <a:solidFill>
                  <a:srgbClr val="2B1D19"/>
                </a:solidFill>
              </a:rPr>
              <a:t>the years before 2006 have only a handful of games each</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Watch out for small groups</a:t>
            </a:r>
            <a:endParaRPr lang="en-US" sz="2800" dirty="0"/>
          </a:p>
        </p:txBody>
      </p:sp>
      <p:sp>
        <p:nvSpPr>
          <p:cNvPr id="3" name="warning box"/>
          <p:cNvSpPr/>
          <p:nvPr/>
        </p:nvSpPr>
        <p:spPr>
          <a:xfrm>
            <a:off x="457200" y="1051560"/>
            <a:ext cx="8229600" cy="2214880"/>
          </a:xfrm>
          <a:prstGeom prst="roundRect">
            <a:avLst>
              <a:gd name="adj" fmla="val 3303"/>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5290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1998 has a median review score of 96.5, but that's from just </a:t>
            </a:r>
            <a:r>
              <a:rPr lang="en-US" sz="2000" b="1" dirty="0">
                <a:solidFill>
                  <a:srgbClr val="2B1D19"/>
                </a:solidFill>
              </a:rPr>
              <a:t>1</a:t>
            </a:r>
            <a:r>
              <a:rPr lang="en-US" sz="2000" dirty="0">
                <a:solidFill>
                  <a:srgbClr val="2B1D19"/>
                </a:solidFill>
              </a:rPr>
              <a:t> game. A summary of one or two games isn't evidence of anything. When we compare groups, we check the </a:t>
            </a:r>
            <a:r>
              <a:rPr lang="en-US" sz="1800" dirty="0">
                <a:solidFill>
                  <a:srgbClr val="B86E1E"/>
                </a:solidFill>
                <a:latin typeface="Courier New" pitchFamily="34" charset="0"/>
                <a:ea typeface="Courier New" pitchFamily="34" charset="-122"/>
                <a:cs typeface="Courier New" pitchFamily="34" charset="-120"/>
              </a:rPr>
              <a:t>Games</a:t>
            </a:r>
            <a:r>
              <a:rPr lang="en-US" sz="2000" dirty="0">
                <a:solidFill>
                  <a:srgbClr val="2B1D19"/>
                </a:solidFill>
              </a:rPr>
              <a:t> column first, and leave out groups that are too small.</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are the three steps of split, apply, combine?</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What does </a:t>
            </a:r>
            <a:r>
              <a:rPr lang="en-US" sz="1800" dirty="0">
                <a:solidFill>
                  <a:srgbClr val="E8A55A"/>
                </a:solidFill>
                <a:latin typeface="Courier New" pitchFamily="34" charset="0"/>
                <a:ea typeface="Courier New" pitchFamily="34" charset="-122"/>
                <a:cs typeface="Courier New" pitchFamily="34" charset="-120"/>
              </a:rPr>
              <a:t>pl.len()</a:t>
            </a:r>
            <a:r>
              <a:rPr lang="en-US" sz="2000" dirty="0">
                <a:solidFill>
                  <a:srgbClr val="FFFFFF"/>
                </a:solidFill>
              </a:rPr>
              <a:t> count?</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are the mean prices further apart than the median prices?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1998 has a median review score of 96.5. Why shouldn't we use it as evidence?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Summaries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a </a:t>
            </a:r>
            <a:r>
              <a:rPr lang="en-US" sz="1400" dirty="0">
                <a:solidFill>
                  <a:srgbClr val="B86E1E"/>
                </a:solidFill>
                <a:latin typeface="Courier New" pitchFamily="34" charset="0"/>
                <a:ea typeface="Courier New" pitchFamily="34" charset="-122"/>
                <a:cs typeface="Courier New" pitchFamily="34" charset="-120"/>
              </a:rPr>
              <a:t>group_by</a:t>
            </a:r>
            <a:r>
              <a:rPr lang="en-US" sz="1600" dirty="0">
                <a:solidFill>
                  <a:srgbClr val="2B1D19"/>
                </a:solidFill>
              </a:rPr>
              <a:t> that summarises the groups your question is about. Record the table it makes.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Decide whether the mean or the median suits your question better, and write down why.</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one sentence that states a finding, using a number from your summary, like the Indie review score example.</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Summarising Groups</dc:title>
  <dc:subject>PptxGenJS Presentation</dc:subject>
  <dc:creator>Steam Data Stories</dc:creator>
  <cp:lastModifiedBy>Steam Data Stories</cp:lastModifiedBy>
  <cp:revision>1</cp:revision>
  <dcterms:created xsi:type="dcterms:W3CDTF">2026-10-12T04:52:37Z</dcterms:created>
  <dcterms:modified xsi:type="dcterms:W3CDTF">2026-10-12T04:52:37Z</dcterms:modified>
</cp:coreProperties>
</file>