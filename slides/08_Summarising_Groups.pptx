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Lst>
  <p:notesMasterIdLst>
    <p:notesMasterId r:id="rId26"/>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Introduction" id="{282f4ad7-7642-efa3-0962-fb4c54fa56f2}">
          <p14:sldIdLst>
            <p14:sldId id="256"/>
            <p14:sldId id="257"/>
            <p14:sldId id="258"/>
            <p14:sldId id="259"/>
            <p14:sldId id="260"/>
          </p14:sldIdLst>
        </p14:section>
        <p14:section name="Comparing our two groups" id="{25b6999a-0396-43bd-b65c-ff7e8a635d9f}">
          <p14:sldIdLst>
            <p14:sldId id="261"/>
            <p14:sldId id="262"/>
            <p14:sldId id="263"/>
            <p14:sldId id="264"/>
            <p14:sldId id="265"/>
          </p14:sldIdLst>
        </p14:section>
        <p14:section name="Mean or median?" id="{05fa8225-90f9-f102-85e3-3f6bd81fe5aa}">
          <p14:sldIdLst>
            <p14:sldId id="266"/>
            <p14:sldId id="267"/>
            <p14:sldId id="268"/>
            <p14:sldId id="269"/>
            <p14:sldId id="270"/>
            <p14:sldId id="271"/>
            <p14:sldId id="272"/>
          </p14:sldIdLst>
        </p14:section>
        <p14:section name="Games per year" id="{c1080442-c77a-f6f7-a4ee-5d593bd42746}">
          <p14:sldIdLst>
            <p14:sldId id="273"/>
            <p14:sldId id="274"/>
            <p14:sldId id="275"/>
            <p14:sldId id="276"/>
            <p14:sldId id="277"/>
          </p14:sldIdLst>
        </p14:section>
        <p14:section name="Wrap up" id="{278476a0-7069-6196-3d49-3e0820602a44}">
          <p14:sldIdLst>
            <p14:sldId id="278"/>
            <p14:sldId id="279"/>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notesMaster" Target="notesMasters/notesMaster1.xml"/><Relationship Id="rId27" Type="http://schemas.openxmlformats.org/officeDocument/2006/relationships/presProps" Target="presProps.xml"/><Relationship Id="rId28" Type="http://schemas.openxmlformats.org/officeDocument/2006/relationships/viewProps" Target="viewProps.xml"/><Relationship Id="rId29" Type="http://schemas.openxmlformats.org/officeDocument/2006/relationships/theme" Target="theme/theme1.xml"/><Relationship Id="rId3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Today we turn 10,250 rows into a few clear numbers our audience can understand, and get our first piece of evidence. About 60 minutes: 5 min hook, 15 min comparing our two groups, 15 min mean or median, 15 min games per year, 10 min Your data story.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the intentions aloud. The last one is the big idea of the lesson: the average we choose changes the story we tell.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 students remember mean (add up and divide) and median (the middle value when sorted) from maths.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Link back to when we made new columns in steam_story.py. Ask: what numbers would our audience want to see? (How Indie games compare with the others; how many games came out each year.)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 it out: split the class into two groups, each group works out its average age, then combine the answers on the board as a two-row table.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Start marimo with marimo edit steam_story.py and press Ctrl+Shift+R (Cmd+Shift+R on a Mac) to run the earlier cells. We use the median rather than the mean for now; we'll see why later.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PRIMM: ask students to predict how many rows per_group will have and which group will score higher, then run. The next slide explains each line.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Line 1 opens a bracket so our code can go over several lines; line 8 closes it. Line 6 closes agg, which combines the answers into one table.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Remind students to add an alias and a comma. The page doesn't give the answer, so check it live.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Point out the Games column first: both groups are big enough to trust. This sentence is a model for the finding students write in Your data story.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round the mean to 2 decimal places because prices are in dollars and cents.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PRIMM: predict which will be bigger for each group, the mean or the median. Line 4 finds the median Price; line 5 finds the mean Price, rounded to 2 decimal places.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Ask: what do you notice about the gap between the groups? Let students spot that the means are further apart than the medians before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good example of a limitation students should mention in their story.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Ask: why would a handful of expensive games change the mean but hardly change the median? (The mean adds up every value; the median only cares about the middle 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Neither is wrong, but we need to choose the one that matches what we want to say, and tell our audience which one we used.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Students will need these for their own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year with only a few games can't tell us much. We sort by year so the table reads in time order.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PRIMM: predict how many rows per_year will have. Compare it with per_group: only line 2 (Release year instead of Group) and line 7 (sort by Release year) are different.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students only change line 2, the sort on line 7 still says Release year, so ask them to predict what happens and fix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screenshot shows the first page of the table (1997 to 2006), where the small early years are. Have students page forward to the end to find 2024 and 2025.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Ask: how many games would you want before you trust a year's median? There's no single right answer; the point is to check.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Cold-call or use mini whiteboards.
Answers:
1. Split the rows into groups, apply a calculation to each group, combine the answers into one smaller table.
2. The number of rows in each group.
3. Prices are skewed: a few $60 or $70 games pull the mean up, and most of them aren't Indie.
4. It's from just 1 game. A summary of one or two games isn't evidence of anything.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Give the last 10 minutes. Model sentence from the page: The typical Indie game gets 86.5% positive reviews, compared with 83.2% for other games.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image-1002-1.png"/><Relationship Id="rId2"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image" Target="../media/image-1004-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p:bg>
      <p:bgPr>
        <a:solidFill>
          <a:srgbClr val="4E342E"/>
        </a:solidFill>
      </p:bgPr>
    </p:bg>
    <p:spTree>
      <p:nvGrpSpPr>
        <p:cNvPr id="1" name=""/>
        <p:cNvGrpSpPr/>
        <p:nvPr/>
      </p:nvGrpSpPr>
      <p:grpSpPr>
        <a:xfrm>
          <a:off x="0" y="0"/>
          <a:ext cx="0" cy="0"/>
          <a:chOff x="0" y="0"/>
          <a:chExt cx="0" cy="0"/>
        </a:xfrm>
      </p:grpSpPr>
      <p:pic>
        <p:nvPicPr>
          <p:cNvPr id="2" name="Image 0" descr="/home/claude/steam-data-stories/docs/assets/logo.png">    </p:cNvPr>
          <p:cNvPicPr>
            <a:picLocks noChangeAspect="1"/>
          </p:cNvPicPr>
          <p:nvPr/>
        </p:nvPicPr>
        <p:blipFill>
          <a:blip r:embed="rId1"/>
          <a:stretch>
            <a:fillRect/>
          </a:stretch>
        </p:blipFill>
        <p:spPr>
          <a:xfrm>
            <a:off x="5989320" y="914400"/>
            <a:ext cx="2743200" cy="2743200"/>
          </a:xfrm>
          <a:prstGeom prst="rect">
            <a:avLst/>
          </a:prstGeom>
        </p:spPr>
      </p:pic>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SECTION">
    <p:bg>
      <p:bgPr>
        <a:solidFill>
          <a:srgbClr val="4E342E"/>
        </a:solidFill>
      </p:bgPr>
    </p:bg>
    <p:spTree>
      <p:nvGrpSpPr>
        <p:cNvPr id="1" name=""/>
        <p:cNvGrpSpPr/>
        <p:nvPr/>
      </p:nvGrpSpPr>
      <p:grpSpPr>
        <a:xfrm>
          <a:off x="0" y="0"/>
          <a:ext cx="0" cy="0"/>
          <a:chOff x="0" y="0"/>
          <a:chExt cx="0" cy="0"/>
        </a:xfrm>
      </p:grpSpPr>
      <p:pic>
        <p:nvPicPr>
          <p:cNvPr id="2" name="Image 0" descr="/home/claude/steam-data-stories/docs/assets/logo.png">    </p:cNvPr>
          <p:cNvPicPr>
            <a:picLocks noChangeAspect="1"/>
          </p:cNvPicPr>
          <p:nvPr/>
        </p:nvPicPr>
        <p:blipFill>
          <a:blip r:embed="rId1"/>
          <a:stretch>
            <a:fillRect/>
          </a:stretch>
        </p:blipFill>
        <p:spPr>
          <a:xfrm>
            <a:off x="8001000" y="4069080"/>
            <a:ext cx="777240" cy="777240"/>
          </a:xfrm>
          <a:prstGeom prst="rect">
            <a:avLst/>
          </a:prstGeom>
        </p:spPr>
      </p:pic>
      <p:sp>
        <p:nvSpPr>
          <p:cNvPr id="25" name="Slide Number Placeholder 0"/>
          <p:cNvSpPr>
            <a:spLocks noGrp="1"/>
          </p:cNvSpPr>
          <p:nvPr>
            <p:ph type="sldNum" sz="quarter" idx="4294967295"/>
          </p:nvPr>
        </p:nvSpPr>
        <p:spPr>
          <a:xfrm>
            <a:off x="365760" y="470916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F7EFE6"/>
                </a:solidFill>
              </a:defRPr>
            </a:lvl1pPr>
          </a:lstStyle>
          <a:p>
            <a:pPr algn="l"/>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p:bgPr>
    </p:bg>
    <p:spTree>
      <p:nvGrpSpPr>
        <p:cNvPr id="1" name=""/>
        <p:cNvGrpSpPr/>
        <p:nvPr/>
      </p:nvGrpSpPr>
      <p:grpSpPr>
        <a:xfrm>
          <a:off x="0" y="0"/>
          <a:ext cx="0" cy="0"/>
          <a:chOff x="0" y="0"/>
          <a:chExt cx="0" cy="0"/>
        </a:xfrm>
      </p:grpSpPr>
      <p:pic>
        <p:nvPicPr>
          <p:cNvPr id="2" name="Image 0" descr="/home/claude/steam-data-stories/docs/assets/logo.png">    </p:cNvPr>
          <p:cNvPicPr>
            <a:picLocks noChangeAspect="1"/>
          </p:cNvPicPr>
          <p:nvPr/>
        </p:nvPicPr>
        <p:blipFill>
          <a:blip r:embed="rId1"/>
          <a:stretch>
            <a:fillRect/>
          </a:stretch>
        </p:blipFill>
        <p:spPr>
          <a:xfrm>
            <a:off x="8503920" y="4572000"/>
            <a:ext cx="411480" cy="411480"/>
          </a:xfrm>
          <a:prstGeom prst="rect">
            <a:avLst/>
          </a:prstGeom>
        </p:spPr>
      </p:pic>
      <p:sp>
        <p:nvSpPr>
          <p:cNvPr id="25" name="Slide Number Placeholder 0"/>
          <p:cNvSpPr>
            <a:spLocks noGrp="1"/>
          </p:cNvSpPr>
          <p:nvPr>
            <p:ph type="sldNum" sz="quarter" idx="4294967295"/>
          </p:nvPr>
        </p:nvSpPr>
        <p:spPr>
          <a:xfrm>
            <a:off x="365760" y="470916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6B6B"/>
                </a:solidFill>
              </a:defRPr>
            </a:lvl1pPr>
          </a:lstStyle>
          <a:p>
            <a:pPr algn="l"/>
            <a:fld id="{F7021451-1387-4CA6-816F-3879F97B5CBC}" type="slidenum">
              <a:rPr b="0" lang="en-US"/>
              <a:t>1004</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365760" y="470916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F7EFE6"/>
                </a:solidFill>
              </a:defRPr>
            </a:lvl1pPr>
          </a:lstStyle>
          <a:p>
            <a:pPr algn="l"/>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4.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4.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txBox="1"/>
          <p:nvPr/>
        </p:nvSpPr>
        <p:spPr>
          <a:xfrm>
            <a:off x="457200" y="914400"/>
            <a:ext cx="5303520" cy="365760"/>
          </a:xfrm>
          <a:prstGeom prst="rect">
            <a:avLst/>
          </a:prstGeom>
          <a:noFill/>
          <a:ln/>
        </p:spPr>
        <p:txBody>
          <a:bodyPr wrap="square" lIns="0" tIns="0" rIns="0" bIns="0" rtlCol="0" anchor="ctr"/>
          <a:lstStyle/>
          <a:p>
            <a:pPr indent="0" marL="0">
              <a:buNone/>
            </a:pPr>
            <a:r>
              <a:rPr lang="en-US" sz="1400" b="1" spc="200" kern="0" dirty="0">
                <a:solidFill>
                  <a:srgbClr val="E8A55A"/>
                </a:solidFill>
              </a:rPr>
              <a:t>RISING INSIGHTS</a:t>
            </a:r>
            <a:endParaRPr lang="en-US" sz="1400" dirty="0"/>
          </a:p>
        </p:txBody>
      </p:sp>
      <p:sp>
        <p:nvSpPr>
          <p:cNvPr id="3" name="Text 1"/>
          <p:cNvSpPr txBox="1"/>
          <p:nvPr/>
        </p:nvSpPr>
        <p:spPr>
          <a:xfrm>
            <a:off x="457200" y="1325880"/>
            <a:ext cx="5303520" cy="457200"/>
          </a:xfrm>
          <a:prstGeom prst="rect">
            <a:avLst/>
          </a:prstGeom>
          <a:noFill/>
          <a:ln/>
        </p:spPr>
        <p:txBody>
          <a:bodyPr wrap="square" lIns="0" tIns="0" rIns="0" bIns="0" rtlCol="0" anchor="ctr"/>
          <a:lstStyle/>
          <a:p>
            <a:pPr indent="0" marL="0">
              <a:buNone/>
            </a:pPr>
            <a:r>
              <a:rPr lang="en-US" sz="2000" dirty="0">
                <a:solidFill>
                  <a:srgbClr val="F7EFE6"/>
                </a:solidFill>
              </a:rPr>
              <a:t>Lesson 8</a:t>
            </a:r>
            <a:endParaRPr lang="en-US" sz="2000" dirty="0"/>
          </a:p>
        </p:txBody>
      </p:sp>
      <p:sp>
        <p:nvSpPr>
          <p:cNvPr id="4" name="Text 2"/>
          <p:cNvSpPr txBox="1"/>
          <p:nvPr/>
        </p:nvSpPr>
        <p:spPr>
          <a:xfrm>
            <a:off x="457200" y="1783080"/>
            <a:ext cx="5303520" cy="1463040"/>
          </a:xfrm>
          <a:prstGeom prst="rect">
            <a:avLst/>
          </a:prstGeom>
          <a:noFill/>
          <a:ln/>
        </p:spPr>
        <p:txBody>
          <a:bodyPr wrap="square" lIns="0" tIns="0" rIns="0" bIns="0" rtlCol="0" anchor="t">
            <a:normAutofit/>
          </a:bodyPr>
          <a:lstStyle/>
          <a:p>
            <a:pPr indent="0" marL="0">
              <a:buNone/>
            </a:pPr>
            <a:r>
              <a:rPr lang="en-US" sz="4000" b="1" dirty="0">
                <a:solidFill>
                  <a:srgbClr val="FFFFFF"/>
                </a:solidFill>
              </a:rPr>
              <a:t>Summarising Groups</a:t>
            </a:r>
            <a:endParaRPr lang="en-US" sz="4000" dirty="0"/>
          </a:p>
        </p:txBody>
      </p:sp>
      <p:sp>
        <p:nvSpPr>
          <p:cNvPr id="5" name="Text 3"/>
          <p:cNvSpPr txBox="1"/>
          <p:nvPr/>
        </p:nvSpPr>
        <p:spPr>
          <a:xfrm>
            <a:off x="457200" y="4206240"/>
            <a:ext cx="5303520" cy="365760"/>
          </a:xfrm>
          <a:prstGeom prst="rect">
            <a:avLst/>
          </a:prstGeom>
          <a:noFill/>
          <a:ln/>
        </p:spPr>
        <p:txBody>
          <a:bodyPr wrap="square" lIns="0" tIns="0" rIns="0" bIns="0" rtlCol="0" anchor="ctr"/>
          <a:lstStyle/>
          <a:p>
            <a:pPr indent="0" marL="0">
              <a:buNone/>
            </a:pPr>
            <a:r>
              <a:rPr lang="en-US" sz="1400" dirty="0">
                <a:solidFill>
                  <a:srgbClr val="F7EFE6"/>
                </a:solidFill>
              </a:rPr>
              <a:t>Steam Data Stories</a:t>
            </a:r>
            <a:endParaRPr lang="en-US" sz="1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itle"/>
          <p:cNvSpPr txBox="1"/>
          <p:nvPr/>
        </p:nvSpPr>
        <p:spPr>
          <a:xfrm>
            <a:off x="457200" y="274320"/>
            <a:ext cx="8229600" cy="640080"/>
          </a:xfrm>
          <a:prstGeom prst="rect">
            <a:avLst/>
          </a:prstGeom>
          <a:noFill/>
          <a:ln/>
        </p:spPr>
        <p:txBody>
          <a:bodyPr wrap="square" lIns="0" tIns="0" rIns="0" bIns="0" rtlCol="0" anchor="ctr">
            <a:normAutofit/>
          </a:bodyPr>
          <a:lstStyle/>
          <a:p>
            <a:pPr indent="0" marL="0">
              <a:buNone/>
            </a:pPr>
            <a:r>
              <a:rPr lang="en-US" sz="2800" b="1" dirty="0">
                <a:solidFill>
                  <a:srgbClr val="4E342E"/>
                </a:solidFill>
              </a:rPr>
              <a:t>In this lesson we will learn</a:t>
            </a:r>
            <a:endParaRPr lang="en-US" sz="2800" dirty="0"/>
          </a:p>
        </p:txBody>
      </p:sp>
      <p:sp>
        <p:nvSpPr>
          <p:cNvPr id="3" name="learn box"/>
          <p:cNvSpPr/>
          <p:nvPr/>
        </p:nvSpPr>
        <p:spPr>
          <a:xfrm>
            <a:off x="457200" y="1097280"/>
            <a:ext cx="8229600" cy="2697480"/>
          </a:xfrm>
          <a:prstGeom prst="roundRect">
            <a:avLst>
              <a:gd name="adj" fmla="val 2712"/>
            </a:avLst>
          </a:prstGeom>
          <a:solidFill>
            <a:srgbClr val="FFF4DC"/>
          </a:solidFill>
          <a:ln w="12700">
            <a:solidFill>
              <a:srgbClr val="FFF4DC"/>
            </a:solidFill>
            <a:prstDash val="solid"/>
          </a:ln>
        </p:spPr>
      </p:sp>
      <p:sp>
        <p:nvSpPr>
          <p:cNvPr id="4" name="Text 2"/>
          <p:cNvSpPr txBox="1"/>
          <p:nvPr/>
        </p:nvSpPr>
        <p:spPr>
          <a:xfrm>
            <a:off x="685800" y="1234440"/>
            <a:ext cx="7772400" cy="365760"/>
          </a:xfrm>
          <a:prstGeom prst="rect">
            <a:avLst/>
          </a:prstGeom>
          <a:noFill/>
          <a:ln/>
        </p:spPr>
        <p:txBody>
          <a:bodyPr wrap="square" lIns="0" tIns="0" rIns="0" bIns="0" rtlCol="0" anchor="ctr"/>
          <a:lstStyle/>
          <a:p>
            <a:pPr indent="0" marL="0">
              <a:buNone/>
            </a:pPr>
            <a:r>
              <a:rPr lang="en-US" sz="1600" b="1" dirty="0">
                <a:solidFill>
                  <a:srgbClr val="8A5A00"/>
                </a:solidFill>
              </a:rPr>
              <a:t>Learning intentions</a:t>
            </a:r>
            <a:endParaRPr lang="en-US" sz="1600" dirty="0"/>
          </a:p>
        </p:txBody>
      </p:sp>
      <p:sp>
        <p:nvSpPr>
          <p:cNvPr id="5" name="Text 3"/>
          <p:cNvSpPr txBox="1"/>
          <p:nvPr/>
        </p:nvSpPr>
        <p:spPr>
          <a:xfrm>
            <a:off x="685800" y="1645920"/>
            <a:ext cx="7772400" cy="2011680"/>
          </a:xfrm>
          <a:prstGeom prst="rect">
            <a:avLst/>
          </a:prstGeom>
          <a:noFill/>
          <a:ln/>
        </p:spPr>
        <p:txBody>
          <a:bodyPr wrap="square" lIns="0" tIns="0" rIns="0" bIns="0" rtlCol="0" anchor="t">
            <a:normAutofit/>
          </a:bodyPr>
          <a:lstStyle/>
          <a:p>
            <a:pPr marL="342900" indent="-342900">
              <a:spcAft>
                <a:spcPts val="1200"/>
              </a:spcAft>
              <a:buSzPct val="100000"/>
              <a:buChar char="•"/>
            </a:pPr>
            <a:r>
              <a:rPr lang="en-US" sz="2000" dirty="0">
                <a:solidFill>
                  <a:srgbClr val="2B1D19"/>
                </a:solidFill>
              </a:rPr>
              <a:t>​</a:t>
            </a:r>
            <a:r>
              <a:rPr lang="en-US" sz="2000" dirty="0">
                <a:solidFill>
                  <a:srgbClr val="2B1D19"/>
                </a:solidFill>
              </a:rPr>
              <a:t>how to split data into groups with </a:t>
            </a:r>
            <a:r>
              <a:rPr lang="en-US" sz="1800" b="1" dirty="0">
                <a:solidFill>
                  <a:srgbClr val="B86E1E"/>
                </a:solidFill>
                <a:latin typeface="Courier New" pitchFamily="34" charset="0"/>
                <a:ea typeface="Courier New" pitchFamily="34" charset="-122"/>
                <a:cs typeface="Courier New" pitchFamily="34" charset="-120"/>
              </a:rPr>
              <a:t>group_by</a:t>
            </a:r>
            <a:endParaRPr lang="en-US" sz="2000" dirty="0"/>
          </a:p>
          <a:p>
            <a:pPr marL="342900" indent="-342900">
              <a:spcAft>
                <a:spcPts val="1200"/>
              </a:spcAft>
              <a:buSzPct val="100000"/>
              <a:buChar char="•"/>
            </a:pPr>
            <a:r>
              <a:rPr lang="en-US" sz="2000" dirty="0">
                <a:solidFill>
                  <a:srgbClr val="2B1D19"/>
                </a:solidFill>
              </a:rPr>
              <a:t>​</a:t>
            </a:r>
            <a:r>
              <a:rPr lang="en-US" sz="2000" dirty="0">
                <a:solidFill>
                  <a:srgbClr val="2B1D19"/>
                </a:solidFill>
              </a:rPr>
              <a:t>how to summarise each group with </a:t>
            </a:r>
            <a:r>
              <a:rPr lang="en-US" sz="1800" b="1" dirty="0">
                <a:solidFill>
                  <a:srgbClr val="B86E1E"/>
                </a:solidFill>
                <a:latin typeface="Courier New" pitchFamily="34" charset="0"/>
                <a:ea typeface="Courier New" pitchFamily="34" charset="-122"/>
                <a:cs typeface="Courier New" pitchFamily="34" charset="-120"/>
              </a:rPr>
              <a:t>agg</a:t>
            </a:r>
            <a:endParaRPr lang="en-US" sz="2000" dirty="0"/>
          </a:p>
          <a:p>
            <a:pPr marL="342900" indent="-342900">
              <a:spcAft>
                <a:spcPts val="1200"/>
              </a:spcAft>
              <a:buSzPct val="100000"/>
              <a:buChar char="•"/>
            </a:pPr>
            <a:r>
              <a:rPr lang="en-US" sz="2000" dirty="0">
                <a:solidFill>
                  <a:srgbClr val="2B1D19"/>
                </a:solidFill>
              </a:rPr>
              <a:t>​</a:t>
            </a:r>
            <a:r>
              <a:rPr lang="en-US" sz="2000" dirty="0">
                <a:solidFill>
                  <a:srgbClr val="2B1D19"/>
                </a:solidFill>
              </a:rPr>
              <a:t>how to count rows with </a:t>
            </a:r>
            <a:r>
              <a:rPr lang="en-US" sz="1800" b="1" dirty="0">
                <a:solidFill>
                  <a:srgbClr val="B86E1E"/>
                </a:solidFill>
                <a:latin typeface="Courier New" pitchFamily="34" charset="0"/>
                <a:ea typeface="Courier New" pitchFamily="34" charset="-122"/>
                <a:cs typeface="Courier New" pitchFamily="34" charset="-120"/>
              </a:rPr>
              <a:t>pl.len</a:t>
            </a:r>
            <a:endParaRPr lang="en-US" sz="2000" dirty="0"/>
          </a:p>
          <a:p>
            <a:pPr marL="342900" indent="-342900">
              <a:spcAft>
                <a:spcPts val="1200"/>
              </a:spcAft>
              <a:buSzPct val="100000"/>
              <a:buChar char="•"/>
            </a:pPr>
            <a:r>
              <a:rPr lang="en-US" sz="2000" dirty="0">
                <a:solidFill>
                  <a:srgbClr val="2B1D19"/>
                </a:solidFill>
              </a:rPr>
              <a:t>​</a:t>
            </a:r>
            <a:r>
              <a:rPr lang="en-US" sz="2000" dirty="0">
                <a:solidFill>
                  <a:srgbClr val="2B1D19"/>
                </a:solidFill>
              </a:rPr>
              <a:t>when to use the mean and when to use the median</a:t>
            </a:r>
            <a:endParaRPr lang="en-US" sz="2000" dirty="0"/>
          </a:p>
        </p:txBody>
      </p:sp>
      <p:sp>
        <p:nvSpPr>
          <p:cNvPr id="25" name="Slide Number Placeholder 0"/>
          <p:cNvSpPr>
            <a:spLocks noGrp="1"/>
          </p:cNvSpPr>
          <p:nvPr>
            <p:ph type="sldNum" sz="quarter" idx="4294967295"/>
          </p:nvPr>
        </p:nvSpPr>
        <p:spPr>
          <a:xfrm>
            <a:off x="365760" y="470916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6B6B"/>
                </a:solidFill>
              </a:defRPr>
            </a:lvl1pPr>
          </a:lstStyle>
          <a:p>
            <a:pPr algn="l"/>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itle"/>
          <p:cNvSpPr txBox="1"/>
          <p:nvPr/>
        </p:nvSpPr>
        <p:spPr>
          <a:xfrm>
            <a:off x="457200" y="274320"/>
            <a:ext cx="8229600" cy="640080"/>
          </a:xfrm>
          <a:prstGeom prst="rect">
            <a:avLst/>
          </a:prstGeom>
          <a:noFill/>
          <a:ln/>
        </p:spPr>
        <p:txBody>
          <a:bodyPr wrap="square" lIns="0" tIns="0" rIns="0" bIns="0" rtlCol="0" anchor="ctr">
            <a:normAutofit/>
          </a:bodyPr>
          <a:lstStyle/>
          <a:p>
            <a:pPr indent="0" marL="0">
              <a:buNone/>
            </a:pPr>
            <a:r>
              <a:rPr lang="en-US" sz="2800" b="1" dirty="0">
                <a:solidFill>
                  <a:srgbClr val="4E342E"/>
                </a:solidFill>
              </a:rPr>
              <a:t>Terminology</a:t>
            </a:r>
            <a:endParaRPr lang="en-US" sz="2800" dirty="0"/>
          </a:p>
        </p:txBody>
      </p:sp>
      <p:sp>
        <p:nvSpPr>
          <p:cNvPr id="3" name="terms box"/>
          <p:cNvSpPr/>
          <p:nvPr/>
        </p:nvSpPr>
        <p:spPr>
          <a:xfrm>
            <a:off x="457200" y="1097280"/>
            <a:ext cx="8229600" cy="2697480"/>
          </a:xfrm>
          <a:prstGeom prst="roundRect">
            <a:avLst>
              <a:gd name="adj" fmla="val 2712"/>
            </a:avLst>
          </a:prstGeom>
          <a:solidFill>
            <a:srgbClr val="EEEEEE"/>
          </a:solidFill>
          <a:ln w="12700">
            <a:solidFill>
              <a:srgbClr val="EEEEEE"/>
            </a:solidFill>
            <a:prstDash val="solid"/>
          </a:ln>
        </p:spPr>
      </p:sp>
      <p:sp>
        <p:nvSpPr>
          <p:cNvPr id="4" name="Text 2"/>
          <p:cNvSpPr txBox="1"/>
          <p:nvPr/>
        </p:nvSpPr>
        <p:spPr>
          <a:xfrm>
            <a:off x="685800" y="1234440"/>
            <a:ext cx="7772400" cy="365760"/>
          </a:xfrm>
          <a:prstGeom prst="rect">
            <a:avLst/>
          </a:prstGeom>
          <a:noFill/>
          <a:ln/>
        </p:spPr>
        <p:txBody>
          <a:bodyPr wrap="square" lIns="0" tIns="0" rIns="0" bIns="0" rtlCol="0" anchor="ctr"/>
          <a:lstStyle/>
          <a:p>
            <a:pPr indent="0" marL="0">
              <a:buNone/>
            </a:pPr>
            <a:r>
              <a:rPr lang="en-US" sz="1600" b="1" dirty="0">
                <a:solidFill>
                  <a:srgbClr val="424242"/>
                </a:solidFill>
              </a:rPr>
              <a:t>New terms</a:t>
            </a:r>
            <a:endParaRPr lang="en-US" sz="1600" dirty="0"/>
          </a:p>
        </p:txBody>
      </p:sp>
      <p:sp>
        <p:nvSpPr>
          <p:cNvPr id="5" name="Text 3"/>
          <p:cNvSpPr txBox="1"/>
          <p:nvPr/>
        </p:nvSpPr>
        <p:spPr>
          <a:xfrm>
            <a:off x="685800" y="1645920"/>
            <a:ext cx="7772400" cy="2011680"/>
          </a:xfrm>
          <a:prstGeom prst="rect">
            <a:avLst/>
          </a:prstGeom>
          <a:noFill/>
          <a:ln/>
        </p:spPr>
        <p:txBody>
          <a:bodyPr wrap="square" lIns="0" tIns="0" rIns="0" bIns="0" rtlCol="0" anchor="t">
            <a:normAutofit/>
          </a:bodyPr>
          <a:lstStyle/>
          <a:p>
            <a:pPr marL="342900" indent="-342900">
              <a:spcAft>
                <a:spcPts val="1200"/>
              </a:spcAft>
              <a:buSzPct val="100000"/>
              <a:buChar char="•"/>
            </a:pPr>
            <a:r>
              <a:rPr lang="en-US" sz="2000" dirty="0">
                <a:solidFill>
                  <a:srgbClr val="2B1D19"/>
                </a:solidFill>
              </a:rPr>
              <a:t>​</a:t>
            </a:r>
            <a:r>
              <a:rPr lang="en-US" sz="2000" b="1" dirty="0">
                <a:solidFill>
                  <a:srgbClr val="2B1D19"/>
                </a:solidFill>
              </a:rPr>
              <a:t>aggregate</a:t>
            </a:r>
            <a:r>
              <a:rPr lang="en-US" sz="2000" dirty="0">
                <a:solidFill>
                  <a:srgbClr val="2B1D19"/>
                </a:solidFill>
              </a:rPr>
              <a:t> – to combine the values in a group into one number, such as a count, mean or median.</a:t>
            </a:r>
            <a:endParaRPr lang="en-US" sz="2000" dirty="0"/>
          </a:p>
          <a:p>
            <a:pPr marL="342900" indent="-342900">
              <a:spcAft>
                <a:spcPts val="1200"/>
              </a:spcAft>
              <a:buSzPct val="100000"/>
              <a:buChar char="•"/>
            </a:pPr>
            <a:r>
              <a:rPr lang="en-US" sz="2000" dirty="0">
                <a:solidFill>
                  <a:srgbClr val="2B1D19"/>
                </a:solidFill>
              </a:rPr>
              <a:t>​</a:t>
            </a:r>
            <a:r>
              <a:rPr lang="en-US" sz="2000" b="1" dirty="0">
                <a:solidFill>
                  <a:srgbClr val="2B1D19"/>
                </a:solidFill>
              </a:rPr>
              <a:t>skewed</a:t>
            </a:r>
            <a:r>
              <a:rPr lang="en-US" sz="2000" dirty="0">
                <a:solidFill>
                  <a:srgbClr val="2B1D19"/>
                </a:solidFill>
              </a:rPr>
              <a:t> – describes data where a few values are much bigger or smaller than the rest, which pulls the mean away from the median.</a:t>
            </a:r>
            <a:endParaRPr lang="en-US" sz="2000" dirty="0"/>
          </a:p>
        </p:txBody>
      </p:sp>
      <p:sp>
        <p:nvSpPr>
          <p:cNvPr id="25" name="Slide Number Placeholder 0"/>
          <p:cNvSpPr>
            <a:spLocks noGrp="1"/>
          </p:cNvSpPr>
          <p:nvPr>
            <p:ph type="sldNum" sz="quarter" idx="4294967295"/>
          </p:nvPr>
        </p:nvSpPr>
        <p:spPr>
          <a:xfrm>
            <a:off x="365760" y="470916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6B6B"/>
                </a:solidFill>
              </a:defRPr>
            </a:lvl1pPr>
          </a:lstStyle>
          <a:p>
            <a:pPr algn="l"/>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txBox="1"/>
          <p:nvPr/>
        </p:nvSpPr>
        <p:spPr>
          <a:xfrm>
            <a:off x="457200" y="914400"/>
            <a:ext cx="7772400" cy="365760"/>
          </a:xfrm>
          <a:prstGeom prst="rect">
            <a:avLst/>
          </a:prstGeom>
          <a:noFill/>
          <a:ln/>
        </p:spPr>
        <p:txBody>
          <a:bodyPr wrap="square" lIns="0" tIns="0" rIns="0" bIns="0" rtlCol="0" anchor="ctr"/>
          <a:lstStyle/>
          <a:p>
            <a:pPr indent="0" marL="0">
              <a:buNone/>
            </a:pPr>
            <a:r>
              <a:rPr lang="en-US" sz="1400" b="1" spc="200" kern="0" dirty="0">
                <a:solidFill>
                  <a:srgbClr val="E8A55A"/>
                </a:solidFill>
              </a:rPr>
              <a:t>REMEMBER</a:t>
            </a:r>
            <a:endParaRPr lang="en-US" sz="1400" dirty="0"/>
          </a:p>
        </p:txBody>
      </p:sp>
      <p:sp>
        <p:nvSpPr>
          <p:cNvPr id="3" name="Text 1"/>
          <p:cNvSpPr txBox="1"/>
          <p:nvPr/>
        </p:nvSpPr>
        <p:spPr>
          <a:xfrm>
            <a:off x="457200" y="1325880"/>
            <a:ext cx="7863840" cy="1828800"/>
          </a:xfrm>
          <a:prstGeom prst="rect">
            <a:avLst/>
          </a:prstGeom>
          <a:noFill/>
          <a:ln/>
        </p:spPr>
        <p:txBody>
          <a:bodyPr wrap="square" lIns="0" tIns="0" rIns="0" bIns="0" rtlCol="0" anchor="t">
            <a:normAutofit/>
          </a:bodyPr>
          <a:lstStyle/>
          <a:p>
            <a:pPr indent="0" marL="0">
              <a:spcAft>
                <a:spcPts val="800"/>
              </a:spcAft>
              <a:buNone/>
            </a:pPr>
            <a:r>
              <a:rPr lang="en-US" sz="3000" b="1" dirty="0">
                <a:solidFill>
                  <a:srgbClr val="FFFFFF"/>
                </a:solidFill>
              </a:rPr>
              <a:t>​</a:t>
            </a:r>
            <a:r>
              <a:rPr lang="en-US" sz="3000" b="1" dirty="0">
                <a:solidFill>
                  <a:srgbClr val="FFFFFF"/>
                </a:solidFill>
              </a:rPr>
              <a:t>Every game now has a review score, a release year and a group</a:t>
            </a:r>
            <a:endParaRPr lang="en-US" sz="3000" dirty="0"/>
          </a:p>
        </p:txBody>
      </p:sp>
      <p:sp>
        <p:nvSpPr>
          <p:cNvPr id="4" name="Text 2"/>
          <p:cNvSpPr txBox="1"/>
          <p:nvPr/>
        </p:nvSpPr>
        <p:spPr>
          <a:xfrm>
            <a:off x="457200" y="3246120"/>
            <a:ext cx="7315200" cy="914400"/>
          </a:xfrm>
          <a:prstGeom prst="rect">
            <a:avLst/>
          </a:prstGeom>
          <a:noFill/>
          <a:ln/>
        </p:spPr>
        <p:txBody>
          <a:bodyPr wrap="square" lIns="0" tIns="0" rIns="0" bIns="0" rtlCol="0" anchor="t"/>
          <a:lstStyle/>
          <a:p>
            <a:pPr indent="0" marL="0">
              <a:spcAft>
                <a:spcPts val="800"/>
              </a:spcAft>
              <a:buNone/>
            </a:pPr>
            <a:r>
              <a:rPr lang="en-US" sz="1600" dirty="0">
                <a:solidFill>
                  <a:srgbClr val="F7EFE6"/>
                </a:solidFill>
              </a:rPr>
              <a:t>​</a:t>
            </a:r>
            <a:r>
              <a:rPr lang="en-US" sz="1600" dirty="0">
                <a:solidFill>
                  <a:srgbClr val="F7EFE6"/>
                </a:solidFill>
              </a:rPr>
              <a:t>But a table of 10,250 games can't tell a story by itself. Our audience needs a few clear numbers.</a:t>
            </a:r>
            <a:endParaRPr lang="en-US" sz="1600" dirty="0"/>
          </a:p>
        </p:txBody>
      </p:sp>
      <p:sp>
        <p:nvSpPr>
          <p:cNvPr id="25" name="Slide Number Placeholder 0"/>
          <p:cNvSpPr>
            <a:spLocks noGrp="1"/>
          </p:cNvSpPr>
          <p:nvPr>
            <p:ph type="sldNum" sz="quarter" idx="4294967295"/>
          </p:nvPr>
        </p:nvSpPr>
        <p:spPr>
          <a:xfrm>
            <a:off x="365760" y="470916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F7EFE6"/>
                </a:solidFill>
              </a:defRPr>
            </a:lvl1pPr>
          </a:lstStyle>
          <a:p>
            <a:pPr algn="l"/>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itle"/>
          <p:cNvSpPr txBox="1"/>
          <p:nvPr/>
        </p:nvSpPr>
        <p:spPr>
          <a:xfrm>
            <a:off x="457200" y="274320"/>
            <a:ext cx="8229600" cy="640080"/>
          </a:xfrm>
          <a:prstGeom prst="rect">
            <a:avLst/>
          </a:prstGeom>
          <a:noFill/>
          <a:ln/>
        </p:spPr>
        <p:txBody>
          <a:bodyPr wrap="square" lIns="0" tIns="0" rIns="0" bIns="0" rtlCol="0" anchor="ctr">
            <a:normAutofit/>
          </a:bodyPr>
          <a:lstStyle/>
          <a:p>
            <a:pPr indent="0" marL="0">
              <a:buNone/>
            </a:pPr>
            <a:r>
              <a:rPr lang="en-US" sz="2800" b="1" dirty="0">
                <a:solidFill>
                  <a:srgbClr val="4E342E"/>
                </a:solidFill>
              </a:rPr>
              <a:t>Split, apply, combine</a:t>
            </a:r>
            <a:endParaRPr lang="en-US" sz="2800" dirty="0"/>
          </a:p>
        </p:txBody>
      </p:sp>
      <p:sp>
        <p:nvSpPr>
          <p:cNvPr id="3" name="Text 1"/>
          <p:cNvSpPr txBox="1"/>
          <p:nvPr/>
        </p:nvSpPr>
        <p:spPr>
          <a:xfrm>
            <a:off x="457200" y="1097280"/>
            <a:ext cx="8229600" cy="685800"/>
          </a:xfrm>
          <a:prstGeom prst="rect">
            <a:avLst/>
          </a:prstGeom>
          <a:noFill/>
          <a:ln/>
        </p:spPr>
        <p:txBody>
          <a:bodyPr wrap="square" lIns="0" tIns="0" rIns="0" bIns="0" rtlCol="0" anchor="t">
            <a:normAutofit/>
          </a:bodyPr>
          <a:lstStyle/>
          <a:p>
            <a:pPr indent="0" marL="0">
              <a:spcAft>
                <a:spcPts val="800"/>
              </a:spcAft>
              <a:buNone/>
            </a:pPr>
            <a:r>
              <a:rPr lang="en-US" sz="1600" dirty="0">
                <a:solidFill>
                  <a:srgbClr val="2B1D19"/>
                </a:solidFill>
              </a:rPr>
              <a:t>​</a:t>
            </a:r>
            <a:r>
              <a:rPr lang="en-US" sz="1600" dirty="0">
                <a:solidFill>
                  <a:srgbClr val="2B1D19"/>
                </a:solidFill>
              </a:rPr>
              <a:t>Every summary in this lesson follows the same three steps.</a:t>
            </a:r>
            <a:endParaRPr lang="en-US" sz="1600" dirty="0"/>
          </a:p>
        </p:txBody>
      </p:sp>
      <p:sp>
        <p:nvSpPr>
          <p:cNvPr id="4" name="Text 2"/>
          <p:cNvSpPr txBox="1"/>
          <p:nvPr/>
        </p:nvSpPr>
        <p:spPr>
          <a:xfrm>
            <a:off x="457200" y="1874520"/>
            <a:ext cx="8229600" cy="2606040"/>
          </a:xfrm>
          <a:prstGeom prst="rect">
            <a:avLst/>
          </a:prstGeom>
          <a:noFill/>
          <a:ln/>
        </p:spPr>
        <p:txBody>
          <a:bodyPr wrap="square" lIns="0" tIns="0" rIns="0" bIns="0" rtlCol="0" anchor="t">
            <a:normAutofit/>
          </a:bodyPr>
          <a:lstStyle/>
          <a:p>
            <a:pPr marL="342900" indent="-342900">
              <a:spcAft>
                <a:spcPts val="800"/>
              </a:spcAft>
              <a:buSzPct val="100000"/>
              <a:buFont typeface="+mj-lt"/>
              <a:buAutoNum type="arabicPeriod" startAt="1"/>
            </a:pPr>
            <a:r>
              <a:rPr lang="en-US" sz="1700" dirty="0">
                <a:solidFill>
                  <a:srgbClr val="2B1D19"/>
                </a:solidFill>
              </a:rPr>
              <a:t>​</a:t>
            </a:r>
            <a:r>
              <a:rPr lang="en-US" sz="1700" b="1" dirty="0">
                <a:solidFill>
                  <a:srgbClr val="2B1D19"/>
                </a:solidFill>
              </a:rPr>
              <a:t>split</a:t>
            </a:r>
            <a:r>
              <a:rPr lang="en-US" sz="1700" dirty="0">
                <a:solidFill>
                  <a:srgbClr val="2B1D19"/>
                </a:solidFill>
              </a:rPr>
              <a:t> the rows into groups, such as </a:t>
            </a:r>
            <a:r>
              <a:rPr lang="en-US" sz="1500" b="1" dirty="0">
                <a:solidFill>
                  <a:srgbClr val="B86E1E"/>
                </a:solidFill>
                <a:latin typeface="Courier New" pitchFamily="34" charset="0"/>
                <a:ea typeface="Courier New" pitchFamily="34" charset="-122"/>
                <a:cs typeface="Courier New" pitchFamily="34" charset="-120"/>
              </a:rPr>
              <a:t>Indie</a:t>
            </a:r>
            <a:r>
              <a:rPr lang="en-US" sz="1700" dirty="0">
                <a:solidFill>
                  <a:srgbClr val="2B1D19"/>
                </a:solidFill>
              </a:rPr>
              <a:t> and </a:t>
            </a:r>
            <a:r>
              <a:rPr lang="en-US" sz="1500" b="1" dirty="0">
                <a:solidFill>
                  <a:srgbClr val="B86E1E"/>
                </a:solidFill>
                <a:latin typeface="Courier New" pitchFamily="34" charset="0"/>
                <a:ea typeface="Courier New" pitchFamily="34" charset="-122"/>
                <a:cs typeface="Courier New" pitchFamily="34" charset="-120"/>
              </a:rPr>
              <a:t>Not Indie</a:t>
            </a:r>
            <a:endParaRPr lang="en-US" sz="1700" dirty="0"/>
          </a:p>
          <a:p>
            <a:pPr marL="342900" indent="-342900">
              <a:spcAft>
                <a:spcPts val="800"/>
              </a:spcAft>
              <a:buSzPct val="100000"/>
              <a:buFont typeface="+mj-lt"/>
              <a:buAutoNum type="arabicPeriod" startAt="1"/>
            </a:pPr>
            <a:r>
              <a:rPr lang="en-US" sz="1700" dirty="0">
                <a:solidFill>
                  <a:srgbClr val="2B1D19"/>
                </a:solidFill>
              </a:rPr>
              <a:t>​</a:t>
            </a:r>
            <a:r>
              <a:rPr lang="en-US" sz="1700" b="1" dirty="0">
                <a:solidFill>
                  <a:srgbClr val="2B1D19"/>
                </a:solidFill>
              </a:rPr>
              <a:t>apply</a:t>
            </a:r>
            <a:r>
              <a:rPr lang="en-US" sz="1700" dirty="0">
                <a:solidFill>
                  <a:srgbClr val="2B1D19"/>
                </a:solidFill>
              </a:rPr>
              <a:t> a calculation to each group, such as its median review score</a:t>
            </a:r>
            <a:endParaRPr lang="en-US" sz="1700" dirty="0"/>
          </a:p>
          <a:p>
            <a:pPr marL="342900" indent="-342900">
              <a:spcAft>
                <a:spcPts val="800"/>
              </a:spcAft>
              <a:buSzPct val="100000"/>
              <a:buFont typeface="+mj-lt"/>
              <a:buAutoNum type="arabicPeriod" startAt="1"/>
            </a:pPr>
            <a:r>
              <a:rPr lang="en-US" sz="1700" dirty="0">
                <a:solidFill>
                  <a:srgbClr val="2B1D19"/>
                </a:solidFill>
              </a:rPr>
              <a:t>​</a:t>
            </a:r>
            <a:r>
              <a:rPr lang="en-US" sz="1700" b="1" dirty="0">
                <a:solidFill>
                  <a:srgbClr val="2B1D19"/>
                </a:solidFill>
              </a:rPr>
              <a:t>combine</a:t>
            </a:r>
            <a:r>
              <a:rPr lang="en-US" sz="1700" dirty="0">
                <a:solidFill>
                  <a:srgbClr val="2B1D19"/>
                </a:solidFill>
              </a:rPr>
              <a:t> the answers into a new, much smaller table, with one row per group</a:t>
            </a:r>
            <a:endParaRPr lang="en-US" sz="1700" dirty="0"/>
          </a:p>
        </p:txBody>
      </p:sp>
      <p:sp>
        <p:nvSpPr>
          <p:cNvPr id="25" name="Slide Number Placeholder 0"/>
          <p:cNvSpPr>
            <a:spLocks noGrp="1"/>
          </p:cNvSpPr>
          <p:nvPr>
            <p:ph type="sldNum" sz="quarter" idx="4294967295"/>
          </p:nvPr>
        </p:nvSpPr>
        <p:spPr>
          <a:xfrm>
            <a:off x="365760" y="470916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6B6B"/>
                </a:solidFill>
              </a:defRPr>
            </a:lvl1pPr>
          </a:lstStyle>
          <a:p>
            <a:pPr algn="l"/>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txBox="1"/>
          <p:nvPr/>
        </p:nvSpPr>
        <p:spPr>
          <a:xfrm>
            <a:off x="457200" y="1554480"/>
            <a:ext cx="7498080" cy="914400"/>
          </a:xfrm>
          <a:prstGeom prst="rect">
            <a:avLst/>
          </a:prstGeom>
          <a:noFill/>
          <a:ln/>
        </p:spPr>
        <p:txBody>
          <a:bodyPr wrap="square" lIns="0" tIns="0" rIns="0" bIns="0" rtlCol="0" anchor="ctr">
            <a:normAutofit/>
          </a:bodyPr>
          <a:lstStyle/>
          <a:p>
            <a:pPr indent="0" marL="0">
              <a:buNone/>
            </a:pPr>
            <a:r>
              <a:rPr lang="en-US" sz="3600" b="1" dirty="0">
                <a:solidFill>
                  <a:srgbClr val="FFFFFF"/>
                </a:solidFill>
              </a:rPr>
              <a:t>Comparing our two groups</a:t>
            </a:r>
            <a:endParaRPr lang="en-US" sz="3600" dirty="0"/>
          </a:p>
        </p:txBody>
      </p:sp>
      <p:sp>
        <p:nvSpPr>
          <p:cNvPr id="3" name="Text 1"/>
          <p:cNvSpPr txBox="1"/>
          <p:nvPr/>
        </p:nvSpPr>
        <p:spPr>
          <a:xfrm>
            <a:off x="457200" y="2514600"/>
            <a:ext cx="7132320" cy="1097280"/>
          </a:xfrm>
          <a:prstGeom prst="rect">
            <a:avLst/>
          </a:prstGeom>
          <a:noFill/>
          <a:ln/>
        </p:spPr>
        <p:txBody>
          <a:bodyPr wrap="square" lIns="0" tIns="0" rIns="0" bIns="0" rtlCol="0" anchor="t"/>
          <a:lstStyle/>
          <a:p>
            <a:pPr indent="0" marL="0">
              <a:spcAft>
                <a:spcPts val="800"/>
              </a:spcAft>
              <a:buNone/>
            </a:pPr>
            <a:r>
              <a:rPr lang="en-US" sz="1800" dirty="0">
                <a:solidFill>
                  <a:srgbClr val="F7EFE6"/>
                </a:solidFill>
              </a:rPr>
              <a:t>​</a:t>
            </a:r>
            <a:r>
              <a:rPr lang="en-US" sz="1800" dirty="0">
                <a:solidFill>
                  <a:srgbClr val="F7EFE6"/>
                </a:solidFill>
              </a:rPr>
              <a:t>For each group: how many games, so we know if we can trust it, and its median review score, for a typical game.</a:t>
            </a:r>
            <a:endParaRPr lang="en-US" sz="1800" dirty="0"/>
          </a:p>
        </p:txBody>
      </p:sp>
      <p:sp>
        <p:nvSpPr>
          <p:cNvPr id="25" name="Slide Number Placeholder 0"/>
          <p:cNvSpPr>
            <a:spLocks noGrp="1"/>
          </p:cNvSpPr>
          <p:nvPr>
            <p:ph type="sldNum" sz="quarter" idx="4294967295"/>
          </p:nvPr>
        </p:nvSpPr>
        <p:spPr>
          <a:xfrm>
            <a:off x="365760" y="470916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F7EFE6"/>
                </a:solidFill>
              </a:defRPr>
            </a:lvl1pPr>
          </a:lstStyle>
          <a:p>
            <a:pPr algn="l"/>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itle"/>
          <p:cNvSpPr txBox="1"/>
          <p:nvPr/>
        </p:nvSpPr>
        <p:spPr>
          <a:xfrm>
            <a:off x="457200" y="274320"/>
            <a:ext cx="8229600" cy="640080"/>
          </a:xfrm>
          <a:prstGeom prst="rect">
            <a:avLst/>
          </a:prstGeom>
          <a:noFill/>
          <a:ln/>
        </p:spPr>
        <p:txBody>
          <a:bodyPr wrap="square" lIns="0" tIns="0" rIns="0" bIns="0" rtlCol="0" anchor="ctr">
            <a:normAutofit/>
          </a:bodyPr>
          <a:lstStyle/>
          <a:p>
            <a:pPr indent="0" marL="0">
              <a:buNone/>
            </a:pPr>
            <a:r>
              <a:rPr lang="en-US" sz="2800" b="1" dirty="0">
                <a:solidFill>
                  <a:srgbClr val="4E342E"/>
                </a:solidFill>
              </a:rPr>
              <a:t>Summarise each group</a:t>
            </a:r>
            <a:endParaRPr lang="en-US" sz="2800" dirty="0"/>
          </a:p>
        </p:txBody>
      </p:sp>
      <p:sp>
        <p:nvSpPr>
          <p:cNvPr id="3" name="Code panel"/>
          <p:cNvSpPr/>
          <p:nvPr/>
        </p:nvSpPr>
        <p:spPr>
          <a:xfrm>
            <a:off x="457200" y="1051560"/>
            <a:ext cx="8229600" cy="2691765"/>
          </a:xfrm>
          <a:prstGeom prst="roundRect">
            <a:avLst>
              <a:gd name="adj" fmla="val 2038"/>
            </a:avLst>
          </a:prstGeom>
          <a:solidFill>
            <a:srgbClr val="2B1D19"/>
          </a:solidFill>
          <a:ln w="12700">
            <a:solidFill>
              <a:srgbClr val="2B1D19"/>
            </a:solidFill>
            <a:prstDash val="solid"/>
          </a:ln>
        </p:spPr>
      </p:sp>
      <p:sp>
        <p:nvSpPr>
          <p:cNvPr id="4" name="Text 2"/>
          <p:cNvSpPr txBox="1"/>
          <p:nvPr/>
        </p:nvSpPr>
        <p:spPr>
          <a:xfrm>
            <a:off x="640080" y="1161288"/>
            <a:ext cx="7863840" cy="274320"/>
          </a:xfrm>
          <a:prstGeom prst="rect">
            <a:avLst/>
          </a:prstGeom>
          <a:noFill/>
          <a:ln/>
        </p:spPr>
        <p:txBody>
          <a:bodyPr wrap="square" lIns="0" tIns="0" rIns="0" bIns="0" rtlCol="0" anchor="ctr"/>
          <a:lstStyle/>
          <a:p>
            <a:pPr indent="0" marL="0">
              <a:buNone/>
            </a:pPr>
            <a:r>
              <a:rPr lang="en-US" sz="1200" b="1" dirty="0">
                <a:solidFill>
                  <a:srgbClr val="E8A55A"/>
                </a:solidFill>
              </a:rPr>
              <a:t>steam_story.py — new cell</a:t>
            </a:r>
            <a:endParaRPr lang="en-US" sz="1200" dirty="0"/>
          </a:p>
        </p:txBody>
      </p:sp>
      <p:sp>
        <p:nvSpPr>
          <p:cNvPr id="5" name="Code"/>
          <p:cNvSpPr txBox="1"/>
          <p:nvPr/>
        </p:nvSpPr>
        <p:spPr>
          <a:xfrm>
            <a:off x="594360" y="1508760"/>
            <a:ext cx="7955280" cy="2045970"/>
          </a:xfrm>
          <a:prstGeom prst="rect">
            <a:avLst/>
          </a:prstGeom>
          <a:noFill/>
          <a:ln/>
        </p:spPr>
        <p:txBody>
          <a:bodyPr wrap="square" lIns="0" tIns="0" rIns="0" bIns="0" rtlCol="0" anchor="t"/>
          <a:lstStyle/>
          <a:p>
            <a:pPr indent="0" marL="0">
              <a:lnSpc>
                <a:spcPts val="1750"/>
              </a:lnSpc>
              <a:buNone/>
            </a:pPr>
            <a:r>
              <a:rPr lang="en-US" sz="1400" dirty="0">
                <a:solidFill>
                  <a:srgbClr val="9C8A80"/>
                </a:solidFill>
                <a:latin typeface="Courier New" pitchFamily="34" charset="0"/>
                <a:ea typeface="Courier New" pitchFamily="34" charset="-122"/>
                <a:cs typeface="Courier New" pitchFamily="34" charset="-120"/>
              </a:rPr>
              <a:t> 1  </a:t>
            </a:r>
            <a:r>
              <a:rPr lang="en-US" sz="1400" dirty="0">
                <a:solidFill>
                  <a:srgbClr val="F7EFE6"/>
                </a:solidFill>
                <a:latin typeface="Courier New" pitchFamily="34" charset="0"/>
                <a:ea typeface="Courier New" pitchFamily="34" charset="-122"/>
                <a:cs typeface="Courier New" pitchFamily="34" charset="-120"/>
              </a:rPr>
              <a:t>per_group = (</a:t>
            </a:r>
            <a:endParaRPr lang="en-US" sz="1400" dirty="0"/>
          </a:p>
          <a:p>
            <a:pPr indent="0" marL="0">
              <a:lnSpc>
                <a:spcPts val="1750"/>
              </a:lnSpc>
              <a:buNone/>
            </a:pPr>
            <a:r>
              <a:rPr lang="en-US" sz="1400" dirty="0">
                <a:solidFill>
                  <a:srgbClr val="9C8A80"/>
                </a:solidFill>
                <a:latin typeface="Courier New" pitchFamily="34" charset="0"/>
                <a:ea typeface="Courier New" pitchFamily="34" charset="-122"/>
                <a:cs typeface="Courier New" pitchFamily="34" charset="-120"/>
              </a:rPr>
              <a:t> 2  </a:t>
            </a:r>
            <a:r>
              <a:rPr lang="en-US" sz="1400" dirty="0">
                <a:solidFill>
                  <a:srgbClr val="F7EFE6"/>
                </a:solidFill>
                <a:latin typeface="Courier New" pitchFamily="34" charset="0"/>
                <a:ea typeface="Courier New" pitchFamily="34" charset="-122"/>
                <a:cs typeface="Courier New" pitchFamily="34" charset="-120"/>
              </a:rPr>
              <a:t>    scored.group_by("Group")</a:t>
            </a:r>
            <a:endParaRPr lang="en-US" sz="1400" dirty="0"/>
          </a:p>
          <a:p>
            <a:pPr indent="0" marL="0">
              <a:lnSpc>
                <a:spcPts val="1750"/>
              </a:lnSpc>
              <a:buNone/>
            </a:pPr>
            <a:r>
              <a:rPr lang="en-US" sz="1400" dirty="0">
                <a:solidFill>
                  <a:srgbClr val="9C8A80"/>
                </a:solidFill>
                <a:latin typeface="Courier New" pitchFamily="34" charset="0"/>
                <a:ea typeface="Courier New" pitchFamily="34" charset="-122"/>
                <a:cs typeface="Courier New" pitchFamily="34" charset="-120"/>
              </a:rPr>
              <a:t> 3  </a:t>
            </a:r>
            <a:r>
              <a:rPr lang="en-US" sz="1400" dirty="0">
                <a:solidFill>
                  <a:srgbClr val="F7EFE6"/>
                </a:solidFill>
                <a:latin typeface="Courier New" pitchFamily="34" charset="0"/>
                <a:ea typeface="Courier New" pitchFamily="34" charset="-122"/>
                <a:cs typeface="Courier New" pitchFamily="34" charset="-120"/>
              </a:rPr>
              <a:t>    .agg(</a:t>
            </a:r>
            <a:endParaRPr lang="en-US" sz="1400" dirty="0"/>
          </a:p>
          <a:p>
            <a:pPr indent="0" marL="0">
              <a:lnSpc>
                <a:spcPts val="1750"/>
              </a:lnSpc>
              <a:buNone/>
            </a:pPr>
            <a:r>
              <a:rPr lang="en-US" sz="1400" dirty="0">
                <a:solidFill>
                  <a:srgbClr val="9C8A80"/>
                </a:solidFill>
                <a:latin typeface="Courier New" pitchFamily="34" charset="0"/>
                <a:ea typeface="Courier New" pitchFamily="34" charset="-122"/>
                <a:cs typeface="Courier New" pitchFamily="34" charset="-120"/>
              </a:rPr>
              <a:t> 4  </a:t>
            </a:r>
            <a:r>
              <a:rPr lang="en-US" sz="1400" dirty="0">
                <a:solidFill>
                  <a:srgbClr val="F7EFE6"/>
                </a:solidFill>
                <a:latin typeface="Courier New" pitchFamily="34" charset="0"/>
                <a:ea typeface="Courier New" pitchFamily="34" charset="-122"/>
                <a:cs typeface="Courier New" pitchFamily="34" charset="-120"/>
              </a:rPr>
              <a:t>        pl.len().alias("Games"),</a:t>
            </a:r>
            <a:endParaRPr lang="en-US" sz="1400" dirty="0"/>
          </a:p>
          <a:p>
            <a:pPr indent="0" marL="0">
              <a:lnSpc>
                <a:spcPts val="1750"/>
              </a:lnSpc>
              <a:buNone/>
            </a:pPr>
            <a:r>
              <a:rPr lang="en-US" sz="1400" dirty="0">
                <a:solidFill>
                  <a:srgbClr val="9C8A80"/>
                </a:solidFill>
                <a:latin typeface="Courier New" pitchFamily="34" charset="0"/>
                <a:ea typeface="Courier New" pitchFamily="34" charset="-122"/>
                <a:cs typeface="Courier New" pitchFamily="34" charset="-120"/>
              </a:rPr>
              <a:t> 5  </a:t>
            </a:r>
            <a:r>
              <a:rPr lang="en-US" sz="1400" dirty="0">
                <a:solidFill>
                  <a:srgbClr val="F7EFE6"/>
                </a:solidFill>
                <a:latin typeface="Courier New" pitchFamily="34" charset="0"/>
                <a:ea typeface="Courier New" pitchFamily="34" charset="-122"/>
                <a:cs typeface="Courier New" pitchFamily="34" charset="-120"/>
              </a:rPr>
              <a:t>        pl.col("Review score").median().alias("Median review score"),</a:t>
            </a:r>
            <a:endParaRPr lang="en-US" sz="1400" dirty="0"/>
          </a:p>
          <a:p>
            <a:pPr indent="0" marL="0">
              <a:lnSpc>
                <a:spcPts val="1750"/>
              </a:lnSpc>
              <a:buNone/>
            </a:pPr>
            <a:r>
              <a:rPr lang="en-US" sz="1400" dirty="0">
                <a:solidFill>
                  <a:srgbClr val="9C8A80"/>
                </a:solidFill>
                <a:latin typeface="Courier New" pitchFamily="34" charset="0"/>
                <a:ea typeface="Courier New" pitchFamily="34" charset="-122"/>
                <a:cs typeface="Courier New" pitchFamily="34" charset="-120"/>
              </a:rPr>
              <a:t> 6  </a:t>
            </a:r>
            <a:r>
              <a:rPr lang="en-US" sz="1400" dirty="0">
                <a:solidFill>
                  <a:srgbClr val="F7EFE6"/>
                </a:solidFill>
                <a:latin typeface="Courier New" pitchFamily="34" charset="0"/>
                <a:ea typeface="Courier New" pitchFamily="34" charset="-122"/>
                <a:cs typeface="Courier New" pitchFamily="34" charset="-120"/>
              </a:rPr>
              <a:t>    )</a:t>
            </a:r>
            <a:endParaRPr lang="en-US" sz="1400" dirty="0"/>
          </a:p>
          <a:p>
            <a:pPr indent="0" marL="0">
              <a:lnSpc>
                <a:spcPts val="1750"/>
              </a:lnSpc>
              <a:buNone/>
            </a:pPr>
            <a:r>
              <a:rPr lang="en-US" sz="1400" dirty="0">
                <a:solidFill>
                  <a:srgbClr val="9C8A80"/>
                </a:solidFill>
                <a:latin typeface="Courier New" pitchFamily="34" charset="0"/>
                <a:ea typeface="Courier New" pitchFamily="34" charset="-122"/>
                <a:cs typeface="Courier New" pitchFamily="34" charset="-120"/>
              </a:rPr>
              <a:t> 7  </a:t>
            </a:r>
            <a:r>
              <a:rPr lang="en-US" sz="1400" dirty="0">
                <a:solidFill>
                  <a:srgbClr val="F7EFE6"/>
                </a:solidFill>
                <a:latin typeface="Courier New" pitchFamily="34" charset="0"/>
                <a:ea typeface="Courier New" pitchFamily="34" charset="-122"/>
                <a:cs typeface="Courier New" pitchFamily="34" charset="-120"/>
              </a:rPr>
              <a:t>    .sort("Group")</a:t>
            </a:r>
            <a:endParaRPr lang="en-US" sz="1400" dirty="0"/>
          </a:p>
          <a:p>
            <a:pPr indent="0" marL="0">
              <a:lnSpc>
                <a:spcPts val="1750"/>
              </a:lnSpc>
              <a:buNone/>
            </a:pPr>
            <a:r>
              <a:rPr lang="en-US" sz="1400" dirty="0">
                <a:solidFill>
                  <a:srgbClr val="9C8A80"/>
                </a:solidFill>
                <a:latin typeface="Courier New" pitchFamily="34" charset="0"/>
                <a:ea typeface="Courier New" pitchFamily="34" charset="-122"/>
                <a:cs typeface="Courier New" pitchFamily="34" charset="-120"/>
              </a:rPr>
              <a:t> 8  </a:t>
            </a:r>
            <a:r>
              <a:rPr lang="en-US" sz="1400" dirty="0">
                <a:solidFill>
                  <a:srgbClr val="F7EFE6"/>
                </a:solidFill>
                <a:latin typeface="Courier New" pitchFamily="34" charset="0"/>
                <a:ea typeface="Courier New" pitchFamily="34" charset="-122"/>
                <a:cs typeface="Courier New" pitchFamily="34" charset="-120"/>
              </a:rPr>
              <a:t>)</a:t>
            </a:r>
            <a:endParaRPr lang="en-US" sz="1400" dirty="0"/>
          </a:p>
          <a:p>
            <a:pPr indent="0" marL="0">
              <a:lnSpc>
                <a:spcPts val="1750"/>
              </a:lnSpc>
              <a:buNone/>
            </a:pPr>
            <a:r>
              <a:rPr lang="en-US" sz="1400" dirty="0">
                <a:solidFill>
                  <a:srgbClr val="9C8A80"/>
                </a:solidFill>
                <a:latin typeface="Courier New" pitchFamily="34" charset="0"/>
                <a:ea typeface="Courier New" pitchFamily="34" charset="-122"/>
                <a:cs typeface="Courier New" pitchFamily="34" charset="-120"/>
              </a:rPr>
              <a:t> 9  </a:t>
            </a:r>
            <a:r>
              <a:rPr lang="en-US" sz="1400" dirty="0">
                <a:solidFill>
                  <a:srgbClr val="F7EFE6"/>
                </a:solidFill>
                <a:latin typeface="Courier New" pitchFamily="34" charset="0"/>
                <a:ea typeface="Courier New" pitchFamily="34" charset="-122"/>
                <a:cs typeface="Courier New" pitchFamily="34" charset="-120"/>
              </a:rPr>
              <a:t>per_group</a:t>
            </a:r>
            <a:endParaRPr lang="en-US" sz="1400" dirty="0"/>
          </a:p>
        </p:txBody>
      </p:sp>
      <p:sp>
        <p:nvSpPr>
          <p:cNvPr id="6" name="Text 4"/>
          <p:cNvSpPr txBox="1"/>
          <p:nvPr/>
        </p:nvSpPr>
        <p:spPr>
          <a:xfrm>
            <a:off x="457200" y="3834765"/>
            <a:ext cx="8229600" cy="441960"/>
          </a:xfrm>
          <a:prstGeom prst="rect">
            <a:avLst/>
          </a:prstGeom>
          <a:noFill/>
          <a:ln/>
        </p:spPr>
        <p:txBody>
          <a:bodyPr wrap="square" lIns="0" tIns="0" rIns="0" bIns="0" rtlCol="0" anchor="t">
            <a:normAutofit/>
          </a:bodyPr>
          <a:lstStyle/>
          <a:p>
            <a:pPr indent="0" marL="0">
              <a:spcAft>
                <a:spcPts val="600"/>
              </a:spcAft>
              <a:buNone/>
            </a:pPr>
            <a:r>
              <a:rPr lang="en-US" sz="1500" dirty="0">
                <a:solidFill>
                  <a:srgbClr val="2B1D19"/>
                </a:solidFill>
              </a:rPr>
              <a:t>​</a:t>
            </a:r>
            <a:r>
              <a:rPr lang="en-US" sz="1500" b="1" dirty="0">
                <a:solidFill>
                  <a:srgbClr val="2B1D19"/>
                </a:solidFill>
              </a:rPr>
              <a:t>Why:</a:t>
            </a:r>
            <a:r>
              <a:rPr lang="en-US" sz="1500" dirty="0">
                <a:solidFill>
                  <a:srgbClr val="2B1D19"/>
                </a:solidFill>
              </a:rPr>
              <a:t> For each group: how many games, and its median review score.</a:t>
            </a:r>
            <a:endParaRPr lang="en-US" sz="1500" dirty="0"/>
          </a:p>
        </p:txBody>
      </p:sp>
      <p:sp>
        <p:nvSpPr>
          <p:cNvPr id="25" name="Slide Number Placeholder 0"/>
          <p:cNvSpPr>
            <a:spLocks noGrp="1"/>
          </p:cNvSpPr>
          <p:nvPr>
            <p:ph type="sldNum" sz="quarter" idx="4294967295"/>
          </p:nvPr>
        </p:nvSpPr>
        <p:spPr>
          <a:xfrm>
            <a:off x="365760" y="470916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6B6B"/>
                </a:solidFill>
              </a:defRPr>
            </a:lvl1pPr>
          </a:lstStyle>
          <a:p>
            <a:pPr algn="l"/>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itle"/>
          <p:cNvSpPr txBox="1"/>
          <p:nvPr/>
        </p:nvSpPr>
        <p:spPr>
          <a:xfrm>
            <a:off x="457200" y="274320"/>
            <a:ext cx="8229600" cy="640080"/>
          </a:xfrm>
          <a:prstGeom prst="rect">
            <a:avLst/>
          </a:prstGeom>
          <a:noFill/>
          <a:ln/>
        </p:spPr>
        <p:txBody>
          <a:bodyPr wrap="square" lIns="0" tIns="0" rIns="0" bIns="0" rtlCol="0" anchor="ctr">
            <a:normAutofit/>
          </a:bodyPr>
          <a:lstStyle/>
          <a:p>
            <a:pPr indent="0" marL="0">
              <a:buNone/>
            </a:pPr>
            <a:r>
              <a:rPr lang="en-US" sz="2800" b="1" dirty="0">
                <a:solidFill>
                  <a:srgbClr val="4E342E"/>
                </a:solidFill>
              </a:rPr>
              <a:t>Split, apply, combine in code</a:t>
            </a:r>
            <a:endParaRPr lang="en-US" sz="2800" dirty="0"/>
          </a:p>
        </p:txBody>
      </p:sp>
      <p:sp>
        <p:nvSpPr>
          <p:cNvPr id="3" name="Text 1"/>
          <p:cNvSpPr txBox="1"/>
          <p:nvPr/>
        </p:nvSpPr>
        <p:spPr>
          <a:xfrm>
            <a:off x="457200" y="1097280"/>
            <a:ext cx="8229600" cy="338328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700" dirty="0">
                <a:solidFill>
                  <a:srgbClr val="2B1D19"/>
                </a:solidFill>
              </a:rPr>
              <a:t>​</a:t>
            </a:r>
            <a:r>
              <a:rPr lang="en-US" sz="1700" b="1" dirty="0">
                <a:solidFill>
                  <a:srgbClr val="2B1D19"/>
                </a:solidFill>
              </a:rPr>
              <a:t>line 2</a:t>
            </a:r>
            <a:r>
              <a:rPr lang="en-US" sz="1700" dirty="0">
                <a:solidFill>
                  <a:srgbClr val="2B1D19"/>
                </a:solidFill>
              </a:rPr>
              <a:t> → </a:t>
            </a:r>
            <a:r>
              <a:rPr lang="en-US" sz="1500" b="1" dirty="0">
                <a:solidFill>
                  <a:srgbClr val="B86E1E"/>
                </a:solidFill>
                <a:latin typeface="Courier New" pitchFamily="34" charset="0"/>
                <a:ea typeface="Courier New" pitchFamily="34" charset="-122"/>
                <a:cs typeface="Courier New" pitchFamily="34" charset="-120"/>
              </a:rPr>
              <a:t>group_by</a:t>
            </a:r>
            <a:r>
              <a:rPr lang="en-US" sz="1700" dirty="0">
                <a:solidFill>
                  <a:srgbClr val="2B1D19"/>
                </a:solidFill>
              </a:rPr>
              <a:t> </a:t>
            </a:r>
            <a:r>
              <a:rPr lang="en-US" sz="1700" b="1" dirty="0">
                <a:solidFill>
                  <a:srgbClr val="2B1D19"/>
                </a:solidFill>
              </a:rPr>
              <a:t>splits</a:t>
            </a:r>
            <a:r>
              <a:rPr lang="en-US" sz="1700" dirty="0">
                <a:solidFill>
                  <a:srgbClr val="2B1D19"/>
                </a:solidFill>
              </a:rPr>
              <a:t> the rows of </a:t>
            </a:r>
            <a:r>
              <a:rPr lang="en-US" sz="1500" b="1" dirty="0">
                <a:solidFill>
                  <a:srgbClr val="B86E1E"/>
                </a:solidFill>
                <a:latin typeface="Courier New" pitchFamily="34" charset="0"/>
                <a:ea typeface="Courier New" pitchFamily="34" charset="-122"/>
                <a:cs typeface="Courier New" pitchFamily="34" charset="-120"/>
              </a:rPr>
              <a:t>scored</a:t>
            </a:r>
            <a:r>
              <a:rPr lang="en-US" sz="1700" dirty="0">
                <a:solidFill>
                  <a:srgbClr val="2B1D19"/>
                </a:solidFill>
              </a:rPr>
              <a:t> by </a:t>
            </a:r>
            <a:r>
              <a:rPr lang="en-US" sz="1500" b="1" dirty="0">
                <a:solidFill>
                  <a:srgbClr val="B86E1E"/>
                </a:solidFill>
                <a:latin typeface="Courier New" pitchFamily="34" charset="0"/>
                <a:ea typeface="Courier New" pitchFamily="34" charset="-122"/>
                <a:cs typeface="Courier New" pitchFamily="34" charset="-120"/>
              </a:rPr>
              <a:t>Group</a:t>
            </a:r>
            <a:endParaRPr lang="en-US" sz="1700" dirty="0"/>
          </a:p>
          <a:p>
            <a:pPr marL="342900" indent="-342900">
              <a:spcAft>
                <a:spcPts val="800"/>
              </a:spcAft>
              <a:buSzPct val="100000"/>
              <a:buChar char="•"/>
            </a:pPr>
            <a:r>
              <a:rPr lang="en-US" sz="1700" dirty="0">
                <a:solidFill>
                  <a:srgbClr val="2B1D19"/>
                </a:solidFill>
              </a:rPr>
              <a:t>​</a:t>
            </a:r>
            <a:r>
              <a:rPr lang="en-US" sz="1700" b="1" dirty="0">
                <a:solidFill>
                  <a:srgbClr val="2B1D19"/>
                </a:solidFill>
              </a:rPr>
              <a:t>line 3</a:t>
            </a:r>
            <a:r>
              <a:rPr lang="en-US" sz="1700" dirty="0">
                <a:solidFill>
                  <a:srgbClr val="2B1D19"/>
                </a:solidFill>
              </a:rPr>
              <a:t> → </a:t>
            </a:r>
            <a:r>
              <a:rPr lang="en-US" sz="1500" b="1" dirty="0">
                <a:solidFill>
                  <a:srgbClr val="B86E1E"/>
                </a:solidFill>
                <a:latin typeface="Courier New" pitchFamily="34" charset="0"/>
                <a:ea typeface="Courier New" pitchFamily="34" charset="-122"/>
                <a:cs typeface="Courier New" pitchFamily="34" charset="-120"/>
              </a:rPr>
              <a:t>agg</a:t>
            </a:r>
            <a:r>
              <a:rPr lang="en-US" sz="1700" dirty="0">
                <a:solidFill>
                  <a:srgbClr val="2B1D19"/>
                </a:solidFill>
              </a:rPr>
              <a:t>, short for aggregate, </a:t>
            </a:r>
            <a:r>
              <a:rPr lang="en-US" sz="1700" b="1" dirty="0">
                <a:solidFill>
                  <a:srgbClr val="2B1D19"/>
                </a:solidFill>
              </a:rPr>
              <a:t>applies</a:t>
            </a:r>
            <a:r>
              <a:rPr lang="en-US" sz="1700" dirty="0">
                <a:solidFill>
                  <a:srgbClr val="2B1D19"/>
                </a:solidFill>
              </a:rPr>
              <a:t> calculations to each group</a:t>
            </a:r>
            <a:endParaRPr lang="en-US" sz="1700" dirty="0"/>
          </a:p>
          <a:p>
            <a:pPr marL="342900" indent="-342900">
              <a:spcAft>
                <a:spcPts val="800"/>
              </a:spcAft>
              <a:buSzPct val="100000"/>
              <a:buChar char="•"/>
            </a:pPr>
            <a:r>
              <a:rPr lang="en-US" sz="1700" dirty="0">
                <a:solidFill>
                  <a:srgbClr val="2B1D19"/>
                </a:solidFill>
              </a:rPr>
              <a:t>​</a:t>
            </a:r>
            <a:r>
              <a:rPr lang="en-US" sz="1700" b="1" dirty="0">
                <a:solidFill>
                  <a:srgbClr val="2B1D19"/>
                </a:solidFill>
              </a:rPr>
              <a:t>line 4</a:t>
            </a:r>
            <a:r>
              <a:rPr lang="en-US" sz="1700" dirty="0">
                <a:solidFill>
                  <a:srgbClr val="2B1D19"/>
                </a:solidFill>
              </a:rPr>
              <a:t> → </a:t>
            </a:r>
            <a:r>
              <a:rPr lang="en-US" sz="1500" b="1" dirty="0">
                <a:solidFill>
                  <a:srgbClr val="B86E1E"/>
                </a:solidFill>
                <a:latin typeface="Courier New" pitchFamily="34" charset="0"/>
                <a:ea typeface="Courier New" pitchFamily="34" charset="-122"/>
                <a:cs typeface="Courier New" pitchFamily="34" charset="-120"/>
              </a:rPr>
              <a:t>pl.len</a:t>
            </a:r>
            <a:r>
              <a:rPr lang="en-US" sz="1700" dirty="0">
                <a:solidFill>
                  <a:srgbClr val="2B1D19"/>
                </a:solidFill>
              </a:rPr>
              <a:t> counts the rows in each group, named </a:t>
            </a:r>
            <a:r>
              <a:rPr lang="en-US" sz="1500" b="1" dirty="0">
                <a:solidFill>
                  <a:srgbClr val="B86E1E"/>
                </a:solidFill>
                <a:latin typeface="Courier New" pitchFamily="34" charset="0"/>
                <a:ea typeface="Courier New" pitchFamily="34" charset="-122"/>
                <a:cs typeface="Courier New" pitchFamily="34" charset="-120"/>
              </a:rPr>
              <a:t>Games</a:t>
            </a:r>
            <a:endParaRPr lang="en-US" sz="1700" dirty="0"/>
          </a:p>
          <a:p>
            <a:pPr marL="342900" indent="-342900">
              <a:spcAft>
                <a:spcPts val="800"/>
              </a:spcAft>
              <a:buSzPct val="100000"/>
              <a:buChar char="•"/>
            </a:pPr>
            <a:r>
              <a:rPr lang="en-US" sz="1700" dirty="0">
                <a:solidFill>
                  <a:srgbClr val="2B1D19"/>
                </a:solidFill>
              </a:rPr>
              <a:t>​</a:t>
            </a:r>
            <a:r>
              <a:rPr lang="en-US" sz="1700" b="1" dirty="0">
                <a:solidFill>
                  <a:srgbClr val="2B1D19"/>
                </a:solidFill>
              </a:rPr>
              <a:t>line 5</a:t>
            </a:r>
            <a:r>
              <a:rPr lang="en-US" sz="1700" dirty="0">
                <a:solidFill>
                  <a:srgbClr val="2B1D19"/>
                </a:solidFill>
              </a:rPr>
              <a:t> → the median </a:t>
            </a:r>
            <a:r>
              <a:rPr lang="en-US" sz="1500" b="1" dirty="0">
                <a:solidFill>
                  <a:srgbClr val="B86E1E"/>
                </a:solidFill>
                <a:latin typeface="Courier New" pitchFamily="34" charset="0"/>
                <a:ea typeface="Courier New" pitchFamily="34" charset="-122"/>
                <a:cs typeface="Courier New" pitchFamily="34" charset="-120"/>
              </a:rPr>
              <a:t>Review score</a:t>
            </a:r>
            <a:r>
              <a:rPr lang="en-US" sz="1700" dirty="0">
                <a:solidFill>
                  <a:srgbClr val="2B1D19"/>
                </a:solidFill>
              </a:rPr>
              <a:t> of each group</a:t>
            </a:r>
            <a:endParaRPr lang="en-US" sz="1700" dirty="0"/>
          </a:p>
          <a:p>
            <a:pPr marL="342900" indent="-342900">
              <a:spcAft>
                <a:spcPts val="800"/>
              </a:spcAft>
              <a:buSzPct val="100000"/>
              <a:buChar char="•"/>
            </a:pPr>
            <a:r>
              <a:rPr lang="en-US" sz="1700" dirty="0">
                <a:solidFill>
                  <a:srgbClr val="2B1D19"/>
                </a:solidFill>
              </a:rPr>
              <a:t>​</a:t>
            </a:r>
            <a:r>
              <a:rPr lang="en-US" sz="1700" b="1" dirty="0">
                <a:solidFill>
                  <a:srgbClr val="2B1D19"/>
                </a:solidFill>
              </a:rPr>
              <a:t>line 7</a:t>
            </a:r>
            <a:r>
              <a:rPr lang="en-US" sz="1700" dirty="0">
                <a:solidFill>
                  <a:srgbClr val="2B1D19"/>
                </a:solidFill>
              </a:rPr>
              <a:t> → sorts by </a:t>
            </a:r>
            <a:r>
              <a:rPr lang="en-US" sz="1500" b="1" dirty="0">
                <a:solidFill>
                  <a:srgbClr val="B86E1E"/>
                </a:solidFill>
                <a:latin typeface="Courier New" pitchFamily="34" charset="0"/>
                <a:ea typeface="Courier New" pitchFamily="34" charset="-122"/>
                <a:cs typeface="Courier New" pitchFamily="34" charset="-120"/>
              </a:rPr>
              <a:t>Group</a:t>
            </a:r>
            <a:r>
              <a:rPr lang="en-US" sz="1700" dirty="0">
                <a:solidFill>
                  <a:srgbClr val="2B1D19"/>
                </a:solidFill>
              </a:rPr>
              <a:t>, because </a:t>
            </a:r>
            <a:r>
              <a:rPr lang="en-US" sz="1500" b="1" dirty="0">
                <a:solidFill>
                  <a:srgbClr val="B86E1E"/>
                </a:solidFill>
                <a:latin typeface="Courier New" pitchFamily="34" charset="0"/>
                <a:ea typeface="Courier New" pitchFamily="34" charset="-122"/>
                <a:cs typeface="Courier New" pitchFamily="34" charset="-120"/>
              </a:rPr>
              <a:t>group_by</a:t>
            </a:r>
            <a:r>
              <a:rPr lang="en-US" sz="1700" dirty="0">
                <a:solidFill>
                  <a:srgbClr val="2B1D19"/>
                </a:solidFill>
              </a:rPr>
              <a:t> doesn't keep any order</a:t>
            </a:r>
            <a:endParaRPr lang="en-US" sz="1700" dirty="0"/>
          </a:p>
        </p:txBody>
      </p:sp>
      <p:sp>
        <p:nvSpPr>
          <p:cNvPr id="25" name="Slide Number Placeholder 0"/>
          <p:cNvSpPr>
            <a:spLocks noGrp="1"/>
          </p:cNvSpPr>
          <p:nvPr>
            <p:ph type="sldNum" sz="quarter" idx="4294967295"/>
          </p:nvPr>
        </p:nvSpPr>
        <p:spPr>
          <a:xfrm>
            <a:off x="365760" y="470916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6B6B"/>
                </a:solidFill>
              </a:defRPr>
            </a:lvl1pPr>
          </a:lstStyle>
          <a:p>
            <a:pPr algn="l"/>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itle"/>
          <p:cNvSpPr txBox="1"/>
          <p:nvPr/>
        </p:nvSpPr>
        <p:spPr>
          <a:xfrm>
            <a:off x="457200" y="274320"/>
            <a:ext cx="8229600" cy="640080"/>
          </a:xfrm>
          <a:prstGeom prst="rect">
            <a:avLst/>
          </a:prstGeom>
          <a:noFill/>
          <a:ln/>
        </p:spPr>
        <p:txBody>
          <a:bodyPr wrap="square" lIns="0" tIns="0" rIns="0" bIns="0" rtlCol="0" anchor="ctr">
            <a:normAutofit/>
          </a:bodyPr>
          <a:lstStyle/>
          <a:p>
            <a:pPr indent="0" marL="0">
              <a:buNone/>
            </a:pPr>
            <a:r>
              <a:rPr lang="en-US" sz="2800" b="1" dirty="0">
                <a:solidFill>
                  <a:srgbClr val="4E342E"/>
                </a:solidFill>
              </a:rPr>
              <a:t>Which group gets more recommendations?</a:t>
            </a:r>
            <a:endParaRPr lang="en-US" sz="2800" dirty="0"/>
          </a:p>
        </p:txBody>
      </p:sp>
      <p:sp>
        <p:nvSpPr>
          <p:cNvPr id="3" name="primm box"/>
          <p:cNvSpPr/>
          <p:nvPr/>
        </p:nvSpPr>
        <p:spPr>
          <a:xfrm>
            <a:off x="457200" y="1051560"/>
            <a:ext cx="8229600" cy="2037080"/>
          </a:xfrm>
          <a:prstGeom prst="roundRect">
            <a:avLst>
              <a:gd name="adj" fmla="val 3591"/>
            </a:avLst>
          </a:prstGeom>
          <a:solidFill>
            <a:srgbClr val="E6F2E6"/>
          </a:solidFill>
          <a:ln w="12700">
            <a:solidFill>
              <a:srgbClr val="E6F2E6"/>
            </a:solidFill>
            <a:prstDash val="solid"/>
          </a:ln>
        </p:spPr>
      </p:sp>
      <p:sp>
        <p:nvSpPr>
          <p:cNvPr id="4" name="Text 2"/>
          <p:cNvSpPr txBox="1"/>
          <p:nvPr/>
        </p:nvSpPr>
        <p:spPr>
          <a:xfrm>
            <a:off x="685800" y="1188720"/>
            <a:ext cx="7772400" cy="365760"/>
          </a:xfrm>
          <a:prstGeom prst="rect">
            <a:avLst/>
          </a:prstGeom>
          <a:noFill/>
          <a:ln/>
        </p:spPr>
        <p:txBody>
          <a:bodyPr wrap="square" lIns="0" tIns="0" rIns="0" bIns="0" rtlCol="0" anchor="ctr"/>
          <a:lstStyle/>
          <a:p>
            <a:pPr indent="0" marL="0">
              <a:buNone/>
            </a:pPr>
            <a:r>
              <a:rPr lang="en-US" sz="1600" b="1" dirty="0">
                <a:solidFill>
                  <a:srgbClr val="2E6B30"/>
                </a:solidFill>
              </a:rPr>
              <a:t>PRIMM</a:t>
            </a:r>
            <a:endParaRPr lang="en-US" sz="1600" dirty="0"/>
          </a:p>
        </p:txBody>
      </p:sp>
      <p:sp>
        <p:nvSpPr>
          <p:cNvPr id="5" name="Text 3"/>
          <p:cNvSpPr txBox="1"/>
          <p:nvPr/>
        </p:nvSpPr>
        <p:spPr>
          <a:xfrm>
            <a:off x="685800" y="1600200"/>
            <a:ext cx="7772400" cy="1351280"/>
          </a:xfrm>
          <a:prstGeom prst="rect">
            <a:avLst/>
          </a:prstGeom>
          <a:noFill/>
          <a:ln/>
        </p:spPr>
        <p:txBody>
          <a:bodyPr wrap="square" lIns="0" tIns="0" rIns="0" bIns="0" rtlCol="0" anchor="t">
            <a:normAutofit/>
          </a:bodyPr>
          <a:lstStyle/>
          <a:p>
            <a:pPr marL="342900" indent="-342900">
              <a:spcAft>
                <a:spcPts val="1000"/>
              </a:spcAft>
              <a:buSzPct val="100000"/>
              <a:buFont typeface="+mj-lt"/>
              <a:buAutoNum type="arabicPeriod" startAt="1"/>
            </a:pPr>
            <a:r>
              <a:rPr lang="en-US" sz="2000" dirty="0">
                <a:solidFill>
                  <a:srgbClr val="2B1D19"/>
                </a:solidFill>
              </a:rPr>
              <a:t>​</a:t>
            </a:r>
            <a:r>
              <a:rPr lang="en-US" sz="2000" dirty="0">
                <a:solidFill>
                  <a:srgbClr val="2B1D19"/>
                </a:solidFill>
              </a:rPr>
              <a:t>Add a line inside </a:t>
            </a:r>
            <a:r>
              <a:rPr lang="en-US" sz="1800" b="1" dirty="0">
                <a:solidFill>
                  <a:srgbClr val="B86E1E"/>
                </a:solidFill>
                <a:latin typeface="Courier New" pitchFamily="34" charset="0"/>
                <a:ea typeface="Courier New" pitchFamily="34" charset="-122"/>
                <a:cs typeface="Courier New" pitchFamily="34" charset="-120"/>
              </a:rPr>
              <a:t>agg</a:t>
            </a:r>
            <a:r>
              <a:rPr lang="en-US" sz="2000" dirty="0">
                <a:solidFill>
                  <a:srgbClr val="2B1D19"/>
                </a:solidFill>
              </a:rPr>
              <a:t> that works out the median </a:t>
            </a:r>
            <a:r>
              <a:rPr lang="en-US" sz="1800" b="1" dirty="0">
                <a:solidFill>
                  <a:srgbClr val="B86E1E"/>
                </a:solidFill>
                <a:latin typeface="Courier New" pitchFamily="34" charset="0"/>
                <a:ea typeface="Courier New" pitchFamily="34" charset="-122"/>
                <a:cs typeface="Courier New" pitchFamily="34" charset="-120"/>
              </a:rPr>
              <a:t>Recommendations</a:t>
            </a:r>
            <a:r>
              <a:rPr lang="en-US" sz="2000" dirty="0">
                <a:solidFill>
                  <a:srgbClr val="2B1D19"/>
                </a:solidFill>
              </a:rPr>
              <a:t> of each group.</a:t>
            </a:r>
            <a:endParaRPr lang="en-US" sz="2000" dirty="0"/>
          </a:p>
          <a:p>
            <a:pPr marL="342900" indent="-342900">
              <a:spcAft>
                <a:spcPts val="1000"/>
              </a:spcAft>
              <a:buSzPct val="100000"/>
              <a:buFont typeface="+mj-lt"/>
              <a:buAutoNum type="arabicPeriod" startAt="1"/>
            </a:pPr>
            <a:r>
              <a:rPr lang="en-US" sz="2000" dirty="0">
                <a:solidFill>
                  <a:srgbClr val="2B1D19"/>
                </a:solidFill>
              </a:rPr>
              <a:t>​</a:t>
            </a:r>
            <a:r>
              <a:rPr lang="en-US" sz="2000" dirty="0">
                <a:solidFill>
                  <a:srgbClr val="2B1D19"/>
                </a:solidFill>
              </a:rPr>
              <a:t>Which group gets more recommendations?</a:t>
            </a:r>
            <a:endParaRPr lang="en-US" sz="2000" dirty="0"/>
          </a:p>
        </p:txBody>
      </p:sp>
      <p:sp>
        <p:nvSpPr>
          <p:cNvPr id="25" name="Slide Number Placeholder 0"/>
          <p:cNvSpPr>
            <a:spLocks noGrp="1"/>
          </p:cNvSpPr>
          <p:nvPr>
            <p:ph type="sldNum" sz="quarter" idx="4294967295"/>
          </p:nvPr>
        </p:nvSpPr>
        <p:spPr>
          <a:xfrm>
            <a:off x="365760" y="470916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6B6B"/>
                </a:solidFill>
              </a:defRPr>
            </a:lvl1pPr>
          </a:lstStyle>
          <a:p>
            <a:pPr algn="l"/>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itle"/>
          <p:cNvSpPr txBox="1"/>
          <p:nvPr/>
        </p:nvSpPr>
        <p:spPr>
          <a:xfrm>
            <a:off x="457200" y="274320"/>
            <a:ext cx="8229600" cy="640080"/>
          </a:xfrm>
          <a:prstGeom prst="rect">
            <a:avLst/>
          </a:prstGeom>
          <a:noFill/>
          <a:ln/>
        </p:spPr>
        <p:txBody>
          <a:bodyPr wrap="square" lIns="0" tIns="0" rIns="0" bIns="0" rtlCol="0" anchor="ctr">
            <a:normAutofit/>
          </a:bodyPr>
          <a:lstStyle/>
          <a:p>
            <a:pPr indent="0" marL="0">
              <a:buNone/>
            </a:pPr>
            <a:r>
              <a:rPr lang="en-US" sz="2800" b="1" dirty="0">
                <a:solidFill>
                  <a:srgbClr val="4E342E"/>
                </a:solidFill>
              </a:rPr>
              <a:t>Our first piece of evidence</a:t>
            </a:r>
            <a:endParaRPr lang="en-US" sz="2800" dirty="0"/>
          </a:p>
        </p:txBody>
      </p:sp>
      <p:sp>
        <p:nvSpPr>
          <p:cNvPr id="3" name="Text 1"/>
          <p:cNvSpPr txBox="1"/>
          <p:nvPr/>
        </p:nvSpPr>
        <p:spPr>
          <a:xfrm>
            <a:off x="457200" y="1051560"/>
            <a:ext cx="8229600" cy="457200"/>
          </a:xfrm>
          <a:prstGeom prst="rect">
            <a:avLst/>
          </a:prstGeom>
          <a:noFill/>
          <a:ln/>
        </p:spPr>
        <p:txBody>
          <a:bodyPr wrap="square" lIns="0" tIns="0" rIns="0" bIns="0" rtlCol="0" anchor="ctr">
            <a:normAutofit/>
          </a:bodyPr>
          <a:lstStyle/>
          <a:p>
            <a:pPr indent="0" marL="0">
              <a:spcAft>
                <a:spcPts val="800"/>
              </a:spcAft>
              <a:buNone/>
            </a:pPr>
            <a:r>
              <a:rPr lang="en-US" sz="1500" dirty="0">
                <a:solidFill>
                  <a:srgbClr val="2B1D19"/>
                </a:solidFill>
              </a:rPr>
              <a:t>​</a:t>
            </a:r>
            <a:r>
              <a:rPr lang="en-US" sz="1500" dirty="0">
                <a:solidFill>
                  <a:srgbClr val="2B1D19"/>
                </a:solidFill>
              </a:rPr>
              <a:t>The typical Indie game gets </a:t>
            </a:r>
            <a:r>
              <a:rPr lang="en-US" sz="1500" b="1" dirty="0">
                <a:solidFill>
                  <a:srgbClr val="2B1D19"/>
                </a:solidFill>
              </a:rPr>
              <a:t>86.5%</a:t>
            </a:r>
            <a:r>
              <a:rPr lang="en-US" sz="1500" dirty="0">
                <a:solidFill>
                  <a:srgbClr val="2B1D19"/>
                </a:solidFill>
              </a:rPr>
              <a:t> positive reviews, compared with </a:t>
            </a:r>
            <a:r>
              <a:rPr lang="en-US" sz="1500" b="1" dirty="0">
                <a:solidFill>
                  <a:srgbClr val="2B1D19"/>
                </a:solidFill>
              </a:rPr>
              <a:t>83.2%</a:t>
            </a:r>
            <a:r>
              <a:rPr lang="en-US" sz="1500" dirty="0">
                <a:solidFill>
                  <a:srgbClr val="2B1D19"/>
                </a:solidFill>
              </a:rPr>
              <a:t> for other games.</a:t>
            </a:r>
            <a:endParaRPr lang="en-US" sz="15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457200" y="1600200"/>
          <a:ext cx="8229600" cy="914400"/>
        </p:xfrm>
        <a:graphic>
          <a:graphicData uri="http://schemas.openxmlformats.org/drawingml/2006/table">
            <a:tbl>
              <a:tblPr/>
              <a:tblGrid>
                <a:gridCol w="2743200"/>
                <a:gridCol w="2286000"/>
                <a:gridCol w="3200400"/>
              </a:tblGrid>
              <a:tr h="0">
                <a:tc>
                  <a:txBody>
                    <a:bodyPr/>
                    <a:lstStyle/>
                    <a:p>
                      <a:pPr indent="0" marL="0">
                        <a:buNone/>
                      </a:pPr>
                      <a:r>
                        <a:rPr lang="en-US" sz="1400" b="1" dirty="0">
                          <a:solidFill>
                            <a:srgbClr val="FFFFFF"/>
                          </a:solidFill>
                        </a:rPr>
                        <a:t>Group</a:t>
                      </a:r>
                      <a:endParaRPr lang="en-US" sz="1400" dirty="0"/>
                    </a:p>
                  </a:txBody>
                  <a:tcPr marL="54864" marR="54864" marT="54864" marB="54864">
                    <a:lnL w="6350" cap="flat" cmpd="sng" algn="ctr">
                      <a:solidFill>
                        <a:srgbClr val="D8CFC7"/>
                      </a:solidFill>
                      <a:prstDash val="solid"/>
                      <a:round/>
                      <a:headEnd type="none" w="med" len="med"/>
                      <a:tailEnd type="none" w="med" len="med"/>
                    </a:lnL>
                    <a:lnR w="6350" cap="flat" cmpd="sng" algn="ctr">
                      <a:solidFill>
                        <a:srgbClr val="D8CFC7"/>
                      </a:solidFill>
                      <a:prstDash val="solid"/>
                      <a:round/>
                      <a:headEnd type="none" w="med" len="med"/>
                      <a:tailEnd type="none" w="med" len="med"/>
                    </a:lnR>
                    <a:lnT w="6350" cap="flat" cmpd="sng" algn="ctr">
                      <a:solidFill>
                        <a:srgbClr val="D8CFC7"/>
                      </a:solidFill>
                      <a:prstDash val="solid"/>
                      <a:round/>
                      <a:headEnd type="none" w="med" len="med"/>
                      <a:tailEnd type="none" w="med" len="med"/>
                    </a:lnT>
                    <a:lnB w="6350" cap="flat" cmpd="sng" algn="ctr">
                      <a:solidFill>
                        <a:srgbClr val="D8CFC7"/>
                      </a:solidFill>
                      <a:prstDash val="solid"/>
                      <a:round/>
                      <a:headEnd type="none" w="med" len="med"/>
                      <a:tailEnd type="none" w="med" len="med"/>
                    </a:lnB>
                    <a:solidFill>
                      <a:srgbClr val="4E342E"/>
                    </a:solidFill>
                  </a:tcPr>
                </a:tc>
                <a:tc>
                  <a:txBody>
                    <a:bodyPr/>
                    <a:lstStyle/>
                    <a:p>
                      <a:pPr indent="0" marL="0">
                        <a:buNone/>
                      </a:pPr>
                      <a:r>
                        <a:rPr lang="en-US" sz="1400" b="1" dirty="0">
                          <a:solidFill>
                            <a:srgbClr val="FFFFFF"/>
                          </a:solidFill>
                        </a:rPr>
                        <a:t>Games</a:t>
                      </a:r>
                      <a:endParaRPr lang="en-US" sz="1400" dirty="0"/>
                    </a:p>
                  </a:txBody>
                  <a:tcPr marL="54864" marR="54864" marT="54864" marB="54864">
                    <a:lnL w="6350" cap="flat" cmpd="sng" algn="ctr">
                      <a:solidFill>
                        <a:srgbClr val="D8CFC7"/>
                      </a:solidFill>
                      <a:prstDash val="solid"/>
                      <a:round/>
                      <a:headEnd type="none" w="med" len="med"/>
                      <a:tailEnd type="none" w="med" len="med"/>
                    </a:lnL>
                    <a:lnR w="6350" cap="flat" cmpd="sng" algn="ctr">
                      <a:solidFill>
                        <a:srgbClr val="D8CFC7"/>
                      </a:solidFill>
                      <a:prstDash val="solid"/>
                      <a:round/>
                      <a:headEnd type="none" w="med" len="med"/>
                      <a:tailEnd type="none" w="med" len="med"/>
                    </a:lnR>
                    <a:lnT w="6350" cap="flat" cmpd="sng" algn="ctr">
                      <a:solidFill>
                        <a:srgbClr val="D8CFC7"/>
                      </a:solidFill>
                      <a:prstDash val="solid"/>
                      <a:round/>
                      <a:headEnd type="none" w="med" len="med"/>
                      <a:tailEnd type="none" w="med" len="med"/>
                    </a:lnT>
                    <a:lnB w="6350" cap="flat" cmpd="sng" algn="ctr">
                      <a:solidFill>
                        <a:srgbClr val="D8CFC7"/>
                      </a:solidFill>
                      <a:prstDash val="solid"/>
                      <a:round/>
                      <a:headEnd type="none" w="med" len="med"/>
                      <a:tailEnd type="none" w="med" len="med"/>
                    </a:lnB>
                    <a:solidFill>
                      <a:srgbClr val="4E342E"/>
                    </a:solidFill>
                  </a:tcPr>
                </a:tc>
                <a:tc>
                  <a:txBody>
                    <a:bodyPr/>
                    <a:lstStyle/>
                    <a:p>
                      <a:pPr indent="0" marL="0">
                        <a:buNone/>
                      </a:pPr>
                      <a:r>
                        <a:rPr lang="en-US" sz="1400" b="1" dirty="0">
                          <a:solidFill>
                            <a:srgbClr val="FFFFFF"/>
                          </a:solidFill>
                        </a:rPr>
                        <a:t>Median review score</a:t>
                      </a:r>
                      <a:endParaRPr lang="en-US" sz="1400" dirty="0"/>
                    </a:p>
                  </a:txBody>
                  <a:tcPr marL="54864" marR="54864" marT="54864" marB="54864">
                    <a:lnL w="6350" cap="flat" cmpd="sng" algn="ctr">
                      <a:solidFill>
                        <a:srgbClr val="D8CFC7"/>
                      </a:solidFill>
                      <a:prstDash val="solid"/>
                      <a:round/>
                      <a:headEnd type="none" w="med" len="med"/>
                      <a:tailEnd type="none" w="med" len="med"/>
                    </a:lnL>
                    <a:lnR w="6350" cap="flat" cmpd="sng" algn="ctr">
                      <a:solidFill>
                        <a:srgbClr val="D8CFC7"/>
                      </a:solidFill>
                      <a:prstDash val="solid"/>
                      <a:round/>
                      <a:headEnd type="none" w="med" len="med"/>
                      <a:tailEnd type="none" w="med" len="med"/>
                    </a:lnR>
                    <a:lnT w="6350" cap="flat" cmpd="sng" algn="ctr">
                      <a:solidFill>
                        <a:srgbClr val="D8CFC7"/>
                      </a:solidFill>
                      <a:prstDash val="solid"/>
                      <a:round/>
                      <a:headEnd type="none" w="med" len="med"/>
                      <a:tailEnd type="none" w="med" len="med"/>
                    </a:lnT>
                    <a:lnB w="6350" cap="flat" cmpd="sng" algn="ctr">
                      <a:solidFill>
                        <a:srgbClr val="D8CFC7"/>
                      </a:solidFill>
                      <a:prstDash val="solid"/>
                      <a:round/>
                      <a:headEnd type="none" w="med" len="med"/>
                      <a:tailEnd type="none" w="med" len="med"/>
                    </a:lnB>
                    <a:solidFill>
                      <a:srgbClr val="4E342E"/>
                    </a:solidFill>
                  </a:tcPr>
                </a:tc>
              </a:tr>
              <a:tr h="0">
                <a:tc>
                  <a:txBody>
                    <a:bodyPr/>
                    <a:lstStyle/>
                    <a:p>
                      <a:pPr indent="0" marL="0">
                        <a:buNone/>
                      </a:pPr>
                      <a:r>
                        <a:rPr lang="en-US" sz="1400" dirty="0">
                          <a:solidFill>
                            <a:srgbClr val="2B1D19"/>
                          </a:solidFill>
                        </a:rPr>
                        <a:t>​</a:t>
                      </a:r>
                      <a:r>
                        <a:rPr lang="en-US" sz="1400" dirty="0">
                          <a:solidFill>
                            <a:srgbClr val="2B1D19"/>
                          </a:solidFill>
                        </a:rPr>
                        <a:t>Indie</a:t>
                      </a:r>
                      <a:endParaRPr lang="en-US" sz="1400" dirty="0"/>
                    </a:p>
                  </a:txBody>
                  <a:tcPr marL="54864" marR="54864" marT="54864" marB="54864">
                    <a:lnL w="6350" cap="flat" cmpd="sng" algn="ctr">
                      <a:solidFill>
                        <a:srgbClr val="D8CFC7"/>
                      </a:solidFill>
                      <a:prstDash val="solid"/>
                      <a:round/>
                      <a:headEnd type="none" w="med" len="med"/>
                      <a:tailEnd type="none" w="med" len="med"/>
                    </a:lnL>
                    <a:lnR w="6350" cap="flat" cmpd="sng" algn="ctr">
                      <a:solidFill>
                        <a:srgbClr val="D8CFC7"/>
                      </a:solidFill>
                      <a:prstDash val="solid"/>
                      <a:round/>
                      <a:headEnd type="none" w="med" len="med"/>
                      <a:tailEnd type="none" w="med" len="med"/>
                    </a:lnR>
                    <a:lnT w="6350" cap="flat" cmpd="sng" algn="ctr">
                      <a:solidFill>
                        <a:srgbClr val="D8CFC7"/>
                      </a:solidFill>
                      <a:prstDash val="solid"/>
                      <a:round/>
                      <a:headEnd type="none" w="med" len="med"/>
                      <a:tailEnd type="none" w="med" len="med"/>
                    </a:lnT>
                    <a:lnB w="6350" cap="flat" cmpd="sng" algn="ctr">
                      <a:solidFill>
                        <a:srgbClr val="D8CFC7"/>
                      </a:solidFill>
                      <a:prstDash val="solid"/>
                      <a:round/>
                      <a:headEnd type="none" w="med" len="med"/>
                      <a:tailEnd type="none" w="med" len="med"/>
                    </a:lnB>
                    <a:solidFill>
                      <a:srgbClr val="FFFFFF"/>
                    </a:solidFill>
                  </a:tcPr>
                </a:tc>
                <a:tc>
                  <a:txBody>
                    <a:bodyPr/>
                    <a:lstStyle/>
                    <a:p>
                      <a:pPr indent="0" marL="0">
                        <a:buNone/>
                      </a:pPr>
                      <a:r>
                        <a:rPr lang="en-US" sz="1400" dirty="0">
                          <a:solidFill>
                            <a:srgbClr val="2B1D19"/>
                          </a:solidFill>
                        </a:rPr>
                        <a:t>​</a:t>
                      </a:r>
                      <a:r>
                        <a:rPr lang="en-US" sz="1400" dirty="0">
                          <a:solidFill>
                            <a:srgbClr val="2B1D19"/>
                          </a:solidFill>
                        </a:rPr>
                        <a:t>6243</a:t>
                      </a:r>
                      <a:endParaRPr lang="en-US" sz="1400" dirty="0"/>
                    </a:p>
                  </a:txBody>
                  <a:tcPr marL="54864" marR="54864" marT="54864" marB="54864">
                    <a:lnL w="6350" cap="flat" cmpd="sng" algn="ctr">
                      <a:solidFill>
                        <a:srgbClr val="D8CFC7"/>
                      </a:solidFill>
                      <a:prstDash val="solid"/>
                      <a:round/>
                      <a:headEnd type="none" w="med" len="med"/>
                      <a:tailEnd type="none" w="med" len="med"/>
                    </a:lnL>
                    <a:lnR w="6350" cap="flat" cmpd="sng" algn="ctr">
                      <a:solidFill>
                        <a:srgbClr val="D8CFC7"/>
                      </a:solidFill>
                      <a:prstDash val="solid"/>
                      <a:round/>
                      <a:headEnd type="none" w="med" len="med"/>
                      <a:tailEnd type="none" w="med" len="med"/>
                    </a:lnR>
                    <a:lnT w="6350" cap="flat" cmpd="sng" algn="ctr">
                      <a:solidFill>
                        <a:srgbClr val="D8CFC7"/>
                      </a:solidFill>
                      <a:prstDash val="solid"/>
                      <a:round/>
                      <a:headEnd type="none" w="med" len="med"/>
                      <a:tailEnd type="none" w="med" len="med"/>
                    </a:lnT>
                    <a:lnB w="6350" cap="flat" cmpd="sng" algn="ctr">
                      <a:solidFill>
                        <a:srgbClr val="D8CFC7"/>
                      </a:solidFill>
                      <a:prstDash val="solid"/>
                      <a:round/>
                      <a:headEnd type="none" w="med" len="med"/>
                      <a:tailEnd type="none" w="med" len="med"/>
                    </a:lnB>
                    <a:solidFill>
                      <a:srgbClr val="FFFFFF"/>
                    </a:solidFill>
                  </a:tcPr>
                </a:tc>
                <a:tc>
                  <a:txBody>
                    <a:bodyPr/>
                    <a:lstStyle/>
                    <a:p>
                      <a:pPr indent="0" marL="0">
                        <a:buNone/>
                      </a:pPr>
                      <a:r>
                        <a:rPr lang="en-US" sz="1400" dirty="0">
                          <a:solidFill>
                            <a:srgbClr val="2B1D19"/>
                          </a:solidFill>
                        </a:rPr>
                        <a:t>​</a:t>
                      </a:r>
                      <a:r>
                        <a:rPr lang="en-US" sz="1400" dirty="0">
                          <a:solidFill>
                            <a:srgbClr val="2B1D19"/>
                          </a:solidFill>
                        </a:rPr>
                        <a:t>86.5</a:t>
                      </a:r>
                      <a:endParaRPr lang="en-US" sz="1400" dirty="0"/>
                    </a:p>
                  </a:txBody>
                  <a:tcPr marL="54864" marR="54864" marT="54864" marB="54864">
                    <a:lnL w="6350" cap="flat" cmpd="sng" algn="ctr">
                      <a:solidFill>
                        <a:srgbClr val="D8CFC7"/>
                      </a:solidFill>
                      <a:prstDash val="solid"/>
                      <a:round/>
                      <a:headEnd type="none" w="med" len="med"/>
                      <a:tailEnd type="none" w="med" len="med"/>
                    </a:lnL>
                    <a:lnR w="6350" cap="flat" cmpd="sng" algn="ctr">
                      <a:solidFill>
                        <a:srgbClr val="D8CFC7"/>
                      </a:solidFill>
                      <a:prstDash val="solid"/>
                      <a:round/>
                      <a:headEnd type="none" w="med" len="med"/>
                      <a:tailEnd type="none" w="med" len="med"/>
                    </a:lnR>
                    <a:lnT w="6350" cap="flat" cmpd="sng" algn="ctr">
                      <a:solidFill>
                        <a:srgbClr val="D8CFC7"/>
                      </a:solidFill>
                      <a:prstDash val="solid"/>
                      <a:round/>
                      <a:headEnd type="none" w="med" len="med"/>
                      <a:tailEnd type="none" w="med" len="med"/>
                    </a:lnT>
                    <a:lnB w="6350" cap="flat" cmpd="sng" algn="ctr">
                      <a:solidFill>
                        <a:srgbClr val="D8CFC7"/>
                      </a:solidFill>
                      <a:prstDash val="solid"/>
                      <a:round/>
                      <a:headEnd type="none" w="med" len="med"/>
                      <a:tailEnd type="none" w="med" len="med"/>
                    </a:lnB>
                    <a:solidFill>
                      <a:srgbClr val="FFFFFF"/>
                    </a:solidFill>
                  </a:tcPr>
                </a:tc>
              </a:tr>
              <a:tr h="0">
                <a:tc>
                  <a:txBody>
                    <a:bodyPr/>
                    <a:lstStyle/>
                    <a:p>
                      <a:pPr indent="0" marL="0">
                        <a:buNone/>
                      </a:pPr>
                      <a:r>
                        <a:rPr lang="en-US" sz="1400" dirty="0">
                          <a:solidFill>
                            <a:srgbClr val="2B1D19"/>
                          </a:solidFill>
                        </a:rPr>
                        <a:t>​</a:t>
                      </a:r>
                      <a:r>
                        <a:rPr lang="en-US" sz="1400" dirty="0">
                          <a:solidFill>
                            <a:srgbClr val="2B1D19"/>
                          </a:solidFill>
                        </a:rPr>
                        <a:t>Not Indie</a:t>
                      </a:r>
                      <a:endParaRPr lang="en-US" sz="1400" dirty="0"/>
                    </a:p>
                  </a:txBody>
                  <a:tcPr marL="54864" marR="54864" marT="54864" marB="54864">
                    <a:lnL w="6350" cap="flat" cmpd="sng" algn="ctr">
                      <a:solidFill>
                        <a:srgbClr val="D8CFC7"/>
                      </a:solidFill>
                      <a:prstDash val="solid"/>
                      <a:round/>
                      <a:headEnd type="none" w="med" len="med"/>
                      <a:tailEnd type="none" w="med" len="med"/>
                    </a:lnL>
                    <a:lnR w="6350" cap="flat" cmpd="sng" algn="ctr">
                      <a:solidFill>
                        <a:srgbClr val="D8CFC7"/>
                      </a:solidFill>
                      <a:prstDash val="solid"/>
                      <a:round/>
                      <a:headEnd type="none" w="med" len="med"/>
                      <a:tailEnd type="none" w="med" len="med"/>
                    </a:lnR>
                    <a:lnT w="6350" cap="flat" cmpd="sng" algn="ctr">
                      <a:solidFill>
                        <a:srgbClr val="D8CFC7"/>
                      </a:solidFill>
                      <a:prstDash val="solid"/>
                      <a:round/>
                      <a:headEnd type="none" w="med" len="med"/>
                      <a:tailEnd type="none" w="med" len="med"/>
                    </a:lnT>
                    <a:lnB w="6350" cap="flat" cmpd="sng" algn="ctr">
                      <a:solidFill>
                        <a:srgbClr val="D8CFC7"/>
                      </a:solidFill>
                      <a:prstDash val="solid"/>
                      <a:round/>
                      <a:headEnd type="none" w="med" len="med"/>
                      <a:tailEnd type="none" w="med" len="med"/>
                    </a:lnB>
                    <a:solidFill>
                      <a:srgbClr val="FBF7F2"/>
                    </a:solidFill>
                  </a:tcPr>
                </a:tc>
                <a:tc>
                  <a:txBody>
                    <a:bodyPr/>
                    <a:lstStyle/>
                    <a:p>
                      <a:pPr indent="0" marL="0">
                        <a:buNone/>
                      </a:pPr>
                      <a:r>
                        <a:rPr lang="en-US" sz="1400" dirty="0">
                          <a:solidFill>
                            <a:srgbClr val="2B1D19"/>
                          </a:solidFill>
                        </a:rPr>
                        <a:t>​</a:t>
                      </a:r>
                      <a:r>
                        <a:rPr lang="en-US" sz="1400" dirty="0">
                          <a:solidFill>
                            <a:srgbClr val="2B1D19"/>
                          </a:solidFill>
                        </a:rPr>
                        <a:t>4007</a:t>
                      </a:r>
                      <a:endParaRPr lang="en-US" sz="1400" dirty="0"/>
                    </a:p>
                  </a:txBody>
                  <a:tcPr marL="54864" marR="54864" marT="54864" marB="54864">
                    <a:lnL w="6350" cap="flat" cmpd="sng" algn="ctr">
                      <a:solidFill>
                        <a:srgbClr val="D8CFC7"/>
                      </a:solidFill>
                      <a:prstDash val="solid"/>
                      <a:round/>
                      <a:headEnd type="none" w="med" len="med"/>
                      <a:tailEnd type="none" w="med" len="med"/>
                    </a:lnL>
                    <a:lnR w="6350" cap="flat" cmpd="sng" algn="ctr">
                      <a:solidFill>
                        <a:srgbClr val="D8CFC7"/>
                      </a:solidFill>
                      <a:prstDash val="solid"/>
                      <a:round/>
                      <a:headEnd type="none" w="med" len="med"/>
                      <a:tailEnd type="none" w="med" len="med"/>
                    </a:lnR>
                    <a:lnT w="6350" cap="flat" cmpd="sng" algn="ctr">
                      <a:solidFill>
                        <a:srgbClr val="D8CFC7"/>
                      </a:solidFill>
                      <a:prstDash val="solid"/>
                      <a:round/>
                      <a:headEnd type="none" w="med" len="med"/>
                      <a:tailEnd type="none" w="med" len="med"/>
                    </a:lnT>
                    <a:lnB w="6350" cap="flat" cmpd="sng" algn="ctr">
                      <a:solidFill>
                        <a:srgbClr val="D8CFC7"/>
                      </a:solidFill>
                      <a:prstDash val="solid"/>
                      <a:round/>
                      <a:headEnd type="none" w="med" len="med"/>
                      <a:tailEnd type="none" w="med" len="med"/>
                    </a:lnB>
                    <a:solidFill>
                      <a:srgbClr val="FBF7F2"/>
                    </a:solidFill>
                  </a:tcPr>
                </a:tc>
                <a:tc>
                  <a:txBody>
                    <a:bodyPr/>
                    <a:lstStyle/>
                    <a:p>
                      <a:pPr indent="0" marL="0">
                        <a:buNone/>
                      </a:pPr>
                      <a:r>
                        <a:rPr lang="en-US" sz="1400" dirty="0">
                          <a:solidFill>
                            <a:srgbClr val="2B1D19"/>
                          </a:solidFill>
                        </a:rPr>
                        <a:t>​</a:t>
                      </a:r>
                      <a:r>
                        <a:rPr lang="en-US" sz="1400" dirty="0">
                          <a:solidFill>
                            <a:srgbClr val="2B1D19"/>
                          </a:solidFill>
                        </a:rPr>
                        <a:t>83.2</a:t>
                      </a:r>
                      <a:endParaRPr lang="en-US" sz="1400" dirty="0"/>
                    </a:p>
                  </a:txBody>
                  <a:tcPr marL="54864" marR="54864" marT="54864" marB="54864">
                    <a:lnL w="6350" cap="flat" cmpd="sng" algn="ctr">
                      <a:solidFill>
                        <a:srgbClr val="D8CFC7"/>
                      </a:solidFill>
                      <a:prstDash val="solid"/>
                      <a:round/>
                      <a:headEnd type="none" w="med" len="med"/>
                      <a:tailEnd type="none" w="med" len="med"/>
                    </a:lnL>
                    <a:lnR w="6350" cap="flat" cmpd="sng" algn="ctr">
                      <a:solidFill>
                        <a:srgbClr val="D8CFC7"/>
                      </a:solidFill>
                      <a:prstDash val="solid"/>
                      <a:round/>
                      <a:headEnd type="none" w="med" len="med"/>
                      <a:tailEnd type="none" w="med" len="med"/>
                    </a:lnR>
                    <a:lnT w="6350" cap="flat" cmpd="sng" algn="ctr">
                      <a:solidFill>
                        <a:srgbClr val="D8CFC7"/>
                      </a:solidFill>
                      <a:prstDash val="solid"/>
                      <a:round/>
                      <a:headEnd type="none" w="med" len="med"/>
                      <a:tailEnd type="none" w="med" len="med"/>
                    </a:lnT>
                    <a:lnB w="6350" cap="flat" cmpd="sng" algn="ctr">
                      <a:solidFill>
                        <a:srgbClr val="D8CFC7"/>
                      </a:solidFill>
                      <a:prstDash val="solid"/>
                      <a:round/>
                      <a:headEnd type="none" w="med" len="med"/>
                      <a:tailEnd type="none" w="med" len="med"/>
                    </a:lnB>
                    <a:solidFill>
                      <a:srgbClr val="FBF7F2"/>
                    </a:solidFill>
                  </a:tcPr>
                </a:tc>
              </a:tr>
            </a:tbl>
          </a:graphicData>
        </a:graphic>
      </p:graphicFrame>
      <p:sp>
        <p:nvSpPr>
          <p:cNvPr id="25" name="Slide Number Placeholder 0"/>
          <p:cNvSpPr>
            <a:spLocks noGrp="1"/>
          </p:cNvSpPr>
          <p:nvPr>
            <p:ph type="sldNum" sz="quarter" idx="4294967295"/>
          </p:nvPr>
        </p:nvSpPr>
        <p:spPr>
          <a:xfrm>
            <a:off x="365760" y="470916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6B6B"/>
                </a:solidFill>
              </a:defRPr>
            </a:lvl1pPr>
          </a:lstStyle>
          <a:p>
            <a:pPr algn="l"/>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txBox="1"/>
          <p:nvPr/>
        </p:nvSpPr>
        <p:spPr>
          <a:xfrm>
            <a:off x="457200" y="1554480"/>
            <a:ext cx="7498080" cy="914400"/>
          </a:xfrm>
          <a:prstGeom prst="rect">
            <a:avLst/>
          </a:prstGeom>
          <a:noFill/>
          <a:ln/>
        </p:spPr>
        <p:txBody>
          <a:bodyPr wrap="square" lIns="0" tIns="0" rIns="0" bIns="0" rtlCol="0" anchor="ctr">
            <a:normAutofit/>
          </a:bodyPr>
          <a:lstStyle/>
          <a:p>
            <a:pPr indent="0" marL="0">
              <a:buNone/>
            </a:pPr>
            <a:r>
              <a:rPr lang="en-US" sz="3600" b="1" dirty="0">
                <a:solidFill>
                  <a:srgbClr val="FFFFFF"/>
                </a:solidFill>
              </a:rPr>
              <a:t>Mean or median?</a:t>
            </a:r>
            <a:endParaRPr lang="en-US" sz="3600" dirty="0"/>
          </a:p>
        </p:txBody>
      </p:sp>
      <p:sp>
        <p:nvSpPr>
          <p:cNvPr id="3" name="Text 1"/>
          <p:cNvSpPr txBox="1"/>
          <p:nvPr/>
        </p:nvSpPr>
        <p:spPr>
          <a:xfrm>
            <a:off x="457200" y="2514600"/>
            <a:ext cx="7132320" cy="1097280"/>
          </a:xfrm>
          <a:prstGeom prst="rect">
            <a:avLst/>
          </a:prstGeom>
          <a:noFill/>
          <a:ln/>
        </p:spPr>
        <p:txBody>
          <a:bodyPr wrap="square" lIns="0" tIns="0" rIns="0" bIns="0" rtlCol="0" anchor="t"/>
          <a:lstStyle/>
          <a:p>
            <a:pPr indent="0" marL="0">
              <a:spcAft>
                <a:spcPts val="800"/>
              </a:spcAft>
              <a:buNone/>
            </a:pPr>
            <a:r>
              <a:rPr lang="en-US" sz="1800" dirty="0">
                <a:solidFill>
                  <a:srgbClr val="F7EFE6"/>
                </a:solidFill>
              </a:rPr>
              <a:t>​</a:t>
            </a:r>
            <a:r>
              <a:rPr lang="en-US" sz="1800" dirty="0">
                <a:solidFill>
                  <a:srgbClr val="F7EFE6"/>
                </a:solidFill>
              </a:rPr>
              <a:t>Do Indie games cost less? The two kinds of average don't always agree, so we'll work out both, side by side.</a:t>
            </a:r>
            <a:endParaRPr lang="en-US" sz="1800" dirty="0"/>
          </a:p>
        </p:txBody>
      </p:sp>
      <p:sp>
        <p:nvSpPr>
          <p:cNvPr id="25" name="Slide Number Placeholder 0"/>
          <p:cNvSpPr>
            <a:spLocks noGrp="1"/>
          </p:cNvSpPr>
          <p:nvPr>
            <p:ph type="sldNum" sz="quarter" idx="4294967295"/>
          </p:nvPr>
        </p:nvSpPr>
        <p:spPr>
          <a:xfrm>
            <a:off x="365760" y="470916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F7EFE6"/>
                </a:solidFill>
              </a:defRPr>
            </a:lvl1pPr>
          </a:lstStyle>
          <a:p>
            <a:pPr algn="l"/>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itle"/>
          <p:cNvSpPr txBox="1"/>
          <p:nvPr/>
        </p:nvSpPr>
        <p:spPr>
          <a:xfrm>
            <a:off x="457200" y="274320"/>
            <a:ext cx="8229600" cy="640080"/>
          </a:xfrm>
          <a:prstGeom prst="rect">
            <a:avLst/>
          </a:prstGeom>
          <a:noFill/>
          <a:ln/>
        </p:spPr>
        <p:txBody>
          <a:bodyPr wrap="square" lIns="0" tIns="0" rIns="0" bIns="0" rtlCol="0" anchor="ctr">
            <a:normAutofit/>
          </a:bodyPr>
          <a:lstStyle/>
          <a:p>
            <a:pPr indent="0" marL="0">
              <a:buNone/>
            </a:pPr>
            <a:r>
              <a:rPr lang="en-US" sz="2800" b="1" dirty="0">
                <a:solidFill>
                  <a:srgbClr val="4E342E"/>
                </a:solidFill>
              </a:rPr>
              <a:t>Median and mean price of each group</a:t>
            </a:r>
            <a:endParaRPr lang="en-US" sz="2800" dirty="0"/>
          </a:p>
        </p:txBody>
      </p:sp>
      <p:sp>
        <p:nvSpPr>
          <p:cNvPr id="3" name="Code panel"/>
          <p:cNvSpPr/>
          <p:nvPr/>
        </p:nvSpPr>
        <p:spPr>
          <a:xfrm>
            <a:off x="457200" y="1051560"/>
            <a:ext cx="8229600" cy="2691765"/>
          </a:xfrm>
          <a:prstGeom prst="roundRect">
            <a:avLst>
              <a:gd name="adj" fmla="val 2038"/>
            </a:avLst>
          </a:prstGeom>
          <a:solidFill>
            <a:srgbClr val="2B1D19"/>
          </a:solidFill>
          <a:ln w="12700">
            <a:solidFill>
              <a:srgbClr val="2B1D19"/>
            </a:solidFill>
            <a:prstDash val="solid"/>
          </a:ln>
        </p:spPr>
      </p:sp>
      <p:sp>
        <p:nvSpPr>
          <p:cNvPr id="4" name="Text 2"/>
          <p:cNvSpPr txBox="1"/>
          <p:nvPr/>
        </p:nvSpPr>
        <p:spPr>
          <a:xfrm>
            <a:off x="640080" y="1161288"/>
            <a:ext cx="7863840" cy="274320"/>
          </a:xfrm>
          <a:prstGeom prst="rect">
            <a:avLst/>
          </a:prstGeom>
          <a:noFill/>
          <a:ln/>
        </p:spPr>
        <p:txBody>
          <a:bodyPr wrap="square" lIns="0" tIns="0" rIns="0" bIns="0" rtlCol="0" anchor="ctr"/>
          <a:lstStyle/>
          <a:p>
            <a:pPr indent="0" marL="0">
              <a:buNone/>
            </a:pPr>
            <a:r>
              <a:rPr lang="en-US" sz="1200" b="1" dirty="0">
                <a:solidFill>
                  <a:srgbClr val="E8A55A"/>
                </a:solidFill>
              </a:rPr>
              <a:t>steam_story.py — new cell</a:t>
            </a:r>
            <a:endParaRPr lang="en-US" sz="1200" dirty="0"/>
          </a:p>
        </p:txBody>
      </p:sp>
      <p:sp>
        <p:nvSpPr>
          <p:cNvPr id="5" name="Code"/>
          <p:cNvSpPr txBox="1"/>
          <p:nvPr/>
        </p:nvSpPr>
        <p:spPr>
          <a:xfrm>
            <a:off x="594360" y="1508760"/>
            <a:ext cx="7955280" cy="2188845"/>
          </a:xfrm>
          <a:prstGeom prst="rect">
            <a:avLst/>
          </a:prstGeom>
          <a:noFill/>
          <a:ln/>
        </p:spPr>
        <p:txBody>
          <a:bodyPr wrap="square" lIns="0" tIns="0" rIns="0" bIns="0" rtlCol="0" anchor="t"/>
          <a:lstStyle/>
          <a:p>
            <a:pPr indent="0" marL="0">
              <a:lnSpc>
                <a:spcPts val="1875"/>
              </a:lnSpc>
              <a:buNone/>
            </a:pPr>
            <a:r>
              <a:rPr lang="en-US" sz="1500" dirty="0">
                <a:solidFill>
                  <a:srgbClr val="9C8A80"/>
                </a:solidFill>
                <a:latin typeface="Courier New" pitchFamily="34" charset="0"/>
                <a:ea typeface="Courier New" pitchFamily="34" charset="-122"/>
                <a:cs typeface="Courier New" pitchFamily="34" charset="-120"/>
              </a:rPr>
              <a:t> 1  </a:t>
            </a:r>
            <a:r>
              <a:rPr lang="en-US" sz="1500" dirty="0">
                <a:solidFill>
                  <a:srgbClr val="F7EFE6"/>
                </a:solidFill>
                <a:latin typeface="Courier New" pitchFamily="34" charset="0"/>
                <a:ea typeface="Courier New" pitchFamily="34" charset="-122"/>
                <a:cs typeface="Courier New" pitchFamily="34" charset="-120"/>
              </a:rPr>
              <a:t>prices = (</a:t>
            </a:r>
            <a:endParaRPr lang="en-US" sz="1500" dirty="0"/>
          </a:p>
          <a:p>
            <a:pPr indent="0" marL="0">
              <a:lnSpc>
                <a:spcPts val="1875"/>
              </a:lnSpc>
              <a:buNone/>
            </a:pPr>
            <a:r>
              <a:rPr lang="en-US" sz="1500" dirty="0">
                <a:solidFill>
                  <a:srgbClr val="9C8A80"/>
                </a:solidFill>
                <a:latin typeface="Courier New" pitchFamily="34" charset="0"/>
                <a:ea typeface="Courier New" pitchFamily="34" charset="-122"/>
                <a:cs typeface="Courier New" pitchFamily="34" charset="-120"/>
              </a:rPr>
              <a:t> 2  </a:t>
            </a:r>
            <a:r>
              <a:rPr lang="en-US" sz="1500" dirty="0">
                <a:solidFill>
                  <a:srgbClr val="F7EFE6"/>
                </a:solidFill>
                <a:latin typeface="Courier New" pitchFamily="34" charset="0"/>
                <a:ea typeface="Courier New" pitchFamily="34" charset="-122"/>
                <a:cs typeface="Courier New" pitchFamily="34" charset="-120"/>
              </a:rPr>
              <a:t>    scored.group_by("Group")</a:t>
            </a:r>
            <a:endParaRPr lang="en-US" sz="1500" dirty="0"/>
          </a:p>
          <a:p>
            <a:pPr indent="0" marL="0">
              <a:lnSpc>
                <a:spcPts val="1875"/>
              </a:lnSpc>
              <a:buNone/>
            </a:pPr>
            <a:r>
              <a:rPr lang="en-US" sz="1500" dirty="0">
                <a:solidFill>
                  <a:srgbClr val="9C8A80"/>
                </a:solidFill>
                <a:latin typeface="Courier New" pitchFamily="34" charset="0"/>
                <a:ea typeface="Courier New" pitchFamily="34" charset="-122"/>
                <a:cs typeface="Courier New" pitchFamily="34" charset="-120"/>
              </a:rPr>
              <a:t> 3  </a:t>
            </a:r>
            <a:r>
              <a:rPr lang="en-US" sz="1500" dirty="0">
                <a:solidFill>
                  <a:srgbClr val="F7EFE6"/>
                </a:solidFill>
                <a:latin typeface="Courier New" pitchFamily="34" charset="0"/>
                <a:ea typeface="Courier New" pitchFamily="34" charset="-122"/>
                <a:cs typeface="Courier New" pitchFamily="34" charset="-120"/>
              </a:rPr>
              <a:t>    .agg(</a:t>
            </a:r>
            <a:endParaRPr lang="en-US" sz="1500" dirty="0"/>
          </a:p>
          <a:p>
            <a:pPr indent="0" marL="0">
              <a:lnSpc>
                <a:spcPts val="1875"/>
              </a:lnSpc>
              <a:buNone/>
            </a:pPr>
            <a:r>
              <a:rPr lang="en-US" sz="1500" dirty="0">
                <a:solidFill>
                  <a:srgbClr val="9C8A80"/>
                </a:solidFill>
                <a:latin typeface="Courier New" pitchFamily="34" charset="0"/>
                <a:ea typeface="Courier New" pitchFamily="34" charset="-122"/>
                <a:cs typeface="Courier New" pitchFamily="34" charset="-120"/>
              </a:rPr>
              <a:t> 4  </a:t>
            </a:r>
            <a:r>
              <a:rPr lang="en-US" sz="1500" dirty="0">
                <a:solidFill>
                  <a:srgbClr val="F7EFE6"/>
                </a:solidFill>
                <a:latin typeface="Courier New" pitchFamily="34" charset="0"/>
                <a:ea typeface="Courier New" pitchFamily="34" charset="-122"/>
                <a:cs typeface="Courier New" pitchFamily="34" charset="-120"/>
              </a:rPr>
              <a:t>        pl.col("Price").median().alias("Median price"),</a:t>
            </a:r>
            <a:endParaRPr lang="en-US" sz="1500" dirty="0"/>
          </a:p>
          <a:p>
            <a:pPr indent="0" marL="0">
              <a:lnSpc>
                <a:spcPts val="1875"/>
              </a:lnSpc>
              <a:buNone/>
            </a:pPr>
            <a:r>
              <a:rPr lang="en-US" sz="1500" dirty="0">
                <a:solidFill>
                  <a:srgbClr val="9C8A80"/>
                </a:solidFill>
                <a:latin typeface="Courier New" pitchFamily="34" charset="0"/>
                <a:ea typeface="Courier New" pitchFamily="34" charset="-122"/>
                <a:cs typeface="Courier New" pitchFamily="34" charset="-120"/>
              </a:rPr>
              <a:t> 5  </a:t>
            </a:r>
            <a:r>
              <a:rPr lang="en-US" sz="1500" dirty="0">
                <a:solidFill>
                  <a:srgbClr val="F7EFE6"/>
                </a:solidFill>
                <a:latin typeface="Courier New" pitchFamily="34" charset="0"/>
                <a:ea typeface="Courier New" pitchFamily="34" charset="-122"/>
                <a:cs typeface="Courier New" pitchFamily="34" charset="-120"/>
              </a:rPr>
              <a:t>        pl.col("Price").mean().round(2).alias("Mean price"),</a:t>
            </a:r>
            <a:endParaRPr lang="en-US" sz="1500" dirty="0"/>
          </a:p>
          <a:p>
            <a:pPr indent="0" marL="0">
              <a:lnSpc>
                <a:spcPts val="1875"/>
              </a:lnSpc>
              <a:buNone/>
            </a:pPr>
            <a:r>
              <a:rPr lang="en-US" sz="1500" dirty="0">
                <a:solidFill>
                  <a:srgbClr val="9C8A80"/>
                </a:solidFill>
                <a:latin typeface="Courier New" pitchFamily="34" charset="0"/>
                <a:ea typeface="Courier New" pitchFamily="34" charset="-122"/>
                <a:cs typeface="Courier New" pitchFamily="34" charset="-120"/>
              </a:rPr>
              <a:t> 6  </a:t>
            </a:r>
            <a:r>
              <a:rPr lang="en-US" sz="1500" dirty="0">
                <a:solidFill>
                  <a:srgbClr val="F7EFE6"/>
                </a:solidFill>
                <a:latin typeface="Courier New" pitchFamily="34" charset="0"/>
                <a:ea typeface="Courier New" pitchFamily="34" charset="-122"/>
                <a:cs typeface="Courier New" pitchFamily="34" charset="-120"/>
              </a:rPr>
              <a:t>    )</a:t>
            </a:r>
            <a:endParaRPr lang="en-US" sz="1500" dirty="0"/>
          </a:p>
          <a:p>
            <a:pPr indent="0" marL="0">
              <a:lnSpc>
                <a:spcPts val="1875"/>
              </a:lnSpc>
              <a:buNone/>
            </a:pPr>
            <a:r>
              <a:rPr lang="en-US" sz="1500" dirty="0">
                <a:solidFill>
                  <a:srgbClr val="9C8A80"/>
                </a:solidFill>
                <a:latin typeface="Courier New" pitchFamily="34" charset="0"/>
                <a:ea typeface="Courier New" pitchFamily="34" charset="-122"/>
                <a:cs typeface="Courier New" pitchFamily="34" charset="-120"/>
              </a:rPr>
              <a:t> 7  </a:t>
            </a:r>
            <a:r>
              <a:rPr lang="en-US" sz="1500" dirty="0">
                <a:solidFill>
                  <a:srgbClr val="F7EFE6"/>
                </a:solidFill>
                <a:latin typeface="Courier New" pitchFamily="34" charset="0"/>
                <a:ea typeface="Courier New" pitchFamily="34" charset="-122"/>
                <a:cs typeface="Courier New" pitchFamily="34" charset="-120"/>
              </a:rPr>
              <a:t>    .sort("Group")</a:t>
            </a:r>
            <a:endParaRPr lang="en-US" sz="1500" dirty="0"/>
          </a:p>
          <a:p>
            <a:pPr indent="0" marL="0">
              <a:lnSpc>
                <a:spcPts val="1875"/>
              </a:lnSpc>
              <a:buNone/>
            </a:pPr>
            <a:r>
              <a:rPr lang="en-US" sz="1500" dirty="0">
                <a:solidFill>
                  <a:srgbClr val="9C8A80"/>
                </a:solidFill>
                <a:latin typeface="Courier New" pitchFamily="34" charset="0"/>
                <a:ea typeface="Courier New" pitchFamily="34" charset="-122"/>
                <a:cs typeface="Courier New" pitchFamily="34" charset="-120"/>
              </a:rPr>
              <a:t> 8  </a:t>
            </a:r>
            <a:r>
              <a:rPr lang="en-US" sz="1500" dirty="0">
                <a:solidFill>
                  <a:srgbClr val="F7EFE6"/>
                </a:solidFill>
                <a:latin typeface="Courier New" pitchFamily="34" charset="0"/>
                <a:ea typeface="Courier New" pitchFamily="34" charset="-122"/>
                <a:cs typeface="Courier New" pitchFamily="34" charset="-120"/>
              </a:rPr>
              <a:t>)</a:t>
            </a:r>
            <a:endParaRPr lang="en-US" sz="1500" dirty="0"/>
          </a:p>
          <a:p>
            <a:pPr indent="0" marL="0">
              <a:lnSpc>
                <a:spcPts val="1875"/>
              </a:lnSpc>
              <a:buNone/>
            </a:pPr>
            <a:r>
              <a:rPr lang="en-US" sz="1500" dirty="0">
                <a:solidFill>
                  <a:srgbClr val="9C8A80"/>
                </a:solidFill>
                <a:latin typeface="Courier New" pitchFamily="34" charset="0"/>
                <a:ea typeface="Courier New" pitchFamily="34" charset="-122"/>
                <a:cs typeface="Courier New" pitchFamily="34" charset="-120"/>
              </a:rPr>
              <a:t> 9  </a:t>
            </a:r>
            <a:r>
              <a:rPr lang="en-US" sz="1500" dirty="0">
                <a:solidFill>
                  <a:srgbClr val="F7EFE6"/>
                </a:solidFill>
                <a:latin typeface="Courier New" pitchFamily="34" charset="0"/>
                <a:ea typeface="Courier New" pitchFamily="34" charset="-122"/>
                <a:cs typeface="Courier New" pitchFamily="34" charset="-120"/>
              </a:rPr>
              <a:t>prices</a:t>
            </a:r>
            <a:endParaRPr lang="en-US" sz="1500" dirty="0"/>
          </a:p>
        </p:txBody>
      </p:sp>
      <p:sp>
        <p:nvSpPr>
          <p:cNvPr id="6" name="Text 4"/>
          <p:cNvSpPr txBox="1"/>
          <p:nvPr/>
        </p:nvSpPr>
        <p:spPr>
          <a:xfrm>
            <a:off x="457200" y="3834765"/>
            <a:ext cx="8229600" cy="441960"/>
          </a:xfrm>
          <a:prstGeom prst="rect">
            <a:avLst/>
          </a:prstGeom>
          <a:noFill/>
          <a:ln/>
        </p:spPr>
        <p:txBody>
          <a:bodyPr wrap="square" lIns="0" tIns="0" rIns="0" bIns="0" rtlCol="0" anchor="t">
            <a:normAutofit/>
          </a:bodyPr>
          <a:lstStyle/>
          <a:p>
            <a:pPr indent="0" marL="0">
              <a:spcAft>
                <a:spcPts val="600"/>
              </a:spcAft>
              <a:buNone/>
            </a:pPr>
            <a:r>
              <a:rPr lang="en-US" sz="1500" dirty="0">
                <a:solidFill>
                  <a:srgbClr val="2B1D19"/>
                </a:solidFill>
              </a:rPr>
              <a:t>​</a:t>
            </a:r>
            <a:r>
              <a:rPr lang="en-US" sz="1500" b="1" dirty="0">
                <a:solidFill>
                  <a:srgbClr val="2B1D19"/>
                </a:solidFill>
              </a:rPr>
              <a:t>Why:</a:t>
            </a:r>
            <a:r>
              <a:rPr lang="en-US" sz="1500" dirty="0">
                <a:solidFill>
                  <a:srgbClr val="2B1D19"/>
                </a:solidFill>
              </a:rPr>
              <a:t> Both averages side by side, so we can see whether they agree.</a:t>
            </a:r>
            <a:endParaRPr lang="en-US" sz="1500" dirty="0"/>
          </a:p>
        </p:txBody>
      </p:sp>
      <p:sp>
        <p:nvSpPr>
          <p:cNvPr id="25" name="Slide Number Placeholder 0"/>
          <p:cNvSpPr>
            <a:spLocks noGrp="1"/>
          </p:cNvSpPr>
          <p:nvPr>
            <p:ph type="sldNum" sz="quarter" idx="4294967295"/>
          </p:nvPr>
        </p:nvSpPr>
        <p:spPr>
          <a:xfrm>
            <a:off x="365760" y="470916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6B6B"/>
                </a:solidFill>
              </a:defRPr>
            </a:lvl1pPr>
          </a:lstStyle>
          <a:p>
            <a:pPr algn="l"/>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itle"/>
          <p:cNvSpPr txBox="1"/>
          <p:nvPr/>
        </p:nvSpPr>
        <p:spPr>
          <a:xfrm>
            <a:off x="457200" y="274320"/>
            <a:ext cx="8229600" cy="640080"/>
          </a:xfrm>
          <a:prstGeom prst="rect">
            <a:avLst/>
          </a:prstGeom>
          <a:noFill/>
          <a:ln/>
        </p:spPr>
        <p:txBody>
          <a:bodyPr wrap="square" lIns="0" tIns="0" rIns="0" bIns="0" rtlCol="0" anchor="ctr">
            <a:normAutofit/>
          </a:bodyPr>
          <a:lstStyle/>
          <a:p>
            <a:pPr indent="0" marL="0">
              <a:buNone/>
            </a:pPr>
            <a:r>
              <a:rPr lang="en-US" sz="2800" b="1" dirty="0">
                <a:solidFill>
                  <a:srgbClr val="4E342E"/>
                </a:solidFill>
              </a:rPr>
              <a:t>Indie games cost less by either measure</a:t>
            </a:r>
            <a:endParaRPr lang="en-US" sz="2800" dirty="0"/>
          </a:p>
        </p:txBody>
      </p:sp>
      <p:graphicFrame>
        <p:nvGraphicFramePr>
          <p:cNvPr id="14" name="Table 0"/>
          <p:cNvGraphicFramePr>
            <a:graphicFrameLocks noGrp="1"/>
          </p:cNvGraphicFramePr>
          <p:nvPr>
            <p:extLst>
              <p:ext uri="{D42A27DB-BD31-4B8C-83A1-F6EECF244321}">
                <p14:modId xmlns:p14="http://schemas.microsoft.com/office/powerpoint/2010/main" val="1579011935"/>
              </p:ext>
            </p:extLst>
          </p:nvPr>
        </p:nvGraphicFramePr>
        <p:xfrm>
          <a:off x="457200" y="1051560"/>
          <a:ext cx="8229600" cy="914400"/>
        </p:xfrm>
        <a:graphic>
          <a:graphicData uri="http://schemas.openxmlformats.org/drawingml/2006/table">
            <a:tbl>
              <a:tblPr/>
              <a:tblGrid>
                <a:gridCol w="2743200"/>
                <a:gridCol w="2743200"/>
                <a:gridCol w="2743200"/>
              </a:tblGrid>
              <a:tr h="0">
                <a:tc>
                  <a:txBody>
                    <a:bodyPr/>
                    <a:lstStyle/>
                    <a:p>
                      <a:pPr indent="0" marL="0">
                        <a:buNone/>
                      </a:pPr>
                      <a:r>
                        <a:rPr lang="en-US" sz="1400" b="1" dirty="0">
                          <a:solidFill>
                            <a:srgbClr val="FFFFFF"/>
                          </a:solidFill>
                        </a:rPr>
                        <a:t>Group</a:t>
                      </a:r>
                      <a:endParaRPr lang="en-US" sz="1400" dirty="0"/>
                    </a:p>
                  </a:txBody>
                  <a:tcPr marL="54864" marR="54864" marT="54864" marB="54864">
                    <a:lnL w="6350" cap="flat" cmpd="sng" algn="ctr">
                      <a:solidFill>
                        <a:srgbClr val="D8CFC7"/>
                      </a:solidFill>
                      <a:prstDash val="solid"/>
                      <a:round/>
                      <a:headEnd type="none" w="med" len="med"/>
                      <a:tailEnd type="none" w="med" len="med"/>
                    </a:lnL>
                    <a:lnR w="6350" cap="flat" cmpd="sng" algn="ctr">
                      <a:solidFill>
                        <a:srgbClr val="D8CFC7"/>
                      </a:solidFill>
                      <a:prstDash val="solid"/>
                      <a:round/>
                      <a:headEnd type="none" w="med" len="med"/>
                      <a:tailEnd type="none" w="med" len="med"/>
                    </a:lnR>
                    <a:lnT w="6350" cap="flat" cmpd="sng" algn="ctr">
                      <a:solidFill>
                        <a:srgbClr val="D8CFC7"/>
                      </a:solidFill>
                      <a:prstDash val="solid"/>
                      <a:round/>
                      <a:headEnd type="none" w="med" len="med"/>
                      <a:tailEnd type="none" w="med" len="med"/>
                    </a:lnT>
                    <a:lnB w="6350" cap="flat" cmpd="sng" algn="ctr">
                      <a:solidFill>
                        <a:srgbClr val="D8CFC7"/>
                      </a:solidFill>
                      <a:prstDash val="solid"/>
                      <a:round/>
                      <a:headEnd type="none" w="med" len="med"/>
                      <a:tailEnd type="none" w="med" len="med"/>
                    </a:lnB>
                    <a:solidFill>
                      <a:srgbClr val="4E342E"/>
                    </a:solidFill>
                  </a:tcPr>
                </a:tc>
                <a:tc>
                  <a:txBody>
                    <a:bodyPr/>
                    <a:lstStyle/>
                    <a:p>
                      <a:pPr indent="0" marL="0">
                        <a:buNone/>
                      </a:pPr>
                      <a:r>
                        <a:rPr lang="en-US" sz="1400" b="1" dirty="0">
                          <a:solidFill>
                            <a:srgbClr val="FFFFFF"/>
                          </a:solidFill>
                        </a:rPr>
                        <a:t>Median price</a:t>
                      </a:r>
                      <a:endParaRPr lang="en-US" sz="1400" dirty="0"/>
                    </a:p>
                  </a:txBody>
                  <a:tcPr marL="54864" marR="54864" marT="54864" marB="54864">
                    <a:lnL w="6350" cap="flat" cmpd="sng" algn="ctr">
                      <a:solidFill>
                        <a:srgbClr val="D8CFC7"/>
                      </a:solidFill>
                      <a:prstDash val="solid"/>
                      <a:round/>
                      <a:headEnd type="none" w="med" len="med"/>
                      <a:tailEnd type="none" w="med" len="med"/>
                    </a:lnL>
                    <a:lnR w="6350" cap="flat" cmpd="sng" algn="ctr">
                      <a:solidFill>
                        <a:srgbClr val="D8CFC7"/>
                      </a:solidFill>
                      <a:prstDash val="solid"/>
                      <a:round/>
                      <a:headEnd type="none" w="med" len="med"/>
                      <a:tailEnd type="none" w="med" len="med"/>
                    </a:lnR>
                    <a:lnT w="6350" cap="flat" cmpd="sng" algn="ctr">
                      <a:solidFill>
                        <a:srgbClr val="D8CFC7"/>
                      </a:solidFill>
                      <a:prstDash val="solid"/>
                      <a:round/>
                      <a:headEnd type="none" w="med" len="med"/>
                      <a:tailEnd type="none" w="med" len="med"/>
                    </a:lnT>
                    <a:lnB w="6350" cap="flat" cmpd="sng" algn="ctr">
                      <a:solidFill>
                        <a:srgbClr val="D8CFC7"/>
                      </a:solidFill>
                      <a:prstDash val="solid"/>
                      <a:round/>
                      <a:headEnd type="none" w="med" len="med"/>
                      <a:tailEnd type="none" w="med" len="med"/>
                    </a:lnB>
                    <a:solidFill>
                      <a:srgbClr val="4E342E"/>
                    </a:solidFill>
                  </a:tcPr>
                </a:tc>
                <a:tc>
                  <a:txBody>
                    <a:bodyPr/>
                    <a:lstStyle/>
                    <a:p>
                      <a:pPr indent="0" marL="0">
                        <a:buNone/>
                      </a:pPr>
                      <a:r>
                        <a:rPr lang="en-US" sz="1400" b="1" dirty="0">
                          <a:solidFill>
                            <a:srgbClr val="FFFFFF"/>
                          </a:solidFill>
                        </a:rPr>
                        <a:t>Mean price</a:t>
                      </a:r>
                      <a:endParaRPr lang="en-US" sz="1400" dirty="0"/>
                    </a:p>
                  </a:txBody>
                  <a:tcPr marL="54864" marR="54864" marT="54864" marB="54864">
                    <a:lnL w="6350" cap="flat" cmpd="sng" algn="ctr">
                      <a:solidFill>
                        <a:srgbClr val="D8CFC7"/>
                      </a:solidFill>
                      <a:prstDash val="solid"/>
                      <a:round/>
                      <a:headEnd type="none" w="med" len="med"/>
                      <a:tailEnd type="none" w="med" len="med"/>
                    </a:lnL>
                    <a:lnR w="6350" cap="flat" cmpd="sng" algn="ctr">
                      <a:solidFill>
                        <a:srgbClr val="D8CFC7"/>
                      </a:solidFill>
                      <a:prstDash val="solid"/>
                      <a:round/>
                      <a:headEnd type="none" w="med" len="med"/>
                      <a:tailEnd type="none" w="med" len="med"/>
                    </a:lnR>
                    <a:lnT w="6350" cap="flat" cmpd="sng" algn="ctr">
                      <a:solidFill>
                        <a:srgbClr val="D8CFC7"/>
                      </a:solidFill>
                      <a:prstDash val="solid"/>
                      <a:round/>
                      <a:headEnd type="none" w="med" len="med"/>
                      <a:tailEnd type="none" w="med" len="med"/>
                    </a:lnT>
                    <a:lnB w="6350" cap="flat" cmpd="sng" algn="ctr">
                      <a:solidFill>
                        <a:srgbClr val="D8CFC7"/>
                      </a:solidFill>
                      <a:prstDash val="solid"/>
                      <a:round/>
                      <a:headEnd type="none" w="med" len="med"/>
                      <a:tailEnd type="none" w="med" len="med"/>
                    </a:lnB>
                    <a:solidFill>
                      <a:srgbClr val="4E342E"/>
                    </a:solidFill>
                  </a:tcPr>
                </a:tc>
              </a:tr>
              <a:tr h="0">
                <a:tc>
                  <a:txBody>
                    <a:bodyPr/>
                    <a:lstStyle/>
                    <a:p>
                      <a:pPr indent="0" marL="0">
                        <a:buNone/>
                      </a:pPr>
                      <a:r>
                        <a:rPr lang="en-US" sz="1400" dirty="0">
                          <a:solidFill>
                            <a:srgbClr val="2B1D19"/>
                          </a:solidFill>
                        </a:rPr>
                        <a:t>​</a:t>
                      </a:r>
                      <a:r>
                        <a:rPr lang="en-US" sz="1400" dirty="0">
                          <a:solidFill>
                            <a:srgbClr val="2B1D19"/>
                          </a:solidFill>
                        </a:rPr>
                        <a:t>Indie</a:t>
                      </a:r>
                      <a:endParaRPr lang="en-US" sz="1400" dirty="0"/>
                    </a:p>
                  </a:txBody>
                  <a:tcPr marL="54864" marR="54864" marT="54864" marB="54864">
                    <a:lnL w="6350" cap="flat" cmpd="sng" algn="ctr">
                      <a:solidFill>
                        <a:srgbClr val="D8CFC7"/>
                      </a:solidFill>
                      <a:prstDash val="solid"/>
                      <a:round/>
                      <a:headEnd type="none" w="med" len="med"/>
                      <a:tailEnd type="none" w="med" len="med"/>
                    </a:lnL>
                    <a:lnR w="6350" cap="flat" cmpd="sng" algn="ctr">
                      <a:solidFill>
                        <a:srgbClr val="D8CFC7"/>
                      </a:solidFill>
                      <a:prstDash val="solid"/>
                      <a:round/>
                      <a:headEnd type="none" w="med" len="med"/>
                      <a:tailEnd type="none" w="med" len="med"/>
                    </a:lnR>
                    <a:lnT w="6350" cap="flat" cmpd="sng" algn="ctr">
                      <a:solidFill>
                        <a:srgbClr val="D8CFC7"/>
                      </a:solidFill>
                      <a:prstDash val="solid"/>
                      <a:round/>
                      <a:headEnd type="none" w="med" len="med"/>
                      <a:tailEnd type="none" w="med" len="med"/>
                    </a:lnT>
                    <a:lnB w="6350" cap="flat" cmpd="sng" algn="ctr">
                      <a:solidFill>
                        <a:srgbClr val="D8CFC7"/>
                      </a:solidFill>
                      <a:prstDash val="solid"/>
                      <a:round/>
                      <a:headEnd type="none" w="med" len="med"/>
                      <a:tailEnd type="none" w="med" len="med"/>
                    </a:lnB>
                    <a:solidFill>
                      <a:srgbClr val="FFFFFF"/>
                    </a:solidFill>
                  </a:tcPr>
                </a:tc>
                <a:tc>
                  <a:txBody>
                    <a:bodyPr/>
                    <a:lstStyle/>
                    <a:p>
                      <a:pPr indent="0" marL="0">
                        <a:buNone/>
                      </a:pPr>
                      <a:r>
                        <a:rPr lang="en-US" sz="1400" dirty="0">
                          <a:solidFill>
                            <a:srgbClr val="2B1D19"/>
                          </a:solidFill>
                        </a:rPr>
                        <a:t>​</a:t>
                      </a:r>
                      <a:r>
                        <a:rPr lang="en-US" sz="1400" dirty="0">
                          <a:solidFill>
                            <a:srgbClr val="2B1D19"/>
                          </a:solidFill>
                        </a:rPr>
                        <a:t>3.84</a:t>
                      </a:r>
                      <a:endParaRPr lang="en-US" sz="1400" dirty="0"/>
                    </a:p>
                  </a:txBody>
                  <a:tcPr marL="54864" marR="54864" marT="54864" marB="54864">
                    <a:lnL w="6350" cap="flat" cmpd="sng" algn="ctr">
                      <a:solidFill>
                        <a:srgbClr val="D8CFC7"/>
                      </a:solidFill>
                      <a:prstDash val="solid"/>
                      <a:round/>
                      <a:headEnd type="none" w="med" len="med"/>
                      <a:tailEnd type="none" w="med" len="med"/>
                    </a:lnL>
                    <a:lnR w="6350" cap="flat" cmpd="sng" algn="ctr">
                      <a:solidFill>
                        <a:srgbClr val="D8CFC7"/>
                      </a:solidFill>
                      <a:prstDash val="solid"/>
                      <a:round/>
                      <a:headEnd type="none" w="med" len="med"/>
                      <a:tailEnd type="none" w="med" len="med"/>
                    </a:lnR>
                    <a:lnT w="6350" cap="flat" cmpd="sng" algn="ctr">
                      <a:solidFill>
                        <a:srgbClr val="D8CFC7"/>
                      </a:solidFill>
                      <a:prstDash val="solid"/>
                      <a:round/>
                      <a:headEnd type="none" w="med" len="med"/>
                      <a:tailEnd type="none" w="med" len="med"/>
                    </a:lnT>
                    <a:lnB w="6350" cap="flat" cmpd="sng" algn="ctr">
                      <a:solidFill>
                        <a:srgbClr val="D8CFC7"/>
                      </a:solidFill>
                      <a:prstDash val="solid"/>
                      <a:round/>
                      <a:headEnd type="none" w="med" len="med"/>
                      <a:tailEnd type="none" w="med" len="med"/>
                    </a:lnB>
                    <a:solidFill>
                      <a:srgbClr val="FFFFFF"/>
                    </a:solidFill>
                  </a:tcPr>
                </a:tc>
                <a:tc>
                  <a:txBody>
                    <a:bodyPr/>
                    <a:lstStyle/>
                    <a:p>
                      <a:pPr indent="0" marL="0">
                        <a:buNone/>
                      </a:pPr>
                      <a:r>
                        <a:rPr lang="en-US" sz="1400" dirty="0">
                          <a:solidFill>
                            <a:srgbClr val="2B1D19"/>
                          </a:solidFill>
                        </a:rPr>
                        <a:t>​</a:t>
                      </a:r>
                      <a:r>
                        <a:rPr lang="en-US" sz="1400" dirty="0">
                          <a:solidFill>
                            <a:srgbClr val="2B1D19"/>
                          </a:solidFill>
                        </a:rPr>
                        <a:t>5.57</a:t>
                      </a:r>
                      <a:endParaRPr lang="en-US" sz="1400" dirty="0"/>
                    </a:p>
                  </a:txBody>
                  <a:tcPr marL="54864" marR="54864" marT="54864" marB="54864">
                    <a:lnL w="6350" cap="flat" cmpd="sng" algn="ctr">
                      <a:solidFill>
                        <a:srgbClr val="D8CFC7"/>
                      </a:solidFill>
                      <a:prstDash val="solid"/>
                      <a:round/>
                      <a:headEnd type="none" w="med" len="med"/>
                      <a:tailEnd type="none" w="med" len="med"/>
                    </a:lnL>
                    <a:lnR w="6350" cap="flat" cmpd="sng" algn="ctr">
                      <a:solidFill>
                        <a:srgbClr val="D8CFC7"/>
                      </a:solidFill>
                      <a:prstDash val="solid"/>
                      <a:round/>
                      <a:headEnd type="none" w="med" len="med"/>
                      <a:tailEnd type="none" w="med" len="med"/>
                    </a:lnR>
                    <a:lnT w="6350" cap="flat" cmpd="sng" algn="ctr">
                      <a:solidFill>
                        <a:srgbClr val="D8CFC7"/>
                      </a:solidFill>
                      <a:prstDash val="solid"/>
                      <a:round/>
                      <a:headEnd type="none" w="med" len="med"/>
                      <a:tailEnd type="none" w="med" len="med"/>
                    </a:lnT>
                    <a:lnB w="6350" cap="flat" cmpd="sng" algn="ctr">
                      <a:solidFill>
                        <a:srgbClr val="D8CFC7"/>
                      </a:solidFill>
                      <a:prstDash val="solid"/>
                      <a:round/>
                      <a:headEnd type="none" w="med" len="med"/>
                      <a:tailEnd type="none" w="med" len="med"/>
                    </a:lnB>
                    <a:solidFill>
                      <a:srgbClr val="FFFFFF"/>
                    </a:solidFill>
                  </a:tcPr>
                </a:tc>
              </a:tr>
              <a:tr h="0">
                <a:tc>
                  <a:txBody>
                    <a:bodyPr/>
                    <a:lstStyle/>
                    <a:p>
                      <a:pPr indent="0" marL="0">
                        <a:buNone/>
                      </a:pPr>
                      <a:r>
                        <a:rPr lang="en-US" sz="1400" dirty="0">
                          <a:solidFill>
                            <a:srgbClr val="2B1D19"/>
                          </a:solidFill>
                        </a:rPr>
                        <a:t>​</a:t>
                      </a:r>
                      <a:r>
                        <a:rPr lang="en-US" sz="1400" dirty="0">
                          <a:solidFill>
                            <a:srgbClr val="2B1D19"/>
                          </a:solidFill>
                        </a:rPr>
                        <a:t>Not Indie</a:t>
                      </a:r>
                      <a:endParaRPr lang="en-US" sz="1400" dirty="0"/>
                    </a:p>
                  </a:txBody>
                  <a:tcPr marL="54864" marR="54864" marT="54864" marB="54864">
                    <a:lnL w="6350" cap="flat" cmpd="sng" algn="ctr">
                      <a:solidFill>
                        <a:srgbClr val="D8CFC7"/>
                      </a:solidFill>
                      <a:prstDash val="solid"/>
                      <a:round/>
                      <a:headEnd type="none" w="med" len="med"/>
                      <a:tailEnd type="none" w="med" len="med"/>
                    </a:lnL>
                    <a:lnR w="6350" cap="flat" cmpd="sng" algn="ctr">
                      <a:solidFill>
                        <a:srgbClr val="D8CFC7"/>
                      </a:solidFill>
                      <a:prstDash val="solid"/>
                      <a:round/>
                      <a:headEnd type="none" w="med" len="med"/>
                      <a:tailEnd type="none" w="med" len="med"/>
                    </a:lnR>
                    <a:lnT w="6350" cap="flat" cmpd="sng" algn="ctr">
                      <a:solidFill>
                        <a:srgbClr val="D8CFC7"/>
                      </a:solidFill>
                      <a:prstDash val="solid"/>
                      <a:round/>
                      <a:headEnd type="none" w="med" len="med"/>
                      <a:tailEnd type="none" w="med" len="med"/>
                    </a:lnT>
                    <a:lnB w="6350" cap="flat" cmpd="sng" algn="ctr">
                      <a:solidFill>
                        <a:srgbClr val="D8CFC7"/>
                      </a:solidFill>
                      <a:prstDash val="solid"/>
                      <a:round/>
                      <a:headEnd type="none" w="med" len="med"/>
                      <a:tailEnd type="none" w="med" len="med"/>
                    </a:lnB>
                    <a:solidFill>
                      <a:srgbClr val="FBF7F2"/>
                    </a:solidFill>
                  </a:tcPr>
                </a:tc>
                <a:tc>
                  <a:txBody>
                    <a:bodyPr/>
                    <a:lstStyle/>
                    <a:p>
                      <a:pPr indent="0" marL="0">
                        <a:buNone/>
                      </a:pPr>
                      <a:r>
                        <a:rPr lang="en-US" sz="1400" dirty="0">
                          <a:solidFill>
                            <a:srgbClr val="2B1D19"/>
                          </a:solidFill>
                        </a:rPr>
                        <a:t>​</a:t>
                      </a:r>
                      <a:r>
                        <a:rPr lang="en-US" sz="1400" dirty="0">
                          <a:solidFill>
                            <a:srgbClr val="2B1D19"/>
                          </a:solidFill>
                        </a:rPr>
                        <a:t>4.99</a:t>
                      </a:r>
                      <a:endParaRPr lang="en-US" sz="1400" dirty="0"/>
                    </a:p>
                  </a:txBody>
                  <a:tcPr marL="54864" marR="54864" marT="54864" marB="54864">
                    <a:lnL w="6350" cap="flat" cmpd="sng" algn="ctr">
                      <a:solidFill>
                        <a:srgbClr val="D8CFC7"/>
                      </a:solidFill>
                      <a:prstDash val="solid"/>
                      <a:round/>
                      <a:headEnd type="none" w="med" len="med"/>
                      <a:tailEnd type="none" w="med" len="med"/>
                    </a:lnL>
                    <a:lnR w="6350" cap="flat" cmpd="sng" algn="ctr">
                      <a:solidFill>
                        <a:srgbClr val="D8CFC7"/>
                      </a:solidFill>
                      <a:prstDash val="solid"/>
                      <a:round/>
                      <a:headEnd type="none" w="med" len="med"/>
                      <a:tailEnd type="none" w="med" len="med"/>
                    </a:lnR>
                    <a:lnT w="6350" cap="flat" cmpd="sng" algn="ctr">
                      <a:solidFill>
                        <a:srgbClr val="D8CFC7"/>
                      </a:solidFill>
                      <a:prstDash val="solid"/>
                      <a:round/>
                      <a:headEnd type="none" w="med" len="med"/>
                      <a:tailEnd type="none" w="med" len="med"/>
                    </a:lnT>
                    <a:lnB w="6350" cap="flat" cmpd="sng" algn="ctr">
                      <a:solidFill>
                        <a:srgbClr val="D8CFC7"/>
                      </a:solidFill>
                      <a:prstDash val="solid"/>
                      <a:round/>
                      <a:headEnd type="none" w="med" len="med"/>
                      <a:tailEnd type="none" w="med" len="med"/>
                    </a:lnB>
                    <a:solidFill>
                      <a:srgbClr val="FBF7F2"/>
                    </a:solidFill>
                  </a:tcPr>
                </a:tc>
                <a:tc>
                  <a:txBody>
                    <a:bodyPr/>
                    <a:lstStyle/>
                    <a:p>
                      <a:pPr indent="0" marL="0">
                        <a:buNone/>
                      </a:pPr>
                      <a:r>
                        <a:rPr lang="en-US" sz="1400" dirty="0">
                          <a:solidFill>
                            <a:srgbClr val="2B1D19"/>
                          </a:solidFill>
                        </a:rPr>
                        <a:t>​</a:t>
                      </a:r>
                      <a:r>
                        <a:rPr lang="en-US" sz="1400" dirty="0">
                          <a:solidFill>
                            <a:srgbClr val="2B1D19"/>
                          </a:solidFill>
                        </a:rPr>
                        <a:t>8.32</a:t>
                      </a:r>
                      <a:endParaRPr lang="en-US" sz="1400" dirty="0"/>
                    </a:p>
                  </a:txBody>
                  <a:tcPr marL="54864" marR="54864" marT="54864" marB="54864">
                    <a:lnL w="6350" cap="flat" cmpd="sng" algn="ctr">
                      <a:solidFill>
                        <a:srgbClr val="D8CFC7"/>
                      </a:solidFill>
                      <a:prstDash val="solid"/>
                      <a:round/>
                      <a:headEnd type="none" w="med" len="med"/>
                      <a:tailEnd type="none" w="med" len="med"/>
                    </a:lnL>
                    <a:lnR w="6350" cap="flat" cmpd="sng" algn="ctr">
                      <a:solidFill>
                        <a:srgbClr val="D8CFC7"/>
                      </a:solidFill>
                      <a:prstDash val="solid"/>
                      <a:round/>
                      <a:headEnd type="none" w="med" len="med"/>
                      <a:tailEnd type="none" w="med" len="med"/>
                    </a:lnR>
                    <a:lnT w="6350" cap="flat" cmpd="sng" algn="ctr">
                      <a:solidFill>
                        <a:srgbClr val="D8CFC7"/>
                      </a:solidFill>
                      <a:prstDash val="solid"/>
                      <a:round/>
                      <a:headEnd type="none" w="med" len="med"/>
                      <a:tailEnd type="none" w="med" len="med"/>
                    </a:lnT>
                    <a:lnB w="6350" cap="flat" cmpd="sng" algn="ctr">
                      <a:solidFill>
                        <a:srgbClr val="D8CFC7"/>
                      </a:solidFill>
                      <a:prstDash val="solid"/>
                      <a:round/>
                      <a:headEnd type="none" w="med" len="med"/>
                      <a:tailEnd type="none" w="med" len="med"/>
                    </a:lnB>
                    <a:solidFill>
                      <a:srgbClr val="FBF7F2"/>
                    </a:solidFill>
                  </a:tcPr>
                </a:tc>
              </a:tr>
            </a:tbl>
          </a:graphicData>
        </a:graphic>
      </p:graphicFrame>
      <p:sp>
        <p:nvSpPr>
          <p:cNvPr id="25" name="Slide Number Placeholder 0"/>
          <p:cNvSpPr>
            <a:spLocks noGrp="1"/>
          </p:cNvSpPr>
          <p:nvPr>
            <p:ph type="sldNum" sz="quarter" idx="4294967295"/>
          </p:nvPr>
        </p:nvSpPr>
        <p:spPr>
          <a:xfrm>
            <a:off x="365760" y="470916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6B6B"/>
                </a:solidFill>
              </a:defRPr>
            </a:lvl1pPr>
          </a:lstStyle>
          <a:p>
            <a:pPr algn="l"/>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itle"/>
          <p:cNvSpPr txBox="1"/>
          <p:nvPr/>
        </p:nvSpPr>
        <p:spPr>
          <a:xfrm>
            <a:off x="457200" y="274320"/>
            <a:ext cx="8229600" cy="640080"/>
          </a:xfrm>
          <a:prstGeom prst="rect">
            <a:avLst/>
          </a:prstGeom>
          <a:noFill/>
          <a:ln/>
        </p:spPr>
        <p:txBody>
          <a:bodyPr wrap="square" lIns="0" tIns="0" rIns="0" bIns="0" rtlCol="0" anchor="ctr">
            <a:normAutofit/>
          </a:bodyPr>
          <a:lstStyle/>
          <a:p>
            <a:pPr indent="0" marL="0">
              <a:buNone/>
            </a:pPr>
            <a:r>
              <a:rPr lang="en-US" sz="2800" b="1" dirty="0">
                <a:solidFill>
                  <a:srgbClr val="4E342E"/>
                </a:solidFill>
              </a:rPr>
              <a:t>What currency are these prices in?</a:t>
            </a:r>
            <a:endParaRPr lang="en-US" sz="2800" dirty="0"/>
          </a:p>
        </p:txBody>
      </p:sp>
      <p:sp>
        <p:nvSpPr>
          <p:cNvPr id="3" name="tip box"/>
          <p:cNvSpPr/>
          <p:nvPr/>
        </p:nvSpPr>
        <p:spPr>
          <a:xfrm>
            <a:off x="457200" y="1051560"/>
            <a:ext cx="8229600" cy="2214880"/>
          </a:xfrm>
          <a:prstGeom prst="roundRect">
            <a:avLst>
              <a:gd name="adj" fmla="val 3303"/>
            </a:avLst>
          </a:prstGeom>
          <a:solidFill>
            <a:srgbClr val="E3F1FB"/>
          </a:solidFill>
          <a:ln w="12700">
            <a:solidFill>
              <a:srgbClr val="E3F1FB"/>
            </a:solidFill>
            <a:prstDash val="solid"/>
          </a:ln>
        </p:spPr>
      </p:sp>
      <p:sp>
        <p:nvSpPr>
          <p:cNvPr id="4" name="Text 2"/>
          <p:cNvSpPr txBox="1"/>
          <p:nvPr/>
        </p:nvSpPr>
        <p:spPr>
          <a:xfrm>
            <a:off x="685800" y="1188720"/>
            <a:ext cx="7772400" cy="365760"/>
          </a:xfrm>
          <a:prstGeom prst="rect">
            <a:avLst/>
          </a:prstGeom>
          <a:noFill/>
          <a:ln/>
        </p:spPr>
        <p:txBody>
          <a:bodyPr wrap="square" lIns="0" tIns="0" rIns="0" bIns="0" rtlCol="0" anchor="ctr"/>
          <a:lstStyle/>
          <a:p>
            <a:pPr indent="0" marL="0">
              <a:buNone/>
            </a:pPr>
            <a:r>
              <a:rPr lang="en-US" sz="1600" b="1" dirty="0">
                <a:solidFill>
                  <a:srgbClr val="1D5F8A"/>
                </a:solidFill>
              </a:rPr>
              <a:t>US dollars</a:t>
            </a:r>
            <a:endParaRPr lang="en-US" sz="1600" dirty="0"/>
          </a:p>
        </p:txBody>
      </p:sp>
      <p:sp>
        <p:nvSpPr>
          <p:cNvPr id="5" name="Text 3"/>
          <p:cNvSpPr txBox="1"/>
          <p:nvPr/>
        </p:nvSpPr>
        <p:spPr>
          <a:xfrm>
            <a:off x="685800" y="1600200"/>
            <a:ext cx="7772400" cy="1529080"/>
          </a:xfrm>
          <a:prstGeom prst="rect">
            <a:avLst/>
          </a:prstGeom>
          <a:noFill/>
          <a:ln/>
        </p:spPr>
        <p:txBody>
          <a:bodyPr wrap="square" lIns="0" tIns="0" rIns="0" bIns="0" rtlCol="0" anchor="t">
            <a:normAutofit/>
          </a:bodyPr>
          <a:lstStyle/>
          <a:p>
            <a:pPr indent="0" marL="0">
              <a:spcAft>
                <a:spcPts val="800"/>
              </a:spcAft>
              <a:buNone/>
            </a:pPr>
            <a:r>
              <a:rPr lang="en-US" sz="2000" dirty="0">
                <a:solidFill>
                  <a:srgbClr val="2B1D19"/>
                </a:solidFill>
              </a:rPr>
              <a:t>​</a:t>
            </a:r>
            <a:r>
              <a:rPr lang="en-US" sz="2000" dirty="0">
                <a:solidFill>
                  <a:srgbClr val="2B1D19"/>
                </a:solidFill>
              </a:rPr>
              <a:t>The data was collected from the US Steam store, on one day, so a game on sale that day shows its sale price. When we write about prices in our story, say they're in US dollars, so our audience doesn't read them as Australian dollars.</a:t>
            </a:r>
            <a:endParaRPr lang="en-US" sz="2000" dirty="0"/>
          </a:p>
        </p:txBody>
      </p:sp>
      <p:sp>
        <p:nvSpPr>
          <p:cNvPr id="25" name="Slide Number Placeholder 0"/>
          <p:cNvSpPr>
            <a:spLocks noGrp="1"/>
          </p:cNvSpPr>
          <p:nvPr>
            <p:ph type="sldNum" sz="quarter" idx="4294967295"/>
          </p:nvPr>
        </p:nvSpPr>
        <p:spPr>
          <a:xfrm>
            <a:off x="365760" y="470916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6B6B"/>
                </a:solidFill>
              </a:defRPr>
            </a:lvl1pPr>
          </a:lstStyle>
          <a:p>
            <a:pPr algn="l"/>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itle"/>
          <p:cNvSpPr txBox="1"/>
          <p:nvPr/>
        </p:nvSpPr>
        <p:spPr>
          <a:xfrm>
            <a:off x="457200" y="274320"/>
            <a:ext cx="8229600" cy="640080"/>
          </a:xfrm>
          <a:prstGeom prst="rect">
            <a:avLst/>
          </a:prstGeom>
          <a:noFill/>
          <a:ln/>
        </p:spPr>
        <p:txBody>
          <a:bodyPr wrap="square" lIns="0" tIns="0" rIns="0" bIns="0" rtlCol="0" anchor="ctr">
            <a:normAutofit/>
          </a:bodyPr>
          <a:lstStyle/>
          <a:p>
            <a:pPr indent="0" marL="0">
              <a:buNone/>
            </a:pPr>
            <a:r>
              <a:rPr lang="en-US" sz="2800" b="1" dirty="0">
                <a:solidFill>
                  <a:srgbClr val="4E342E"/>
                </a:solidFill>
              </a:rPr>
              <a:t>Look at the gap</a:t>
            </a:r>
            <a:endParaRPr lang="en-US" sz="2800" dirty="0"/>
          </a:p>
        </p:txBody>
      </p:sp>
      <p:sp>
        <p:nvSpPr>
          <p:cNvPr id="3" name="Text 1"/>
          <p:cNvSpPr txBox="1"/>
          <p:nvPr/>
        </p:nvSpPr>
        <p:spPr>
          <a:xfrm>
            <a:off x="457200" y="1097280"/>
            <a:ext cx="8229600" cy="338328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700" dirty="0">
                <a:solidFill>
                  <a:srgbClr val="2B1D19"/>
                </a:solidFill>
              </a:rPr>
              <a:t>​</a:t>
            </a:r>
            <a:r>
              <a:rPr lang="en-US" sz="1700" dirty="0">
                <a:solidFill>
                  <a:srgbClr val="2B1D19"/>
                </a:solidFill>
              </a:rPr>
              <a:t>the median prices are only </a:t>
            </a:r>
            <a:r>
              <a:rPr lang="en-US" sz="1700" b="1" dirty="0">
                <a:solidFill>
                  <a:srgbClr val="2B1D19"/>
                </a:solidFill>
              </a:rPr>
              <a:t>$1.15</a:t>
            </a:r>
            <a:r>
              <a:rPr lang="en-US" sz="1700" dirty="0">
                <a:solidFill>
                  <a:srgbClr val="2B1D19"/>
                </a:solidFill>
              </a:rPr>
              <a:t> apart</a:t>
            </a:r>
            <a:endParaRPr lang="en-US" sz="1700" dirty="0"/>
          </a:p>
          <a:p>
            <a:pPr marL="342900" indent="-342900">
              <a:spcAft>
                <a:spcPts val="800"/>
              </a:spcAft>
              <a:buSzPct val="100000"/>
              <a:buChar char="•"/>
            </a:pPr>
            <a:r>
              <a:rPr lang="en-US" sz="1700" dirty="0">
                <a:solidFill>
                  <a:srgbClr val="2B1D19"/>
                </a:solidFill>
              </a:rPr>
              <a:t>​</a:t>
            </a:r>
            <a:r>
              <a:rPr lang="en-US" sz="1700" dirty="0">
                <a:solidFill>
                  <a:srgbClr val="2B1D19"/>
                </a:solidFill>
              </a:rPr>
              <a:t>the mean prices are </a:t>
            </a:r>
            <a:r>
              <a:rPr lang="en-US" sz="1700" b="1" dirty="0">
                <a:solidFill>
                  <a:srgbClr val="2B1D19"/>
                </a:solidFill>
              </a:rPr>
              <a:t>$2.75</a:t>
            </a:r>
            <a:r>
              <a:rPr lang="en-US" sz="1700" dirty="0">
                <a:solidFill>
                  <a:srgbClr val="2B1D19"/>
                </a:solidFill>
              </a:rPr>
              <a:t> apart</a:t>
            </a:r>
            <a:endParaRPr lang="en-US" sz="1700" dirty="0"/>
          </a:p>
          <a:p>
            <a:pPr marL="342900" indent="-342900">
              <a:spcAft>
                <a:spcPts val="800"/>
              </a:spcAft>
              <a:buSzPct val="100000"/>
              <a:buChar char="•"/>
            </a:pPr>
            <a:r>
              <a:rPr lang="en-US" sz="1700" dirty="0">
                <a:solidFill>
                  <a:srgbClr val="2B1D19"/>
                </a:solidFill>
              </a:rPr>
              <a:t>​</a:t>
            </a:r>
            <a:r>
              <a:rPr lang="en-US" sz="1700" dirty="0">
                <a:solidFill>
                  <a:srgbClr val="2B1D19"/>
                </a:solidFill>
              </a:rPr>
              <a:t>most games are cheap, but a few cost $60 or $70</a:t>
            </a:r>
            <a:endParaRPr lang="en-US" sz="1700" dirty="0"/>
          </a:p>
          <a:p>
            <a:pPr marL="342900" indent="-342900">
              <a:spcAft>
                <a:spcPts val="800"/>
              </a:spcAft>
              <a:buSzPct val="100000"/>
              <a:buChar char="•"/>
            </a:pPr>
            <a:r>
              <a:rPr lang="en-US" sz="1700" dirty="0">
                <a:solidFill>
                  <a:srgbClr val="2B1D19"/>
                </a:solidFill>
              </a:rPr>
              <a:t>​</a:t>
            </a:r>
            <a:r>
              <a:rPr lang="en-US" sz="1700" dirty="0">
                <a:solidFill>
                  <a:srgbClr val="2B1D19"/>
                </a:solidFill>
              </a:rPr>
              <a:t>those few pull the mean up, and most of them aren't Indie games</a:t>
            </a:r>
            <a:endParaRPr lang="en-US" sz="1700" dirty="0"/>
          </a:p>
        </p:txBody>
      </p:sp>
      <p:sp>
        <p:nvSpPr>
          <p:cNvPr id="25" name="Slide Number Placeholder 0"/>
          <p:cNvSpPr>
            <a:spLocks noGrp="1"/>
          </p:cNvSpPr>
          <p:nvPr>
            <p:ph type="sldNum" sz="quarter" idx="4294967295"/>
          </p:nvPr>
        </p:nvSpPr>
        <p:spPr>
          <a:xfrm>
            <a:off x="365760" y="470916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6B6B"/>
                </a:solidFill>
              </a:defRPr>
            </a:lvl1pPr>
          </a:lstStyle>
          <a:p>
            <a:pPr algn="l"/>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itle"/>
          <p:cNvSpPr txBox="1"/>
          <p:nvPr/>
        </p:nvSpPr>
        <p:spPr>
          <a:xfrm>
            <a:off x="457200" y="274320"/>
            <a:ext cx="8229600" cy="640080"/>
          </a:xfrm>
          <a:prstGeom prst="rect">
            <a:avLst/>
          </a:prstGeom>
          <a:noFill/>
          <a:ln/>
        </p:spPr>
        <p:txBody>
          <a:bodyPr wrap="square" lIns="0" tIns="0" rIns="0" bIns="0" rtlCol="0" anchor="ctr">
            <a:normAutofit/>
          </a:bodyPr>
          <a:lstStyle/>
          <a:p>
            <a:pPr indent="0" marL="0">
              <a:buNone/>
            </a:pPr>
            <a:r>
              <a:rPr lang="en-US" sz="2800" b="1" dirty="0">
                <a:solidFill>
                  <a:srgbClr val="4E342E"/>
                </a:solidFill>
              </a:rPr>
              <a:t>When data is skewed, they tell different stories</a:t>
            </a:r>
            <a:endParaRPr lang="en-US" sz="2800" dirty="0"/>
          </a:p>
        </p:txBody>
      </p:sp>
      <p:sp>
        <p:nvSpPr>
          <p:cNvPr id="3" name="Shape 1"/>
          <p:cNvSpPr/>
          <p:nvPr/>
        </p:nvSpPr>
        <p:spPr>
          <a:xfrm>
            <a:off x="457200" y="1051560"/>
            <a:ext cx="3977640" cy="3429000"/>
          </a:xfrm>
          <a:prstGeom prst="roundRect">
            <a:avLst>
              <a:gd name="adj" fmla="val 2133"/>
            </a:avLst>
          </a:prstGeom>
          <a:solidFill>
            <a:srgbClr val="FBF7F2"/>
          </a:solidFill>
          <a:ln w="12700">
            <a:solidFill>
              <a:srgbClr val="E5DBD2"/>
            </a:solidFill>
            <a:prstDash val="solid"/>
          </a:ln>
        </p:spPr>
      </p:sp>
      <p:sp>
        <p:nvSpPr>
          <p:cNvPr id="4" name="Text 2"/>
          <p:cNvSpPr txBox="1"/>
          <p:nvPr/>
        </p:nvSpPr>
        <p:spPr>
          <a:xfrm>
            <a:off x="640080" y="1188720"/>
            <a:ext cx="3611880" cy="411480"/>
          </a:xfrm>
          <a:prstGeom prst="rect">
            <a:avLst/>
          </a:prstGeom>
          <a:noFill/>
          <a:ln/>
        </p:spPr>
        <p:txBody>
          <a:bodyPr wrap="square" lIns="0" tIns="0" rIns="0" bIns="0" rtlCol="0" anchor="ctr">
            <a:normAutofit/>
          </a:bodyPr>
          <a:lstStyle/>
          <a:p>
            <a:pPr indent="0" marL="0">
              <a:buNone/>
            </a:pPr>
            <a:r>
              <a:rPr lang="en-US" sz="1800" b="1" dirty="0">
                <a:solidFill>
                  <a:srgbClr val="4E342E"/>
                </a:solidFill>
              </a:rPr>
              <a:t>Median</a:t>
            </a:r>
            <a:endParaRPr lang="en-US" sz="1800" dirty="0"/>
          </a:p>
        </p:txBody>
      </p:sp>
      <p:sp>
        <p:nvSpPr>
          <p:cNvPr id="5" name="Text 3"/>
          <p:cNvSpPr txBox="1"/>
          <p:nvPr/>
        </p:nvSpPr>
        <p:spPr>
          <a:xfrm>
            <a:off x="640080" y="1691640"/>
            <a:ext cx="3611880" cy="2651760"/>
          </a:xfrm>
          <a:prstGeom prst="rect">
            <a:avLst/>
          </a:prstGeom>
          <a:noFill/>
          <a:ln/>
        </p:spPr>
        <p:txBody>
          <a:bodyPr wrap="square" lIns="0" tIns="0" rIns="0" bIns="0" rtlCol="0" anchor="t">
            <a:normAutofit/>
          </a:bodyPr>
          <a:lstStyle/>
          <a:p>
            <a:pPr marL="342900" indent="-342900">
              <a:spcAft>
                <a:spcPts val="600"/>
              </a:spcAft>
              <a:buSzPct val="100000"/>
              <a:buChar char="•"/>
            </a:pPr>
            <a:r>
              <a:rPr lang="en-US" sz="1500" dirty="0">
                <a:solidFill>
                  <a:srgbClr val="2B1D19"/>
                </a:solidFill>
              </a:rPr>
              <a:t>​</a:t>
            </a:r>
            <a:r>
              <a:rPr lang="en-US" sz="1500" dirty="0">
                <a:solidFill>
                  <a:srgbClr val="2B1D19"/>
                </a:solidFill>
              </a:rPr>
              <a:t>describes a </a:t>
            </a:r>
            <a:r>
              <a:rPr lang="en-US" sz="1500" b="1" dirty="0">
                <a:solidFill>
                  <a:srgbClr val="2B1D19"/>
                </a:solidFill>
              </a:rPr>
              <a:t>typical</a:t>
            </a:r>
            <a:r>
              <a:rPr lang="en-US" sz="1500" dirty="0">
                <a:solidFill>
                  <a:srgbClr val="2B1D19"/>
                </a:solidFill>
              </a:rPr>
              <a:t> game</a:t>
            </a:r>
            <a:endParaRPr lang="en-US" sz="1500" dirty="0"/>
          </a:p>
          <a:p>
            <a:pPr marL="342900" indent="-342900">
              <a:spcAft>
                <a:spcPts val="600"/>
              </a:spcAft>
              <a:buSzPct val="100000"/>
              <a:buChar char="•"/>
            </a:pPr>
            <a:r>
              <a:rPr lang="en-US" sz="1500" dirty="0">
                <a:solidFill>
                  <a:srgbClr val="2B1D19"/>
                </a:solidFill>
              </a:rPr>
              <a:t>​</a:t>
            </a:r>
            <a:r>
              <a:rPr lang="en-US" sz="1500" dirty="0">
                <a:solidFill>
                  <a:srgbClr val="2B1D19"/>
                </a:solidFill>
              </a:rPr>
              <a:t>for prices, it gives the fairer picture of what a typical game costs</a:t>
            </a:r>
            <a:endParaRPr lang="en-US" sz="1500" dirty="0"/>
          </a:p>
        </p:txBody>
      </p:sp>
      <p:sp>
        <p:nvSpPr>
          <p:cNvPr id="6" name="Shape 4"/>
          <p:cNvSpPr/>
          <p:nvPr/>
        </p:nvSpPr>
        <p:spPr>
          <a:xfrm>
            <a:off x="4709160" y="1051560"/>
            <a:ext cx="3977640" cy="3429000"/>
          </a:xfrm>
          <a:prstGeom prst="roundRect">
            <a:avLst>
              <a:gd name="adj" fmla="val 2133"/>
            </a:avLst>
          </a:prstGeom>
          <a:solidFill>
            <a:srgbClr val="F3ECE6"/>
          </a:solidFill>
          <a:ln w="12700">
            <a:solidFill>
              <a:srgbClr val="E5DBD2"/>
            </a:solidFill>
            <a:prstDash val="solid"/>
          </a:ln>
        </p:spPr>
      </p:sp>
      <p:sp>
        <p:nvSpPr>
          <p:cNvPr id="7" name="Text 5"/>
          <p:cNvSpPr txBox="1"/>
          <p:nvPr/>
        </p:nvSpPr>
        <p:spPr>
          <a:xfrm>
            <a:off x="4892040" y="1188720"/>
            <a:ext cx="3611880" cy="411480"/>
          </a:xfrm>
          <a:prstGeom prst="rect">
            <a:avLst/>
          </a:prstGeom>
          <a:noFill/>
          <a:ln/>
        </p:spPr>
        <p:txBody>
          <a:bodyPr wrap="square" lIns="0" tIns="0" rIns="0" bIns="0" rtlCol="0" anchor="ctr">
            <a:normAutofit/>
          </a:bodyPr>
          <a:lstStyle/>
          <a:p>
            <a:pPr indent="0" marL="0">
              <a:buNone/>
            </a:pPr>
            <a:r>
              <a:rPr lang="en-US" sz="1800" b="1" dirty="0">
                <a:solidFill>
                  <a:srgbClr val="4E342E"/>
                </a:solidFill>
              </a:rPr>
              <a:t>Mean</a:t>
            </a:r>
            <a:endParaRPr lang="en-US" sz="1800" dirty="0"/>
          </a:p>
        </p:txBody>
      </p:sp>
      <p:sp>
        <p:nvSpPr>
          <p:cNvPr id="8" name="Text 6"/>
          <p:cNvSpPr txBox="1"/>
          <p:nvPr/>
        </p:nvSpPr>
        <p:spPr>
          <a:xfrm>
            <a:off x="4892040" y="1691640"/>
            <a:ext cx="3611880" cy="2651760"/>
          </a:xfrm>
          <a:prstGeom prst="rect">
            <a:avLst/>
          </a:prstGeom>
          <a:noFill/>
          <a:ln/>
        </p:spPr>
        <p:txBody>
          <a:bodyPr wrap="square" lIns="0" tIns="0" rIns="0" bIns="0" rtlCol="0" anchor="t">
            <a:normAutofit/>
          </a:bodyPr>
          <a:lstStyle/>
          <a:p>
            <a:pPr marL="342900" indent="-342900">
              <a:spcAft>
                <a:spcPts val="600"/>
              </a:spcAft>
              <a:buSzPct val="100000"/>
              <a:buChar char="•"/>
            </a:pPr>
            <a:r>
              <a:rPr lang="en-US" sz="1500" dirty="0">
                <a:solidFill>
                  <a:srgbClr val="2B1D19"/>
                </a:solidFill>
              </a:rPr>
              <a:t>​</a:t>
            </a:r>
            <a:r>
              <a:rPr lang="en-US" sz="1500" dirty="0">
                <a:solidFill>
                  <a:srgbClr val="2B1D19"/>
                </a:solidFill>
              </a:rPr>
              <a:t>is pulled towards the few </a:t>
            </a:r>
            <a:r>
              <a:rPr lang="en-US" sz="1500" b="1" dirty="0">
                <a:solidFill>
                  <a:srgbClr val="2B1D19"/>
                </a:solidFill>
              </a:rPr>
              <a:t>very large</a:t>
            </a:r>
            <a:r>
              <a:rPr lang="en-US" sz="1500" dirty="0">
                <a:solidFill>
                  <a:srgbClr val="2B1D19"/>
                </a:solidFill>
              </a:rPr>
              <a:t> values</a:t>
            </a:r>
            <a:endParaRPr lang="en-US" sz="1500" dirty="0"/>
          </a:p>
          <a:p>
            <a:pPr marL="342900" indent="-342900">
              <a:spcAft>
                <a:spcPts val="600"/>
              </a:spcAft>
              <a:buSzPct val="100000"/>
              <a:buChar char="•"/>
            </a:pPr>
            <a:r>
              <a:rPr lang="en-US" sz="1500" dirty="0">
                <a:solidFill>
                  <a:srgbClr val="2B1D19"/>
                </a:solidFill>
              </a:rPr>
              <a:t>​</a:t>
            </a:r>
            <a:r>
              <a:rPr lang="en-US" sz="1500" dirty="0">
                <a:solidFill>
                  <a:srgbClr val="2B1D19"/>
                </a:solidFill>
              </a:rPr>
              <a:t>here, a few $60 or $70 games</a:t>
            </a:r>
            <a:endParaRPr lang="en-US" sz="1500" dirty="0"/>
          </a:p>
        </p:txBody>
      </p:sp>
      <p:sp>
        <p:nvSpPr>
          <p:cNvPr id="25" name="Slide Number Placeholder 0"/>
          <p:cNvSpPr>
            <a:spLocks noGrp="1"/>
          </p:cNvSpPr>
          <p:nvPr>
            <p:ph type="sldNum" sz="quarter" idx="4294967295"/>
          </p:nvPr>
        </p:nvSpPr>
        <p:spPr>
          <a:xfrm>
            <a:off x="365760" y="470916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6B6B"/>
                </a:solidFill>
              </a:defRPr>
            </a:lvl1pPr>
          </a:lstStyle>
          <a:p>
            <a:pPr algn="l"/>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itle"/>
          <p:cNvSpPr txBox="1"/>
          <p:nvPr/>
        </p:nvSpPr>
        <p:spPr>
          <a:xfrm>
            <a:off x="457200" y="274320"/>
            <a:ext cx="8229600" cy="640080"/>
          </a:xfrm>
          <a:prstGeom prst="rect">
            <a:avLst/>
          </a:prstGeom>
          <a:noFill/>
          <a:ln/>
        </p:spPr>
        <p:txBody>
          <a:bodyPr wrap="square" lIns="0" tIns="0" rIns="0" bIns="0" rtlCol="0" anchor="ctr">
            <a:normAutofit/>
          </a:bodyPr>
          <a:lstStyle/>
          <a:p>
            <a:pPr indent="0" marL="0">
              <a:buNone/>
            </a:pPr>
            <a:r>
              <a:rPr lang="en-US" sz="2800" b="1" dirty="0">
                <a:solidFill>
                  <a:srgbClr val="4E342E"/>
                </a:solidFill>
              </a:rPr>
              <a:t>Other ways to summarise</a:t>
            </a:r>
            <a:endParaRPr lang="en-US" sz="2800" dirty="0"/>
          </a:p>
        </p:txBody>
      </p:sp>
      <p:sp>
        <p:nvSpPr>
          <p:cNvPr id="3" name="tip box"/>
          <p:cNvSpPr/>
          <p:nvPr/>
        </p:nvSpPr>
        <p:spPr>
          <a:xfrm>
            <a:off x="457200" y="1051560"/>
            <a:ext cx="8229600" cy="1910080"/>
          </a:xfrm>
          <a:prstGeom prst="roundRect">
            <a:avLst>
              <a:gd name="adj" fmla="val 3830"/>
            </a:avLst>
          </a:prstGeom>
          <a:solidFill>
            <a:srgbClr val="E3F1FB"/>
          </a:solidFill>
          <a:ln w="12700">
            <a:solidFill>
              <a:srgbClr val="E3F1FB"/>
            </a:solidFill>
            <a:prstDash val="solid"/>
          </a:ln>
        </p:spPr>
      </p:sp>
      <p:sp>
        <p:nvSpPr>
          <p:cNvPr id="4" name="Text 2"/>
          <p:cNvSpPr txBox="1"/>
          <p:nvPr/>
        </p:nvSpPr>
        <p:spPr>
          <a:xfrm>
            <a:off x="685800" y="1188720"/>
            <a:ext cx="7772400" cy="365760"/>
          </a:xfrm>
          <a:prstGeom prst="rect">
            <a:avLst/>
          </a:prstGeom>
          <a:noFill/>
          <a:ln/>
        </p:spPr>
        <p:txBody>
          <a:bodyPr wrap="square" lIns="0" tIns="0" rIns="0" bIns="0" rtlCol="0" anchor="ctr"/>
          <a:lstStyle/>
          <a:p>
            <a:pPr indent="0" marL="0">
              <a:buNone/>
            </a:pPr>
            <a:r>
              <a:rPr lang="en-US" sz="1600" b="1" dirty="0">
                <a:solidFill>
                  <a:srgbClr val="1D5F8A"/>
                </a:solidFill>
              </a:rPr>
              <a:t>Inside agg</a:t>
            </a:r>
            <a:endParaRPr lang="en-US" sz="1600" dirty="0"/>
          </a:p>
        </p:txBody>
      </p:sp>
      <p:sp>
        <p:nvSpPr>
          <p:cNvPr id="5" name="Text 3"/>
          <p:cNvSpPr txBox="1"/>
          <p:nvPr/>
        </p:nvSpPr>
        <p:spPr>
          <a:xfrm>
            <a:off x="685800" y="1600200"/>
            <a:ext cx="7772400" cy="1224280"/>
          </a:xfrm>
          <a:prstGeom prst="rect">
            <a:avLst/>
          </a:prstGeom>
          <a:noFill/>
          <a:ln/>
        </p:spPr>
        <p:txBody>
          <a:bodyPr wrap="square" lIns="0" tIns="0" rIns="0" bIns="0" rtlCol="0" anchor="t">
            <a:normAutofit/>
          </a:bodyPr>
          <a:lstStyle/>
          <a:p>
            <a:pPr indent="0" marL="0">
              <a:spcAft>
                <a:spcPts val="800"/>
              </a:spcAft>
              <a:buNone/>
            </a:pPr>
            <a:r>
              <a:rPr lang="en-US" sz="2000" dirty="0">
                <a:solidFill>
                  <a:srgbClr val="2B1D19"/>
                </a:solidFill>
              </a:rPr>
              <a:t>​</a:t>
            </a:r>
            <a:r>
              <a:rPr lang="en-US" sz="2000" dirty="0">
                <a:solidFill>
                  <a:srgbClr val="2B1D19"/>
                </a:solidFill>
              </a:rPr>
              <a:t>We can use </a:t>
            </a:r>
            <a:r>
              <a:rPr lang="en-US" sz="1800" b="1" dirty="0">
                <a:solidFill>
                  <a:srgbClr val="B86E1E"/>
                </a:solidFill>
                <a:latin typeface="Courier New" pitchFamily="34" charset="0"/>
                <a:ea typeface="Courier New" pitchFamily="34" charset="-122"/>
                <a:cs typeface="Courier New" pitchFamily="34" charset="-120"/>
              </a:rPr>
              <a:t>mean</a:t>
            </a:r>
            <a:r>
              <a:rPr lang="en-US" sz="2000" dirty="0">
                <a:solidFill>
                  <a:srgbClr val="2B1D19"/>
                </a:solidFill>
              </a:rPr>
              <a:t>, </a:t>
            </a:r>
            <a:r>
              <a:rPr lang="en-US" sz="1800" b="1" dirty="0">
                <a:solidFill>
                  <a:srgbClr val="B86E1E"/>
                </a:solidFill>
                <a:latin typeface="Courier New" pitchFamily="34" charset="0"/>
                <a:ea typeface="Courier New" pitchFamily="34" charset="-122"/>
                <a:cs typeface="Courier New" pitchFamily="34" charset="-120"/>
              </a:rPr>
              <a:t>median</a:t>
            </a:r>
            <a:r>
              <a:rPr lang="en-US" sz="2000" dirty="0">
                <a:solidFill>
                  <a:srgbClr val="2B1D19"/>
                </a:solidFill>
              </a:rPr>
              <a:t>, </a:t>
            </a:r>
            <a:r>
              <a:rPr lang="en-US" sz="1800" b="1" dirty="0">
                <a:solidFill>
                  <a:srgbClr val="B86E1E"/>
                </a:solidFill>
                <a:latin typeface="Courier New" pitchFamily="34" charset="0"/>
                <a:ea typeface="Courier New" pitchFamily="34" charset="-122"/>
                <a:cs typeface="Courier New" pitchFamily="34" charset="-120"/>
              </a:rPr>
              <a:t>min</a:t>
            </a:r>
            <a:r>
              <a:rPr lang="en-US" sz="2000" dirty="0">
                <a:solidFill>
                  <a:srgbClr val="2B1D19"/>
                </a:solidFill>
              </a:rPr>
              <a:t>, </a:t>
            </a:r>
            <a:r>
              <a:rPr lang="en-US" sz="1800" b="1" dirty="0">
                <a:solidFill>
                  <a:srgbClr val="B86E1E"/>
                </a:solidFill>
                <a:latin typeface="Courier New" pitchFamily="34" charset="0"/>
                <a:ea typeface="Courier New" pitchFamily="34" charset="-122"/>
                <a:cs typeface="Courier New" pitchFamily="34" charset="-120"/>
              </a:rPr>
              <a:t>max</a:t>
            </a:r>
            <a:r>
              <a:rPr lang="en-US" sz="2000" dirty="0">
                <a:solidFill>
                  <a:srgbClr val="2B1D19"/>
                </a:solidFill>
              </a:rPr>
              <a:t> and </a:t>
            </a:r>
            <a:r>
              <a:rPr lang="en-US" sz="1800" b="1" dirty="0">
                <a:solidFill>
                  <a:srgbClr val="B86E1E"/>
                </a:solidFill>
                <a:latin typeface="Courier New" pitchFamily="34" charset="0"/>
                <a:ea typeface="Courier New" pitchFamily="34" charset="-122"/>
                <a:cs typeface="Courier New" pitchFamily="34" charset="-120"/>
              </a:rPr>
              <a:t>sum</a:t>
            </a:r>
            <a:r>
              <a:rPr lang="en-US" sz="2000" dirty="0">
                <a:solidFill>
                  <a:srgbClr val="2B1D19"/>
                </a:solidFill>
              </a:rPr>
              <a:t> on any column, and </a:t>
            </a:r>
            <a:r>
              <a:rPr lang="en-US" sz="1800" b="1" dirty="0">
                <a:solidFill>
                  <a:srgbClr val="B86E1E"/>
                </a:solidFill>
                <a:latin typeface="Courier New" pitchFamily="34" charset="0"/>
                <a:ea typeface="Courier New" pitchFamily="34" charset="-122"/>
                <a:cs typeface="Courier New" pitchFamily="34" charset="-120"/>
              </a:rPr>
              <a:t>pl.len()</a:t>
            </a:r>
            <a:r>
              <a:rPr lang="en-US" sz="2000" dirty="0">
                <a:solidFill>
                  <a:srgbClr val="2B1D19"/>
                </a:solidFill>
              </a:rPr>
              <a:t> to count rows. We can use as many as we like, each with its own </a:t>
            </a:r>
            <a:r>
              <a:rPr lang="en-US" sz="1800" b="1" dirty="0">
                <a:solidFill>
                  <a:srgbClr val="B86E1E"/>
                </a:solidFill>
                <a:latin typeface="Courier New" pitchFamily="34" charset="0"/>
                <a:ea typeface="Courier New" pitchFamily="34" charset="-122"/>
                <a:cs typeface="Courier New" pitchFamily="34" charset="-120"/>
              </a:rPr>
              <a:t>alias</a:t>
            </a:r>
            <a:r>
              <a:rPr lang="en-US" sz="2000" dirty="0">
                <a:solidFill>
                  <a:srgbClr val="2B1D19"/>
                </a:solidFill>
              </a:rPr>
              <a:t>.</a:t>
            </a:r>
            <a:endParaRPr lang="en-US" sz="2000" dirty="0"/>
          </a:p>
        </p:txBody>
      </p:sp>
      <p:sp>
        <p:nvSpPr>
          <p:cNvPr id="25" name="Slide Number Placeholder 0"/>
          <p:cNvSpPr>
            <a:spLocks noGrp="1"/>
          </p:cNvSpPr>
          <p:nvPr>
            <p:ph type="sldNum" sz="quarter" idx="4294967295"/>
          </p:nvPr>
        </p:nvSpPr>
        <p:spPr>
          <a:xfrm>
            <a:off x="365760" y="470916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6B6B"/>
                </a:solidFill>
              </a:defRPr>
            </a:lvl1pPr>
          </a:lstStyle>
          <a:p>
            <a:pPr algn="l"/>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txBox="1"/>
          <p:nvPr/>
        </p:nvSpPr>
        <p:spPr>
          <a:xfrm>
            <a:off x="457200" y="1554480"/>
            <a:ext cx="7498080" cy="914400"/>
          </a:xfrm>
          <a:prstGeom prst="rect">
            <a:avLst/>
          </a:prstGeom>
          <a:noFill/>
          <a:ln/>
        </p:spPr>
        <p:txBody>
          <a:bodyPr wrap="square" lIns="0" tIns="0" rIns="0" bIns="0" rtlCol="0" anchor="ctr">
            <a:normAutofit/>
          </a:bodyPr>
          <a:lstStyle/>
          <a:p>
            <a:pPr indent="0" marL="0">
              <a:buNone/>
            </a:pPr>
            <a:r>
              <a:rPr lang="en-US" sz="3600" b="1" dirty="0">
                <a:solidFill>
                  <a:srgbClr val="FFFFFF"/>
                </a:solidFill>
              </a:rPr>
              <a:t>Games per year</a:t>
            </a:r>
            <a:endParaRPr lang="en-US" sz="3600" dirty="0"/>
          </a:p>
        </p:txBody>
      </p:sp>
      <p:sp>
        <p:nvSpPr>
          <p:cNvPr id="3" name="Text 1"/>
          <p:cNvSpPr txBox="1"/>
          <p:nvPr/>
        </p:nvSpPr>
        <p:spPr>
          <a:xfrm>
            <a:off x="457200" y="2514600"/>
            <a:ext cx="7132320" cy="1097280"/>
          </a:xfrm>
          <a:prstGeom prst="rect">
            <a:avLst/>
          </a:prstGeom>
          <a:noFill/>
          <a:ln/>
        </p:spPr>
        <p:txBody>
          <a:bodyPr wrap="square" lIns="0" tIns="0" rIns="0" bIns="0" rtlCol="0" anchor="t"/>
          <a:lstStyle/>
          <a:p>
            <a:pPr indent="0" marL="0">
              <a:spcAft>
                <a:spcPts val="800"/>
              </a:spcAft>
              <a:buNone/>
            </a:pPr>
            <a:r>
              <a:rPr lang="en-US" sz="1800" dirty="0">
                <a:solidFill>
                  <a:srgbClr val="F7EFE6"/>
                </a:solidFill>
              </a:rPr>
              <a:t>​</a:t>
            </a:r>
            <a:r>
              <a:rPr lang="en-US" sz="1800" dirty="0">
                <a:solidFill>
                  <a:srgbClr val="F7EFE6"/>
                </a:solidFill>
              </a:rPr>
              <a:t>We can group by any column. Before we compare years, we need to know how many games each year has.</a:t>
            </a:r>
            <a:endParaRPr lang="en-US" sz="1800" dirty="0"/>
          </a:p>
        </p:txBody>
      </p:sp>
      <p:sp>
        <p:nvSpPr>
          <p:cNvPr id="25" name="Slide Number Placeholder 0"/>
          <p:cNvSpPr>
            <a:spLocks noGrp="1"/>
          </p:cNvSpPr>
          <p:nvPr>
            <p:ph type="sldNum" sz="quarter" idx="4294967295"/>
          </p:nvPr>
        </p:nvSpPr>
        <p:spPr>
          <a:xfrm>
            <a:off x="365760" y="470916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F7EFE6"/>
                </a:solidFill>
              </a:defRPr>
            </a:lvl1pPr>
          </a:lstStyle>
          <a:p>
            <a:pPr algn="l"/>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itle"/>
          <p:cNvSpPr txBox="1"/>
          <p:nvPr/>
        </p:nvSpPr>
        <p:spPr>
          <a:xfrm>
            <a:off x="457200" y="274320"/>
            <a:ext cx="8229600" cy="640080"/>
          </a:xfrm>
          <a:prstGeom prst="rect">
            <a:avLst/>
          </a:prstGeom>
          <a:noFill/>
          <a:ln/>
        </p:spPr>
        <p:txBody>
          <a:bodyPr wrap="square" lIns="0" tIns="0" rIns="0" bIns="0" rtlCol="0" anchor="ctr">
            <a:normAutofit/>
          </a:bodyPr>
          <a:lstStyle/>
          <a:p>
            <a:pPr indent="0" marL="0">
              <a:buNone/>
            </a:pPr>
            <a:r>
              <a:rPr lang="en-US" sz="2800" b="1" dirty="0">
                <a:solidFill>
                  <a:srgbClr val="4E342E"/>
                </a:solidFill>
              </a:rPr>
              <a:t>Count and score the games in each year</a:t>
            </a:r>
            <a:endParaRPr lang="en-US" sz="2800" dirty="0"/>
          </a:p>
        </p:txBody>
      </p:sp>
      <p:sp>
        <p:nvSpPr>
          <p:cNvPr id="3" name="Code panel"/>
          <p:cNvSpPr/>
          <p:nvPr/>
        </p:nvSpPr>
        <p:spPr>
          <a:xfrm>
            <a:off x="457200" y="1051560"/>
            <a:ext cx="8229600" cy="2691765"/>
          </a:xfrm>
          <a:prstGeom prst="roundRect">
            <a:avLst>
              <a:gd name="adj" fmla="val 2038"/>
            </a:avLst>
          </a:prstGeom>
          <a:solidFill>
            <a:srgbClr val="2B1D19"/>
          </a:solidFill>
          <a:ln w="12700">
            <a:solidFill>
              <a:srgbClr val="2B1D19"/>
            </a:solidFill>
            <a:prstDash val="solid"/>
          </a:ln>
        </p:spPr>
      </p:sp>
      <p:sp>
        <p:nvSpPr>
          <p:cNvPr id="4" name="Text 2"/>
          <p:cNvSpPr txBox="1"/>
          <p:nvPr/>
        </p:nvSpPr>
        <p:spPr>
          <a:xfrm>
            <a:off x="640080" y="1161288"/>
            <a:ext cx="7863840" cy="274320"/>
          </a:xfrm>
          <a:prstGeom prst="rect">
            <a:avLst/>
          </a:prstGeom>
          <a:noFill/>
          <a:ln/>
        </p:spPr>
        <p:txBody>
          <a:bodyPr wrap="square" lIns="0" tIns="0" rIns="0" bIns="0" rtlCol="0" anchor="ctr"/>
          <a:lstStyle/>
          <a:p>
            <a:pPr indent="0" marL="0">
              <a:buNone/>
            </a:pPr>
            <a:r>
              <a:rPr lang="en-US" sz="1200" b="1" dirty="0">
                <a:solidFill>
                  <a:srgbClr val="E8A55A"/>
                </a:solidFill>
              </a:rPr>
              <a:t>steam_story.py — new cell</a:t>
            </a:r>
            <a:endParaRPr lang="en-US" sz="1200" dirty="0"/>
          </a:p>
        </p:txBody>
      </p:sp>
      <p:sp>
        <p:nvSpPr>
          <p:cNvPr id="5" name="Code"/>
          <p:cNvSpPr txBox="1"/>
          <p:nvPr/>
        </p:nvSpPr>
        <p:spPr>
          <a:xfrm>
            <a:off x="594360" y="1508760"/>
            <a:ext cx="7955280" cy="2045970"/>
          </a:xfrm>
          <a:prstGeom prst="rect">
            <a:avLst/>
          </a:prstGeom>
          <a:noFill/>
          <a:ln/>
        </p:spPr>
        <p:txBody>
          <a:bodyPr wrap="square" lIns="0" tIns="0" rIns="0" bIns="0" rtlCol="0" anchor="t"/>
          <a:lstStyle/>
          <a:p>
            <a:pPr indent="0" marL="0">
              <a:lnSpc>
                <a:spcPts val="1750"/>
              </a:lnSpc>
              <a:buNone/>
            </a:pPr>
            <a:r>
              <a:rPr lang="en-US" sz="1400" dirty="0">
                <a:solidFill>
                  <a:srgbClr val="9C8A80"/>
                </a:solidFill>
                <a:latin typeface="Courier New" pitchFamily="34" charset="0"/>
                <a:ea typeface="Courier New" pitchFamily="34" charset="-122"/>
                <a:cs typeface="Courier New" pitchFamily="34" charset="-120"/>
              </a:rPr>
              <a:t> 1  </a:t>
            </a:r>
            <a:r>
              <a:rPr lang="en-US" sz="1400" dirty="0">
                <a:solidFill>
                  <a:srgbClr val="F7EFE6"/>
                </a:solidFill>
                <a:latin typeface="Courier New" pitchFamily="34" charset="0"/>
                <a:ea typeface="Courier New" pitchFamily="34" charset="-122"/>
                <a:cs typeface="Courier New" pitchFamily="34" charset="-120"/>
              </a:rPr>
              <a:t>per_year = (</a:t>
            </a:r>
            <a:endParaRPr lang="en-US" sz="1400" dirty="0"/>
          </a:p>
          <a:p>
            <a:pPr indent="0" marL="0">
              <a:lnSpc>
                <a:spcPts val="1750"/>
              </a:lnSpc>
              <a:buNone/>
            </a:pPr>
            <a:r>
              <a:rPr lang="en-US" sz="1400" dirty="0">
                <a:solidFill>
                  <a:srgbClr val="9C8A80"/>
                </a:solidFill>
                <a:latin typeface="Courier New" pitchFamily="34" charset="0"/>
                <a:ea typeface="Courier New" pitchFamily="34" charset="-122"/>
                <a:cs typeface="Courier New" pitchFamily="34" charset="-120"/>
              </a:rPr>
              <a:t> 2  </a:t>
            </a:r>
            <a:r>
              <a:rPr lang="en-US" sz="1400" dirty="0">
                <a:solidFill>
                  <a:srgbClr val="F7EFE6"/>
                </a:solidFill>
                <a:latin typeface="Courier New" pitchFamily="34" charset="0"/>
                <a:ea typeface="Courier New" pitchFamily="34" charset="-122"/>
                <a:cs typeface="Courier New" pitchFamily="34" charset="-120"/>
              </a:rPr>
              <a:t>    scored.group_by("Release year")</a:t>
            </a:r>
            <a:endParaRPr lang="en-US" sz="1400" dirty="0"/>
          </a:p>
          <a:p>
            <a:pPr indent="0" marL="0">
              <a:lnSpc>
                <a:spcPts val="1750"/>
              </a:lnSpc>
              <a:buNone/>
            </a:pPr>
            <a:r>
              <a:rPr lang="en-US" sz="1400" dirty="0">
                <a:solidFill>
                  <a:srgbClr val="9C8A80"/>
                </a:solidFill>
                <a:latin typeface="Courier New" pitchFamily="34" charset="0"/>
                <a:ea typeface="Courier New" pitchFamily="34" charset="-122"/>
                <a:cs typeface="Courier New" pitchFamily="34" charset="-120"/>
              </a:rPr>
              <a:t> 3  </a:t>
            </a:r>
            <a:r>
              <a:rPr lang="en-US" sz="1400" dirty="0">
                <a:solidFill>
                  <a:srgbClr val="F7EFE6"/>
                </a:solidFill>
                <a:latin typeface="Courier New" pitchFamily="34" charset="0"/>
                <a:ea typeface="Courier New" pitchFamily="34" charset="-122"/>
                <a:cs typeface="Courier New" pitchFamily="34" charset="-120"/>
              </a:rPr>
              <a:t>    .agg(</a:t>
            </a:r>
            <a:endParaRPr lang="en-US" sz="1400" dirty="0"/>
          </a:p>
          <a:p>
            <a:pPr indent="0" marL="0">
              <a:lnSpc>
                <a:spcPts val="1750"/>
              </a:lnSpc>
              <a:buNone/>
            </a:pPr>
            <a:r>
              <a:rPr lang="en-US" sz="1400" dirty="0">
                <a:solidFill>
                  <a:srgbClr val="9C8A80"/>
                </a:solidFill>
                <a:latin typeface="Courier New" pitchFamily="34" charset="0"/>
                <a:ea typeface="Courier New" pitchFamily="34" charset="-122"/>
                <a:cs typeface="Courier New" pitchFamily="34" charset="-120"/>
              </a:rPr>
              <a:t> 4  </a:t>
            </a:r>
            <a:r>
              <a:rPr lang="en-US" sz="1400" dirty="0">
                <a:solidFill>
                  <a:srgbClr val="F7EFE6"/>
                </a:solidFill>
                <a:latin typeface="Courier New" pitchFamily="34" charset="0"/>
                <a:ea typeface="Courier New" pitchFamily="34" charset="-122"/>
                <a:cs typeface="Courier New" pitchFamily="34" charset="-120"/>
              </a:rPr>
              <a:t>        pl.len().alias("Games"),</a:t>
            </a:r>
            <a:endParaRPr lang="en-US" sz="1400" dirty="0"/>
          </a:p>
          <a:p>
            <a:pPr indent="0" marL="0">
              <a:lnSpc>
                <a:spcPts val="1750"/>
              </a:lnSpc>
              <a:buNone/>
            </a:pPr>
            <a:r>
              <a:rPr lang="en-US" sz="1400" dirty="0">
                <a:solidFill>
                  <a:srgbClr val="9C8A80"/>
                </a:solidFill>
                <a:latin typeface="Courier New" pitchFamily="34" charset="0"/>
                <a:ea typeface="Courier New" pitchFamily="34" charset="-122"/>
                <a:cs typeface="Courier New" pitchFamily="34" charset="-120"/>
              </a:rPr>
              <a:t> 5  </a:t>
            </a:r>
            <a:r>
              <a:rPr lang="en-US" sz="1400" dirty="0">
                <a:solidFill>
                  <a:srgbClr val="F7EFE6"/>
                </a:solidFill>
                <a:latin typeface="Courier New" pitchFamily="34" charset="0"/>
                <a:ea typeface="Courier New" pitchFamily="34" charset="-122"/>
                <a:cs typeface="Courier New" pitchFamily="34" charset="-120"/>
              </a:rPr>
              <a:t>        pl.col("Review score").median().alias("Median review score"),</a:t>
            </a:r>
            <a:endParaRPr lang="en-US" sz="1400" dirty="0"/>
          </a:p>
          <a:p>
            <a:pPr indent="0" marL="0">
              <a:lnSpc>
                <a:spcPts val="1750"/>
              </a:lnSpc>
              <a:buNone/>
            </a:pPr>
            <a:r>
              <a:rPr lang="en-US" sz="1400" dirty="0">
                <a:solidFill>
                  <a:srgbClr val="9C8A80"/>
                </a:solidFill>
                <a:latin typeface="Courier New" pitchFamily="34" charset="0"/>
                <a:ea typeface="Courier New" pitchFamily="34" charset="-122"/>
                <a:cs typeface="Courier New" pitchFamily="34" charset="-120"/>
              </a:rPr>
              <a:t> 6  </a:t>
            </a:r>
            <a:r>
              <a:rPr lang="en-US" sz="1400" dirty="0">
                <a:solidFill>
                  <a:srgbClr val="F7EFE6"/>
                </a:solidFill>
                <a:latin typeface="Courier New" pitchFamily="34" charset="0"/>
                <a:ea typeface="Courier New" pitchFamily="34" charset="-122"/>
                <a:cs typeface="Courier New" pitchFamily="34" charset="-120"/>
              </a:rPr>
              <a:t>    )</a:t>
            </a:r>
            <a:endParaRPr lang="en-US" sz="1400" dirty="0"/>
          </a:p>
          <a:p>
            <a:pPr indent="0" marL="0">
              <a:lnSpc>
                <a:spcPts val="1750"/>
              </a:lnSpc>
              <a:buNone/>
            </a:pPr>
            <a:r>
              <a:rPr lang="en-US" sz="1400" dirty="0">
                <a:solidFill>
                  <a:srgbClr val="9C8A80"/>
                </a:solidFill>
                <a:latin typeface="Courier New" pitchFamily="34" charset="0"/>
                <a:ea typeface="Courier New" pitchFamily="34" charset="-122"/>
                <a:cs typeface="Courier New" pitchFamily="34" charset="-120"/>
              </a:rPr>
              <a:t> 7  </a:t>
            </a:r>
            <a:r>
              <a:rPr lang="en-US" sz="1400" dirty="0">
                <a:solidFill>
                  <a:srgbClr val="F7EFE6"/>
                </a:solidFill>
                <a:latin typeface="Courier New" pitchFamily="34" charset="0"/>
                <a:ea typeface="Courier New" pitchFamily="34" charset="-122"/>
                <a:cs typeface="Courier New" pitchFamily="34" charset="-120"/>
              </a:rPr>
              <a:t>    .sort("Release year")</a:t>
            </a:r>
            <a:endParaRPr lang="en-US" sz="1400" dirty="0"/>
          </a:p>
          <a:p>
            <a:pPr indent="0" marL="0">
              <a:lnSpc>
                <a:spcPts val="1750"/>
              </a:lnSpc>
              <a:buNone/>
            </a:pPr>
            <a:r>
              <a:rPr lang="en-US" sz="1400" dirty="0">
                <a:solidFill>
                  <a:srgbClr val="9C8A80"/>
                </a:solidFill>
                <a:latin typeface="Courier New" pitchFamily="34" charset="0"/>
                <a:ea typeface="Courier New" pitchFamily="34" charset="-122"/>
                <a:cs typeface="Courier New" pitchFamily="34" charset="-120"/>
              </a:rPr>
              <a:t> 8  </a:t>
            </a:r>
            <a:r>
              <a:rPr lang="en-US" sz="1400" dirty="0">
                <a:solidFill>
                  <a:srgbClr val="F7EFE6"/>
                </a:solidFill>
                <a:latin typeface="Courier New" pitchFamily="34" charset="0"/>
                <a:ea typeface="Courier New" pitchFamily="34" charset="-122"/>
                <a:cs typeface="Courier New" pitchFamily="34" charset="-120"/>
              </a:rPr>
              <a:t>)</a:t>
            </a:r>
            <a:endParaRPr lang="en-US" sz="1400" dirty="0"/>
          </a:p>
          <a:p>
            <a:pPr indent="0" marL="0">
              <a:lnSpc>
                <a:spcPts val="1750"/>
              </a:lnSpc>
              <a:buNone/>
            </a:pPr>
            <a:r>
              <a:rPr lang="en-US" sz="1400" dirty="0">
                <a:solidFill>
                  <a:srgbClr val="9C8A80"/>
                </a:solidFill>
                <a:latin typeface="Courier New" pitchFamily="34" charset="0"/>
                <a:ea typeface="Courier New" pitchFamily="34" charset="-122"/>
                <a:cs typeface="Courier New" pitchFamily="34" charset="-120"/>
              </a:rPr>
              <a:t> 9  </a:t>
            </a:r>
            <a:r>
              <a:rPr lang="en-US" sz="1400" dirty="0">
                <a:solidFill>
                  <a:srgbClr val="F7EFE6"/>
                </a:solidFill>
                <a:latin typeface="Courier New" pitchFamily="34" charset="0"/>
                <a:ea typeface="Courier New" pitchFamily="34" charset="-122"/>
                <a:cs typeface="Courier New" pitchFamily="34" charset="-120"/>
              </a:rPr>
              <a:t>per_year</a:t>
            </a:r>
            <a:endParaRPr lang="en-US" sz="1400" dirty="0"/>
          </a:p>
        </p:txBody>
      </p:sp>
      <p:sp>
        <p:nvSpPr>
          <p:cNvPr id="6" name="Text 4"/>
          <p:cNvSpPr txBox="1"/>
          <p:nvPr/>
        </p:nvSpPr>
        <p:spPr>
          <a:xfrm>
            <a:off x="457200" y="3834765"/>
            <a:ext cx="8229600" cy="441960"/>
          </a:xfrm>
          <a:prstGeom prst="rect">
            <a:avLst/>
          </a:prstGeom>
          <a:noFill/>
          <a:ln/>
        </p:spPr>
        <p:txBody>
          <a:bodyPr wrap="square" lIns="0" tIns="0" rIns="0" bIns="0" rtlCol="0" anchor="t">
            <a:normAutofit/>
          </a:bodyPr>
          <a:lstStyle/>
          <a:p>
            <a:pPr indent="0" marL="0">
              <a:spcAft>
                <a:spcPts val="600"/>
              </a:spcAft>
              <a:buNone/>
            </a:pPr>
            <a:r>
              <a:rPr lang="en-US" sz="1500" dirty="0">
                <a:solidFill>
                  <a:srgbClr val="2B1D19"/>
                </a:solidFill>
              </a:rPr>
              <a:t>​</a:t>
            </a:r>
            <a:r>
              <a:rPr lang="en-US" sz="1500" b="1" dirty="0">
                <a:solidFill>
                  <a:srgbClr val="2B1D19"/>
                </a:solidFill>
              </a:rPr>
              <a:t>Why:</a:t>
            </a:r>
            <a:r>
              <a:rPr lang="en-US" sz="1500" dirty="0">
                <a:solidFill>
                  <a:srgbClr val="2B1D19"/>
                </a:solidFill>
              </a:rPr>
              <a:t> A year with only a few games can't tell us much, so we count them first.</a:t>
            </a:r>
            <a:endParaRPr lang="en-US" sz="1500" dirty="0"/>
          </a:p>
        </p:txBody>
      </p:sp>
      <p:sp>
        <p:nvSpPr>
          <p:cNvPr id="25" name="Slide Number Placeholder 0"/>
          <p:cNvSpPr>
            <a:spLocks noGrp="1"/>
          </p:cNvSpPr>
          <p:nvPr>
            <p:ph type="sldNum" sz="quarter" idx="4294967295"/>
          </p:nvPr>
        </p:nvSpPr>
        <p:spPr>
          <a:xfrm>
            <a:off x="365760" y="470916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6B6B"/>
                </a:solidFill>
              </a:defRPr>
            </a:lvl1pPr>
          </a:lstStyle>
          <a:p>
            <a:pPr algn="l"/>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itle"/>
          <p:cNvSpPr txBox="1"/>
          <p:nvPr/>
        </p:nvSpPr>
        <p:spPr>
          <a:xfrm>
            <a:off x="457200" y="274320"/>
            <a:ext cx="8229600" cy="640080"/>
          </a:xfrm>
          <a:prstGeom prst="rect">
            <a:avLst/>
          </a:prstGeom>
          <a:noFill/>
          <a:ln/>
        </p:spPr>
        <p:txBody>
          <a:bodyPr wrap="square" lIns="0" tIns="0" rIns="0" bIns="0" rtlCol="0" anchor="ctr">
            <a:normAutofit/>
          </a:bodyPr>
          <a:lstStyle/>
          <a:p>
            <a:pPr indent="0" marL="0">
              <a:buNone/>
            </a:pPr>
            <a:r>
              <a:rPr lang="en-US" sz="2800" b="1" dirty="0">
                <a:solidFill>
                  <a:srgbClr val="4E342E"/>
                </a:solidFill>
              </a:rPr>
              <a:t>Group by something else</a:t>
            </a:r>
            <a:endParaRPr lang="en-US" sz="2800" dirty="0"/>
          </a:p>
        </p:txBody>
      </p:sp>
      <p:sp>
        <p:nvSpPr>
          <p:cNvPr id="3" name="primm box"/>
          <p:cNvSpPr/>
          <p:nvPr/>
        </p:nvSpPr>
        <p:spPr>
          <a:xfrm>
            <a:off x="457200" y="1051560"/>
            <a:ext cx="8229600" cy="1732280"/>
          </a:xfrm>
          <a:prstGeom prst="roundRect">
            <a:avLst>
              <a:gd name="adj" fmla="val 4223"/>
            </a:avLst>
          </a:prstGeom>
          <a:solidFill>
            <a:srgbClr val="E6F2E6"/>
          </a:solidFill>
          <a:ln w="12700">
            <a:solidFill>
              <a:srgbClr val="E6F2E6"/>
            </a:solidFill>
            <a:prstDash val="solid"/>
          </a:ln>
        </p:spPr>
      </p:sp>
      <p:sp>
        <p:nvSpPr>
          <p:cNvPr id="4" name="Text 2"/>
          <p:cNvSpPr txBox="1"/>
          <p:nvPr/>
        </p:nvSpPr>
        <p:spPr>
          <a:xfrm>
            <a:off x="685800" y="1188720"/>
            <a:ext cx="7772400" cy="365760"/>
          </a:xfrm>
          <a:prstGeom prst="rect">
            <a:avLst/>
          </a:prstGeom>
          <a:noFill/>
          <a:ln/>
        </p:spPr>
        <p:txBody>
          <a:bodyPr wrap="square" lIns="0" tIns="0" rIns="0" bIns="0" rtlCol="0" anchor="ctr"/>
          <a:lstStyle/>
          <a:p>
            <a:pPr indent="0" marL="0">
              <a:buNone/>
            </a:pPr>
            <a:r>
              <a:rPr lang="en-US" sz="1600" b="1" dirty="0">
                <a:solidFill>
                  <a:srgbClr val="2E6B30"/>
                </a:solidFill>
              </a:rPr>
              <a:t>PRIMM</a:t>
            </a:r>
            <a:endParaRPr lang="en-US" sz="1600" dirty="0"/>
          </a:p>
        </p:txBody>
      </p:sp>
      <p:sp>
        <p:nvSpPr>
          <p:cNvPr id="5" name="Text 3"/>
          <p:cNvSpPr txBox="1"/>
          <p:nvPr/>
        </p:nvSpPr>
        <p:spPr>
          <a:xfrm>
            <a:off x="685800" y="1600200"/>
            <a:ext cx="7772400" cy="1046480"/>
          </a:xfrm>
          <a:prstGeom prst="rect">
            <a:avLst/>
          </a:prstGeom>
          <a:noFill/>
          <a:ln/>
        </p:spPr>
        <p:txBody>
          <a:bodyPr wrap="square" lIns="0" tIns="0" rIns="0" bIns="0" rtlCol="0" anchor="t">
            <a:normAutofit/>
          </a:bodyPr>
          <a:lstStyle/>
          <a:p>
            <a:pPr marL="342900" indent="-342900">
              <a:spcAft>
                <a:spcPts val="1000"/>
              </a:spcAft>
              <a:buSzPct val="100000"/>
              <a:buFont typeface="+mj-lt"/>
              <a:buAutoNum type="arabicPeriod" startAt="1"/>
            </a:pPr>
            <a:r>
              <a:rPr lang="en-US" sz="2000" dirty="0">
                <a:solidFill>
                  <a:srgbClr val="2B1D19"/>
                </a:solidFill>
              </a:rPr>
              <a:t>​</a:t>
            </a:r>
            <a:r>
              <a:rPr lang="en-US" sz="2000" dirty="0">
                <a:solidFill>
                  <a:srgbClr val="2B1D19"/>
                </a:solidFill>
              </a:rPr>
              <a:t>Change </a:t>
            </a:r>
            <a:r>
              <a:rPr lang="en-US" sz="1800" b="1" dirty="0">
                <a:solidFill>
                  <a:srgbClr val="B86E1E"/>
                </a:solidFill>
                <a:latin typeface="Courier New" pitchFamily="34" charset="0"/>
                <a:ea typeface="Courier New" pitchFamily="34" charset="-122"/>
                <a:cs typeface="Courier New" pitchFamily="34" charset="-120"/>
              </a:rPr>
              <a:t>"Release year"</a:t>
            </a:r>
            <a:r>
              <a:rPr lang="en-US" sz="2000" dirty="0">
                <a:solidFill>
                  <a:srgbClr val="2B1D19"/>
                </a:solidFill>
              </a:rPr>
              <a:t> on line 2 to </a:t>
            </a:r>
            <a:r>
              <a:rPr lang="en-US" sz="1800" b="1" dirty="0">
                <a:solidFill>
                  <a:srgbClr val="B86E1E"/>
                </a:solidFill>
                <a:latin typeface="Courier New" pitchFamily="34" charset="0"/>
                <a:ea typeface="Courier New" pitchFamily="34" charset="-122"/>
                <a:cs typeface="Courier New" pitchFamily="34" charset="-120"/>
              </a:rPr>
              <a:t>"Metacritic score"</a:t>
            </a:r>
            <a:r>
              <a:rPr lang="en-US" sz="2000" dirty="0">
                <a:solidFill>
                  <a:srgbClr val="2B1D19"/>
                </a:solidFill>
              </a:rPr>
              <a:t>.</a:t>
            </a:r>
            <a:endParaRPr lang="en-US" sz="2000" dirty="0"/>
          </a:p>
          <a:p>
            <a:pPr marL="342900" indent="-342900">
              <a:spcAft>
                <a:spcPts val="1000"/>
              </a:spcAft>
              <a:buSzPct val="100000"/>
              <a:buFont typeface="+mj-lt"/>
              <a:buAutoNum type="arabicPeriod" startAt="1"/>
            </a:pPr>
            <a:r>
              <a:rPr lang="en-US" sz="2000" dirty="0">
                <a:solidFill>
                  <a:srgbClr val="2B1D19"/>
                </a:solidFill>
              </a:rPr>
              <a:t>​</a:t>
            </a:r>
            <a:r>
              <a:rPr lang="en-US" sz="2000" dirty="0">
                <a:solidFill>
                  <a:srgbClr val="2B1D19"/>
                </a:solidFill>
              </a:rPr>
              <a:t>What does the new table tell us?</a:t>
            </a:r>
            <a:endParaRPr lang="en-US" sz="2000" dirty="0"/>
          </a:p>
        </p:txBody>
      </p:sp>
      <p:sp>
        <p:nvSpPr>
          <p:cNvPr id="25" name="Slide Number Placeholder 0"/>
          <p:cNvSpPr>
            <a:spLocks noGrp="1"/>
          </p:cNvSpPr>
          <p:nvPr>
            <p:ph type="sldNum" sz="quarter" idx="4294967295"/>
          </p:nvPr>
        </p:nvSpPr>
        <p:spPr>
          <a:xfrm>
            <a:off x="365760" y="470916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6B6B"/>
                </a:solidFill>
              </a:defRPr>
            </a:lvl1pPr>
          </a:lstStyle>
          <a:p>
            <a:pPr algn="l"/>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itle"/>
          <p:cNvSpPr txBox="1"/>
          <p:nvPr/>
        </p:nvSpPr>
        <p:spPr>
          <a:xfrm>
            <a:off x="457200" y="274320"/>
            <a:ext cx="8229600" cy="640080"/>
          </a:xfrm>
          <a:prstGeom prst="rect">
            <a:avLst/>
          </a:prstGeom>
          <a:noFill/>
          <a:ln/>
        </p:spPr>
        <p:txBody>
          <a:bodyPr wrap="square" lIns="0" tIns="0" rIns="0" bIns="0" rtlCol="0" anchor="ctr">
            <a:normAutofit/>
          </a:bodyPr>
          <a:lstStyle/>
          <a:p>
            <a:pPr indent="0" marL="0">
              <a:buNone/>
            </a:pPr>
            <a:r>
              <a:rPr lang="en-US" sz="2800" b="1" dirty="0">
                <a:solidFill>
                  <a:srgbClr val="4E342E"/>
                </a:solidFill>
              </a:rPr>
              <a:t>One row per year</a:t>
            </a:r>
            <a:endParaRPr lang="en-US" sz="2800" dirty="0"/>
          </a:p>
        </p:txBody>
      </p:sp>
      <p:pic>
        <p:nvPicPr>
          <p:cNvPr id="3" name="Image 0" descr="The per_year table in marimo with the Release year, Games and Median review score columns, showing the first page, 1997 to 2006, and 29 rows">    </p:cNvPr>
          <p:cNvPicPr>
            <a:picLocks noChangeAspect="1"/>
          </p:cNvPicPr>
          <p:nvPr/>
        </p:nvPicPr>
        <p:blipFill>
          <a:blip r:embed="rId1"/>
          <a:stretch>
            <a:fillRect/>
          </a:stretch>
        </p:blipFill>
        <p:spPr>
          <a:xfrm>
            <a:off x="457200" y="1051560"/>
            <a:ext cx="5577840" cy="3288564"/>
          </a:xfrm>
          <a:prstGeom prst="rect">
            <a:avLst/>
          </a:prstGeom>
        </p:spPr>
      </p:pic>
      <p:sp>
        <p:nvSpPr>
          <p:cNvPr id="4" name="Text 1"/>
          <p:cNvSpPr txBox="1"/>
          <p:nvPr/>
        </p:nvSpPr>
        <p:spPr>
          <a:xfrm>
            <a:off x="6309360" y="1097280"/>
            <a:ext cx="2377440" cy="338328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500" dirty="0">
                <a:solidFill>
                  <a:srgbClr val="2B1D19"/>
                </a:solidFill>
              </a:rPr>
              <a:t>​</a:t>
            </a:r>
            <a:r>
              <a:rPr lang="en-US" sz="1500" dirty="0">
                <a:solidFill>
                  <a:srgbClr val="2B1D19"/>
                </a:solidFill>
              </a:rPr>
              <a:t>29 rows, from 1997 to 2025</a:t>
            </a:r>
            <a:endParaRPr lang="en-US" sz="1500" dirty="0"/>
          </a:p>
          <a:p>
            <a:pPr marL="342900" indent="-342900">
              <a:spcAft>
                <a:spcPts val="800"/>
              </a:spcAft>
              <a:buSzPct val="100000"/>
              <a:buChar char="•"/>
            </a:pPr>
            <a:r>
              <a:rPr lang="en-US" sz="1500" dirty="0">
                <a:solidFill>
                  <a:srgbClr val="2B1D19"/>
                </a:solidFill>
              </a:rPr>
              <a:t>​</a:t>
            </a:r>
            <a:r>
              <a:rPr lang="en-US" sz="1500" dirty="0">
                <a:solidFill>
                  <a:srgbClr val="2B1D19"/>
                </a:solidFill>
              </a:rPr>
              <a:t>the busiest year is </a:t>
            </a:r>
            <a:r>
              <a:rPr lang="en-US" sz="1500" b="1" dirty="0">
                <a:solidFill>
                  <a:srgbClr val="2B1D19"/>
                </a:solidFill>
              </a:rPr>
              <a:t>2024</a:t>
            </a:r>
            <a:r>
              <a:rPr lang="en-US" sz="1500" dirty="0">
                <a:solidFill>
                  <a:srgbClr val="2B1D19"/>
                </a:solidFill>
              </a:rPr>
              <a:t>, with 929 games</a:t>
            </a:r>
            <a:endParaRPr lang="en-US" sz="1500" dirty="0"/>
          </a:p>
          <a:p>
            <a:pPr marL="342900" indent="-342900">
              <a:spcAft>
                <a:spcPts val="800"/>
              </a:spcAft>
              <a:buSzPct val="100000"/>
              <a:buChar char="•"/>
            </a:pPr>
            <a:r>
              <a:rPr lang="en-US" sz="1500" dirty="0">
                <a:solidFill>
                  <a:srgbClr val="2B1D19"/>
                </a:solidFill>
              </a:rPr>
              <a:t>​</a:t>
            </a:r>
            <a:r>
              <a:rPr lang="en-US" sz="1500" dirty="0">
                <a:solidFill>
                  <a:srgbClr val="2B1D19"/>
                </a:solidFill>
              </a:rPr>
              <a:t>2025 has only </a:t>
            </a:r>
            <a:r>
              <a:rPr lang="en-US" sz="1500" b="1" dirty="0">
                <a:solidFill>
                  <a:srgbClr val="2B1D19"/>
                </a:solidFill>
              </a:rPr>
              <a:t>424</a:t>
            </a:r>
            <a:r>
              <a:rPr lang="en-US" sz="1500" dirty="0">
                <a:solidFill>
                  <a:srgbClr val="2B1D19"/>
                </a:solidFill>
              </a:rPr>
              <a:t>, less than half of 2024</a:t>
            </a:r>
            <a:endParaRPr lang="en-US" sz="1500" dirty="0"/>
          </a:p>
          <a:p>
            <a:pPr marL="342900" indent="-342900">
              <a:spcAft>
                <a:spcPts val="800"/>
              </a:spcAft>
              <a:buSzPct val="100000"/>
              <a:buChar char="•"/>
            </a:pPr>
            <a:r>
              <a:rPr lang="en-US" sz="1500" dirty="0">
                <a:solidFill>
                  <a:srgbClr val="2B1D19"/>
                </a:solidFill>
              </a:rPr>
              <a:t>​</a:t>
            </a:r>
            <a:r>
              <a:rPr lang="en-US" sz="1500" dirty="0">
                <a:solidFill>
                  <a:srgbClr val="2B1D19"/>
                </a:solidFill>
              </a:rPr>
              <a:t>the years before 2006 have only a handful of games each</a:t>
            </a:r>
            <a:endParaRPr lang="en-US" sz="1500" dirty="0"/>
          </a:p>
        </p:txBody>
      </p:sp>
      <p:sp>
        <p:nvSpPr>
          <p:cNvPr id="25" name="Slide Number Placeholder 0"/>
          <p:cNvSpPr>
            <a:spLocks noGrp="1"/>
          </p:cNvSpPr>
          <p:nvPr>
            <p:ph type="sldNum" sz="quarter" idx="4294967295"/>
          </p:nvPr>
        </p:nvSpPr>
        <p:spPr>
          <a:xfrm>
            <a:off x="365760" y="470916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6B6B"/>
                </a:solidFill>
              </a:defRPr>
            </a:lvl1pPr>
          </a:lstStyle>
          <a:p>
            <a:pPr algn="l"/>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itle"/>
          <p:cNvSpPr txBox="1"/>
          <p:nvPr/>
        </p:nvSpPr>
        <p:spPr>
          <a:xfrm>
            <a:off x="457200" y="274320"/>
            <a:ext cx="8229600" cy="640080"/>
          </a:xfrm>
          <a:prstGeom prst="rect">
            <a:avLst/>
          </a:prstGeom>
          <a:noFill/>
          <a:ln/>
        </p:spPr>
        <p:txBody>
          <a:bodyPr wrap="square" lIns="0" tIns="0" rIns="0" bIns="0" rtlCol="0" anchor="ctr">
            <a:normAutofit/>
          </a:bodyPr>
          <a:lstStyle/>
          <a:p>
            <a:pPr indent="0" marL="0">
              <a:buNone/>
            </a:pPr>
            <a:r>
              <a:rPr lang="en-US" sz="2800" b="1" dirty="0">
                <a:solidFill>
                  <a:srgbClr val="4E342E"/>
                </a:solidFill>
              </a:rPr>
              <a:t>Watch out for small groups</a:t>
            </a:r>
            <a:endParaRPr lang="en-US" sz="2800" dirty="0"/>
          </a:p>
        </p:txBody>
      </p:sp>
      <p:sp>
        <p:nvSpPr>
          <p:cNvPr id="3" name="warning box"/>
          <p:cNvSpPr/>
          <p:nvPr/>
        </p:nvSpPr>
        <p:spPr>
          <a:xfrm>
            <a:off x="457200" y="1051560"/>
            <a:ext cx="8229600" cy="2214880"/>
          </a:xfrm>
          <a:prstGeom prst="roundRect">
            <a:avLst>
              <a:gd name="adj" fmla="val 3303"/>
            </a:avLst>
          </a:prstGeom>
          <a:solidFill>
            <a:srgbClr val="FDE4EF"/>
          </a:solidFill>
          <a:ln w="12700">
            <a:solidFill>
              <a:srgbClr val="FDE4EF"/>
            </a:solidFill>
            <a:prstDash val="solid"/>
          </a:ln>
        </p:spPr>
      </p:sp>
      <p:sp>
        <p:nvSpPr>
          <p:cNvPr id="4" name="Text 2"/>
          <p:cNvSpPr txBox="1"/>
          <p:nvPr/>
        </p:nvSpPr>
        <p:spPr>
          <a:xfrm>
            <a:off x="685800" y="1188720"/>
            <a:ext cx="7772400" cy="365760"/>
          </a:xfrm>
          <a:prstGeom prst="rect">
            <a:avLst/>
          </a:prstGeom>
          <a:noFill/>
          <a:ln/>
        </p:spPr>
        <p:txBody>
          <a:bodyPr wrap="square" lIns="0" tIns="0" rIns="0" bIns="0" rtlCol="0" anchor="ctr"/>
          <a:lstStyle/>
          <a:p>
            <a:pPr indent="0" marL="0">
              <a:buNone/>
            </a:pPr>
            <a:r>
              <a:rPr lang="en-US" sz="1600" b="1" dirty="0">
                <a:solidFill>
                  <a:srgbClr val="B0185E"/>
                </a:solidFill>
              </a:rPr>
              <a:t>Watch out</a:t>
            </a:r>
            <a:endParaRPr lang="en-US" sz="1600" dirty="0"/>
          </a:p>
        </p:txBody>
      </p:sp>
      <p:sp>
        <p:nvSpPr>
          <p:cNvPr id="5" name="Text 3"/>
          <p:cNvSpPr txBox="1"/>
          <p:nvPr/>
        </p:nvSpPr>
        <p:spPr>
          <a:xfrm>
            <a:off x="685800" y="1600200"/>
            <a:ext cx="7772400" cy="1529080"/>
          </a:xfrm>
          <a:prstGeom prst="rect">
            <a:avLst/>
          </a:prstGeom>
          <a:noFill/>
          <a:ln/>
        </p:spPr>
        <p:txBody>
          <a:bodyPr wrap="square" lIns="0" tIns="0" rIns="0" bIns="0" rtlCol="0" anchor="t">
            <a:normAutofit/>
          </a:bodyPr>
          <a:lstStyle/>
          <a:p>
            <a:pPr indent="0" marL="0">
              <a:spcAft>
                <a:spcPts val="800"/>
              </a:spcAft>
              <a:buNone/>
            </a:pPr>
            <a:r>
              <a:rPr lang="en-US" sz="2000" dirty="0">
                <a:solidFill>
                  <a:srgbClr val="2B1D19"/>
                </a:solidFill>
              </a:rPr>
              <a:t>​</a:t>
            </a:r>
            <a:r>
              <a:rPr lang="en-US" sz="2000" dirty="0">
                <a:solidFill>
                  <a:srgbClr val="2B1D19"/>
                </a:solidFill>
              </a:rPr>
              <a:t>1998 has a median review score of 96.5, but that's from just </a:t>
            </a:r>
            <a:r>
              <a:rPr lang="en-US" sz="2000" b="1" dirty="0">
                <a:solidFill>
                  <a:srgbClr val="2B1D19"/>
                </a:solidFill>
              </a:rPr>
              <a:t>1</a:t>
            </a:r>
            <a:r>
              <a:rPr lang="en-US" sz="2000" dirty="0">
                <a:solidFill>
                  <a:srgbClr val="2B1D19"/>
                </a:solidFill>
              </a:rPr>
              <a:t> game. A summary of one or two games isn't evidence of anything. When we compare groups, we check the </a:t>
            </a:r>
            <a:r>
              <a:rPr lang="en-US" sz="1800" b="1" dirty="0">
                <a:solidFill>
                  <a:srgbClr val="B86E1E"/>
                </a:solidFill>
                <a:latin typeface="Courier New" pitchFamily="34" charset="0"/>
                <a:ea typeface="Courier New" pitchFamily="34" charset="-122"/>
                <a:cs typeface="Courier New" pitchFamily="34" charset="-120"/>
              </a:rPr>
              <a:t>Games</a:t>
            </a:r>
            <a:r>
              <a:rPr lang="en-US" sz="2000" dirty="0">
                <a:solidFill>
                  <a:srgbClr val="2B1D19"/>
                </a:solidFill>
              </a:rPr>
              <a:t> column first, and leave out groups that are too small.</a:t>
            </a:r>
            <a:endParaRPr lang="en-US" sz="2000" dirty="0"/>
          </a:p>
        </p:txBody>
      </p:sp>
      <p:sp>
        <p:nvSpPr>
          <p:cNvPr id="25" name="Slide Number Placeholder 0"/>
          <p:cNvSpPr>
            <a:spLocks noGrp="1"/>
          </p:cNvSpPr>
          <p:nvPr>
            <p:ph type="sldNum" sz="quarter" idx="4294967295"/>
          </p:nvPr>
        </p:nvSpPr>
        <p:spPr>
          <a:xfrm>
            <a:off x="365760" y="470916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6B6B"/>
                </a:solidFill>
              </a:defRPr>
            </a:lvl1pPr>
          </a:lstStyle>
          <a:p>
            <a:pPr algn="l"/>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txBox="1"/>
          <p:nvPr/>
        </p:nvSpPr>
        <p:spPr>
          <a:xfrm>
            <a:off x="457200" y="457200"/>
            <a:ext cx="7772400" cy="365760"/>
          </a:xfrm>
          <a:prstGeom prst="rect">
            <a:avLst/>
          </a:prstGeom>
          <a:noFill/>
          <a:ln/>
        </p:spPr>
        <p:txBody>
          <a:bodyPr wrap="square" lIns="0" tIns="0" rIns="0" bIns="0" rtlCol="0" anchor="ctr"/>
          <a:lstStyle/>
          <a:p>
            <a:pPr indent="0" marL="0">
              <a:buNone/>
            </a:pPr>
            <a:r>
              <a:rPr lang="en-US" sz="1400" b="1" spc="200" kern="0" dirty="0">
                <a:solidFill>
                  <a:srgbClr val="E8A55A"/>
                </a:solidFill>
              </a:rPr>
              <a:t>CHECK YOUR UNDERSTANDING</a:t>
            </a:r>
            <a:endParaRPr lang="en-US" sz="1400" dirty="0"/>
          </a:p>
        </p:txBody>
      </p:sp>
      <p:sp>
        <p:nvSpPr>
          <p:cNvPr id="3" name="Text 1"/>
          <p:cNvSpPr txBox="1"/>
          <p:nvPr/>
        </p:nvSpPr>
        <p:spPr>
          <a:xfrm>
            <a:off x="457200" y="1005840"/>
            <a:ext cx="7498080" cy="3108960"/>
          </a:xfrm>
          <a:prstGeom prst="rect">
            <a:avLst/>
          </a:prstGeom>
          <a:noFill/>
          <a:ln/>
        </p:spPr>
        <p:txBody>
          <a:bodyPr wrap="square" lIns="0" tIns="0" rIns="0" bIns="0" rtlCol="0" anchor="t">
            <a:normAutofit/>
          </a:bodyPr>
          <a:lstStyle/>
          <a:p>
            <a:pPr marL="342900" indent="-342900">
              <a:spcAft>
                <a:spcPts val="1400"/>
              </a:spcAft>
              <a:buSzPct val="100000"/>
              <a:buFont typeface="+mj-lt"/>
              <a:buAutoNum type="arabicPeriod" startAt="1"/>
            </a:pPr>
            <a:r>
              <a:rPr lang="en-US" sz="2000" dirty="0">
                <a:solidFill>
                  <a:srgbClr val="FFFFFF"/>
                </a:solidFill>
              </a:rPr>
              <a:t>​</a:t>
            </a:r>
            <a:r>
              <a:rPr lang="en-US" sz="2000" dirty="0">
                <a:solidFill>
                  <a:srgbClr val="FFFFFF"/>
                </a:solidFill>
              </a:rPr>
              <a:t>What are the three steps of split, apply, combine?</a:t>
            </a:r>
            <a:endParaRPr lang="en-US" sz="2000" dirty="0"/>
          </a:p>
          <a:p>
            <a:pPr marL="342900" indent="-342900">
              <a:spcAft>
                <a:spcPts val="1400"/>
              </a:spcAft>
              <a:buSzPct val="100000"/>
              <a:buFont typeface="+mj-lt"/>
              <a:buAutoNum type="arabicPeriod" startAt="1"/>
            </a:pPr>
            <a:r>
              <a:rPr lang="en-US" sz="2000" dirty="0">
                <a:solidFill>
                  <a:srgbClr val="FFFFFF"/>
                </a:solidFill>
              </a:rPr>
              <a:t>​</a:t>
            </a:r>
            <a:r>
              <a:rPr lang="en-US" sz="2000" dirty="0">
                <a:solidFill>
                  <a:srgbClr val="FFFFFF"/>
                </a:solidFill>
              </a:rPr>
              <a:t>What does </a:t>
            </a:r>
            <a:r>
              <a:rPr lang="en-US" sz="1800" b="1" dirty="0">
                <a:solidFill>
                  <a:srgbClr val="E8A55A"/>
                </a:solidFill>
                <a:latin typeface="Courier New" pitchFamily="34" charset="0"/>
                <a:ea typeface="Courier New" pitchFamily="34" charset="-122"/>
                <a:cs typeface="Courier New" pitchFamily="34" charset="-120"/>
              </a:rPr>
              <a:t>pl.len()</a:t>
            </a:r>
            <a:r>
              <a:rPr lang="en-US" sz="2000" dirty="0">
                <a:solidFill>
                  <a:srgbClr val="FFFFFF"/>
                </a:solidFill>
              </a:rPr>
              <a:t> count?</a:t>
            </a:r>
            <a:endParaRPr lang="en-US" sz="2000" dirty="0"/>
          </a:p>
          <a:p>
            <a:pPr marL="342900" indent="-342900">
              <a:spcAft>
                <a:spcPts val="1400"/>
              </a:spcAft>
              <a:buSzPct val="100000"/>
              <a:buFont typeface="+mj-lt"/>
              <a:buAutoNum type="arabicPeriod" startAt="1"/>
            </a:pPr>
            <a:r>
              <a:rPr lang="en-US" sz="2000" dirty="0">
                <a:solidFill>
                  <a:srgbClr val="FFFFFF"/>
                </a:solidFill>
              </a:rPr>
              <a:t>​</a:t>
            </a:r>
            <a:r>
              <a:rPr lang="en-US" sz="2000" dirty="0">
                <a:solidFill>
                  <a:srgbClr val="FFFFFF"/>
                </a:solidFill>
              </a:rPr>
              <a:t>Why are the mean prices further apart than the median prices?</a:t>
            </a:r>
            <a:endParaRPr lang="en-US" sz="2000" dirty="0"/>
          </a:p>
          <a:p>
            <a:pPr marL="342900" indent="-342900">
              <a:spcAft>
                <a:spcPts val="1400"/>
              </a:spcAft>
              <a:buSzPct val="100000"/>
              <a:buFont typeface="+mj-lt"/>
              <a:buAutoNum type="arabicPeriod" startAt="1"/>
            </a:pPr>
            <a:r>
              <a:rPr lang="en-US" sz="2000" dirty="0">
                <a:solidFill>
                  <a:srgbClr val="FFFFFF"/>
                </a:solidFill>
              </a:rPr>
              <a:t>​</a:t>
            </a:r>
            <a:r>
              <a:rPr lang="en-US" sz="2000" dirty="0">
                <a:solidFill>
                  <a:srgbClr val="FFFFFF"/>
                </a:solidFill>
              </a:rPr>
              <a:t>1998 has a median review score of 96.5. Why shouldn't we use it as evidence?</a:t>
            </a:r>
            <a:endParaRPr lang="en-US" sz="2000" dirty="0"/>
          </a:p>
        </p:txBody>
      </p:sp>
      <p:sp>
        <p:nvSpPr>
          <p:cNvPr id="25" name="Slide Number Placeholder 0"/>
          <p:cNvSpPr>
            <a:spLocks noGrp="1"/>
          </p:cNvSpPr>
          <p:nvPr>
            <p:ph type="sldNum" sz="quarter" idx="4294967295"/>
          </p:nvPr>
        </p:nvSpPr>
        <p:spPr>
          <a:xfrm>
            <a:off x="365760" y="470916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F7EFE6"/>
                </a:solidFill>
              </a:defRPr>
            </a:lvl1pPr>
          </a:lstStyle>
          <a:p>
            <a:pPr algn="l"/>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itle"/>
          <p:cNvSpPr txBox="1"/>
          <p:nvPr/>
        </p:nvSpPr>
        <p:spPr>
          <a:xfrm>
            <a:off x="457200" y="274320"/>
            <a:ext cx="8229600" cy="640080"/>
          </a:xfrm>
          <a:prstGeom prst="rect">
            <a:avLst/>
          </a:prstGeom>
          <a:noFill/>
          <a:ln/>
        </p:spPr>
        <p:txBody>
          <a:bodyPr wrap="square" lIns="0" tIns="0" rIns="0" bIns="0" rtlCol="0" anchor="ctr">
            <a:normAutofit/>
          </a:bodyPr>
          <a:lstStyle/>
          <a:p>
            <a:pPr indent="0" marL="0">
              <a:buNone/>
            </a:pPr>
            <a:r>
              <a:rPr lang="en-US" sz="2800" b="1" dirty="0">
                <a:solidFill>
                  <a:srgbClr val="4E342E"/>
                </a:solidFill>
              </a:rPr>
              <a:t>Your data story</a:t>
            </a:r>
            <a:endParaRPr lang="en-US" sz="2800" dirty="0"/>
          </a:p>
        </p:txBody>
      </p:sp>
      <p:sp>
        <p:nvSpPr>
          <p:cNvPr id="3" name="Shape 1"/>
          <p:cNvSpPr/>
          <p:nvPr/>
        </p:nvSpPr>
        <p:spPr>
          <a:xfrm>
            <a:off x="457200" y="1051560"/>
            <a:ext cx="2651760" cy="3429000"/>
          </a:xfrm>
          <a:prstGeom prst="roundRect">
            <a:avLst>
              <a:gd name="adj" fmla="val 2759"/>
            </a:avLst>
          </a:prstGeom>
          <a:solidFill>
            <a:srgbClr val="4E342E"/>
          </a:solidFill>
          <a:ln w="12700">
            <a:solidFill>
              <a:srgbClr val="4E342E"/>
            </a:solidFill>
            <a:prstDash val="solid"/>
          </a:ln>
        </p:spPr>
      </p:sp>
      <p:sp>
        <p:nvSpPr>
          <p:cNvPr id="4" name="Text 2"/>
          <p:cNvSpPr txBox="1"/>
          <p:nvPr/>
        </p:nvSpPr>
        <p:spPr>
          <a:xfrm>
            <a:off x="685800" y="1280160"/>
            <a:ext cx="2194560" cy="822960"/>
          </a:xfrm>
          <a:prstGeom prst="rect">
            <a:avLst/>
          </a:prstGeom>
          <a:noFill/>
          <a:ln/>
        </p:spPr>
        <p:txBody>
          <a:bodyPr wrap="square" lIns="0" tIns="0" rIns="0" bIns="0" rtlCol="0" anchor="t"/>
          <a:lstStyle/>
          <a:p>
            <a:pPr indent="0" marL="0">
              <a:buNone/>
            </a:pPr>
            <a:r>
              <a:rPr lang="en-US" sz="1500" dirty="0">
                <a:solidFill>
                  <a:srgbClr val="F7EFE6"/>
                </a:solidFill>
              </a:rPr>
              <a:t>In my_data_story.md, add the heading</a:t>
            </a:r>
            <a:endParaRPr lang="en-US" sz="1500" dirty="0"/>
          </a:p>
        </p:txBody>
      </p:sp>
      <p:sp>
        <p:nvSpPr>
          <p:cNvPr id="5" name="Text 3"/>
          <p:cNvSpPr txBox="1"/>
          <p:nvPr/>
        </p:nvSpPr>
        <p:spPr>
          <a:xfrm>
            <a:off x="685800" y="2148840"/>
            <a:ext cx="2194560" cy="1097280"/>
          </a:xfrm>
          <a:prstGeom prst="rect">
            <a:avLst/>
          </a:prstGeom>
          <a:noFill/>
          <a:ln/>
        </p:spPr>
        <p:txBody>
          <a:bodyPr wrap="square" lIns="0" tIns="0" rIns="0" bIns="0" rtlCol="0" anchor="t">
            <a:normAutofit/>
          </a:bodyPr>
          <a:lstStyle/>
          <a:p>
            <a:pPr indent="0" marL="0">
              <a:buNone/>
            </a:pPr>
            <a:r>
              <a:rPr lang="en-US" sz="1800" b="1" dirty="0">
                <a:solidFill>
                  <a:srgbClr val="E8A55A"/>
                </a:solidFill>
                <a:latin typeface="Courier New" pitchFamily="34" charset="0"/>
                <a:ea typeface="Courier New" pitchFamily="34" charset="-122"/>
                <a:cs typeface="Courier New" pitchFamily="34" charset="-120"/>
              </a:rPr>
              <a:t>## Summaries</a:t>
            </a:r>
            <a:endParaRPr lang="en-US" sz="1800" dirty="0"/>
          </a:p>
        </p:txBody>
      </p:sp>
      <p:sp>
        <p:nvSpPr>
          <p:cNvPr id="6" name="Text 4"/>
          <p:cNvSpPr txBox="1"/>
          <p:nvPr/>
        </p:nvSpPr>
        <p:spPr>
          <a:xfrm>
            <a:off x="3383280" y="1097280"/>
            <a:ext cx="5303520" cy="3383280"/>
          </a:xfrm>
          <a:prstGeom prst="rect">
            <a:avLst/>
          </a:prstGeom>
          <a:noFill/>
          <a:ln/>
        </p:spPr>
        <p:txBody>
          <a:bodyPr wrap="square" lIns="0" tIns="0" rIns="0" bIns="0" rtlCol="0" anchor="t">
            <a:normAutofit/>
          </a:bodyPr>
          <a:lstStyle/>
          <a:p>
            <a:pPr marL="342900" indent="-342900">
              <a:spcAft>
                <a:spcPts val="1000"/>
              </a:spcAft>
              <a:buSzPct val="100000"/>
              <a:buFont typeface="+mj-lt"/>
              <a:buAutoNum type="arabicPeriod" startAt="1"/>
            </a:pPr>
            <a:r>
              <a:rPr lang="en-US" sz="1600" dirty="0">
                <a:solidFill>
                  <a:srgbClr val="2B1D19"/>
                </a:solidFill>
              </a:rPr>
              <a:t>​</a:t>
            </a:r>
            <a:r>
              <a:rPr lang="en-US" sz="1600" dirty="0">
                <a:solidFill>
                  <a:srgbClr val="2B1D19"/>
                </a:solidFill>
              </a:rPr>
              <a:t>Write a </a:t>
            </a:r>
            <a:r>
              <a:rPr lang="en-US" sz="1400" b="1" dirty="0">
                <a:solidFill>
                  <a:srgbClr val="B86E1E"/>
                </a:solidFill>
                <a:latin typeface="Courier New" pitchFamily="34" charset="0"/>
                <a:ea typeface="Courier New" pitchFamily="34" charset="-122"/>
                <a:cs typeface="Courier New" pitchFamily="34" charset="-120"/>
              </a:rPr>
              <a:t>group_by</a:t>
            </a:r>
            <a:r>
              <a:rPr lang="en-US" sz="1600" dirty="0">
                <a:solidFill>
                  <a:srgbClr val="2B1D19"/>
                </a:solidFill>
              </a:rPr>
              <a:t> that summarises the groups your question is about. Record the table it makes.</a:t>
            </a:r>
            <a:endParaRPr lang="en-US" sz="1600" dirty="0"/>
          </a:p>
          <a:p>
            <a:pPr marL="342900" indent="-342900">
              <a:spcAft>
                <a:spcPts val="1000"/>
              </a:spcAft>
              <a:buSzPct val="100000"/>
              <a:buFont typeface="+mj-lt"/>
              <a:buAutoNum type="arabicPeriod" startAt="1"/>
            </a:pPr>
            <a:r>
              <a:rPr lang="en-US" sz="1600" dirty="0">
                <a:solidFill>
                  <a:srgbClr val="2B1D19"/>
                </a:solidFill>
              </a:rPr>
              <a:t>​</a:t>
            </a:r>
            <a:r>
              <a:rPr lang="en-US" sz="1600" dirty="0">
                <a:solidFill>
                  <a:srgbClr val="2B1D19"/>
                </a:solidFill>
              </a:rPr>
              <a:t>Decide whether the mean or the median suits your question better, and write down why.</a:t>
            </a:r>
            <a:endParaRPr lang="en-US" sz="1600" dirty="0"/>
          </a:p>
          <a:p>
            <a:pPr marL="342900" indent="-342900">
              <a:spcAft>
                <a:spcPts val="1000"/>
              </a:spcAft>
              <a:buSzPct val="100000"/>
              <a:buFont typeface="+mj-lt"/>
              <a:buAutoNum type="arabicPeriod" startAt="1"/>
            </a:pPr>
            <a:r>
              <a:rPr lang="en-US" sz="1600" dirty="0">
                <a:solidFill>
                  <a:srgbClr val="2B1D19"/>
                </a:solidFill>
              </a:rPr>
              <a:t>​</a:t>
            </a:r>
            <a:r>
              <a:rPr lang="en-US" sz="1600" dirty="0">
                <a:solidFill>
                  <a:srgbClr val="2B1D19"/>
                </a:solidFill>
              </a:rPr>
              <a:t>Write one sentence that states a finding, using a number from your summary, like the Indie review score example.</a:t>
            </a:r>
            <a:endParaRPr lang="en-US" sz="1600" dirty="0"/>
          </a:p>
        </p:txBody>
      </p:sp>
      <p:sp>
        <p:nvSpPr>
          <p:cNvPr id="25" name="Slide Number Placeholder 0"/>
          <p:cNvSpPr>
            <a:spLocks noGrp="1"/>
          </p:cNvSpPr>
          <p:nvPr>
            <p:ph type="sldNum" sz="quarter" idx="4294967295"/>
          </p:nvPr>
        </p:nvSpPr>
        <p:spPr>
          <a:xfrm>
            <a:off x="365760" y="470916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6B6B"/>
                </a:solidFill>
              </a:defRPr>
            </a:lvl1pPr>
          </a:lstStyle>
          <a:p>
            <a:pPr algn="l"/>
            <a:fld id="{F7021451-1387-4CA6-816F-3879F97B5CBC}" type="slidenum">
              <a:rPr b="0" lang="en-US"/>
              <a:t>24</a:t>
            </a:fld>
            <a:endParaRPr lang="en-US"/>
          </a:p>
        </p:txBody>
      </p:sp>
    </p:spTree>
  </p:cSld>
  <p:clrMapOvr>
    <a:masterClrMapping/>
  </p:clrMapOvr>
</p:sld>
</file>

<file path=ppt/theme/theme1.xml><?xml version="1.0" encoding="utf-8"?>
<a:theme xmlns:a="http://schemas.openxmlformats.org/drawingml/2006/main" name="Steam Data Stories">
  <a:themeElements>
    <a:clrScheme name="Steam Data Stories">
      <a:dk1>
        <a:srgbClr val="2B1D19"/>
      </a:dk1>
      <a:lt1>
        <a:srgbClr val="FFFFFF"/>
      </a:lt1>
      <a:dk2>
        <a:srgbClr val="4E342E"/>
      </a:dk2>
      <a:lt2>
        <a:srgbClr val="F7EFE6"/>
      </a:lt2>
      <a:accent1>
        <a:srgbClr val="E8A55A"/>
      </a:accent1>
      <a:accent2>
        <a:srgbClr val="6D4C41"/>
      </a:accent2>
      <a:accent3>
        <a:srgbClr val="1D5F8A"/>
      </a:accent3>
      <a:accent4>
        <a:srgbClr val="2E6B30"/>
      </a:accent4>
      <a:accent5>
        <a:srgbClr val="B0185E"/>
      </a:accent5>
      <a:accent6>
        <a:srgbClr val="8A5A00"/>
      </a:accent6>
      <a:hlink>
        <a:srgbClr val="B86E1E"/>
      </a:hlink>
      <a:folHlink>
        <a:srgbClr val="6D4C41"/>
      </a:folHlink>
    </a:clrScheme>
    <a:fontScheme name="Steam Data Stories">
      <a:majorFont>
        <a:latin typeface="Calibri"/>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24</Slides>
  <Notes>24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24</vt:i4>
      </vt:variant>
    </vt:vector>
  </HeadingPairs>
  <TitlesOfParts>
    <vt:vector size="2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Summarising Groups</dc:title>
  <dc:subject>PptxGenJS Presentation</dc:subject>
  <dc:creator>Steam Data Stories</dc:creator>
  <cp:lastModifiedBy>Steam Data Stories</cp:lastModifiedBy>
  <cp:revision>1</cp:revision>
  <dcterms:created xsi:type="dcterms:W3CDTF">2026-10-13T11:22:50Z</dcterms:created>
  <dcterms:modified xsi:type="dcterms:W3CDTF">2026-10-13T11:22:50Z</dcterms:modified>
</cp:coreProperties>
</file>