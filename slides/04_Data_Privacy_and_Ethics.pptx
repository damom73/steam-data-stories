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e3542d-45f6-2f4e-83af-99dab3c2cc5d}">
          <p14:sldIdLst>
            <p14:sldId id="256"/>
            <p14:sldId id="257"/>
            <p14:sldId id="258"/>
            <p14:sldId id="259"/>
            <p14:sldId id="260"/>
          </p14:sldIdLst>
        </p14:section>
        <p14:section name="Personal information" id="{af78597b-6c83-91f5-d8ff-849d5de084d1}">
          <p14:sldIdLst>
            <p14:sldId id="261"/>
            <p14:sldId id="262"/>
            <p14:sldId id="263"/>
            <p14:sldId id="264"/>
          </p14:sldIdLst>
        </p14:section>
        <p14:section name="Finding personal information" id="{e788e5e9-3186-3f20-cccf-c9ffd20b4eb6}">
          <p14:sldIdLst>
            <p14:sldId id="265"/>
            <p14:sldId id="266"/>
            <p14:sldId id="267"/>
            <p14:sldId id="268"/>
            <p14:sldId id="269"/>
            <p14:sldId id="270"/>
          </p14:sldIdLst>
        </p14:section>
        <p14:section name="Removing columns we don't need" id="{a921d153-b59e-eaae-96d7-02ac447026e3}">
          <p14:sldIdLst>
            <p14:sldId id="271"/>
            <p14:sldId id="272"/>
            <p14:sldId id="273"/>
            <p14:sldId id="274"/>
          </p14:sldIdLst>
        </p14:section>
        <p14:section name="Licences and attribution" id="{63f5b8d0-0161-7cda-56f7-dc584a35a9de}">
          <p14:sldIdLst>
            <p14:sldId id="275"/>
            <p14:sldId id="276"/>
            <p14:sldId id="277"/>
            <p14:sldId id="278"/>
          </p14:sldIdLst>
        </p14:section>
        <p14:section name="Wrap up" id="{eb0ab68c-80a5-a652-e110-fd1fef246fbb}">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Hook lesson. Before we build anything to share, we check that we aren't sharing information about people we shouldn't, and that we're allowed to use the data at all. About 60 minutes: 5 min hook, 10 min personal information and the APPs, 15 min finding personal information, 10 min removing the column, 10 min licences and attribution,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Point out that this lesson has two halves: people (privacy) and permission (licences).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new terms today, split over two slides. Don't drill them all now; they come up again as we go. Null will matter a lot when we clean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have you seen attribution before? (Image credits, references in an assignment, the credits at the end of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when we asked a question data can answer: we now know what our story is about. Ask: who might be in our data, even though it's about games? (The people who make the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call out examples before showing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call out examples before revealing. Ask why an IP address or phone location could identify someone. The email example is the key idea for the rest of the lesson, because our data has email addresses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put each principle in their own words. APP 3 and APP 6 are the ones we'll use today: do we need it, and are we using it for its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ask whether they could get in trouble. The answer is no, but we follow the principles because it's the right 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clean_steam.py and press Ctrl+Shift+R (Cmd+Shift+R on a Mac)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deciding what to do with the column, we find out how much of it there is. First we count the games that don't have one, because a missing email can't identify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Introduce the word null here: a missing value is called a null, and null_count counts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ask students to predict the count before running. Many of these 1,270 addresses are likely to belong to a person, not a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Have a few students share their counts. The page doesn't give answers for these, so let students report what they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students understand why the 2,728 missing emails don't break the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quick vote: is it fine? Then introduce the APP test: do we need them for our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APP 3 and APP 6. Being public doesn't mean we should copy it into our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in marimo each variable can only be made in one cell, so we didn't write games = games.drop(...). The original games is still there unchanged. From now on we build on public_games.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learn how to make new columns like that when we start finding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owns the Steam games data? Who owns the games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open README.txt in VS Code and find the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write this into their data story at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when students publish their stories: no screenshots of game logos or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Yes. It belongs to one person and can be used to contact them.
2. The missing values (nulls) in a column. For Support email it was 2728.
3. We don't need them for our purpose, and the safest thing to do with personal information we don't need is to remove it.
4. Include the original copyright notice and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Task 3 is the ethics question: push students to think about solo developers, whose games might look bad in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HOOK</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4</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Data, Privacy and Ethics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154680"/>
          </a:xfrm>
          <a:prstGeom prst="roundRect">
            <a:avLst>
              <a:gd name="adj" fmla="val 2319"/>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what personal information is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what the Australian Privacy Principles say about using it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find personal information in a dataset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remove columns we shouldn't share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why licences and attribution matter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personal information</a:t>
            </a:r>
            <a:r>
              <a:rPr lang="en-US" sz="2000" dirty="0">
                <a:solidFill>
                  <a:srgbClr val="2B1D19"/>
                </a:solidFill>
              </a:rPr>
              <a:t> – any information or opinion that could identify a person, such as a name, email address or photo.</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Privacy Act 1988</a:t>
            </a:r>
            <a:r>
              <a:rPr lang="en-US" sz="2000" dirty="0">
                <a:solidFill>
                  <a:srgbClr val="2B1D19"/>
                </a:solidFill>
              </a:rPr>
              <a:t> – the Australian law that sets the rules for how organisations and government agencies handle personal information.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Australian Privacy Principles</a:t>
            </a:r>
            <a:r>
              <a:rPr lang="en-US" sz="2000" dirty="0">
                <a:solidFill>
                  <a:srgbClr val="2B1D19"/>
                </a:solidFill>
              </a:rPr>
              <a:t> – the 13 rules in the Privacy Act about collecting, using, sharing and protecting personal information.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null</a:t>
            </a:r>
            <a:r>
              <a:rPr lang="en-US" sz="2000" dirty="0">
                <a:solidFill>
                  <a:srgbClr val="2B1D19"/>
                </a:solidFill>
              </a:rPr>
              <a:t> – Polars' way of saying a value is missing.</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154680"/>
          </a:xfrm>
          <a:prstGeom prst="roundRect">
            <a:avLst>
              <a:gd name="adj" fmla="val 2319"/>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depersonalising</a:t>
            </a:r>
            <a:r>
              <a:rPr lang="en-US" sz="2000" dirty="0">
                <a:solidFill>
                  <a:srgbClr val="2B1D19"/>
                </a:solidFill>
              </a:rPr>
              <a:t> – removing or replacing the personal details in data, while keeping the part we need.</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licence</a:t>
            </a:r>
            <a:r>
              <a:rPr lang="en-US" sz="2000" dirty="0">
                <a:solidFill>
                  <a:srgbClr val="2B1D19"/>
                </a:solidFill>
              </a:rPr>
              <a:t> – a set of rules from a work's owner that says how other people can use it.</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attribution</a:t>
            </a:r>
            <a:r>
              <a:rPr lang="en-US" sz="2000" dirty="0">
                <a:solidFill>
                  <a:srgbClr val="2B1D19"/>
                </a:solidFill>
              </a:rPr>
              <a:t> – saying where our data came from, so readers can check our work.</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BEFORE WE SHARE</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data story will end up on screens in front of other people</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So we check two things: we aren't sharing information about people that we shouldn't, and we're allowed to use the data at all.</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Personal information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Any information, or opinion, that could identify a person.</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counts as personal information?</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obvious: a name, a phone number, a home address, a photo</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less obvious: an IP address, or the location data from a phone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it doesn't have to </a:t>
            </a:r>
            <a:r>
              <a:rPr lang="en-US" sz="1700" b="1" dirty="0">
                <a:solidFill>
                  <a:srgbClr val="2B1D19"/>
                </a:solidFill>
              </a:rPr>
              <a:t>name</a:t>
            </a:r>
            <a:r>
              <a:rPr lang="en-US" sz="1700" dirty="0">
                <a:solidFill>
                  <a:srgbClr val="2B1D19"/>
                </a:solidFill>
              </a:rPr>
              <a:t> someone to identify them</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an email like </a:t>
            </a:r>
            <a:r>
              <a:rPr lang="en-US" sz="1500" b="1" dirty="0">
                <a:solidFill>
                  <a:srgbClr val="B86E1E"/>
                </a:solidFill>
                <a:latin typeface="Courier New" pitchFamily="34" charset="0"/>
                <a:ea typeface="Courier New" pitchFamily="34" charset="-122"/>
                <a:cs typeface="Courier New" pitchFamily="34" charset="-120"/>
              </a:rPr>
              <a:t>j.citizen.games@gmail.com</a:t>
            </a:r>
            <a:r>
              <a:rPr lang="en-US" sz="1700" dirty="0">
                <a:solidFill>
                  <a:srgbClr val="2B1D19"/>
                </a:solidFill>
              </a:rPr>
              <a:t> might not include a full name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but it belongs to </a:t>
            </a:r>
            <a:r>
              <a:rPr lang="en-US" sz="1700" b="1" dirty="0">
                <a:solidFill>
                  <a:srgbClr val="2B1D19"/>
                </a:solidFill>
              </a:rPr>
              <a:t>one person</a:t>
            </a:r>
            <a:r>
              <a:rPr lang="en-US" sz="1700" dirty="0">
                <a:solidFill>
                  <a:srgbClr val="2B1D19"/>
                </a:solidFill>
              </a:rPr>
              <a:t> and can be used to </a:t>
            </a:r>
            <a:r>
              <a:rPr lang="en-US" sz="1700" b="1" dirty="0">
                <a:solidFill>
                  <a:srgbClr val="2B1D19"/>
                </a:solidFill>
              </a:rPr>
              <a:t>contact</a:t>
            </a:r>
            <a:r>
              <a:rPr lang="en-US" sz="1700" dirty="0">
                <a:solidFill>
                  <a:srgbClr val="2B1D19"/>
                </a:solidFill>
              </a:rPr>
              <a:t> them</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Australian Privacy Principles</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a:t>
            </a:r>
            <a:r>
              <a:rPr lang="en-US" sz="1500" b="1" dirty="0">
                <a:solidFill>
                  <a:srgbClr val="2B1D19"/>
                </a:solidFill>
              </a:rPr>
              <a:t>Privacy Act 1988</a:t>
            </a:r>
            <a:r>
              <a:rPr lang="en-US" sz="1500" dirty="0">
                <a:solidFill>
                  <a:srgbClr val="2B1D19"/>
                </a:solidFill>
              </a:rPr>
              <a:t> has 13 APPs. These four matter most when we work with data.</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2560320"/>
                <a:gridCol w="5669280"/>
              </a:tblGrid>
              <a:tr h="0">
                <a:tc>
                  <a:txBody>
                    <a:bodyPr/>
                    <a:lstStyle/>
                    <a:p>
                      <a:pPr indent="0" marL="0">
                        <a:buNone/>
                      </a:pPr>
                      <a:r>
                        <a:rPr lang="en-US" sz="1400" b="1" dirty="0">
                          <a:solidFill>
                            <a:srgbClr val="FFFFFF"/>
                          </a:solidFill>
                        </a:rPr>
                        <a:t>Principle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means for us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APP 3: Collection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only collect the personal information we actually need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APP 6: Use or disclosure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only use or share personal information for the purpose it was collected for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APP 10: Quality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 personal information accurate and up to date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APP 11: Security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protect personal information from misuse and from being seen by people who shouldn't see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Does the Privacy Act apply to us?</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Good to know</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The Privacy Act mainly applies to government agencies and larger organisations. Our class project isn't covered by it, but the principles are still a good guide to doing the right thing with data about people, and they're the rules we'd have to follow in many jobs that use data.</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Finding personal information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Most of our 13 columns are about games, not people. But one holds contact details: </a:t>
            </a:r>
            <a:r>
              <a:rPr lang="en-US" sz="1600" b="1" dirty="0">
                <a:solidFill>
                  <a:srgbClr val="E8A55A"/>
                </a:solidFill>
                <a:latin typeface="Courier New" pitchFamily="34" charset="0"/>
                <a:ea typeface="Courier New" pitchFamily="34" charset="-122"/>
                <a:cs typeface="Courier New" pitchFamily="34" charset="-120"/>
              </a:rPr>
              <a:t>Support email</a:t>
            </a:r>
            <a:r>
              <a:rPr lang="en-US" sz="1800" dirty="0">
                <a:solidFill>
                  <a:srgbClr val="F7EFE6"/>
                </a:solidFill>
              </a:rPr>
              <a: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Whose email is it?</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Big companies</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support addresses like </a:t>
            </a:r>
            <a:r>
              <a:rPr lang="en-US" sz="1300" b="1" dirty="0">
                <a:solidFill>
                  <a:srgbClr val="B86E1E"/>
                </a:solidFill>
                <a:latin typeface="Courier New" pitchFamily="34" charset="0"/>
                <a:ea typeface="Courier New" pitchFamily="34" charset="-122"/>
                <a:cs typeface="Courier New" pitchFamily="34" charset="-120"/>
              </a:rPr>
              <a:t>support@company.com</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a company's own email domain, like </a:t>
            </a:r>
            <a:r>
              <a:rPr lang="en-US" sz="1300" b="1" dirty="0">
                <a:solidFill>
                  <a:srgbClr val="B86E1E"/>
                </a:solidFill>
                <a:latin typeface="Courier New" pitchFamily="34" charset="0"/>
                <a:ea typeface="Courier New" pitchFamily="34" charset="-122"/>
                <a:cs typeface="Courier New" pitchFamily="34" charset="-120"/>
              </a:rPr>
              <a:t>@teamcherry.com.au</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Solo developers</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lots of games are made by one person working alone</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their support address is often their </a:t>
            </a:r>
            <a:r>
              <a:rPr lang="en-US" sz="1500" b="1" dirty="0">
                <a:solidFill>
                  <a:srgbClr val="2B1D19"/>
                </a:solidFill>
              </a:rPr>
              <a:t>own personal email</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How many games have no support email?</a:t>
            </a:r>
            <a:endParaRPr lang="en-US" sz="2800" dirty="0"/>
          </a:p>
        </p:txBody>
      </p:sp>
      <p:sp>
        <p:nvSpPr>
          <p:cNvPr id="3" name="Code panel"/>
          <p:cNvSpPr/>
          <p:nvPr/>
        </p:nvSpPr>
        <p:spPr>
          <a:xfrm>
            <a:off x="457200" y="1051560"/>
            <a:ext cx="45262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1605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2519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games["Support email"].null_count()</a:t>
            </a:r>
            <a:endParaRPr lang="en-US" sz="1400" dirty="0"/>
          </a:p>
        </p:txBody>
      </p:sp>
      <p:sp>
        <p:nvSpPr>
          <p:cNvPr id="6" name="Text 4"/>
          <p:cNvSpPr txBox="1"/>
          <p:nvPr/>
        </p:nvSpPr>
        <p:spPr>
          <a:xfrm>
            <a:off x="457200" y="1929765"/>
            <a:ext cx="45262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2728</a:t>
            </a:r>
            <a:r>
              <a:rPr lang="en-US" sz="1500" dirty="0">
                <a:solidFill>
                  <a:srgbClr val="2B1D19"/>
                </a:solidFill>
              </a:rPr>
              <a:t>. So 7,522 games do have a support email.</a:t>
            </a:r>
            <a:endParaRPr lang="en-US" sz="1500" dirty="0"/>
          </a:p>
        </p:txBody>
      </p:sp>
      <p:sp>
        <p:nvSpPr>
          <p:cNvPr id="7" name="primm box"/>
          <p:cNvSpPr/>
          <p:nvPr/>
        </p:nvSpPr>
        <p:spPr>
          <a:xfrm>
            <a:off x="457200" y="2432685"/>
            <a:ext cx="4526280" cy="1285240"/>
          </a:xfrm>
          <a:prstGeom prst="roundRect">
            <a:avLst>
              <a:gd name="adj" fmla="val 5692"/>
            </a:avLst>
          </a:prstGeom>
          <a:solidFill>
            <a:srgbClr val="E6F2E6"/>
          </a:solidFill>
          <a:ln w="12700">
            <a:solidFill>
              <a:srgbClr val="E6F2E6"/>
            </a:solidFill>
            <a:prstDash val="solid"/>
          </a:ln>
        </p:spPr>
      </p:sp>
      <p:sp>
        <p:nvSpPr>
          <p:cNvPr id="8" name="Text 6"/>
          <p:cNvSpPr txBox="1"/>
          <p:nvPr/>
        </p:nvSpPr>
        <p:spPr>
          <a:xfrm>
            <a:off x="685800" y="2569845"/>
            <a:ext cx="40690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2935605"/>
            <a:ext cx="40690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How many of our 10,250 games have no support email?</a:t>
            </a:r>
            <a:endParaRPr lang="en-US" sz="1500" dirty="0"/>
          </a:p>
        </p:txBody>
      </p:sp>
      <p:sp>
        <p:nvSpPr>
          <p:cNvPr id="10" name="Text 8"/>
          <p:cNvSpPr txBox="1"/>
          <p:nvPr/>
        </p:nvSpPr>
        <p:spPr>
          <a:xfrm>
            <a:off x="5257800" y="1051560"/>
            <a:ext cx="34290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5257800" y="1399032"/>
            <a:ext cx="34290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 missing email can't identify anyone, so first we count the games that </a:t>
            </a:r>
            <a:r>
              <a:rPr lang="en-US" sz="1500" b="1" dirty="0">
                <a:solidFill>
                  <a:srgbClr val="2B1D19"/>
                </a:solidFill>
              </a:rPr>
              <a:t>don't</a:t>
            </a:r>
            <a:r>
              <a:rPr lang="en-US" sz="1500" dirty="0">
                <a:solidFill>
                  <a:srgbClr val="2B1D19"/>
                </a:solidFill>
              </a:rPr>
              <a:t> have a support email.</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How many are free Gmail addresses?</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795528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games["Support email"].str.contains("@gmail.com").sum()</a:t>
            </a:r>
            <a:endParaRPr lang="en-US" sz="1400" dirty="0"/>
          </a:p>
        </p:txBody>
      </p:sp>
      <p:sp>
        <p:nvSpPr>
          <p:cNvPr id="6" name="Text 4"/>
          <p:cNvSpPr txBox="1"/>
          <p:nvPr/>
        </p:nvSpPr>
        <p:spPr>
          <a:xfrm>
            <a:off x="457200" y="1929765"/>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1270</a:t>
            </a:r>
            <a:r>
              <a:rPr lang="en-US" sz="1500" dirty="0">
                <a:solidFill>
                  <a:srgbClr val="2B1D19"/>
                </a:solidFill>
              </a:rPr>
              <a:t> games with a free Gmail support address.</a:t>
            </a:r>
            <a:endParaRPr lang="en-US" sz="1500" dirty="0"/>
          </a:p>
        </p:txBody>
      </p:sp>
      <p:sp>
        <p:nvSpPr>
          <p:cNvPr id="7" name="Text 5"/>
          <p:cNvSpPr txBox="1"/>
          <p:nvPr/>
        </p:nvSpPr>
        <p:spPr>
          <a:xfrm>
            <a:off x="457200" y="2386965"/>
            <a:ext cx="8229600" cy="899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Companies usually have their own email domain, while a free Gmail address is often one person's own account. We use the same </a:t>
            </a:r>
            <a:r>
              <a:rPr lang="en-US" sz="1300" b="1" dirty="0">
                <a:solidFill>
                  <a:srgbClr val="B86E1E"/>
                </a:solidFill>
                <a:latin typeface="Courier New" pitchFamily="34" charset="0"/>
                <a:ea typeface="Courier New" pitchFamily="34" charset="-122"/>
                <a:cs typeface="Courier New" pitchFamily="34" charset="-120"/>
              </a:rPr>
              <a:t>str.contains</a:t>
            </a:r>
            <a:r>
              <a:rPr lang="en-US" sz="1500" dirty="0">
                <a:solidFill>
                  <a:srgbClr val="2B1D19"/>
                </a:solidFill>
              </a:rPr>
              <a:t> and </a:t>
            </a:r>
            <a:r>
              <a:rPr lang="en-US" sz="1300" b="1" dirty="0">
                <a:solidFill>
                  <a:srgbClr val="B86E1E"/>
                </a:solidFill>
                <a:latin typeface="Courier New" pitchFamily="34" charset="0"/>
                <a:ea typeface="Courier New" pitchFamily="34" charset="-122"/>
                <a:cs typeface="Courier New" pitchFamily="34" charset="-120"/>
              </a:rPr>
              <a:t>sum</a:t>
            </a:r>
            <a:r>
              <a:rPr lang="en-US" sz="1500" dirty="0">
                <a:solidFill>
                  <a:srgbClr val="2B1D19"/>
                </a:solidFill>
              </a:rPr>
              <a:t> pattern we used to count Indie games.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Try other free email services</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b="1" dirty="0">
                <a:solidFill>
                  <a:srgbClr val="B86E1E"/>
                </a:solidFill>
                <a:latin typeface="Courier New" pitchFamily="34" charset="0"/>
                <a:ea typeface="Courier New" pitchFamily="34" charset="-122"/>
                <a:cs typeface="Courier New" pitchFamily="34" charset="-120"/>
              </a:rPr>
              <a:t>"@gmail.com"</a:t>
            </a:r>
            <a:r>
              <a:rPr lang="en-US" sz="2000" dirty="0">
                <a:solidFill>
                  <a:srgbClr val="2B1D19"/>
                </a:solidFill>
              </a:rPr>
              <a:t> to another free email service, such as </a:t>
            </a:r>
            <a:r>
              <a:rPr lang="en-US" sz="1800" b="1" dirty="0">
                <a:solidFill>
                  <a:srgbClr val="B86E1E"/>
                </a:solidFill>
                <a:latin typeface="Courier New" pitchFamily="34" charset="0"/>
                <a:ea typeface="Courier New" pitchFamily="34" charset="-122"/>
                <a:cs typeface="Courier New" pitchFamily="34" charset="-120"/>
              </a:rPr>
              <a:t>"@outlook.com"</a:t>
            </a:r>
            <a:r>
              <a:rPr lang="en-US" sz="2000" dirty="0">
                <a:solidFill>
                  <a:srgbClr val="2B1D19"/>
                </a:solidFill>
              </a:rPr>
              <a:t> or </a:t>
            </a:r>
            <a:r>
              <a:rPr lang="en-US" sz="1800" b="1" dirty="0">
                <a:solidFill>
                  <a:srgbClr val="B86E1E"/>
                </a:solidFill>
                <a:latin typeface="Courier New" pitchFamily="34" charset="0"/>
                <a:ea typeface="Courier New" pitchFamily="34" charset="-122"/>
                <a:cs typeface="Courier New" pitchFamily="34" charset="-120"/>
              </a:rPr>
              <a:t>"@qq.com"</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Run the cell again. How many games use that service?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Missing values are skipped</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Remember</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Just like when we counted Indie games, </a:t>
            </a:r>
            <a:r>
              <a:rPr lang="en-US" sz="1800" b="1" dirty="0">
                <a:solidFill>
                  <a:srgbClr val="B86E1E"/>
                </a:solidFill>
                <a:latin typeface="Courier New" pitchFamily="34" charset="0"/>
                <a:ea typeface="Courier New" pitchFamily="34" charset="-122"/>
                <a:cs typeface="Courier New" pitchFamily="34" charset="-120"/>
              </a:rPr>
              <a:t>sum</a:t>
            </a:r>
            <a:r>
              <a:rPr lang="en-US" sz="2000" dirty="0">
                <a:solidFill>
                  <a:srgbClr val="2B1D19"/>
                </a:solidFill>
              </a:rPr>
              <a:t> counts each </a:t>
            </a:r>
            <a:r>
              <a:rPr lang="en-US" sz="1800" b="1" dirty="0">
                <a:solidFill>
                  <a:srgbClr val="B86E1E"/>
                </a:solidFill>
                <a:latin typeface="Courier New" pitchFamily="34" charset="0"/>
                <a:ea typeface="Courier New" pitchFamily="34" charset="-122"/>
                <a:cs typeface="Courier New" pitchFamily="34" charset="-120"/>
              </a:rPr>
              <a:t>true</a:t>
            </a:r>
            <a:r>
              <a:rPr lang="en-US" sz="2000" dirty="0">
                <a:solidFill>
                  <a:srgbClr val="2B1D19"/>
                </a:solidFill>
              </a:rPr>
              <a:t> as 1. A missing email can't contain anything, so </a:t>
            </a:r>
            <a:r>
              <a:rPr lang="en-US" sz="1800" b="1" dirty="0">
                <a:solidFill>
                  <a:srgbClr val="B86E1E"/>
                </a:solidFill>
                <a:latin typeface="Courier New" pitchFamily="34" charset="0"/>
                <a:ea typeface="Courier New" pitchFamily="34" charset="-122"/>
                <a:cs typeface="Courier New" pitchFamily="34" charset="-120"/>
              </a:rPr>
              <a:t>str.contains</a:t>
            </a:r>
            <a:r>
              <a:rPr lang="en-US" sz="2000" dirty="0">
                <a:solidFill>
                  <a:srgbClr val="2B1D19"/>
                </a:solidFill>
              </a:rPr>
              <a:t> gives a null for it, and </a:t>
            </a:r>
            <a:r>
              <a:rPr lang="en-US" sz="1800" b="1" dirty="0">
                <a:solidFill>
                  <a:srgbClr val="B86E1E"/>
                </a:solidFill>
                <a:latin typeface="Courier New" pitchFamily="34" charset="0"/>
                <a:ea typeface="Courier New" pitchFamily="34" charset="-122"/>
                <a:cs typeface="Courier New" pitchFamily="34" charset="-120"/>
              </a:rPr>
              <a:t>sum</a:t>
            </a:r>
            <a:r>
              <a:rPr lang="en-US" sz="2000" dirty="0">
                <a:solidFill>
                  <a:srgbClr val="2B1D19"/>
                </a:solidFill>
              </a:rPr>
              <a:t> skips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Removing columns we don't need</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These emails are already public on each game's Steam store page. So is it fine to put them in our data story?</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Do we need them?</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APPs give us a test: do we </a:t>
            </a:r>
            <a:r>
              <a:rPr lang="en-US" sz="1700" b="1" dirty="0">
                <a:solidFill>
                  <a:srgbClr val="2B1D19"/>
                </a:solidFill>
              </a:rPr>
              <a:t>need</a:t>
            </a:r>
            <a:r>
              <a:rPr lang="en-US" sz="1700" dirty="0">
                <a:solidFill>
                  <a:srgbClr val="2B1D19"/>
                </a:solidFill>
              </a:rPr>
              <a:t> it for our purpose?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our purpose: a story about games and players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no question in our story needs to contact a developer</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safest thing to do with personal information we don't need: </a:t>
            </a:r>
            <a:r>
              <a:rPr lang="en-US" sz="1700" b="1" dirty="0">
                <a:solidFill>
                  <a:srgbClr val="2B1D19"/>
                </a:solidFill>
              </a:rPr>
              <a:t>remove it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Drop the Support email column</a:t>
            </a:r>
            <a:endParaRPr lang="en-US" sz="2800" dirty="0"/>
          </a:p>
        </p:txBody>
      </p:sp>
      <p:sp>
        <p:nvSpPr>
          <p:cNvPr id="3" name="Code panel"/>
          <p:cNvSpPr/>
          <p:nvPr/>
        </p:nvSpPr>
        <p:spPr>
          <a:xfrm>
            <a:off x="457200" y="1051560"/>
            <a:ext cx="512064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458470"/>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public_games = games.drop("Support email")</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public_games.shape</a:t>
            </a:r>
            <a:endParaRPr lang="en-US" sz="1300" dirty="0"/>
          </a:p>
        </p:txBody>
      </p:sp>
      <p:sp>
        <p:nvSpPr>
          <p:cNvPr id="6" name="Text 4"/>
          <p:cNvSpPr txBox="1"/>
          <p:nvPr/>
        </p:nvSpPr>
        <p:spPr>
          <a:xfrm>
            <a:off x="457200" y="2167890"/>
            <a:ext cx="512064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b="1" dirty="0">
                <a:solidFill>
                  <a:srgbClr val="2B1D19"/>
                </a:solidFill>
              </a:rPr>
              <a:t>10250</a:t>
            </a:r>
            <a:r>
              <a:rPr lang="en-US" sz="1500" dirty="0">
                <a:solidFill>
                  <a:srgbClr val="2B1D19"/>
                </a:solidFill>
              </a:rPr>
              <a:t> rows and </a:t>
            </a:r>
            <a:r>
              <a:rPr lang="en-US" sz="1500" b="1" dirty="0">
                <a:solidFill>
                  <a:srgbClr val="2B1D19"/>
                </a:solidFill>
              </a:rPr>
              <a:t>12</a:t>
            </a:r>
            <a:r>
              <a:rPr lang="en-US" sz="1500" dirty="0">
                <a:solidFill>
                  <a:srgbClr val="2B1D19"/>
                </a:solidFill>
              </a:rPr>
              <a:t> columns: the same games, without the email column.</a:t>
            </a:r>
            <a:endParaRPr lang="en-US" sz="1500" dirty="0"/>
          </a:p>
        </p:txBody>
      </p:sp>
      <p:sp>
        <p:nvSpPr>
          <p:cNvPr id="7" name="primm box"/>
          <p:cNvSpPr/>
          <p:nvPr/>
        </p:nvSpPr>
        <p:spPr>
          <a:xfrm>
            <a:off x="457200" y="2670810"/>
            <a:ext cx="5120640" cy="1056640"/>
          </a:xfrm>
          <a:prstGeom prst="roundRect">
            <a:avLst>
              <a:gd name="adj" fmla="val 6923"/>
            </a:avLst>
          </a:prstGeom>
          <a:solidFill>
            <a:srgbClr val="E6F2E6"/>
          </a:solidFill>
          <a:ln w="12700">
            <a:solidFill>
              <a:srgbClr val="E6F2E6"/>
            </a:solidFill>
            <a:prstDash val="solid"/>
          </a:ln>
        </p:spPr>
      </p:sp>
      <p:sp>
        <p:nvSpPr>
          <p:cNvPr id="8" name="Text 6"/>
          <p:cNvSpPr txBox="1"/>
          <p:nvPr/>
        </p:nvSpPr>
        <p:spPr>
          <a:xfrm>
            <a:off x="685800" y="280797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3173730"/>
            <a:ext cx="466344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How many rows and columns will </a:t>
            </a:r>
            <a:r>
              <a:rPr lang="en-US" sz="1300" b="1" dirty="0">
                <a:solidFill>
                  <a:srgbClr val="B86E1E"/>
                </a:solidFill>
                <a:latin typeface="Courier New" pitchFamily="34" charset="0"/>
                <a:ea typeface="Courier New" pitchFamily="34" charset="-122"/>
                <a:cs typeface="Courier New" pitchFamily="34" charset="-120"/>
              </a:rPr>
              <a:t>public_games</a:t>
            </a:r>
            <a:r>
              <a:rPr lang="en-US" sz="1500" dirty="0">
                <a:solidFill>
                  <a:srgbClr val="2B1D19"/>
                </a:solidFill>
              </a:rPr>
              <a:t> have?</a:t>
            </a:r>
            <a:endParaRPr lang="en-US" sz="1500" dirty="0"/>
          </a:p>
        </p:txBody>
      </p:sp>
      <p:sp>
        <p:nvSpPr>
          <p:cNvPr id="10" name="Text 8"/>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drop</a:t>
            </a:r>
            <a:r>
              <a:rPr lang="en-US" sz="1500" dirty="0">
                <a:solidFill>
                  <a:srgbClr val="2B1D19"/>
                </a:solidFill>
              </a:rPr>
              <a:t> makes a copy of our data without that column. The new name, </a:t>
            </a:r>
            <a:r>
              <a:rPr lang="en-US" sz="1300" b="1" dirty="0">
                <a:solidFill>
                  <a:srgbClr val="B86E1E"/>
                </a:solidFill>
                <a:latin typeface="Courier New" pitchFamily="34" charset="0"/>
                <a:ea typeface="Courier New" pitchFamily="34" charset="-122"/>
                <a:cs typeface="Courier New" pitchFamily="34" charset="-120"/>
              </a:rPr>
              <a:t>public_games</a:t>
            </a:r>
            <a:r>
              <a:rPr lang="en-US" sz="1500" dirty="0">
                <a:solidFill>
                  <a:srgbClr val="2B1D19"/>
                </a:solidFill>
              </a:rPr>
              <a:t>, makes it clear this is the version that's safe to share.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Depersonalising instead of deleting</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Another option</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Sometimes we need part of the information without the personal details. If our question were "Do games with a support email get more recommendations?", we could replace each email with just </a:t>
            </a:r>
            <a:r>
              <a:rPr lang="en-US" sz="1800" b="1" dirty="0">
                <a:solidFill>
                  <a:srgbClr val="B86E1E"/>
                </a:solidFill>
                <a:latin typeface="Courier New" pitchFamily="34" charset="0"/>
                <a:ea typeface="Courier New" pitchFamily="34" charset="-122"/>
                <a:cs typeface="Courier New" pitchFamily="34" charset="-120"/>
              </a:rPr>
              <a:t>yes</a:t>
            </a:r>
            <a:r>
              <a:rPr lang="en-US" sz="2000" dirty="0">
                <a:solidFill>
                  <a:srgbClr val="2B1D19"/>
                </a:solidFill>
              </a:rPr>
              <a:t> or </a:t>
            </a:r>
            <a:r>
              <a:rPr lang="en-US" sz="1800" b="1" dirty="0">
                <a:solidFill>
                  <a:srgbClr val="B86E1E"/>
                </a:solidFill>
                <a:latin typeface="Courier New" pitchFamily="34" charset="0"/>
                <a:ea typeface="Courier New" pitchFamily="34" charset="-122"/>
                <a:cs typeface="Courier New" pitchFamily="34" charset="-120"/>
              </a:rPr>
              <a:t>no</a:t>
            </a:r>
            <a:r>
              <a:rPr lang="en-US" sz="2000" dirty="0">
                <a:solidFill>
                  <a:srgbClr val="2B1D19"/>
                </a:solidFill>
              </a:rPr>
              <a:t>. This is called </a:t>
            </a:r>
            <a:r>
              <a:rPr lang="en-US" sz="2000" b="1" dirty="0">
                <a:solidFill>
                  <a:srgbClr val="2B1D19"/>
                </a:solidFill>
              </a:rPr>
              <a:t>depersonalising</a:t>
            </a:r>
            <a:r>
              <a:rPr lang="en-US" sz="2000" dirty="0">
                <a:solidFill>
                  <a:srgbClr val="2B1D19"/>
                </a:solidFill>
              </a:rPr>
              <a:t> the data.</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Licences and attribution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Data belongs to someone. Before we use it, we need to know what we're allowed to do with it.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data uses the MIT licence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a </a:t>
            </a:r>
            <a:r>
              <a:rPr lang="en-US" sz="1700" b="1" dirty="0">
                <a:solidFill>
                  <a:srgbClr val="2B1D19"/>
                </a:solidFill>
              </a:rPr>
              <a:t>licence</a:t>
            </a:r>
            <a:r>
              <a:rPr lang="en-US" sz="1700" dirty="0">
                <a:solidFill>
                  <a:srgbClr val="2B1D19"/>
                </a:solidFill>
              </a:rPr>
              <a:t> is a set of rules from the owner about how others can use their work</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MIT licence</a:t>
            </a:r>
            <a:r>
              <a:rPr lang="en-US" sz="1700" dirty="0">
                <a:solidFill>
                  <a:srgbClr val="2B1D19"/>
                </a:solidFill>
              </a:rPr>
              <a:t> lets anyone use, copy, change and share the data</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as long as they include the original copyright notice and licence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500" b="1" dirty="0">
                <a:solidFill>
                  <a:srgbClr val="B86E1E"/>
                </a:solidFill>
                <a:latin typeface="Courier New" pitchFamily="34" charset="0"/>
                <a:ea typeface="Courier New" pitchFamily="34" charset="-122"/>
                <a:cs typeface="Courier New" pitchFamily="34" charset="-120"/>
              </a:rPr>
              <a:t>README.txt</a:t>
            </a:r>
            <a:r>
              <a:rPr lang="en-US" sz="1700" dirty="0">
                <a:solidFill>
                  <a:srgbClr val="2B1D19"/>
                </a:solidFill>
              </a:rPr>
              <a:t> file in our </a:t>
            </a:r>
            <a:r>
              <a:rPr lang="en-US" sz="1500" b="1" dirty="0">
                <a:solidFill>
                  <a:srgbClr val="B86E1E"/>
                </a:solidFill>
                <a:latin typeface="Courier New" pitchFamily="34" charset="0"/>
                <a:ea typeface="Courier New" pitchFamily="34" charset="-122"/>
                <a:cs typeface="Courier New" pitchFamily="34" charset="-120"/>
              </a:rPr>
              <a:t>data</a:t>
            </a:r>
            <a:r>
              <a:rPr lang="en-US" sz="1700" dirty="0">
                <a:solidFill>
                  <a:srgbClr val="2B1D19"/>
                </a:solidFill>
              </a:rPr>
              <a:t> folder includes them</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ATTRIBUTION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Steam games data from the Steam Games Dataset by Fronkon Games (MIT licence), downloaded October 2026.</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Attribution says where our data came from, so readers can check our work. Every good data story includes it.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Game names and images belong to their owners</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The licence covers the data, not the games. Names like Hollow Knight and images from Steam belong to the companies that made the games, so we can mention them in our story, but we shouldn't copy their logos or artwork.</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Is </a:t>
            </a:r>
            <a:r>
              <a:rPr lang="en-US" sz="1800" b="1" dirty="0">
                <a:solidFill>
                  <a:srgbClr val="E8A55A"/>
                </a:solidFill>
                <a:latin typeface="Courier New" pitchFamily="34" charset="0"/>
                <a:ea typeface="Courier New" pitchFamily="34" charset="-122"/>
                <a:cs typeface="Courier New" pitchFamily="34" charset="-120"/>
              </a:rPr>
              <a:t>j.citizen.games@gmail.com</a:t>
            </a:r>
            <a:r>
              <a:rPr lang="en-US" sz="2000" dirty="0">
                <a:solidFill>
                  <a:srgbClr val="FFFFFF"/>
                </a:solidFill>
              </a:rPr>
              <a:t> personal information, even without a full name? Why?</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a:t>
            </a:r>
            <a:r>
              <a:rPr lang="en-US" sz="1800" b="1" dirty="0">
                <a:solidFill>
                  <a:srgbClr val="E8A55A"/>
                </a:solidFill>
                <a:latin typeface="Courier New" pitchFamily="34" charset="0"/>
                <a:ea typeface="Courier New" pitchFamily="34" charset="-122"/>
                <a:cs typeface="Courier New" pitchFamily="34" charset="-120"/>
              </a:rPr>
              <a:t>null_count</a:t>
            </a:r>
            <a:r>
              <a:rPr lang="en-US" sz="2000" dirty="0">
                <a:solidFill>
                  <a:srgbClr val="FFFFFF"/>
                </a:solidFill>
              </a:rPr>
              <a:t> count?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The support emails are already public. Why did we still remove them?</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the MIT licence ask us to do when we use the data?</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Privacy and ethics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List the columns your question needs. Does any of them hold personal information? If so, can you answer your question without it?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the attribution for your data story, using the example.</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Could anything in your finished story be unfair to a person or a small developer? Write down one way you could avoid that.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Privacy and Ethics</dc:title>
  <dc:subject>PptxGenJS Presentation</dc:subject>
  <dc:creator>Steam Data Stories</dc:creator>
  <cp:lastModifiedBy>Steam Data Stories</cp:lastModifiedBy>
  <cp:revision>1</cp:revision>
  <dcterms:created xsi:type="dcterms:W3CDTF">2026-10-13T11:22:37Z</dcterms:created>
  <dcterms:modified xsi:type="dcterms:W3CDTF">2026-10-13T11:22:37Z</dcterms:modified>
</cp:coreProperties>
</file>