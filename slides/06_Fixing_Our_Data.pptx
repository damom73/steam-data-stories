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f728a5d-3726-e832-58ee-9847508f2e2f}">
          <p14:sldIdLst>
            <p14:sldId id="256"/>
            <p14:sldId id="257"/>
            <p14:sldId id="258"/>
            <p14:sldId id="259"/>
          </p14:sldIdLst>
        </p14:section>
        <p14:section name="Text into dates" id="{60838502-24bb-d8b1-0b45-55ba9f94f9c4}">
          <p14:sldIdLst>
            <p14:sldId id="260"/>
            <p14:sldId id="261"/>
            <p14:sldId id="262"/>
            <p14:sldId id="263"/>
            <p14:sldId id="264"/>
            <p14:sldId id="265"/>
            <p14:sldId id="266"/>
          </p14:sldIdLst>
        </p14:section>
        <p14:section name="Values that mean &quot;missing&quot;" id="{64ff4fd8-7221-48c2-ff41-26c622416596}">
          <p14:sldIdLst>
            <p14:sldId id="267"/>
            <p14:sldId id="268"/>
            <p14:sldId id="269"/>
            <p14:sldId id="270"/>
            <p14:sldId id="271"/>
          </p14:sldIdLst>
        </p14:section>
        <p14:section name="Repeated names" id="{0b1fb4ee-9406-8790-212c-88adb9df12f4}">
          <p14:sldIdLst>
            <p14:sldId id="272"/>
            <p14:sldId id="273"/>
            <p14:sldId id="274"/>
            <p14:sldId id="275"/>
            <p14:sldId id="276"/>
            <p14:sldId id="277"/>
            <p14:sldId id="278"/>
          </p14:sldIdLst>
        </p14:section>
        <p14:section name="Wrap up" id="{26280507-ed3a-24d7-9008-9749dccb891f}">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fix the problems we found when we asked our question, so our story notebook can start from clean data. About 60 minutes: 5 min hook, 15 min dates, 15 min missing values, 15 min repeated names and saving,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Point out that all four are about trust: if the data is wrong, every chart built on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new terms today. Students met null in the privacy and ethics lesson, so check they remember it: a null means the value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does it matter that dates are text? (They sort alphabetically, so Apr comes before Feb, and we can't pull out the year.) Why do the 0s matter? (They drag down every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clean_steam.py and press Ctrl+Shift+R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thinking: we don't know whether Polars can guess the format, so we try the simplest thing first. Have students predict before running. Most will expect it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error in parts, as on the site. Stress that reading errors is a skill: type, message, then where. The traceback below our cell is Polars' own code, so students can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isn't a format code, like the space and the comma, has to match the text exactly. So Feb 24, 2017 has the format %b %d, %Y. Ask: what would the format be for 24/02/2017? (%d/%m/%Y)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change the existing cell, not add a new one. Point to the title: change existing cell. PRIMM: predict, then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data type under the column name. If even one row had been written differently, Polars would have stopped with an error, which proves every date uses the same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habit worth naming: after every fix, check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a null means a value is missing. If we leave the 0s in, they drag down every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through each row before showing the answers. Ask students to decide first. This is the judgement call the warning later talks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which columns will have nulls and how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Polars skips nulls when it works out mean and median, so averages now only use games that were actually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Your data story task at the end: students will record every cleaning decision starting with I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 games share a name, any step that picks a game by its name could pick the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how many rows will share a name? Most guess very few.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mistakes. Each row is a real store page with real reviews, so we don't delete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message the walkthrough asked for: the way to deal with repeated names is to identify games by AppID. We keep the rows; we change how we identify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would have happened if this was False. (We'd have true duplicates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new file appears in the data folder in VS Code's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catches students out in the story notebook lessons: their charts don't change after a fix because they forgot to re-save.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Polars couldn't work out how the dates were written, so we had to give it a format code.
2. %b %d, %Y
3. A Metacritic score of 0 is impossible (scores go 1–100), so it means missing; a price of 0 is real (free games).
4. By AppID: 34010 and 34019. We always identify a game by its AppID, not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The I decided list becomes the How I got my data part of their finished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BEHIND THE SCENES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6</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Fixing Our Data</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2697480"/>
          </a:xfrm>
          <a:prstGeom prst="roundRect">
            <a:avLst>
              <a:gd name="adj" fmla="val 2712"/>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turn text into dates with </a:t>
            </a:r>
            <a:r>
              <a:rPr lang="en-US" sz="1800" b="1" dirty="0">
                <a:solidFill>
                  <a:srgbClr val="B86E1E"/>
                </a:solidFill>
                <a:latin typeface="Courier New" pitchFamily="34" charset="0"/>
                <a:ea typeface="Courier New" pitchFamily="34" charset="-122"/>
                <a:cs typeface="Courier New" pitchFamily="34" charset="-120"/>
              </a:rPr>
              <a:t>str.to_date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turn values that mean "missing" into nulls</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why we identify games by AppID, not name</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save our clean data</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392680"/>
          </a:xfrm>
          <a:prstGeom prst="roundRect">
            <a:avLst>
              <a:gd name="adj" fmla="val 3057"/>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1706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format code</a:t>
            </a:r>
            <a:r>
              <a:rPr lang="en-US" sz="2000" dirty="0">
                <a:solidFill>
                  <a:srgbClr val="2B1D19"/>
                </a:solidFill>
              </a:rPr>
              <a:t> – a pattern such as </a:t>
            </a:r>
            <a:r>
              <a:rPr lang="en-US" sz="1800" b="1" dirty="0">
                <a:solidFill>
                  <a:srgbClr val="B86E1E"/>
                </a:solidFill>
                <a:latin typeface="Courier New" pitchFamily="34" charset="0"/>
                <a:ea typeface="Courier New" pitchFamily="34" charset="-122"/>
                <a:cs typeface="Courier New" pitchFamily="34" charset="-120"/>
              </a:rPr>
              <a:t>%b %d, %Y</a:t>
            </a:r>
            <a:r>
              <a:rPr lang="en-US" sz="2000" dirty="0">
                <a:solidFill>
                  <a:srgbClr val="2B1D19"/>
                </a:solidFill>
              </a:rPr>
              <a:t> that tells Polars how dates are written in text.</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Parquet</a:t>
            </a:r>
            <a:r>
              <a:rPr lang="en-US" sz="2000" dirty="0">
                <a:solidFill>
                  <a:srgbClr val="2B1D19"/>
                </a:solidFill>
              </a:rPr>
              <a:t> – a file format for tables that saves each column's data type along with the data.</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We found two problems when we asked our question</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400" b="1" dirty="0">
                <a:solidFill>
                  <a:srgbClr val="E8A55A"/>
                </a:solidFill>
                <a:latin typeface="Courier New" pitchFamily="34" charset="0"/>
                <a:ea typeface="Courier New" pitchFamily="34" charset="-122"/>
                <a:cs typeface="Courier New" pitchFamily="34" charset="-120"/>
              </a:rPr>
              <a:t>Release date</a:t>
            </a:r>
            <a:r>
              <a:rPr lang="en-US" sz="1600" dirty="0">
                <a:solidFill>
                  <a:srgbClr val="F7EFE6"/>
                </a:solidFill>
              </a:rPr>
              <a:t> is text, so it sorts alphabetically. Most </a:t>
            </a:r>
            <a:r>
              <a:rPr lang="en-US" sz="1400" b="1" dirty="0">
                <a:solidFill>
                  <a:srgbClr val="E8A55A"/>
                </a:solidFill>
                <a:latin typeface="Courier New" pitchFamily="34" charset="0"/>
                <a:ea typeface="Courier New" pitchFamily="34" charset="-122"/>
                <a:cs typeface="Courier New" pitchFamily="34" charset="-120"/>
              </a:rPr>
              <a:t>Metacritic score</a:t>
            </a:r>
            <a:r>
              <a:rPr lang="en-US" sz="1600" dirty="0">
                <a:solidFill>
                  <a:srgbClr val="F7EFE6"/>
                </a:solidFill>
              </a:rPr>
              <a:t> values are 0, which really means "no score".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Text into dates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Our story looks at change over time, so </a:t>
            </a:r>
            <a:r>
              <a:rPr lang="en-US" sz="1600" b="1" dirty="0">
                <a:solidFill>
                  <a:srgbClr val="E8A55A"/>
                </a:solidFill>
                <a:latin typeface="Courier New" pitchFamily="34" charset="0"/>
                <a:ea typeface="Courier New" pitchFamily="34" charset="-122"/>
                <a:cs typeface="Courier New" pitchFamily="34" charset="-120"/>
              </a:rPr>
              <a:t>Release date</a:t>
            </a:r>
            <a:r>
              <a:rPr lang="en-US" sz="1800" dirty="0">
                <a:solidFill>
                  <a:srgbClr val="F7EFE6"/>
                </a:solidFill>
              </a:rPr>
              <a:t> has to behave like a real date.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First try: let Polars guess the format</a:t>
            </a:r>
            <a:endParaRPr lang="en-US" sz="2800" dirty="0"/>
          </a:p>
        </p:txBody>
      </p:sp>
      <p:sp>
        <p:nvSpPr>
          <p:cNvPr id="3" name="Code panel"/>
          <p:cNvSpPr/>
          <p:nvPr/>
        </p:nvSpPr>
        <p:spPr>
          <a:xfrm>
            <a:off x="457200" y="1051560"/>
            <a:ext cx="512064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9347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dated = selected.with_columns(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pl.col("Release date").str.to_date(),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dated</a:t>
            </a:r>
            <a:endParaRPr lang="en-US" sz="1400" dirty="0"/>
          </a:p>
        </p:txBody>
      </p:sp>
      <p:sp>
        <p:nvSpPr>
          <p:cNvPr id="6" name="primm box"/>
          <p:cNvSpPr/>
          <p:nvPr/>
        </p:nvSpPr>
        <p:spPr>
          <a:xfrm>
            <a:off x="457200" y="2689860"/>
            <a:ext cx="5120640" cy="1285240"/>
          </a:xfrm>
          <a:prstGeom prst="roundRect">
            <a:avLst>
              <a:gd name="adj" fmla="val 5692"/>
            </a:avLst>
          </a:prstGeom>
          <a:solidFill>
            <a:srgbClr val="E6F2E6"/>
          </a:solidFill>
          <a:ln w="12700">
            <a:solidFill>
              <a:srgbClr val="E6F2E6"/>
            </a:solidFill>
            <a:prstDash val="solid"/>
          </a:ln>
        </p:spPr>
      </p:sp>
      <p:sp>
        <p:nvSpPr>
          <p:cNvPr id="7" name="Text 5"/>
          <p:cNvSpPr txBox="1"/>
          <p:nvPr/>
        </p:nvSpPr>
        <p:spPr>
          <a:xfrm>
            <a:off x="685800" y="2827020"/>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3192780"/>
            <a:ext cx="466344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Will Polars be able to work out how our dates are written? What will </a:t>
            </a:r>
            <a:r>
              <a:rPr lang="en-US" sz="1300" b="1" dirty="0">
                <a:solidFill>
                  <a:srgbClr val="B86E1E"/>
                </a:solidFill>
                <a:latin typeface="Courier New" pitchFamily="34" charset="0"/>
                <a:ea typeface="Courier New" pitchFamily="34" charset="-122"/>
                <a:cs typeface="Courier New" pitchFamily="34" charset="-120"/>
              </a:rPr>
              <a:t>dated</a:t>
            </a:r>
            <a:r>
              <a:rPr lang="en-US" sz="1500" dirty="0">
                <a:solidFill>
                  <a:srgbClr val="2B1D19"/>
                </a:solidFill>
              </a:rPr>
              <a:t> look like?</a:t>
            </a:r>
            <a:endParaRPr lang="en-US" sz="1500" dirty="0"/>
          </a:p>
        </p:txBody>
      </p:sp>
      <p:sp>
        <p:nvSpPr>
          <p:cNvPr id="9" name="Text 7"/>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852160" y="1399032"/>
            <a:ext cx="283464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str.to_date</a:t>
            </a:r>
            <a:r>
              <a:rPr lang="en-US" sz="1500" dirty="0">
                <a:solidFill>
                  <a:srgbClr val="2B1D19"/>
                </a:solidFill>
              </a:rPr>
              <a:t> turns text into dates. We try it on its own first to see whether Polars can work out how our dates are written. </a:t>
            </a:r>
            <a:r>
              <a:rPr lang="en-US" sz="1300" b="1" dirty="0">
                <a:solidFill>
                  <a:srgbClr val="B86E1E"/>
                </a:solidFill>
                <a:latin typeface="Courier New" pitchFamily="34" charset="0"/>
                <a:ea typeface="Courier New" pitchFamily="34" charset="-122"/>
                <a:cs typeface="Courier New" pitchFamily="34" charset="-120"/>
              </a:rPr>
              <a:t>with_columns</a:t>
            </a:r>
            <a:r>
              <a:rPr lang="en-US" sz="1500" dirty="0">
                <a:solidFill>
                  <a:srgbClr val="2B1D19"/>
                </a:solidFill>
              </a:rPr>
              <a:t> keeps every column and changes just one, and a new name, </a:t>
            </a:r>
            <a:r>
              <a:rPr lang="en-US" sz="1300" b="1" dirty="0">
                <a:solidFill>
                  <a:srgbClr val="B86E1E"/>
                </a:solidFill>
                <a:latin typeface="Courier New" pitchFamily="34" charset="0"/>
                <a:ea typeface="Courier New" pitchFamily="34" charset="-122"/>
                <a:cs typeface="Courier New" pitchFamily="34" charset="-120"/>
              </a:rPr>
              <a:t>dated</a:t>
            </a:r>
            <a:r>
              <a:rPr lang="en-US" sz="1500" dirty="0">
                <a:solidFill>
                  <a:srgbClr val="2B1D19"/>
                </a:solidFill>
              </a:rPr>
              <a:t>, keeps </a:t>
            </a:r>
            <a:r>
              <a:rPr lang="en-US" sz="1300" b="1" dirty="0">
                <a:solidFill>
                  <a:srgbClr val="B86E1E"/>
                </a:solidFill>
                <a:latin typeface="Courier New" pitchFamily="34" charset="0"/>
                <a:ea typeface="Courier New" pitchFamily="34" charset="-122"/>
                <a:cs typeface="Courier New" pitchFamily="34" charset="-120"/>
              </a:rPr>
              <a:t>selected</a:t>
            </a:r>
            <a:r>
              <a:rPr lang="en-US" sz="1500" dirty="0">
                <a:solidFill>
                  <a:srgbClr val="2B1D19"/>
                </a:solidFill>
              </a:rPr>
              <a:t> unchanged.</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Polars can't guess our date format</a:t>
            </a:r>
            <a:endParaRPr lang="en-US" sz="2800" dirty="0"/>
          </a:p>
        </p:txBody>
      </p:sp>
      <p:pic>
        <p:nvPicPr>
          <p:cNvPr id="3" name="Image 0" descr="marimo showing a ComputeError under the dated cell">    </p:cNvPr>
          <p:cNvPicPr>
            <a:picLocks noChangeAspect="1"/>
          </p:cNvPicPr>
          <p:nvPr/>
        </p:nvPicPr>
        <p:blipFill>
          <a:blip r:embed="rId1"/>
          <a:stretch>
            <a:fillRect/>
          </a:stretch>
        </p:blipFill>
        <p:spPr>
          <a:xfrm>
            <a:off x="457200" y="1147572"/>
            <a:ext cx="5394960" cy="3236976"/>
          </a:xfrm>
          <a:prstGeom prst="rect">
            <a:avLst/>
          </a:prstGeom>
        </p:spPr>
      </p:pic>
      <p:sp>
        <p:nvSpPr>
          <p:cNvPr id="4" name="warning box"/>
          <p:cNvSpPr/>
          <p:nvPr/>
        </p:nvSpPr>
        <p:spPr>
          <a:xfrm>
            <a:off x="6035040" y="1051560"/>
            <a:ext cx="2651760" cy="3429000"/>
          </a:xfrm>
          <a:prstGeom prst="roundRect">
            <a:avLst>
              <a:gd name="adj" fmla="val 2759"/>
            </a:avLst>
          </a:prstGeom>
          <a:solidFill>
            <a:srgbClr val="FDE4EF"/>
          </a:solidFill>
          <a:ln w="12700">
            <a:solidFill>
              <a:srgbClr val="FDE4EF"/>
            </a:solidFill>
            <a:prstDash val="solid"/>
          </a:ln>
        </p:spPr>
      </p:sp>
      <p:sp>
        <p:nvSpPr>
          <p:cNvPr id="5" name="Text 2"/>
          <p:cNvSpPr txBox="1"/>
          <p:nvPr/>
        </p:nvSpPr>
        <p:spPr>
          <a:xfrm>
            <a:off x="6263640" y="1188720"/>
            <a:ext cx="2194560" cy="365760"/>
          </a:xfrm>
          <a:prstGeom prst="rect">
            <a:avLst/>
          </a:prstGeom>
          <a:noFill/>
          <a:ln/>
        </p:spPr>
        <p:txBody>
          <a:bodyPr wrap="square" lIns="0" tIns="0" rIns="0" bIns="0" rtlCol="0" anchor="ctr"/>
          <a:lstStyle/>
          <a:p>
            <a:pPr indent="0" marL="0">
              <a:buNone/>
            </a:pPr>
            <a:r>
              <a:rPr lang="en-US" sz="1600" b="1" dirty="0">
                <a:solidFill>
                  <a:srgbClr val="B0185E"/>
                </a:solidFill>
              </a:rPr>
              <a:t>Reading the error</a:t>
            </a:r>
            <a:endParaRPr lang="en-US" sz="1600" dirty="0"/>
          </a:p>
        </p:txBody>
      </p:sp>
      <p:sp>
        <p:nvSpPr>
          <p:cNvPr id="6" name="Text 3"/>
          <p:cNvSpPr txBox="1"/>
          <p:nvPr/>
        </p:nvSpPr>
        <p:spPr>
          <a:xfrm>
            <a:off x="6263640" y="1600200"/>
            <a:ext cx="2194560" cy="274320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300" dirty="0">
                <a:solidFill>
                  <a:srgbClr val="2B1D19"/>
                </a:solidFill>
              </a:rPr>
              <a:t>​</a:t>
            </a:r>
            <a:r>
              <a:rPr lang="en-US" sz="1300" b="1" dirty="0">
                <a:solidFill>
                  <a:srgbClr val="2B1D19"/>
                </a:solidFill>
              </a:rPr>
              <a:t>ComputeError</a:t>
            </a:r>
            <a:r>
              <a:rPr lang="en-US" sz="1300" dirty="0">
                <a:solidFill>
                  <a:srgbClr val="2B1D19"/>
                </a:solidFill>
              </a:rPr>
              <a:t> → Polars couldn't finish a calculation</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could not find an appropriate format to parse dates</a:t>
            </a:r>
            <a:r>
              <a:rPr lang="en-US" sz="1300" dirty="0">
                <a:solidFill>
                  <a:srgbClr val="2B1D19"/>
                </a:solidFill>
              </a:rPr>
              <a:t> → it couldn't work out how our dates are written, so we must tell it</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following expression</a:t>
            </a:r>
            <a:r>
              <a:rPr lang="en-US" sz="1300" dirty="0">
                <a:solidFill>
                  <a:srgbClr val="2B1D19"/>
                </a:solidFill>
              </a:rPr>
              <a:t> → the part of our code it was working on: our </a:t>
            </a:r>
            <a:r>
              <a:rPr lang="en-US" sz="1100" b="1" dirty="0">
                <a:solidFill>
                  <a:srgbClr val="B86E1E"/>
                </a:solidFill>
                <a:latin typeface="Courier New" pitchFamily="34" charset="0"/>
                <a:ea typeface="Courier New" pitchFamily="34" charset="-122"/>
                <a:cs typeface="Courier New" pitchFamily="34" charset="-120"/>
              </a:rPr>
              <a:t>Release date</a:t>
            </a:r>
            <a:r>
              <a:rPr lang="en-US" sz="1300" dirty="0">
                <a:solidFill>
                  <a:srgbClr val="2B1D19"/>
                </a:solidFill>
              </a:rPr>
              <a:t> line</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Traceback</a:t>
            </a:r>
            <a:r>
              <a:rPr lang="en-US" sz="1300" dirty="0">
                <a:solidFill>
                  <a:srgbClr val="2B1D19"/>
                </a:solidFill>
              </a:rPr>
              <a:t> → the first line points to our cell; the rest is inside Polars, so we can ignore it</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Describing our dates with a format code</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Polars recognises </a:t>
            </a:r>
            <a:r>
              <a:rPr lang="en-US" sz="1300" b="1" dirty="0">
                <a:solidFill>
                  <a:srgbClr val="B86E1E"/>
                </a:solidFill>
                <a:latin typeface="Courier New" pitchFamily="34" charset="0"/>
                <a:ea typeface="Courier New" pitchFamily="34" charset="-122"/>
                <a:cs typeface="Courier New" pitchFamily="34" charset="-120"/>
              </a:rPr>
              <a:t>2017-02-24</a:t>
            </a:r>
            <a:r>
              <a:rPr lang="en-US" sz="1500" dirty="0">
                <a:solidFill>
                  <a:srgbClr val="2B1D19"/>
                </a:solidFill>
              </a:rPr>
              <a:t>, but our dates look like </a:t>
            </a:r>
            <a:r>
              <a:rPr lang="en-US" sz="1300" b="1" dirty="0">
                <a:solidFill>
                  <a:srgbClr val="B86E1E"/>
                </a:solidFill>
                <a:latin typeface="Courier New" pitchFamily="34" charset="0"/>
                <a:ea typeface="Courier New" pitchFamily="34" charset="-122"/>
                <a:cs typeface="Courier New" pitchFamily="34" charset="-120"/>
              </a:rPr>
              <a:t>Feb 24, 2017</a:t>
            </a:r>
            <a:r>
              <a:rPr lang="en-US" sz="1500" dirty="0">
                <a:solidFill>
                  <a:srgbClr val="2B1D19"/>
                </a:solidFill>
              </a:rPr>
              <a:t>.</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3657600"/>
                <a:gridCol w="2286000"/>
                <a:gridCol w="2286000"/>
              </a:tblGrid>
              <a:tr h="0">
                <a:tc>
                  <a:txBody>
                    <a:bodyPr/>
                    <a:lstStyle/>
                    <a:p>
                      <a:pPr indent="0" marL="0">
                        <a:buNone/>
                      </a:pPr>
                      <a:r>
                        <a:rPr lang="en-US" sz="1400" b="1" dirty="0">
                          <a:solidFill>
                            <a:srgbClr val="FFFFFF"/>
                          </a:solidFill>
                        </a:rPr>
                        <a:t>Part of the date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Format code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Example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short month 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Feb</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day of the month</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24</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four-digit year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2017</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Tell Polars the format</a:t>
            </a:r>
            <a:endParaRPr lang="en-US" sz="2800" dirty="0"/>
          </a:p>
        </p:txBody>
      </p:sp>
      <p:sp>
        <p:nvSpPr>
          <p:cNvPr id="3" name="Code panel"/>
          <p:cNvSpPr/>
          <p:nvPr/>
        </p:nvSpPr>
        <p:spPr>
          <a:xfrm>
            <a:off x="457200" y="1051560"/>
            <a:ext cx="512064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change existing cell</a:t>
            </a:r>
            <a:endParaRPr lang="en-US" sz="1200" dirty="0"/>
          </a:p>
        </p:txBody>
      </p:sp>
      <p:sp>
        <p:nvSpPr>
          <p:cNvPr id="5" name="Highlight"/>
          <p:cNvSpPr/>
          <p:nvPr/>
        </p:nvSpPr>
        <p:spPr>
          <a:xfrm>
            <a:off x="530352" y="1683385"/>
            <a:ext cx="4974336" cy="174625"/>
          </a:xfrm>
          <a:prstGeom prst="rect">
            <a:avLst/>
          </a:prstGeom>
          <a:solidFill>
            <a:srgbClr val="5A3A1E"/>
          </a:solidFill>
          <a:ln w="12700">
            <a:solidFill>
              <a:srgbClr val="5A3A1E"/>
            </a:solidFill>
            <a:prstDash val="solid"/>
          </a:ln>
        </p:spPr>
      </p:sp>
      <p:sp>
        <p:nvSpPr>
          <p:cNvPr id="6" name="Code"/>
          <p:cNvSpPr txBox="1"/>
          <p:nvPr/>
        </p:nvSpPr>
        <p:spPr>
          <a:xfrm>
            <a:off x="594360" y="1508760"/>
            <a:ext cx="4846320" cy="744220"/>
          </a:xfrm>
          <a:prstGeom prst="rect">
            <a:avLst/>
          </a:prstGeom>
          <a:noFill/>
          <a:ln/>
        </p:spPr>
        <p:txBody>
          <a:bodyPr wrap="square" lIns="0" tIns="0" rIns="0" bIns="0" rtlCol="0" anchor="t"/>
          <a:lstStyle/>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1  </a:t>
            </a:r>
            <a:r>
              <a:rPr lang="en-US" sz="1100" dirty="0">
                <a:solidFill>
                  <a:srgbClr val="F7EFE6"/>
                </a:solidFill>
                <a:latin typeface="Courier New" pitchFamily="34" charset="0"/>
                <a:ea typeface="Courier New" pitchFamily="34" charset="-122"/>
                <a:cs typeface="Courier New" pitchFamily="34" charset="-120"/>
              </a:rPr>
              <a:t>dated = selected.with_columns(</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2  </a:t>
            </a:r>
            <a:r>
              <a:rPr lang="en-US" sz="1100" dirty="0">
                <a:solidFill>
                  <a:srgbClr val="F7EFE6"/>
                </a:solidFill>
                <a:latin typeface="Courier New" pitchFamily="34" charset="0"/>
                <a:ea typeface="Courier New" pitchFamily="34" charset="-122"/>
                <a:cs typeface="Courier New" pitchFamily="34" charset="-120"/>
              </a:rPr>
              <a:t>    pl.col("Release date").str.to_date("%b %d, %Y"),</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3  </a:t>
            </a:r>
            <a:r>
              <a:rPr lang="en-US" sz="1100" dirty="0">
                <a:solidFill>
                  <a:srgbClr val="F7EFE6"/>
                </a:solidFill>
                <a:latin typeface="Courier New" pitchFamily="34" charset="0"/>
                <a:ea typeface="Courier New" pitchFamily="34" charset="-122"/>
                <a:cs typeface="Courier New" pitchFamily="34" charset="-120"/>
              </a:rPr>
              <a:t>)</a:t>
            </a:r>
            <a:endParaRPr lang="en-US" sz="1100" dirty="0"/>
          </a:p>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4  </a:t>
            </a:r>
            <a:r>
              <a:rPr lang="en-US" sz="1100" dirty="0">
                <a:solidFill>
                  <a:srgbClr val="F7EFE6"/>
                </a:solidFill>
                <a:latin typeface="Courier New" pitchFamily="34" charset="0"/>
                <a:ea typeface="Courier New" pitchFamily="34" charset="-122"/>
                <a:cs typeface="Courier New" pitchFamily="34" charset="-120"/>
              </a:rPr>
              <a:t>dated</a:t>
            </a:r>
            <a:endParaRPr lang="en-US" sz="1100" dirty="0"/>
          </a:p>
        </p:txBody>
      </p:sp>
      <p:sp>
        <p:nvSpPr>
          <p:cNvPr id="7" name="Text 5"/>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What it does</a:t>
            </a:r>
            <a:endParaRPr lang="en-US" sz="1400" dirty="0"/>
          </a:p>
        </p:txBody>
      </p:sp>
      <p:sp>
        <p:nvSpPr>
          <p:cNvPr id="8" name="Text 6"/>
          <p:cNvSpPr txBox="1"/>
          <p:nvPr/>
        </p:nvSpPr>
        <p:spPr>
          <a:xfrm>
            <a:off x="5852160" y="1399032"/>
            <a:ext cx="2834640" cy="3127248"/>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line 2</a:t>
            </a:r>
            <a:r>
              <a:rPr lang="en-US" sz="1400" dirty="0">
                <a:solidFill>
                  <a:srgbClr val="2B1D19"/>
                </a:solidFill>
              </a:rPr>
              <a:t> → turns the text in </a:t>
            </a:r>
            <a:r>
              <a:rPr lang="en-US" sz="1200" b="1" dirty="0">
                <a:solidFill>
                  <a:srgbClr val="B86E1E"/>
                </a:solidFill>
                <a:latin typeface="Courier New" pitchFamily="34" charset="0"/>
                <a:ea typeface="Courier New" pitchFamily="34" charset="-122"/>
                <a:cs typeface="Courier New" pitchFamily="34" charset="-120"/>
              </a:rPr>
              <a:t>Release date</a:t>
            </a:r>
            <a:r>
              <a:rPr lang="en-US" sz="1400" dirty="0">
                <a:solidFill>
                  <a:srgbClr val="2B1D19"/>
                </a:solidFill>
              </a:rPr>
              <a:t> into dates using the format </a:t>
            </a:r>
            <a:r>
              <a:rPr lang="en-US" sz="1200" b="1" dirty="0">
                <a:solidFill>
                  <a:srgbClr val="B86E1E"/>
                </a:solidFill>
                <a:latin typeface="Courier New" pitchFamily="34" charset="0"/>
                <a:ea typeface="Courier New" pitchFamily="34" charset="-122"/>
                <a:cs typeface="Courier New" pitchFamily="34" charset="-120"/>
              </a:rPr>
              <a:t>%b %d, %Y</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the new column has the same name, so it replaces the old one</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Every date converted</a:t>
            </a:r>
            <a:endParaRPr lang="en-US" sz="2800" dirty="0"/>
          </a:p>
        </p:txBody>
      </p:sp>
      <p:pic>
        <p:nvPicPr>
          <p:cNvPr id="3" name="Image 0" descr="The dated table with Release date shown as dates such as 2019-09-05">    </p:cNvPr>
          <p:cNvPicPr>
            <a:picLocks noChangeAspect="1"/>
          </p:cNvPicPr>
          <p:nvPr/>
        </p:nvPicPr>
        <p:blipFill>
          <a:blip r:embed="rId1"/>
          <a:stretch>
            <a:fillRect/>
          </a:stretch>
        </p:blipFill>
        <p:spPr>
          <a:xfrm>
            <a:off x="457200" y="1051560"/>
            <a:ext cx="5577840" cy="2925632"/>
          </a:xfrm>
          <a:prstGeom prst="rect">
            <a:avLst/>
          </a:prstGeom>
        </p:spPr>
      </p:pic>
      <p:sp>
        <p:nvSpPr>
          <p:cNvPr id="4" name="Text 1"/>
          <p:cNvSpPr txBox="1"/>
          <p:nvPr/>
        </p:nvSpPr>
        <p:spPr>
          <a:xfrm>
            <a:off x="6309360" y="1097280"/>
            <a:ext cx="237744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Release date</a:t>
            </a:r>
            <a:r>
              <a:rPr lang="en-US" sz="1500" dirty="0">
                <a:solidFill>
                  <a:srgbClr val="2B1D19"/>
                </a:solidFill>
              </a:rPr>
              <a:t> now holds real dates</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its data type is </a:t>
            </a:r>
            <a:r>
              <a:rPr lang="en-US" sz="1500" b="1" dirty="0">
                <a:solidFill>
                  <a:srgbClr val="2B1D19"/>
                </a:solidFill>
              </a:rPr>
              <a:t>date</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all 10,250 dates converted</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the dates sort properly</a:t>
            </a:r>
            <a:endParaRPr lang="en-US" sz="2800" dirty="0"/>
          </a:p>
        </p:txBody>
      </p:sp>
      <p:sp>
        <p:nvSpPr>
          <p:cNvPr id="3" name="Code panel"/>
          <p:cNvSpPr/>
          <p:nvPr/>
        </p:nvSpPr>
        <p:spPr>
          <a:xfrm>
            <a:off x="457200" y="1051560"/>
            <a:ext cx="822960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795528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dated["Release date"].min(), dated["Release date"].max()</a:t>
            </a:r>
            <a:endParaRPr lang="en-US" sz="1400" dirty="0"/>
          </a:p>
        </p:txBody>
      </p:sp>
      <p:sp>
        <p:nvSpPr>
          <p:cNvPr id="6" name="Text 4"/>
          <p:cNvSpPr txBox="1"/>
          <p:nvPr/>
        </p:nvSpPr>
        <p:spPr>
          <a:xfrm>
            <a:off x="457200" y="1929765"/>
            <a:ext cx="822960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b="1" dirty="0">
                <a:solidFill>
                  <a:srgbClr val="2B1D19"/>
                </a:solidFill>
              </a:rPr>
              <a:t>30 June 1997</a:t>
            </a:r>
            <a:r>
              <a:rPr lang="en-US" sz="1500" dirty="0">
                <a:solidFill>
                  <a:srgbClr val="2B1D19"/>
                </a:solidFill>
              </a:rPr>
              <a:t> and </a:t>
            </a:r>
            <a:r>
              <a:rPr lang="en-US" sz="1500" b="1" dirty="0">
                <a:solidFill>
                  <a:srgbClr val="2B1D19"/>
                </a:solidFill>
              </a:rPr>
              <a:t>18 December 2025</a:t>
            </a:r>
            <a:r>
              <a:rPr lang="en-US" sz="1500" dirty="0">
                <a:solidFill>
                  <a:srgbClr val="2B1D19"/>
                </a:solidFill>
              </a:rPr>
              <a:t>. As text, the "smallest" was </a:t>
            </a:r>
            <a:r>
              <a:rPr lang="en-US" sz="1300" b="1" dirty="0">
                <a:solidFill>
                  <a:srgbClr val="B86E1E"/>
                </a:solidFill>
                <a:latin typeface="Courier New" pitchFamily="34" charset="0"/>
                <a:ea typeface="Courier New" pitchFamily="34" charset="-122"/>
                <a:cs typeface="Courier New" pitchFamily="34" charset="-120"/>
              </a:rPr>
              <a:t>Apr 1, 1999</a:t>
            </a:r>
            <a:r>
              <a:rPr lang="en-US" sz="1500" dirty="0">
                <a:solidFill>
                  <a:srgbClr val="2B1D19"/>
                </a:solidFill>
              </a:rPr>
              <a:t>.</a:t>
            </a:r>
            <a:endParaRPr lang="en-US" sz="1500" dirty="0"/>
          </a:p>
        </p:txBody>
      </p:sp>
      <p:sp>
        <p:nvSpPr>
          <p:cNvPr id="7" name="Text 5"/>
          <p:cNvSpPr txBox="1"/>
          <p:nvPr/>
        </p:nvSpPr>
        <p:spPr>
          <a:xfrm>
            <a:off x="457200" y="2386965"/>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If they're real dates, the smallest should be the oldest game and the largest the newest. So we ask for the </a:t>
            </a:r>
            <a:r>
              <a:rPr lang="en-US" sz="1300" b="1" dirty="0">
                <a:solidFill>
                  <a:srgbClr val="B86E1E"/>
                </a:solidFill>
                <a:latin typeface="Courier New" pitchFamily="34" charset="0"/>
                <a:ea typeface="Courier New" pitchFamily="34" charset="-122"/>
                <a:cs typeface="Courier New" pitchFamily="34" charset="-120"/>
              </a:rPr>
              <a:t>min</a:t>
            </a:r>
            <a:r>
              <a:rPr lang="en-US" sz="1500" dirty="0">
                <a:solidFill>
                  <a:srgbClr val="2B1D19"/>
                </a:solidFill>
              </a:rPr>
              <a:t> and </a:t>
            </a:r>
            <a:r>
              <a:rPr lang="en-US" sz="1300" b="1" dirty="0">
                <a:solidFill>
                  <a:srgbClr val="B86E1E"/>
                </a:solidFill>
                <a:latin typeface="Courier New" pitchFamily="34" charset="0"/>
                <a:ea typeface="Courier New" pitchFamily="34" charset="-122"/>
                <a:cs typeface="Courier New" pitchFamily="34" charset="-120"/>
              </a:rPr>
              <a:t>max</a:t>
            </a:r>
            <a:r>
              <a:rPr lang="en-US" sz="1500" dirty="0">
                <a:solidFill>
                  <a:srgbClr val="2B1D19"/>
                </a:solidFill>
              </a:rPr>
              <a:t> and check they make sense.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Values that mean "missing"</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7,317 games have a </a:t>
            </a:r>
            <a:r>
              <a:rPr lang="en-US" sz="1600" b="1" dirty="0">
                <a:solidFill>
                  <a:srgbClr val="E8A55A"/>
                </a:solidFill>
                <a:latin typeface="Courier New" pitchFamily="34" charset="0"/>
                <a:ea typeface="Courier New" pitchFamily="34" charset="-122"/>
                <a:cs typeface="Courier New" pitchFamily="34" charset="-120"/>
              </a:rPr>
              <a:t>Metacritic score</a:t>
            </a:r>
            <a:r>
              <a:rPr lang="en-US" sz="1800" dirty="0">
                <a:solidFill>
                  <a:srgbClr val="F7EFE6"/>
                </a:solidFill>
              </a:rPr>
              <a:t> of 0. Scores go from 1 to 100, so 0 means "no score".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Is 0 a real value?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1463040"/>
                <a:gridCol w="4389120"/>
              </a:tblGrid>
              <a:tr h="0">
                <a:tc>
                  <a:txBody>
                    <a:bodyPr/>
                    <a:lstStyle/>
                    <a:p>
                      <a:pPr indent="0" marL="0">
                        <a:buNone/>
                      </a:pPr>
                      <a:r>
                        <a:rPr lang="en-US" sz="1400" b="1" dirty="0">
                          <a:solidFill>
                            <a:srgbClr val="FFFFFF"/>
                          </a:solidFill>
                        </a:rPr>
                        <a:t>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Is 0 real?</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yes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free games really do cost $0</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Recommendations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yes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 game can really have no recommendations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Metacritic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no</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scores go from 1 to 100, so 0 means "no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Turn the 0s into nulls</a:t>
            </a:r>
            <a:endParaRPr lang="en-US" sz="2800" dirty="0"/>
          </a:p>
        </p:txBody>
      </p:sp>
      <p:sp>
        <p:nvSpPr>
          <p:cNvPr id="3" name="Code panel"/>
          <p:cNvSpPr/>
          <p:nvPr/>
        </p:nvSpPr>
        <p:spPr>
          <a:xfrm>
            <a:off x="457200" y="1051560"/>
            <a:ext cx="512064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807720"/>
          </a:xfrm>
          <a:prstGeom prst="rect">
            <a:avLst/>
          </a:prstGeom>
          <a:noFill/>
          <a:ln/>
        </p:spPr>
        <p:txBody>
          <a:bodyPr wrap="square" lIns="0" tIns="0" rIns="0" bIns="0" rtlCol="0" anchor="t"/>
          <a:lstStyle/>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1  </a:t>
            </a:r>
            <a:r>
              <a:rPr lang="en-US" sz="1200" dirty="0">
                <a:solidFill>
                  <a:srgbClr val="F7EFE6"/>
                </a:solidFill>
                <a:latin typeface="Courier New" pitchFamily="34" charset="0"/>
                <a:ea typeface="Courier New" pitchFamily="34" charset="-122"/>
                <a:cs typeface="Courier New" pitchFamily="34" charset="-120"/>
              </a:rPr>
              <a:t>clean_games = dated.with_columns(</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2  </a:t>
            </a:r>
            <a:r>
              <a:rPr lang="en-US" sz="1200" dirty="0">
                <a:solidFill>
                  <a:srgbClr val="F7EFE6"/>
                </a:solidFill>
                <a:latin typeface="Courier New" pitchFamily="34" charset="0"/>
                <a:ea typeface="Courier New" pitchFamily="34" charset="-122"/>
                <a:cs typeface="Courier New" pitchFamily="34" charset="-120"/>
              </a:rPr>
              <a:t>    pl.col("Metacritic score").replace(0, None),</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3  </a:t>
            </a:r>
            <a:r>
              <a:rPr lang="en-US" sz="1200" dirty="0">
                <a:solidFill>
                  <a:srgbClr val="F7EFE6"/>
                </a:solidFill>
                <a:latin typeface="Courier New" pitchFamily="34" charset="0"/>
                <a:ea typeface="Courier New" pitchFamily="34" charset="-122"/>
                <a:cs typeface="Courier New" pitchFamily="34" charset="-120"/>
              </a:rPr>
              <a:t>)</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4  </a:t>
            </a:r>
            <a:r>
              <a:rPr lang="en-US" sz="1200" dirty="0">
                <a:solidFill>
                  <a:srgbClr val="F7EFE6"/>
                </a:solidFill>
                <a:latin typeface="Courier New" pitchFamily="34" charset="0"/>
                <a:ea typeface="Courier New" pitchFamily="34" charset="-122"/>
                <a:cs typeface="Courier New" pitchFamily="34" charset="-120"/>
              </a:rPr>
              <a:t>clean_games.null_count()</a:t>
            </a:r>
            <a:endParaRPr lang="en-US" sz="1200" dirty="0"/>
          </a:p>
        </p:txBody>
      </p:sp>
      <p:sp>
        <p:nvSpPr>
          <p:cNvPr id="6" name="primm box"/>
          <p:cNvSpPr/>
          <p:nvPr/>
        </p:nvSpPr>
        <p:spPr>
          <a:xfrm>
            <a:off x="457200" y="2689860"/>
            <a:ext cx="5120640" cy="1285240"/>
          </a:xfrm>
          <a:prstGeom prst="roundRect">
            <a:avLst>
              <a:gd name="adj" fmla="val 5692"/>
            </a:avLst>
          </a:prstGeom>
          <a:solidFill>
            <a:srgbClr val="E6F2E6"/>
          </a:solidFill>
          <a:ln w="12700">
            <a:solidFill>
              <a:srgbClr val="E6F2E6"/>
            </a:solidFill>
            <a:prstDash val="solid"/>
          </a:ln>
        </p:spPr>
      </p:sp>
      <p:sp>
        <p:nvSpPr>
          <p:cNvPr id="7" name="Text 5"/>
          <p:cNvSpPr txBox="1"/>
          <p:nvPr/>
        </p:nvSpPr>
        <p:spPr>
          <a:xfrm>
            <a:off x="685800" y="2827020"/>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3192780"/>
            <a:ext cx="466344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Which columns will have nulls after this cell, and how many?</a:t>
            </a:r>
            <a:endParaRPr lang="en-US" sz="1500" dirty="0"/>
          </a:p>
        </p:txBody>
      </p:sp>
      <p:sp>
        <p:nvSpPr>
          <p:cNvPr id="9" name="Text 7"/>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5852160" y="1399032"/>
            <a:ext cx="283464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replace</a:t>
            </a:r>
            <a:r>
              <a:rPr lang="en-US" sz="1500" dirty="0">
                <a:solidFill>
                  <a:srgbClr val="2B1D19"/>
                </a:solidFill>
              </a:rPr>
              <a:t> swaps every 0 for </a:t>
            </a:r>
            <a:r>
              <a:rPr lang="en-US" sz="1300" b="1" dirty="0">
                <a:solidFill>
                  <a:srgbClr val="B86E1E"/>
                </a:solidFill>
                <a:latin typeface="Courier New" pitchFamily="34" charset="0"/>
                <a:ea typeface="Courier New" pitchFamily="34" charset="-122"/>
                <a:cs typeface="Courier New" pitchFamily="34" charset="-120"/>
              </a:rPr>
              <a:t>None</a:t>
            </a:r>
            <a:r>
              <a:rPr lang="en-US" sz="1500" dirty="0">
                <a:solidFill>
                  <a:srgbClr val="2B1D19"/>
                </a:solidFill>
              </a:rPr>
              <a:t>, which Polars stores as a null. Then </a:t>
            </a:r>
            <a:r>
              <a:rPr lang="en-US" sz="1300" b="1" dirty="0">
                <a:solidFill>
                  <a:srgbClr val="B86E1E"/>
                </a:solidFill>
                <a:latin typeface="Courier New" pitchFamily="34" charset="0"/>
                <a:ea typeface="Courier New" pitchFamily="34" charset="-122"/>
                <a:cs typeface="Courier New" pitchFamily="34" charset="-120"/>
              </a:rPr>
              <a:t>null_count</a:t>
            </a:r>
            <a:r>
              <a:rPr lang="en-US" sz="1500" dirty="0">
                <a:solidFill>
                  <a:srgbClr val="2B1D19"/>
                </a:solidFill>
              </a:rPr>
              <a:t> counts the nulls in every column, so we can check that exactly 7,317 values changed and nothing else did.</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hidden gaps are now real gaps</a:t>
            </a:r>
            <a:endParaRPr lang="en-US" sz="2800" dirty="0"/>
          </a:p>
        </p:txBody>
      </p:sp>
      <p:pic>
        <p:nvPicPr>
          <p:cNvPr id="3" name="Image 0" descr="null_count output with 7317 under Metacritic score">    </p:cNvPr>
          <p:cNvPicPr>
            <a:picLocks noChangeAspect="1"/>
          </p:cNvPicPr>
          <p:nvPr/>
        </p:nvPicPr>
        <p:blipFill>
          <a:blip r:embed="rId1"/>
          <a:stretch>
            <a:fillRect/>
          </a:stretch>
        </p:blipFill>
        <p:spPr>
          <a:xfrm>
            <a:off x="457200" y="1051560"/>
            <a:ext cx="8229600" cy="2037295"/>
          </a:xfrm>
          <a:prstGeom prst="rect">
            <a:avLst/>
          </a:prstGeom>
        </p:spPr>
      </p:pic>
      <p:sp>
        <p:nvSpPr>
          <p:cNvPr id="4" name="Text 1"/>
          <p:cNvSpPr txBox="1"/>
          <p:nvPr/>
        </p:nvSpPr>
        <p:spPr>
          <a:xfrm>
            <a:off x="457200" y="3134575"/>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Every column has 0 nulls, except </a:t>
            </a:r>
            <a:r>
              <a:rPr lang="en-US" sz="1100" b="1" i="1" dirty="0">
                <a:solidFill>
                  <a:srgbClr val="B86E1E"/>
                </a:solidFill>
                <a:latin typeface="Courier New" pitchFamily="34" charset="0"/>
                <a:ea typeface="Courier New" pitchFamily="34" charset="-122"/>
                <a:cs typeface="Courier New" pitchFamily="34" charset="-120"/>
              </a:rPr>
              <a:t>Metacritic score</a:t>
            </a:r>
            <a:r>
              <a:rPr lang="en-US" sz="1300" i="1" dirty="0">
                <a:solidFill>
                  <a:srgbClr val="6B6B6B"/>
                </a:solidFill>
              </a:rPr>
              <a:t>, with </a:t>
            </a:r>
            <a:r>
              <a:rPr lang="en-US" sz="1300" b="1" i="1" dirty="0">
                <a:solidFill>
                  <a:srgbClr val="6B6B6B"/>
                </a:solidFill>
              </a:rPr>
              <a:t>7317</a:t>
            </a:r>
            <a:r>
              <a:rPr lang="en-US" sz="1300" i="1" dirty="0">
                <a:solidFill>
                  <a:srgbClr val="6B6B6B"/>
                </a:solidFill>
              </a:rPr>
              <a:t>.</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Cleaning is a judgement call</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Judgement call</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We decided 0 means "missing" for </a:t>
            </a:r>
            <a:r>
              <a:rPr lang="en-US" sz="1800" b="1" dirty="0">
                <a:solidFill>
                  <a:srgbClr val="B86E1E"/>
                </a:solidFill>
                <a:latin typeface="Courier New" pitchFamily="34" charset="0"/>
                <a:ea typeface="Courier New" pitchFamily="34" charset="-122"/>
                <a:cs typeface="Courier New" pitchFamily="34" charset="-120"/>
              </a:rPr>
              <a:t>Metacritic score</a:t>
            </a:r>
            <a:r>
              <a:rPr lang="en-US" sz="2000" dirty="0">
                <a:solidFill>
                  <a:srgbClr val="2B1D19"/>
                </a:solidFill>
              </a:rPr>
              <a:t> but not for </a:t>
            </a:r>
            <a:r>
              <a:rPr lang="en-US" sz="1800" b="1" dirty="0">
                <a:solidFill>
                  <a:srgbClr val="B86E1E"/>
                </a:solidFill>
                <a:latin typeface="Courier New" pitchFamily="34" charset="0"/>
                <a:ea typeface="Courier New" pitchFamily="34" charset="-122"/>
                <a:cs typeface="Courier New" pitchFamily="34" charset="-120"/>
              </a:rPr>
              <a:t>Price</a:t>
            </a:r>
            <a:r>
              <a:rPr lang="en-US" sz="2000" dirty="0">
                <a:solidFill>
                  <a:srgbClr val="2B1D19"/>
                </a:solidFill>
              </a:rPr>
              <a:t>. Decisions like this change our results, so good data scientists write them down where others can see them. That's what the </a:t>
            </a:r>
            <a:r>
              <a:rPr lang="en-US" sz="2000" b="1" dirty="0">
                <a:solidFill>
                  <a:srgbClr val="2B1D19"/>
                </a:solidFill>
              </a:rPr>
              <a:t>Your data story</a:t>
            </a:r>
            <a:r>
              <a:rPr lang="en-US" sz="2000" dirty="0">
                <a:solidFill>
                  <a:srgbClr val="2B1D19"/>
                </a:solidFill>
              </a:rPr>
              <a:t> section is for.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Repeated names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Two games can share a name, but never an AppID. Let's check.</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Find the names that appear more than once</a:t>
            </a:r>
            <a:endParaRPr lang="en-US" sz="2800" dirty="0"/>
          </a:p>
        </p:txBody>
      </p:sp>
      <p:sp>
        <p:nvSpPr>
          <p:cNvPr id="3" name="Code panel"/>
          <p:cNvSpPr/>
          <p:nvPr/>
        </p:nvSpPr>
        <p:spPr>
          <a:xfrm>
            <a:off x="457200" y="1051560"/>
            <a:ext cx="822960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795528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clean_games.filter(pl.col("Name").is_duplicated()).sort("Name")</a:t>
            </a:r>
            <a:endParaRPr lang="en-US" sz="1400" dirty="0"/>
          </a:p>
        </p:txBody>
      </p:sp>
      <p:sp>
        <p:nvSpPr>
          <p:cNvPr id="6" name="Text 4"/>
          <p:cNvSpPr txBox="1"/>
          <p:nvPr/>
        </p:nvSpPr>
        <p:spPr>
          <a:xfrm>
            <a:off x="457200" y="1929765"/>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t>
            </a:r>
            <a:r>
              <a:rPr lang="en-US" sz="1300" b="1" dirty="0">
                <a:solidFill>
                  <a:srgbClr val="B86E1E"/>
                </a:solidFill>
                <a:latin typeface="Courier New" pitchFamily="34" charset="0"/>
                <a:ea typeface="Courier New" pitchFamily="34" charset="-122"/>
                <a:cs typeface="Courier New" pitchFamily="34" charset="-120"/>
              </a:rPr>
              <a:t>is_duplicated</a:t>
            </a:r>
            <a:r>
              <a:rPr lang="en-US" sz="1500" dirty="0">
                <a:solidFill>
                  <a:srgbClr val="2B1D19"/>
                </a:solidFill>
              </a:rPr>
              <a:t> marks every row whose </a:t>
            </a:r>
            <a:r>
              <a:rPr lang="en-US" sz="1300" b="1" dirty="0">
                <a:solidFill>
                  <a:srgbClr val="B86E1E"/>
                </a:solidFill>
                <a:latin typeface="Courier New" pitchFamily="34" charset="0"/>
                <a:ea typeface="Courier New" pitchFamily="34" charset="-122"/>
                <a:cs typeface="Courier New" pitchFamily="34" charset="-120"/>
              </a:rPr>
              <a:t>Name</a:t>
            </a:r>
            <a:r>
              <a:rPr lang="en-US" sz="1500" dirty="0">
                <a:solidFill>
                  <a:srgbClr val="2B1D19"/>
                </a:solidFill>
              </a:rPr>
              <a:t> appears more than once. Sorting by </a:t>
            </a:r>
            <a:r>
              <a:rPr lang="en-US" sz="1300" b="1" dirty="0">
                <a:solidFill>
                  <a:srgbClr val="B86E1E"/>
                </a:solidFill>
                <a:latin typeface="Courier New" pitchFamily="34" charset="0"/>
                <a:ea typeface="Courier New" pitchFamily="34" charset="-122"/>
                <a:cs typeface="Courier New" pitchFamily="34" charset="-120"/>
              </a:rPr>
              <a:t>Name</a:t>
            </a:r>
            <a:r>
              <a:rPr lang="en-US" sz="1500" dirty="0">
                <a:solidFill>
                  <a:srgbClr val="2B1D19"/>
                </a:solidFill>
              </a:rPr>
              <a:t> puts rows with the same name next to each other so we can compare them.</a:t>
            </a:r>
            <a:endParaRPr lang="en-US" sz="1500" dirty="0"/>
          </a:p>
        </p:txBody>
      </p:sp>
      <p:sp>
        <p:nvSpPr>
          <p:cNvPr id="7" name="primm box"/>
          <p:cNvSpPr/>
          <p:nvPr/>
        </p:nvSpPr>
        <p:spPr>
          <a:xfrm>
            <a:off x="457200" y="2646045"/>
            <a:ext cx="8229600" cy="1056640"/>
          </a:xfrm>
          <a:prstGeom prst="roundRect">
            <a:avLst>
              <a:gd name="adj" fmla="val 6923"/>
            </a:avLst>
          </a:prstGeom>
          <a:solidFill>
            <a:srgbClr val="E6F2E6"/>
          </a:solidFill>
          <a:ln w="12700">
            <a:solidFill>
              <a:srgbClr val="E6F2E6"/>
            </a:solidFill>
            <a:prstDash val="solid"/>
          </a:ln>
        </p:spPr>
      </p:sp>
      <p:sp>
        <p:nvSpPr>
          <p:cNvPr id="8" name="Text 6"/>
          <p:cNvSpPr txBox="1"/>
          <p:nvPr/>
        </p:nvSpPr>
        <p:spPr>
          <a:xfrm>
            <a:off x="685800" y="2783205"/>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3148965"/>
            <a:ext cx="777240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How many rows do you think share their name with another row?</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115 rows share a name</a:t>
            </a:r>
            <a:endParaRPr lang="en-US" sz="2800" dirty="0"/>
          </a:p>
        </p:txBody>
      </p:sp>
      <p:pic>
        <p:nvPicPr>
          <p:cNvPr id="3" name="Image 0" descr="Repeated names sorted by Name, showing two Alpha Protocol rows with AppIDs 34,010 and 34,019">    </p:cNvPr>
          <p:cNvPicPr>
            <a:picLocks noChangeAspect="1"/>
          </p:cNvPicPr>
          <p:nvPr/>
        </p:nvPicPr>
        <p:blipFill>
          <a:blip r:embed="rId1"/>
          <a:stretch>
            <a:fillRect/>
          </a:stretch>
        </p:blipFill>
        <p:spPr>
          <a:xfrm>
            <a:off x="1651974" y="1005840"/>
            <a:ext cx="5840053" cy="2743200"/>
          </a:xfrm>
          <a:prstGeom prst="rect">
            <a:avLst/>
          </a:prstGeom>
        </p:spPr>
      </p:pic>
      <p:sp>
        <p:nvSpPr>
          <p:cNvPr id="4" name="Text 1"/>
          <p:cNvSpPr txBox="1"/>
          <p:nvPr/>
        </p:nvSpPr>
        <p:spPr>
          <a:xfrm>
            <a:off x="457200" y="3858768"/>
            <a:ext cx="8229600" cy="667512"/>
          </a:xfrm>
          <a:prstGeom prst="rect">
            <a:avLst/>
          </a:prstGeom>
          <a:noFill/>
          <a:ln/>
        </p:spPr>
        <p:txBody>
          <a:bodyPr wrap="square" lIns="0" tIns="0" rIns="0" bIns="0" rtlCol="0" anchor="t">
            <a:normAutofit/>
          </a:bodyPr>
          <a:lstStyle/>
          <a:p>
            <a:pPr marL="342900" indent="-342900">
              <a:spcAft>
                <a:spcPts val="300"/>
              </a:spcAft>
              <a:buSzPct val="100000"/>
              <a:buChar char="•"/>
            </a:pPr>
            <a:r>
              <a:rPr lang="en-US" sz="1500" dirty="0">
                <a:solidFill>
                  <a:srgbClr val="2B1D19"/>
                </a:solidFill>
              </a:rPr>
              <a:t>​</a:t>
            </a:r>
            <a:r>
              <a:rPr lang="en-US" sz="1500" dirty="0">
                <a:solidFill>
                  <a:srgbClr val="2B1D19"/>
                </a:solidFill>
              </a:rPr>
              <a:t>the two </a:t>
            </a:r>
            <a:r>
              <a:rPr lang="en-US" sz="1300" b="1" dirty="0">
                <a:solidFill>
                  <a:srgbClr val="B86E1E"/>
                </a:solidFill>
                <a:latin typeface="Courier New" pitchFamily="34" charset="0"/>
                <a:ea typeface="Courier New" pitchFamily="34" charset="-122"/>
                <a:cs typeface="Courier New" pitchFamily="34" charset="-120"/>
              </a:rPr>
              <a:t>Alpha Protocol™</a:t>
            </a:r>
            <a:r>
              <a:rPr lang="en-US" sz="1500" dirty="0">
                <a:solidFill>
                  <a:srgbClr val="2B1D19"/>
                </a:solidFill>
              </a:rPr>
              <a:t> rows have the same release date and developer</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but different </a:t>
            </a:r>
            <a:r>
              <a:rPr lang="en-US" sz="1500" b="1" dirty="0">
                <a:solidFill>
                  <a:srgbClr val="2B1D19"/>
                </a:solidFill>
              </a:rPr>
              <a:t>AppIDs</a:t>
            </a:r>
            <a:r>
              <a:rPr lang="en-US" sz="1500" dirty="0">
                <a:solidFill>
                  <a:srgbClr val="2B1D19"/>
                </a:solidFill>
              </a:rPr>
              <a:t> and different review counts</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some games have more than one Steam store page, such as a special edition</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So how do we tell them apart?</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Name</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Alpha Protocol™</a:t>
            </a:r>
            <a:r>
              <a:rPr lang="en-US" sz="1500" dirty="0">
                <a:solidFill>
                  <a:srgbClr val="2B1D19"/>
                </a:solidFill>
              </a:rPr>
              <a:t> matches </a:t>
            </a:r>
            <a:r>
              <a:rPr lang="en-US" sz="1500" b="1" dirty="0">
                <a:solidFill>
                  <a:srgbClr val="2B1D19"/>
                </a:solidFill>
              </a:rPr>
              <a:t>two</a:t>
            </a:r>
            <a:r>
              <a:rPr lang="en-US" sz="1500" dirty="0">
                <a:solidFill>
                  <a:srgbClr val="2B1D19"/>
                </a:solidFill>
              </a:rPr>
              <a:t> rows</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filtering by name could count the game twice</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never use it to identify one game</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AppID</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300" b="1" dirty="0">
                <a:solidFill>
                  <a:srgbClr val="B86E1E"/>
                </a:solidFill>
                <a:latin typeface="Courier New" pitchFamily="34" charset="0"/>
                <a:ea typeface="Courier New" pitchFamily="34" charset="-122"/>
                <a:cs typeface="Courier New" pitchFamily="34" charset="-120"/>
              </a:rPr>
              <a:t>34010</a:t>
            </a:r>
            <a:r>
              <a:rPr lang="en-US" sz="1500" dirty="0">
                <a:solidFill>
                  <a:srgbClr val="2B1D19"/>
                </a:solidFill>
              </a:rPr>
              <a:t> and </a:t>
            </a:r>
            <a:r>
              <a:rPr lang="en-US" sz="1300" b="1" dirty="0">
                <a:solidFill>
                  <a:srgbClr val="B86E1E"/>
                </a:solidFill>
                <a:latin typeface="Courier New" pitchFamily="34" charset="0"/>
                <a:ea typeface="Courier New" pitchFamily="34" charset="-122"/>
                <a:cs typeface="Courier New" pitchFamily="34" charset="-120"/>
              </a:rPr>
              <a:t>34019</a:t>
            </a:r>
            <a:r>
              <a:rPr lang="en-US" sz="1500" dirty="0">
                <a:solidFill>
                  <a:srgbClr val="2B1D19"/>
                </a:solidFill>
              </a:rPr>
              <a:t> are different</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filtering by AppID always gives exactly </a:t>
            </a:r>
            <a:r>
              <a:rPr lang="en-US" sz="1500" b="1" dirty="0">
                <a:solidFill>
                  <a:srgbClr val="2B1D19"/>
                </a:solidFill>
              </a:rPr>
              <a:t>one</a:t>
            </a:r>
            <a:r>
              <a:rPr lang="en-US" sz="1500" dirty="0">
                <a:solidFill>
                  <a:srgbClr val="2B1D19"/>
                </a:solidFill>
              </a:rPr>
              <a:t> row</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use it whenever we need one particular game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Check every AppID really is different</a:t>
            </a:r>
            <a:endParaRPr lang="en-US" sz="2800" dirty="0"/>
          </a:p>
        </p:txBody>
      </p:sp>
      <p:sp>
        <p:nvSpPr>
          <p:cNvPr id="3" name="Code panel"/>
          <p:cNvSpPr/>
          <p:nvPr/>
        </p:nvSpPr>
        <p:spPr>
          <a:xfrm>
            <a:off x="457200" y="1051560"/>
            <a:ext cx="484632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448056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572000" cy="267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clean_games["AppID"].is_unique().all()</a:t>
            </a:r>
            <a:endParaRPr lang="en-US" sz="1400" dirty="0"/>
          </a:p>
        </p:txBody>
      </p:sp>
      <p:sp>
        <p:nvSpPr>
          <p:cNvPr id="6" name="Text 4"/>
          <p:cNvSpPr txBox="1"/>
          <p:nvPr/>
        </p:nvSpPr>
        <p:spPr>
          <a:xfrm>
            <a:off x="457200" y="1929765"/>
            <a:ext cx="484632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True</a:t>
            </a:r>
            <a:r>
              <a:rPr lang="en-US" sz="1500" dirty="0">
                <a:solidFill>
                  <a:srgbClr val="2B1D19"/>
                </a:solidFill>
              </a:rPr>
              <a:t>: every row has its own AppID.</a:t>
            </a:r>
            <a:endParaRPr lang="en-US" sz="1500" dirty="0"/>
          </a:p>
        </p:txBody>
      </p:sp>
      <p:sp>
        <p:nvSpPr>
          <p:cNvPr id="7" name="Text 5"/>
          <p:cNvSpPr txBox="1"/>
          <p:nvPr/>
        </p:nvSpPr>
        <p:spPr>
          <a:xfrm>
            <a:off x="5577840" y="1051560"/>
            <a:ext cx="310896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8" name="Text 6"/>
          <p:cNvSpPr txBox="1"/>
          <p:nvPr/>
        </p:nvSpPr>
        <p:spPr>
          <a:xfrm>
            <a:off x="5577840" y="1399032"/>
            <a:ext cx="310896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AppID only works as an identifier if no two rows share one. </a:t>
            </a:r>
            <a:r>
              <a:rPr lang="en-US" sz="1300" b="1" dirty="0">
                <a:solidFill>
                  <a:srgbClr val="B86E1E"/>
                </a:solidFill>
                <a:latin typeface="Courier New" pitchFamily="34" charset="0"/>
                <a:ea typeface="Courier New" pitchFamily="34" charset="-122"/>
                <a:cs typeface="Courier New" pitchFamily="34" charset="-120"/>
              </a:rPr>
              <a:t>is_unique</a:t>
            </a:r>
            <a:r>
              <a:rPr lang="en-US" sz="1500" dirty="0">
                <a:solidFill>
                  <a:srgbClr val="2B1D19"/>
                </a:solidFill>
              </a:rPr>
              <a:t> marks each AppID that appears once, and </a:t>
            </a:r>
            <a:r>
              <a:rPr lang="en-US" sz="1300" b="1" dirty="0">
                <a:solidFill>
                  <a:srgbClr val="B86E1E"/>
                </a:solidFill>
                <a:latin typeface="Courier New" pitchFamily="34" charset="0"/>
                <a:ea typeface="Courier New" pitchFamily="34" charset="-122"/>
                <a:cs typeface="Courier New" pitchFamily="34" charset="-120"/>
              </a:rPr>
              <a:t>all</a:t>
            </a:r>
            <a:r>
              <a:rPr lang="en-US" sz="1500" dirty="0">
                <a:solidFill>
                  <a:srgbClr val="2B1D19"/>
                </a:solidFill>
              </a:rPr>
              <a:t> gives </a:t>
            </a:r>
            <a:r>
              <a:rPr lang="en-US" sz="1300" b="1" dirty="0">
                <a:solidFill>
                  <a:srgbClr val="B86E1E"/>
                </a:solidFill>
                <a:latin typeface="Courier New" pitchFamily="34" charset="0"/>
                <a:ea typeface="Courier New" pitchFamily="34" charset="-122"/>
                <a:cs typeface="Courier New" pitchFamily="34" charset="-120"/>
              </a:rPr>
              <a:t>True</a:t>
            </a:r>
            <a:r>
              <a:rPr lang="en-US" sz="1500" dirty="0">
                <a:solidFill>
                  <a:srgbClr val="2B1D19"/>
                </a:solidFill>
              </a:rPr>
              <a:t> only if every row passed.</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Save our clean data</a:t>
            </a:r>
            <a:endParaRPr lang="en-US" sz="2800" dirty="0"/>
          </a:p>
        </p:txBody>
      </p:sp>
      <p:sp>
        <p:nvSpPr>
          <p:cNvPr id="3" name="Code panel"/>
          <p:cNvSpPr/>
          <p:nvPr/>
        </p:nvSpPr>
        <p:spPr>
          <a:xfrm>
            <a:off x="457200" y="1051560"/>
            <a:ext cx="5120640" cy="786765"/>
          </a:xfrm>
          <a:prstGeom prst="roundRect">
            <a:avLst>
              <a:gd name="adj" fmla="val 697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220345"/>
          </a:xfrm>
          <a:prstGeom prst="rect">
            <a:avLst/>
          </a:prstGeom>
          <a:noFill/>
          <a:ln/>
        </p:spPr>
        <p:txBody>
          <a:bodyPr wrap="square" lIns="0" tIns="0" rIns="0" bIns="0" rtlCol="0" anchor="t"/>
          <a:lstStyle/>
          <a:p>
            <a:pPr indent="0" marL="0">
              <a:lnSpc>
                <a:spcPts val="1375"/>
              </a:lnSpc>
              <a:buNone/>
            </a:pPr>
            <a:r>
              <a:rPr lang="en-US" sz="1100" dirty="0">
                <a:solidFill>
                  <a:srgbClr val="9C8A80"/>
                </a:solidFill>
                <a:latin typeface="Courier New" pitchFamily="34" charset="0"/>
                <a:ea typeface="Courier New" pitchFamily="34" charset="-122"/>
                <a:cs typeface="Courier New" pitchFamily="34" charset="-120"/>
              </a:rPr>
              <a:t> 1  </a:t>
            </a:r>
            <a:r>
              <a:rPr lang="en-US" sz="1100" dirty="0">
                <a:solidFill>
                  <a:srgbClr val="F7EFE6"/>
                </a:solidFill>
                <a:latin typeface="Courier New" pitchFamily="34" charset="0"/>
                <a:ea typeface="Courier New" pitchFamily="34" charset="-122"/>
                <a:cs typeface="Courier New" pitchFamily="34" charset="-120"/>
              </a:rPr>
              <a:t>clean_games.write_parquet("data/clean_games.parquet")</a:t>
            </a:r>
            <a:endParaRPr lang="en-US" sz="1100" dirty="0"/>
          </a:p>
        </p:txBody>
      </p:sp>
      <p:sp>
        <p:nvSpPr>
          <p:cNvPr id="6" name="Text 4"/>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5852160" y="1399032"/>
            <a:ext cx="283464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Our story goes in a new notebook. Rather than repeat every cleaning step there, we save the result. Parquet remembers each column's data type, so our dates stay dates and our nulls stay nulls.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Re-run the saving cell after changes</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Remember</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If we change any cleaning cell later, the Parquet file won't update by itself. Run the saving cell again so our story notebook gets the new version.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did </a:t>
            </a:r>
            <a:r>
              <a:rPr lang="en-US" sz="1800" b="1" dirty="0">
                <a:solidFill>
                  <a:srgbClr val="E8A55A"/>
                </a:solidFill>
                <a:latin typeface="Courier New" pitchFamily="34" charset="0"/>
                <a:ea typeface="Courier New" pitchFamily="34" charset="-122"/>
                <a:cs typeface="Courier New" pitchFamily="34" charset="-120"/>
              </a:rPr>
              <a:t>str.to_date()</a:t>
            </a:r>
            <a:r>
              <a:rPr lang="en-US" sz="2000" dirty="0">
                <a:solidFill>
                  <a:srgbClr val="FFFFFF"/>
                </a:solidFill>
              </a:rPr>
              <a:t> fail the first time?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is the format code for </a:t>
            </a:r>
            <a:r>
              <a:rPr lang="en-US" sz="1800" b="1" dirty="0">
                <a:solidFill>
                  <a:srgbClr val="E8A55A"/>
                </a:solidFill>
                <a:latin typeface="Courier New" pitchFamily="34" charset="0"/>
                <a:ea typeface="Courier New" pitchFamily="34" charset="-122"/>
                <a:cs typeface="Courier New" pitchFamily="34" charset="-120"/>
              </a:rPr>
              <a:t>Feb 24, 2017</a:t>
            </a:r>
            <a:r>
              <a:rPr lang="en-US" sz="2000" dirty="0">
                <a:solidFill>
                  <a:srgbClr val="FFFFFF"/>
                </a:solidFill>
              </a:rPr>
              <a: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change 0 to null for Metacritic score but not for Price?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Two rows are called Alpha Protocol™. How do we tell them apart?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Clean data</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For each column your question needs, write down whether 0 is a real value or means "missing", and why.</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down every cleaning decision made while cleaning the data, and why. Start each one with "I decided…".</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down one thing about the data that your audience should know, because it limits what you can claim.</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Fixing Our Data</dc:title>
  <dc:subject>PptxGenJS Presentation</dc:subject>
  <dc:creator>Steam Data Stories</dc:creator>
  <cp:lastModifiedBy>Steam Data Stories</cp:lastModifiedBy>
  <cp:revision>1</cp:revision>
  <dcterms:created xsi:type="dcterms:W3CDTF">2026-10-13T11:22:44Z</dcterms:created>
  <dcterms:modified xsi:type="dcterms:W3CDTF">2026-10-13T11:22:44Z</dcterms:modified>
</cp:coreProperties>
</file>