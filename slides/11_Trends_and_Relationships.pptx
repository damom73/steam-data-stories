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6e0702-f811-daad-3d73-e58d1dcf8324}">
          <p14:sldIdLst>
            <p14:sldId id="256"/>
            <p14:sldId id="257"/>
            <p14:sldId id="258"/>
            <p14:sldId id="259"/>
          </p14:sldIdLst>
        </p14:section>
        <p14:section name="Summarising by two columns" id="{44d8cf85-361c-6ac3-e122-1b2196013255}">
          <p14:sldIdLst>
            <p14:sldId id="260"/>
            <p14:sldId id="261"/>
            <p14:sldId id="262"/>
            <p14:sldId id="263"/>
          </p14:sldIdLst>
        </p14:section>
        <p14:section name="Trends over time" id="{1a28ddda-ea30-b3ac-3359-ca51c4ab3f24}">
          <p14:sldIdLst>
            <p14:sldId id="264"/>
            <p14:sldId id="265"/>
            <p14:sldId id="266"/>
            <p14:sldId id="267"/>
            <p14:sldId id="268"/>
            <p14:sldId id="269"/>
            <p14:sldId id="270"/>
            <p14:sldId id="271"/>
          </p14:sldIdLst>
        </p14:section>
        <p14:section name="Looking for a relationship" id="{4459581d-9588-6847-e4be-88d66bd7d254}">
          <p14:sldIdLst>
            <p14:sldId id="272"/>
            <p14:sldId id="273"/>
            <p14:sldId id="274"/>
            <p14:sldId id="275"/>
            <p14:sldId id="276"/>
          </p14:sldIdLst>
        </p14:section>
        <p14:section name="Wrap up" id="{35a789bb-4776-1e04-52cd-7cf333090824}">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look at change over time with a line chart, and at whether two number columns are related with a scatter plot. About 60 minutes: 5 min hook, 10 min summarising by two columns, 20 min line chart, 15 min scatter plot and causation, 10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The last one is the big idea of the lesson; it applies well beyond data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new terms. Ask students for an everyday trend they know, such as phone prices or temperatures.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quick vote: has the gap always been there? Record the vote and come back to it after the line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marimo with marimo edit steam_story.py and press Ctrl+Shift+R (Cmd+Shift+R on a Mac) to run the earlier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ask students to predict how many rows the table will have before running. Line 1 opens a bracket and stores the result in per_year_group; line 6 closes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predictions: 15 years times 2 groups is 30 rows. Students who predicted 15 forgot that each year has two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when we counted games per year. A median from a handful of games could jump around by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where have you seen line charts? (Weather, stock prices, population.) What do they all have on the x-axis?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this to the chart table from last time: how does something change over time? Line chart, px.line.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then run. Point out the headline title on line 7: we're already using what we learnt about titles that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hover over the markers. Ask: what story does this chart tell that the bar chart couldn't? Then reveal the four findings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vote from the start of the lesson. Was the gap always there? Not quite: it's been there every year since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is eight years in a row stronger than one overall median? (One number could be a fluke; a pattern repeated every year is hard to explain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per_year was made when we summarised groups. Check that the new headline title states a finding, not just what the chart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would a line between Action and Puzzle genres be misleading? (It suggests something in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another quick vote: do students think expensive games get better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group or a year, a bar chart or line chart suits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Thousands of dots overlap, which is why we use opacity=0.4.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hover over the dots on the right to find the most expensive games and their scores. Revisit the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idea of the lesson. Ask students for other explanations of the Indie gap. We only claim a cause when we have much stronger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15 years (2010 to 2024), with one row for each of the two groups in each year.
2. Before 2010 there are very few games, and 2025 isn't finished, so their medians could be thrown off by a handful of games.
3. A line says the points follow on from each other, which makes sense for time but not for groups. Use a bar chart or box plot.
4. No. A relationship isn't a cause: maybe Indie players are kinder reviewers, or only the best Indie games reach 500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last 10 minutes. The third task builds the habit from the warning: always look for another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RISING INSIGHTS</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11</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Trends and Relationships</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3002280"/>
          </a:xfrm>
          <a:prstGeom prst="roundRect">
            <a:avLst>
              <a:gd name="adj" fmla="val 2437"/>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3164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to summarise by two columns at once</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show a trend over time with a line chart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look for a relationship with a scatter plot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why a relationship doesn't prove that one thing causes another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2392680"/>
          </a:xfrm>
          <a:prstGeom prst="roundRect">
            <a:avLst>
              <a:gd name="adj" fmla="val 3057"/>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1706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trend</a:t>
            </a:r>
            <a:r>
              <a:rPr lang="en-US" sz="2000" dirty="0">
                <a:solidFill>
                  <a:srgbClr val="2B1D19"/>
                </a:solidFill>
              </a:rPr>
              <a:t> – a change over time, such as review scores rising year after year.</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scatter plot</a:t>
            </a:r>
            <a:r>
              <a:rPr lang="en-US" sz="2000" dirty="0">
                <a:solidFill>
                  <a:srgbClr val="2B1D19"/>
                </a:solidFill>
              </a:rPr>
              <a:t> – a chart that draws one dot for each row, using one number column for x and another for y.</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OUR NEXT QUESTION</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Has the gap between Indie and other games always been there, or is it new?</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So far we've compared the groups across all years at once. We'll also ask: do more expensive games get better reviews?</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Summarising by two columns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To see the trend, we need the median review score for each group in each year.</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Group by year and group</a:t>
            </a:r>
            <a:endParaRPr lang="en-US" sz="2800" dirty="0"/>
          </a:p>
        </p:txBody>
      </p:sp>
      <p:sp>
        <p:nvSpPr>
          <p:cNvPr id="3" name="Code panel"/>
          <p:cNvSpPr/>
          <p:nvPr/>
        </p:nvSpPr>
        <p:spPr>
          <a:xfrm>
            <a:off x="457200" y="1051560"/>
            <a:ext cx="8229600" cy="2215515"/>
          </a:xfrm>
          <a:prstGeom prst="roundRect">
            <a:avLst>
              <a:gd name="adj" fmla="val 2476"/>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16014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per_year_group = (</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scored.filter(pl.col("Release year").is_between(2010, 2024))</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    .group_by("Release year", "Group")</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.agg(pl.col("Review score").median().alias("Median review score"))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    .sort("Release year", "Group")</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6  </a:t>
            </a:r>
            <a:r>
              <a:rPr lang="en-US" sz="1400" dirty="0">
                <a:solidFill>
                  <a:srgbClr val="F7EFE6"/>
                </a:solidFill>
                <a:latin typeface="Courier New" pitchFamily="34" charset="0"/>
                <a:ea typeface="Courier New" pitchFamily="34" charset="-122"/>
                <a:cs typeface="Courier New" pitchFamily="34" charset="-120"/>
              </a:rPr>
              <a: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7  </a:t>
            </a:r>
            <a:r>
              <a:rPr lang="en-US" sz="1400" dirty="0">
                <a:solidFill>
                  <a:srgbClr val="F7EFE6"/>
                </a:solidFill>
                <a:latin typeface="Courier New" pitchFamily="34" charset="0"/>
                <a:ea typeface="Courier New" pitchFamily="34" charset="-122"/>
                <a:cs typeface="Courier New" pitchFamily="34" charset="-120"/>
              </a:rPr>
              <a:t>per_year_group</a:t>
            </a:r>
            <a:endParaRPr lang="en-US" sz="1400" dirty="0"/>
          </a:p>
        </p:txBody>
      </p:sp>
      <p:sp>
        <p:nvSpPr>
          <p:cNvPr id="6" name="Text 4"/>
          <p:cNvSpPr txBox="1"/>
          <p:nvPr/>
        </p:nvSpPr>
        <p:spPr>
          <a:xfrm>
            <a:off x="457200" y="3358515"/>
            <a:ext cx="8229600" cy="8991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We </a:t>
            </a:r>
            <a:r>
              <a:rPr lang="en-US" sz="1300" b="1" dirty="0">
                <a:solidFill>
                  <a:srgbClr val="B86E1E"/>
                </a:solidFill>
                <a:latin typeface="Courier New" pitchFamily="34" charset="0"/>
                <a:ea typeface="Courier New" pitchFamily="34" charset="-122"/>
                <a:cs typeface="Courier New" pitchFamily="34" charset="-120"/>
              </a:rPr>
              <a:t>group_by</a:t>
            </a:r>
            <a:r>
              <a:rPr lang="en-US" sz="1500" dirty="0">
                <a:solidFill>
                  <a:srgbClr val="2B1D19"/>
                </a:solidFill>
              </a:rPr>
              <a:t> </a:t>
            </a:r>
            <a:r>
              <a:rPr lang="en-US" sz="1500" b="1" dirty="0">
                <a:solidFill>
                  <a:srgbClr val="2B1D19"/>
                </a:solidFill>
              </a:rPr>
              <a:t>two</a:t>
            </a:r>
            <a:r>
              <a:rPr lang="en-US" sz="1500" dirty="0">
                <a:solidFill>
                  <a:srgbClr val="2B1D19"/>
                </a:solidFill>
              </a:rPr>
              <a:t> columns at once, </a:t>
            </a:r>
            <a:r>
              <a:rPr lang="en-US" sz="1300" b="1" dirty="0">
                <a:solidFill>
                  <a:srgbClr val="B86E1E"/>
                </a:solidFill>
                <a:latin typeface="Courier New" pitchFamily="34" charset="0"/>
                <a:ea typeface="Courier New" pitchFamily="34" charset="-122"/>
                <a:cs typeface="Courier New" pitchFamily="34" charset="-120"/>
              </a:rPr>
              <a:t>Release year</a:t>
            </a:r>
            <a:r>
              <a:rPr lang="en-US" sz="1500" dirty="0">
                <a:solidFill>
                  <a:srgbClr val="2B1D19"/>
                </a:solidFill>
              </a:rPr>
              <a:t> and </a:t>
            </a:r>
            <a:r>
              <a:rPr lang="en-US" sz="1300" b="1" dirty="0">
                <a:solidFill>
                  <a:srgbClr val="B86E1E"/>
                </a:solidFill>
                <a:latin typeface="Courier New" pitchFamily="34" charset="0"/>
                <a:ea typeface="Courier New" pitchFamily="34" charset="-122"/>
                <a:cs typeface="Courier New" pitchFamily="34" charset="-120"/>
              </a:rPr>
              <a:t>Group</a:t>
            </a:r>
            <a:r>
              <a:rPr lang="en-US" sz="1500" dirty="0">
                <a:solidFill>
                  <a:srgbClr val="2B1D19"/>
                </a:solidFill>
              </a:rPr>
              <a:t>, which gives one group for every combination, such as 2018 Indie and 2018 Not Indie. We keep only 2010 to 2024, then sort by year and group so the table reads in time order.</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One row for each year and group</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The table has </a:t>
            </a:r>
            <a:r>
              <a:rPr lang="en-US" sz="1600" b="1" dirty="0">
                <a:solidFill>
                  <a:srgbClr val="2B1D19"/>
                </a:solidFill>
              </a:rPr>
              <a:t>30</a:t>
            </a:r>
            <a:r>
              <a:rPr lang="en-US" sz="1600" dirty="0">
                <a:solidFill>
                  <a:srgbClr val="2B1D19"/>
                </a:solidFill>
              </a:rPr>
              <a:t> rows: 15 years, with one row for each group in each year.</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2000" dirty="0">
                <a:solidFill>
                  <a:srgbClr val="2B1D19"/>
                </a:solidFill>
              </a:rPr>
              <a:t>​</a:t>
            </a:r>
            <a:r>
              <a:rPr lang="en-US" sz="2000" b="1" dirty="0">
                <a:solidFill>
                  <a:srgbClr val="2B1D19"/>
                </a:solidFill>
              </a:rPr>
              <a:t>line 2</a:t>
            </a:r>
            <a:r>
              <a:rPr lang="en-US" sz="2000" dirty="0">
                <a:solidFill>
                  <a:srgbClr val="2B1D19"/>
                </a:solidFill>
              </a:rPr>
              <a:t> → keeps games released from 2010 to 2024, using </a:t>
            </a:r>
            <a:r>
              <a:rPr lang="en-US" sz="1800" b="1" dirty="0">
                <a:solidFill>
                  <a:srgbClr val="B86E1E"/>
                </a:solidFill>
                <a:latin typeface="Courier New" pitchFamily="34" charset="0"/>
                <a:ea typeface="Courier New" pitchFamily="34" charset="-122"/>
                <a:cs typeface="Courier New" pitchFamily="34" charset="-120"/>
              </a:rPr>
              <a:t>is_between</a:t>
            </a:r>
            <a:endParaRPr lang="en-US" sz="2000" dirty="0"/>
          </a:p>
          <a:p>
            <a:pPr marL="342900" indent="-342900">
              <a:spcAft>
                <a:spcPts val="800"/>
              </a:spcAft>
              <a:buSzPct val="100000"/>
              <a:buChar char="•"/>
            </a:pPr>
            <a:r>
              <a:rPr lang="en-US" sz="2000" dirty="0">
                <a:solidFill>
                  <a:srgbClr val="2B1D19"/>
                </a:solidFill>
              </a:rPr>
              <a:t>​</a:t>
            </a:r>
            <a:r>
              <a:rPr lang="en-US" sz="2000" b="1" dirty="0">
                <a:solidFill>
                  <a:srgbClr val="2B1D19"/>
                </a:solidFill>
              </a:rPr>
              <a:t>line 3</a:t>
            </a:r>
            <a:r>
              <a:rPr lang="en-US" sz="2000" dirty="0">
                <a:solidFill>
                  <a:srgbClr val="2B1D19"/>
                </a:solidFill>
              </a:rPr>
              <a:t> → one group for each combination of </a:t>
            </a:r>
            <a:r>
              <a:rPr lang="en-US" sz="1800" b="1" dirty="0">
                <a:solidFill>
                  <a:srgbClr val="B86E1E"/>
                </a:solidFill>
                <a:latin typeface="Courier New" pitchFamily="34" charset="0"/>
                <a:ea typeface="Courier New" pitchFamily="34" charset="-122"/>
                <a:cs typeface="Courier New" pitchFamily="34" charset="-120"/>
              </a:rPr>
              <a:t>Release year</a:t>
            </a:r>
            <a:r>
              <a:rPr lang="en-US" sz="2000" dirty="0">
                <a:solidFill>
                  <a:srgbClr val="2B1D19"/>
                </a:solidFill>
              </a:rPr>
              <a:t> and </a:t>
            </a:r>
            <a:r>
              <a:rPr lang="en-US" sz="1800" b="1" dirty="0">
                <a:solidFill>
                  <a:srgbClr val="B86E1E"/>
                </a:solidFill>
                <a:latin typeface="Courier New" pitchFamily="34" charset="0"/>
                <a:ea typeface="Courier New" pitchFamily="34" charset="-122"/>
                <a:cs typeface="Courier New" pitchFamily="34" charset="-120"/>
              </a:rPr>
              <a:t>Group</a:t>
            </a:r>
            <a:endParaRPr lang="en-US" sz="2000" dirty="0"/>
          </a:p>
          <a:p>
            <a:pPr marL="342900" indent="-342900">
              <a:spcAft>
                <a:spcPts val="800"/>
              </a:spcAft>
              <a:buSzPct val="100000"/>
              <a:buChar char="•"/>
            </a:pPr>
            <a:r>
              <a:rPr lang="en-US" sz="2000" dirty="0">
                <a:solidFill>
                  <a:srgbClr val="2B1D19"/>
                </a:solidFill>
              </a:rPr>
              <a:t>​</a:t>
            </a:r>
            <a:r>
              <a:rPr lang="en-US" sz="2000" b="1" dirty="0">
                <a:solidFill>
                  <a:srgbClr val="2B1D19"/>
                </a:solidFill>
              </a:rPr>
              <a:t>line 4</a:t>
            </a:r>
            <a:r>
              <a:rPr lang="en-US" sz="2000" dirty="0">
                <a:solidFill>
                  <a:srgbClr val="2B1D19"/>
                </a:solidFill>
              </a:rPr>
              <a:t> → finds the median review score of each group</a:t>
            </a:r>
            <a:endParaRPr lang="en-US" sz="2000" dirty="0"/>
          </a:p>
          <a:p>
            <a:pPr marL="342900" indent="-342900">
              <a:spcAft>
                <a:spcPts val="800"/>
              </a:spcAft>
              <a:buSzPct val="100000"/>
              <a:buChar char="•"/>
            </a:pPr>
            <a:r>
              <a:rPr lang="en-US" sz="2000" dirty="0">
                <a:solidFill>
                  <a:srgbClr val="2B1D19"/>
                </a:solidFill>
              </a:rPr>
              <a:t>​</a:t>
            </a:r>
            <a:r>
              <a:rPr lang="en-US" sz="2000" b="1" dirty="0">
                <a:solidFill>
                  <a:srgbClr val="2B1D19"/>
                </a:solidFill>
              </a:rPr>
              <a:t>line 5</a:t>
            </a:r>
            <a:r>
              <a:rPr lang="en-US" sz="2000" dirty="0">
                <a:solidFill>
                  <a:srgbClr val="2B1D19"/>
                </a:solidFill>
              </a:rPr>
              <a:t> → sorts the table by year, then by group</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Why 2010 to 2024?</a:t>
            </a:r>
            <a:endParaRPr lang="en-US" sz="2800" dirty="0"/>
          </a:p>
        </p:txBody>
      </p:sp>
      <p:sp>
        <p:nvSpPr>
          <p:cNvPr id="3" name="tip box"/>
          <p:cNvSpPr/>
          <p:nvPr/>
        </p:nvSpPr>
        <p:spPr>
          <a:xfrm>
            <a:off x="457200" y="1051560"/>
            <a:ext cx="8229600" cy="3078480"/>
          </a:xfrm>
          <a:prstGeom prst="roundRect">
            <a:avLst>
              <a:gd name="adj" fmla="val 2376"/>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23926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2000" dirty="0">
                <a:solidFill>
                  <a:srgbClr val="2B1D19"/>
                </a:solidFill>
              </a:rPr>
              <a:t>​</a:t>
            </a:r>
            <a:r>
              <a:rPr lang="en-US" sz="2000" dirty="0">
                <a:solidFill>
                  <a:srgbClr val="2B1D19"/>
                </a:solidFill>
              </a:rPr>
              <a:t>years before 2010 have very few games, so their medians could be thrown off</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2025 isn't finished in our data, and has far fewer games than 2024</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leaving these years out means every point is based on plenty of games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Trends over time</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A </a:t>
            </a:r>
            <a:r>
              <a:rPr lang="en-US" sz="1800" b="1" dirty="0">
                <a:solidFill>
                  <a:srgbClr val="F7EFE6"/>
                </a:solidFill>
              </a:rPr>
              <a:t>line chart</a:t>
            </a:r>
            <a:r>
              <a:rPr lang="en-US" sz="1800" dirty="0">
                <a:solidFill>
                  <a:srgbClr val="F7EFE6"/>
                </a:solidFill>
              </a:rPr>
              <a:t> joins one point to the next, which shows how something changes over time.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When to use a line chart</a:t>
            </a:r>
            <a:endParaRPr lang="en-US" sz="2800" dirty="0"/>
          </a:p>
        </p:txBody>
      </p:sp>
      <p:sp>
        <p:nvSpPr>
          <p:cNvPr id="3" name="tip box"/>
          <p:cNvSpPr/>
          <p:nvPr/>
        </p:nvSpPr>
        <p:spPr>
          <a:xfrm>
            <a:off x="457200" y="1051560"/>
            <a:ext cx="8229600" cy="3205480"/>
          </a:xfrm>
          <a:prstGeom prst="roundRect">
            <a:avLst>
              <a:gd name="adj" fmla="val 2282"/>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When to use it</a:t>
            </a:r>
            <a:endParaRPr lang="en-US" sz="1600" dirty="0"/>
          </a:p>
        </p:txBody>
      </p:sp>
      <p:sp>
        <p:nvSpPr>
          <p:cNvPr id="5" name="Text 3"/>
          <p:cNvSpPr txBox="1"/>
          <p:nvPr/>
        </p:nvSpPr>
        <p:spPr>
          <a:xfrm>
            <a:off x="685800" y="1600200"/>
            <a:ext cx="7772400" cy="25196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2000" dirty="0">
                <a:solidFill>
                  <a:srgbClr val="2B1D19"/>
                </a:solidFill>
              </a:rPr>
              <a:t>​</a:t>
            </a:r>
            <a:r>
              <a:rPr lang="en-US" sz="2000" dirty="0">
                <a:solidFill>
                  <a:srgbClr val="2B1D19"/>
                </a:solidFill>
              </a:rPr>
              <a:t>the x-axis is </a:t>
            </a:r>
            <a:r>
              <a:rPr lang="en-US" sz="2000" b="1" dirty="0">
                <a:solidFill>
                  <a:srgbClr val="2B1D19"/>
                </a:solidFill>
              </a:rPr>
              <a:t>time</a:t>
            </a:r>
            <a:r>
              <a:rPr lang="en-US" sz="2000" dirty="0">
                <a:solidFill>
                  <a:srgbClr val="2B1D19"/>
                </a:solidFill>
              </a:rPr>
              <a:t>, such as years or months</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we want to show a </a:t>
            </a:r>
            <a:r>
              <a:rPr lang="en-US" sz="2000" b="1" dirty="0">
                <a:solidFill>
                  <a:srgbClr val="2B1D19"/>
                </a:solidFill>
              </a:rPr>
              <a:t>trend</a:t>
            </a:r>
            <a:r>
              <a:rPr lang="en-US" sz="2000" dirty="0">
                <a:solidFill>
                  <a:srgbClr val="2B1D19"/>
                </a:solidFill>
              </a:rPr>
              <a:t>: rising, falling or staying the same</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one line per group shows whether the gap has changed over time</a:t>
            </a:r>
            <a:endParaRPr lang="en-US" sz="2000" dirty="0"/>
          </a:p>
          <a:p>
            <a:pPr marL="342900" indent="-342900">
              <a:spcAft>
                <a:spcPts val="1000"/>
              </a:spcAft>
              <a:buSzPct val="100000"/>
              <a:buChar char="•"/>
            </a:pPr>
            <a:r>
              <a:rPr lang="en-US" sz="2000" dirty="0">
                <a:solidFill>
                  <a:srgbClr val="2B1D19"/>
                </a:solidFill>
              </a:rPr>
              <a:t>​</a:t>
            </a:r>
            <a:r>
              <a:rPr lang="en-US" sz="2000" b="1" dirty="0">
                <a:solidFill>
                  <a:srgbClr val="2B1D19"/>
                </a:solidFill>
              </a:rPr>
              <a:t>not</a:t>
            </a:r>
            <a:r>
              <a:rPr lang="en-US" sz="2000" dirty="0">
                <a:solidFill>
                  <a:srgbClr val="2B1D19"/>
                </a:solidFill>
              </a:rPr>
              <a:t> for groups that don't follow on from each other, like genres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Draw one line for each group</a:t>
            </a:r>
            <a:endParaRPr lang="en-US" sz="2800" dirty="0"/>
          </a:p>
        </p:txBody>
      </p:sp>
      <p:sp>
        <p:nvSpPr>
          <p:cNvPr id="3" name="Code panel"/>
          <p:cNvSpPr/>
          <p:nvPr/>
        </p:nvSpPr>
        <p:spPr>
          <a:xfrm>
            <a:off x="457200" y="1051560"/>
            <a:ext cx="8229600" cy="2453640"/>
          </a:xfrm>
          <a:prstGeom prst="roundRect">
            <a:avLst>
              <a:gd name="adj" fmla="val 2236"/>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182372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px.line(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per_year_group,</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    x="Release year",</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y="Median review score",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    color="Group",</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6  </a:t>
            </a:r>
            <a:r>
              <a:rPr lang="en-US" sz="1400" dirty="0">
                <a:solidFill>
                  <a:srgbClr val="F7EFE6"/>
                </a:solidFill>
                <a:latin typeface="Courier New" pitchFamily="34" charset="0"/>
                <a:ea typeface="Courier New" pitchFamily="34" charset="-122"/>
                <a:cs typeface="Courier New" pitchFamily="34" charset="-120"/>
              </a:rPr>
              <a:t>    markers=True,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7  </a:t>
            </a:r>
            <a:r>
              <a:rPr lang="en-US" sz="1400" dirty="0">
                <a:solidFill>
                  <a:srgbClr val="F7EFE6"/>
                </a:solidFill>
                <a:latin typeface="Courier New" pitchFamily="34" charset="0"/>
                <a:ea typeface="Courier New" pitchFamily="34" charset="-122"/>
                <a:cs typeface="Courier New" pitchFamily="34" charset="-120"/>
              </a:rPr>
              <a:t>    title="Since 2017, Indie games have reviewed better every year",</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8  </a:t>
            </a:r>
            <a:r>
              <a:rPr lang="en-US" sz="1400" dirty="0">
                <a:solidFill>
                  <a:srgbClr val="F7EFE6"/>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457200" y="3596640"/>
            <a:ext cx="8229600" cy="8991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Time goes on the x-axis and the median review score on the y-axis, with one line per group. </a:t>
            </a:r>
            <a:r>
              <a:rPr lang="en-US" sz="1300" b="1" dirty="0">
                <a:solidFill>
                  <a:srgbClr val="B86E1E"/>
                </a:solidFill>
                <a:latin typeface="Courier New" pitchFamily="34" charset="0"/>
                <a:ea typeface="Courier New" pitchFamily="34" charset="-122"/>
                <a:cs typeface="Courier New" pitchFamily="34" charset="-120"/>
              </a:rPr>
              <a:t>markers=True</a:t>
            </a:r>
            <a:r>
              <a:rPr lang="en-US" sz="1500" dirty="0">
                <a:solidFill>
                  <a:srgbClr val="2B1D19"/>
                </a:solidFill>
              </a:rPr>
              <a:t> puts a dot on each year, so we can hover over a single year and read its value.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Indie games have reviewed better every year since 2017</a:t>
            </a:r>
            <a:endParaRPr lang="en-US" sz="2800" dirty="0"/>
          </a:p>
        </p:txBody>
      </p:sp>
      <p:pic>
        <p:nvPicPr>
          <p:cNvPr id="3" name="Image 0" descr="Line chart titled Since 2017, Indie games have reviewed better every year, with a blue Indie line and a red Not Indie line from 2010 to 2024; the lines cross around 2015 and 2016, the Indie line is back on top in 2017, then stays well above the other from 2018">    </p:cNvPr>
          <p:cNvPicPr>
            <a:picLocks noChangeAspect="1"/>
          </p:cNvPicPr>
          <p:nvPr/>
        </p:nvPicPr>
        <p:blipFill>
          <a:blip r:embed="rId1"/>
          <a:stretch>
            <a:fillRect/>
          </a:stretch>
        </p:blipFill>
        <p:spPr>
          <a:xfrm>
            <a:off x="1897380" y="1051560"/>
            <a:ext cx="5349240" cy="2971800"/>
          </a:xfrm>
          <a:prstGeom prst="rect">
            <a:avLst/>
          </a:prstGeom>
        </p:spPr>
      </p:pic>
      <p:sp>
        <p:nvSpPr>
          <p:cNvPr id="4" name="Text 1"/>
          <p:cNvSpPr txBox="1"/>
          <p:nvPr/>
        </p:nvSpPr>
        <p:spPr>
          <a:xfrm>
            <a:off x="457200" y="4069080"/>
            <a:ext cx="8229600" cy="411480"/>
          </a:xfrm>
          <a:prstGeom prst="rect">
            <a:avLst/>
          </a:prstGeom>
          <a:noFill/>
          <a:ln/>
        </p:spPr>
        <p:txBody>
          <a:bodyPr wrap="square" lIns="0" tIns="0" rIns="0" bIns="0" rtlCol="0" anchor="ctr"/>
          <a:lstStyle/>
          <a:p>
            <a:pPr algn="ctr" indent="0" marL="0">
              <a:spcAft>
                <a:spcPts val="800"/>
              </a:spcAft>
              <a:buNone/>
            </a:pPr>
            <a:r>
              <a:rPr lang="en-US" sz="1300" i="1" dirty="0">
                <a:solidFill>
                  <a:srgbClr val="6B6B6B"/>
                </a:solidFill>
              </a:rPr>
              <a:t>​</a:t>
            </a:r>
            <a:r>
              <a:rPr lang="en-US" sz="1300" i="1" dirty="0">
                <a:solidFill>
                  <a:srgbClr val="6B6B6B"/>
                </a:solidFill>
              </a:rPr>
              <a:t>Indie in blue, Not Indie in red, from 2010 to 2024.</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This chart tells us much more than our bar chart</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2000" dirty="0">
                <a:solidFill>
                  <a:srgbClr val="2B1D19"/>
                </a:solidFill>
              </a:rPr>
              <a:t>​</a:t>
            </a:r>
            <a:r>
              <a:rPr lang="en-US" sz="2000" b="1" dirty="0">
                <a:solidFill>
                  <a:srgbClr val="2B1D19"/>
                </a:solidFill>
              </a:rPr>
              <a:t>2010 to 2014</a:t>
            </a:r>
            <a:r>
              <a:rPr lang="en-US" sz="2000" dirty="0">
                <a:solidFill>
                  <a:srgbClr val="2B1D19"/>
                </a:solidFill>
              </a:rPr>
              <a:t>: Indie games reviewed a little better</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b="1" dirty="0">
                <a:solidFill>
                  <a:srgbClr val="2B1D19"/>
                </a:solidFill>
              </a:rPr>
              <a:t>2015 and 2016</a:t>
            </a:r>
            <a:r>
              <a:rPr lang="en-US" sz="2000" dirty="0">
                <a:solidFill>
                  <a:srgbClr val="2B1D19"/>
                </a:solidFill>
              </a:rPr>
              <a:t>: the lines cross; other games were slightly ahead</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b="1" dirty="0">
                <a:solidFill>
                  <a:srgbClr val="2B1D19"/>
                </a:solidFill>
              </a:rPr>
              <a:t>2017</a:t>
            </a:r>
            <a:r>
              <a:rPr lang="en-US" sz="2000" dirty="0">
                <a:solidFill>
                  <a:srgbClr val="2B1D19"/>
                </a:solidFill>
              </a:rPr>
              <a:t>: the Indie line moves back in front, and stays there</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b="1" dirty="0">
                <a:solidFill>
                  <a:srgbClr val="2B1D19"/>
                </a:solidFill>
              </a:rPr>
              <a:t>from 2018</a:t>
            </a:r>
            <a:r>
              <a:rPr lang="en-US" sz="2000" dirty="0">
                <a:solidFill>
                  <a:srgbClr val="2B1D19"/>
                </a:solidFill>
              </a:rPr>
              <a:t>: the Indie line stays </a:t>
            </a:r>
            <a:r>
              <a:rPr lang="en-US" sz="2000" b="1" dirty="0">
                <a:solidFill>
                  <a:srgbClr val="2B1D19"/>
                </a:solidFill>
              </a:rPr>
              <a:t>about 4 to 8 points</a:t>
            </a:r>
            <a:r>
              <a:rPr lang="en-US" sz="2000" dirty="0">
                <a:solidFill>
                  <a:srgbClr val="2B1D19"/>
                </a:solidFill>
              </a:rPr>
              <a:t> above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SO WHAT?</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The gap isn't a lucky average</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Indie games have been ahead for eight years in a row. That makes it a much stronger piece of evidence for our story.</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games per year</a:t>
            </a:r>
            <a:endParaRPr lang="en-US" sz="2800" dirty="0"/>
          </a:p>
        </p:txBody>
      </p:sp>
      <p:sp>
        <p:nvSpPr>
          <p:cNvPr id="3" name="primm box"/>
          <p:cNvSpPr/>
          <p:nvPr/>
        </p:nvSpPr>
        <p:spPr>
          <a:xfrm>
            <a:off x="457200" y="1051560"/>
            <a:ext cx="8229600" cy="2595880"/>
          </a:xfrm>
          <a:prstGeom prst="roundRect">
            <a:avLst>
              <a:gd name="adj" fmla="val 2818"/>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9100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b="1" dirty="0">
                <a:solidFill>
                  <a:srgbClr val="B86E1E"/>
                </a:solidFill>
                <a:latin typeface="Courier New" pitchFamily="34" charset="0"/>
                <a:ea typeface="Courier New" pitchFamily="34" charset="-122"/>
                <a:cs typeface="Courier New" pitchFamily="34" charset="-120"/>
              </a:rPr>
              <a:t>per_year_group</a:t>
            </a:r>
            <a:r>
              <a:rPr lang="en-US" sz="2000" dirty="0">
                <a:solidFill>
                  <a:srgbClr val="2B1D19"/>
                </a:solidFill>
              </a:rPr>
              <a:t> to </a:t>
            </a:r>
            <a:r>
              <a:rPr lang="en-US" sz="1800" b="1" dirty="0">
                <a:solidFill>
                  <a:srgbClr val="B86E1E"/>
                </a:solidFill>
                <a:latin typeface="Courier New" pitchFamily="34" charset="0"/>
                <a:ea typeface="Courier New" pitchFamily="34" charset="-122"/>
                <a:cs typeface="Courier New" pitchFamily="34" charset="-120"/>
              </a:rPr>
              <a:t>per_year</a:t>
            </a:r>
            <a:r>
              <a:rPr lang="en-US" sz="2000" dirty="0">
                <a:solidFill>
                  <a:srgbClr val="2B1D19"/>
                </a:solidFill>
              </a:rPr>
              <a:t>.</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b="1" dirty="0">
                <a:solidFill>
                  <a:srgbClr val="B86E1E"/>
                </a:solidFill>
                <a:latin typeface="Courier New" pitchFamily="34" charset="0"/>
                <a:ea typeface="Courier New" pitchFamily="34" charset="-122"/>
                <a:cs typeface="Courier New" pitchFamily="34" charset="-120"/>
              </a:rPr>
              <a:t>y</a:t>
            </a:r>
            <a:r>
              <a:rPr lang="en-US" sz="2000" dirty="0">
                <a:solidFill>
                  <a:srgbClr val="2B1D19"/>
                </a:solidFill>
              </a:rPr>
              <a:t> to </a:t>
            </a:r>
            <a:r>
              <a:rPr lang="en-US" sz="1800" b="1" dirty="0">
                <a:solidFill>
                  <a:srgbClr val="B86E1E"/>
                </a:solidFill>
                <a:latin typeface="Courier New" pitchFamily="34" charset="0"/>
                <a:ea typeface="Courier New" pitchFamily="34" charset="-122"/>
                <a:cs typeface="Courier New" pitchFamily="34" charset="-120"/>
              </a:rPr>
              <a:t>"Games"</a:t>
            </a:r>
            <a:r>
              <a:rPr lang="en-US" sz="2000" dirty="0">
                <a:solidFill>
                  <a:srgbClr val="2B1D19"/>
                </a:solidFill>
              </a:rPr>
              <a:t>.</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Remove the </a:t>
            </a:r>
            <a:r>
              <a:rPr lang="en-US" sz="1800" b="1" dirty="0">
                <a:solidFill>
                  <a:srgbClr val="B86E1E"/>
                </a:solidFill>
                <a:latin typeface="Courier New" pitchFamily="34" charset="0"/>
                <a:ea typeface="Courier New" pitchFamily="34" charset="-122"/>
                <a:cs typeface="Courier New" pitchFamily="34" charset="-120"/>
              </a:rPr>
              <a:t>color</a:t>
            </a:r>
            <a:r>
              <a:rPr lang="en-US" sz="2000" dirty="0">
                <a:solidFill>
                  <a:srgbClr val="2B1D19"/>
                </a:solidFill>
              </a:rPr>
              <a:t> line.</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Write a headline title for what the new chart shows.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Line charts are for time</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A line joins each point to the next, which tells our audience "these points follow on from each other". That makes sense for years or months, but not for groups like genres. For groups, use a bar chart or a box plot instead.</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Looking for a relationship</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Do more expensive games get better reviews? If the dots on a </a:t>
            </a:r>
            <a:r>
              <a:rPr lang="en-US" sz="1800" b="1" dirty="0">
                <a:solidFill>
                  <a:srgbClr val="F7EFE6"/>
                </a:solidFill>
              </a:rPr>
              <a:t>scatter plot</a:t>
            </a:r>
            <a:r>
              <a:rPr lang="en-US" sz="1800" dirty="0">
                <a:solidFill>
                  <a:srgbClr val="F7EFE6"/>
                </a:solidFill>
              </a:rPr>
              <a:t> form a slope, the two columns are related.</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When to use a scatter plot</a:t>
            </a:r>
            <a:endParaRPr lang="en-US" sz="2800" dirty="0"/>
          </a:p>
        </p:txBody>
      </p:sp>
      <p:sp>
        <p:nvSpPr>
          <p:cNvPr id="3" name="tip box"/>
          <p:cNvSpPr/>
          <p:nvPr/>
        </p:nvSpPr>
        <p:spPr>
          <a:xfrm>
            <a:off x="457200" y="1051560"/>
            <a:ext cx="8229600" cy="3205480"/>
          </a:xfrm>
          <a:prstGeom prst="roundRect">
            <a:avLst>
              <a:gd name="adj" fmla="val 2282"/>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When to use it</a:t>
            </a:r>
            <a:endParaRPr lang="en-US" sz="1600" dirty="0"/>
          </a:p>
        </p:txBody>
      </p:sp>
      <p:sp>
        <p:nvSpPr>
          <p:cNvPr id="5" name="Text 3"/>
          <p:cNvSpPr txBox="1"/>
          <p:nvPr/>
        </p:nvSpPr>
        <p:spPr>
          <a:xfrm>
            <a:off x="685800" y="1600200"/>
            <a:ext cx="7772400" cy="25196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2000" dirty="0">
                <a:solidFill>
                  <a:srgbClr val="2B1D19"/>
                </a:solidFill>
              </a:rPr>
              <a:t>​</a:t>
            </a:r>
            <a:r>
              <a:rPr lang="en-US" sz="2000" dirty="0">
                <a:solidFill>
                  <a:srgbClr val="2B1D19"/>
                </a:solidFill>
              </a:rPr>
              <a:t>we have </a:t>
            </a:r>
            <a:r>
              <a:rPr lang="en-US" sz="2000" b="1" dirty="0">
                <a:solidFill>
                  <a:srgbClr val="2B1D19"/>
                </a:solidFill>
              </a:rPr>
              <a:t>two number columns</a:t>
            </a:r>
            <a:r>
              <a:rPr lang="en-US" sz="2000" dirty="0">
                <a:solidFill>
                  <a:srgbClr val="2B1D19"/>
                </a:solidFill>
              </a:rPr>
              <a:t> and want to know whether they're </a:t>
            </a:r>
            <a:r>
              <a:rPr lang="en-US" sz="2000" b="1" dirty="0">
                <a:solidFill>
                  <a:srgbClr val="2B1D19"/>
                </a:solidFill>
              </a:rPr>
              <a:t>related</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when one goes up, does the other tend to go up or down?</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each dot is one row, so we see every game, not just a summary</a:t>
            </a:r>
            <a:endParaRPr lang="en-US" sz="2000" dirty="0"/>
          </a:p>
          <a:p>
            <a:pPr marL="342900" indent="-342900">
              <a:spcAft>
                <a:spcPts val="1000"/>
              </a:spcAft>
              <a:buSzPct val="100000"/>
              <a:buChar char="•"/>
            </a:pPr>
            <a:r>
              <a:rPr lang="en-US" sz="2000" dirty="0">
                <a:solidFill>
                  <a:srgbClr val="2B1D19"/>
                </a:solidFill>
              </a:rPr>
              <a:t>​</a:t>
            </a:r>
            <a:r>
              <a:rPr lang="en-US" sz="2000" b="1" dirty="0">
                <a:solidFill>
                  <a:srgbClr val="2B1D19"/>
                </a:solidFill>
              </a:rPr>
              <a:t>not</a:t>
            </a:r>
            <a:r>
              <a:rPr lang="en-US" sz="2000" dirty="0">
                <a:solidFill>
                  <a:srgbClr val="2B1D19"/>
                </a:solidFill>
              </a:rPr>
              <a:t> when either column is a group or a year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Price against review score</a:t>
            </a:r>
            <a:endParaRPr lang="en-US" sz="2800" dirty="0"/>
          </a:p>
        </p:txBody>
      </p:sp>
      <p:sp>
        <p:nvSpPr>
          <p:cNvPr id="3" name="Code panel"/>
          <p:cNvSpPr/>
          <p:nvPr/>
        </p:nvSpPr>
        <p:spPr>
          <a:xfrm>
            <a:off x="457200" y="1051560"/>
            <a:ext cx="5120640" cy="2280920"/>
          </a:xfrm>
          <a:prstGeom prst="roundRect">
            <a:avLst>
              <a:gd name="adj" fmla="val 2405"/>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4846320" cy="1617345"/>
          </a:xfrm>
          <a:prstGeom prst="rect">
            <a:avLst/>
          </a:prstGeom>
          <a:noFill/>
          <a:ln/>
        </p:spPr>
        <p:txBody>
          <a:bodyPr wrap="square" lIns="0" tIns="0" rIns="0" bIns="0" rtlCol="0" anchor="t"/>
          <a:lstStyle/>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1  </a:t>
            </a:r>
            <a:r>
              <a:rPr lang="en-US" sz="1100" dirty="0">
                <a:solidFill>
                  <a:srgbClr val="F7EFE6"/>
                </a:solidFill>
                <a:latin typeface="Courier New" pitchFamily="34" charset="0"/>
                <a:ea typeface="Courier New" pitchFamily="34" charset="-122"/>
                <a:cs typeface="Courier New" pitchFamily="34" charset="-120"/>
              </a:rPr>
              <a:t>px.scatter(</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2  </a:t>
            </a:r>
            <a:r>
              <a:rPr lang="en-US" sz="1100" dirty="0">
                <a:solidFill>
                  <a:srgbClr val="F7EFE6"/>
                </a:solidFill>
                <a:latin typeface="Courier New" pitchFamily="34" charset="0"/>
                <a:ea typeface="Courier New" pitchFamily="34" charset="-122"/>
                <a:cs typeface="Courier New" pitchFamily="34" charset="-120"/>
              </a:rPr>
              <a:t>    scored,</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3  </a:t>
            </a:r>
            <a:r>
              <a:rPr lang="en-US" sz="1100" dirty="0">
                <a:solidFill>
                  <a:srgbClr val="F7EFE6"/>
                </a:solidFill>
                <a:latin typeface="Courier New" pitchFamily="34" charset="0"/>
                <a:ea typeface="Courier New" pitchFamily="34" charset="-122"/>
                <a:cs typeface="Courier New" pitchFamily="34" charset="-120"/>
              </a:rPr>
              <a:t>    x="Price",</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4  </a:t>
            </a:r>
            <a:r>
              <a:rPr lang="en-US" sz="1100" dirty="0">
                <a:solidFill>
                  <a:srgbClr val="F7EFE6"/>
                </a:solidFill>
                <a:latin typeface="Courier New" pitchFamily="34" charset="0"/>
                <a:ea typeface="Courier New" pitchFamily="34" charset="-122"/>
                <a:cs typeface="Courier New" pitchFamily="34" charset="-120"/>
              </a:rPr>
              <a:t>    y="Review score",</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5  </a:t>
            </a:r>
            <a:r>
              <a:rPr lang="en-US" sz="1100" dirty="0">
                <a:solidFill>
                  <a:srgbClr val="F7EFE6"/>
                </a:solidFill>
                <a:latin typeface="Courier New" pitchFamily="34" charset="0"/>
                <a:ea typeface="Courier New" pitchFamily="34" charset="-122"/>
                <a:cs typeface="Courier New" pitchFamily="34" charset="-120"/>
              </a:rPr>
              <a:t>    color="Group",</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6  </a:t>
            </a:r>
            <a:r>
              <a:rPr lang="en-US" sz="1100" dirty="0">
                <a:solidFill>
                  <a:srgbClr val="F7EFE6"/>
                </a:solidFill>
                <a:latin typeface="Courier New" pitchFamily="34" charset="0"/>
                <a:ea typeface="Courier New" pitchFamily="34" charset="-122"/>
                <a:cs typeface="Courier New" pitchFamily="34" charset="-120"/>
              </a:rPr>
              <a:t>    hover_name="Name",</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7  </a:t>
            </a:r>
            <a:r>
              <a:rPr lang="en-US" sz="1100" dirty="0">
                <a:solidFill>
                  <a:srgbClr val="F7EFE6"/>
                </a:solidFill>
                <a:latin typeface="Courier New" pitchFamily="34" charset="0"/>
                <a:ea typeface="Courier New" pitchFamily="34" charset="-122"/>
                <a:cs typeface="Courier New" pitchFamily="34" charset="-120"/>
              </a:rPr>
              <a:t>    opacity=0.4,</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8  </a:t>
            </a:r>
            <a:r>
              <a:rPr lang="en-US" sz="1100" dirty="0">
                <a:solidFill>
                  <a:srgbClr val="F7EFE6"/>
                </a:solidFill>
                <a:latin typeface="Courier New" pitchFamily="34" charset="0"/>
                <a:ea typeface="Courier New" pitchFamily="34" charset="-122"/>
                <a:cs typeface="Courier New" pitchFamily="34" charset="-120"/>
              </a:rPr>
              <a:t>    title="Expensive games don't get better reviews",</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9  </a:t>
            </a:r>
            <a:r>
              <a:rPr lang="en-US" sz="1100" dirty="0">
                <a:solidFill>
                  <a:srgbClr val="F7EFE6"/>
                </a:solidFill>
                <a:latin typeface="Courier New" pitchFamily="34" charset="0"/>
                <a:ea typeface="Courier New" pitchFamily="34" charset="-122"/>
                <a:cs typeface="Courier New" pitchFamily="34" charset="-120"/>
              </a:rPr>
              <a:t>)</a:t>
            </a:r>
            <a:endParaRPr lang="en-US" sz="1100" dirty="0"/>
          </a:p>
        </p:txBody>
      </p:sp>
      <p:sp>
        <p:nvSpPr>
          <p:cNvPr id="6" name="primm box"/>
          <p:cNvSpPr/>
          <p:nvPr/>
        </p:nvSpPr>
        <p:spPr>
          <a:xfrm>
            <a:off x="457200" y="3469640"/>
            <a:ext cx="5120640" cy="1056640"/>
          </a:xfrm>
          <a:prstGeom prst="roundRect">
            <a:avLst>
              <a:gd name="adj" fmla="val 6923"/>
            </a:avLst>
          </a:prstGeom>
          <a:solidFill>
            <a:srgbClr val="E6F2E6"/>
          </a:solidFill>
          <a:ln w="12700">
            <a:solidFill>
              <a:srgbClr val="E6F2E6"/>
            </a:solidFill>
            <a:prstDash val="solid"/>
          </a:ln>
        </p:spPr>
      </p:sp>
      <p:sp>
        <p:nvSpPr>
          <p:cNvPr id="7" name="Text 5"/>
          <p:cNvSpPr txBox="1"/>
          <p:nvPr/>
        </p:nvSpPr>
        <p:spPr>
          <a:xfrm>
            <a:off x="685800" y="3606800"/>
            <a:ext cx="466344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8" name="Text 6"/>
          <p:cNvSpPr txBox="1"/>
          <p:nvPr/>
        </p:nvSpPr>
        <p:spPr>
          <a:xfrm>
            <a:off x="685800" y="3972560"/>
            <a:ext cx="4663440" cy="3708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Will the dots slope up, slope down, or neither?</a:t>
            </a:r>
            <a:endParaRPr lang="en-US" sz="1500" dirty="0"/>
          </a:p>
        </p:txBody>
      </p:sp>
      <p:sp>
        <p:nvSpPr>
          <p:cNvPr id="9" name="Text 7"/>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0" name="Text 8"/>
          <p:cNvSpPr txBox="1"/>
          <p:nvPr/>
        </p:nvSpPr>
        <p:spPr>
          <a:xfrm>
            <a:off x="5852160" y="1399032"/>
            <a:ext cx="2834640" cy="8686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We use </a:t>
            </a:r>
            <a:r>
              <a:rPr lang="en-US" sz="1300" b="1" dirty="0">
                <a:solidFill>
                  <a:srgbClr val="B86E1E"/>
                </a:solidFill>
                <a:latin typeface="Courier New" pitchFamily="34" charset="0"/>
                <a:ea typeface="Courier New" pitchFamily="34" charset="-122"/>
                <a:cs typeface="Courier New" pitchFamily="34" charset="-120"/>
              </a:rPr>
              <a:t>scored</a:t>
            </a:r>
            <a:r>
              <a:rPr lang="en-US" sz="1500" dirty="0">
                <a:solidFill>
                  <a:srgbClr val="2B1D19"/>
                </a:solidFill>
              </a:rPr>
              <a:t>, not a summary table, because we want one dot per game.</a:t>
            </a:r>
            <a:endParaRPr lang="en-US" sz="1500" dirty="0"/>
          </a:p>
        </p:txBody>
      </p:sp>
      <p:sp>
        <p:nvSpPr>
          <p:cNvPr id="11" name="Text 9"/>
          <p:cNvSpPr txBox="1"/>
          <p:nvPr/>
        </p:nvSpPr>
        <p:spPr>
          <a:xfrm>
            <a:off x="5852160" y="2450592"/>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2" name="Text 10"/>
          <p:cNvSpPr txBox="1"/>
          <p:nvPr/>
        </p:nvSpPr>
        <p:spPr>
          <a:xfrm>
            <a:off x="5852160" y="2798064"/>
            <a:ext cx="2834640" cy="17282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5</a:t>
            </a:r>
            <a:r>
              <a:rPr lang="en-US" sz="1400" dirty="0">
                <a:solidFill>
                  <a:srgbClr val="2B1D19"/>
                </a:solidFill>
              </a:rPr>
              <a:t> → colour by group</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line 6</a:t>
            </a:r>
            <a:r>
              <a:rPr lang="en-US" sz="1400" dirty="0">
                <a:solidFill>
                  <a:srgbClr val="2B1D19"/>
                </a:solidFill>
              </a:rPr>
              <a:t> → name on hover</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line 7</a:t>
            </a:r>
            <a:r>
              <a:rPr lang="en-US" sz="1400" dirty="0">
                <a:solidFill>
                  <a:srgbClr val="2B1D19"/>
                </a:solidFill>
              </a:rPr>
              <a:t> → dots 40% solid</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Expensive games don't get better reviews</a:t>
            </a:r>
            <a:endParaRPr lang="en-US" sz="2800" dirty="0"/>
          </a:p>
        </p:txBody>
      </p:sp>
      <p:pic>
        <p:nvPicPr>
          <p:cNvPr id="3" name="Image 0" descr="Scatter plot titled Expensive games don't get better reviews, with thousands of dots for price against review score; the dots spread across every price with no upward or downward slope">    </p:cNvPr>
          <p:cNvPicPr>
            <a:picLocks noChangeAspect="1"/>
          </p:cNvPicPr>
          <p:nvPr/>
        </p:nvPicPr>
        <p:blipFill>
          <a:blip r:embed="rId1"/>
          <a:stretch>
            <a:fillRect/>
          </a:stretch>
        </p:blipFill>
        <p:spPr>
          <a:xfrm>
            <a:off x="3931920" y="1468120"/>
            <a:ext cx="4754880" cy="2641600"/>
          </a:xfrm>
          <a:prstGeom prst="rect">
            <a:avLst/>
          </a:prstGeom>
        </p:spPr>
      </p:pic>
      <p:sp>
        <p:nvSpPr>
          <p:cNvPr id="4" name="Text 1"/>
          <p:cNvSpPr txBox="1"/>
          <p:nvPr/>
        </p:nvSpPr>
        <p:spPr>
          <a:xfrm>
            <a:off x="457200" y="1097280"/>
            <a:ext cx="32004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the dots don't slope up or down</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games at every price get scores from below 50 to almost 100</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in our data, price and review score </a:t>
            </a:r>
            <a:r>
              <a:rPr lang="en-US" sz="1700" b="1" dirty="0">
                <a:solidFill>
                  <a:srgbClr val="2B1D19"/>
                </a:solidFill>
              </a:rPr>
              <a:t>aren't related</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A relationship isn't a cause</a:t>
            </a:r>
            <a:endParaRPr lang="en-US" sz="2800" dirty="0"/>
          </a:p>
        </p:txBody>
      </p:sp>
      <p:sp>
        <p:nvSpPr>
          <p:cNvPr id="3" name="warning box"/>
          <p:cNvSpPr/>
          <p:nvPr/>
        </p:nvSpPr>
        <p:spPr>
          <a:xfrm>
            <a:off x="457200" y="1051560"/>
            <a:ext cx="8229600" cy="3058160"/>
          </a:xfrm>
          <a:prstGeom prst="roundRect">
            <a:avLst>
              <a:gd name="adj" fmla="val 2392"/>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23723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2B1D19"/>
                </a:solidFill>
              </a:rPr>
              <a:t>​</a:t>
            </a:r>
            <a:r>
              <a:rPr lang="en-US" sz="1700" dirty="0">
                <a:solidFill>
                  <a:srgbClr val="2B1D19"/>
                </a:solidFill>
              </a:rPr>
              <a:t>even when two things </a:t>
            </a:r>
            <a:r>
              <a:rPr lang="en-US" sz="1700" b="1" dirty="0">
                <a:solidFill>
                  <a:srgbClr val="2B1D19"/>
                </a:solidFill>
              </a:rPr>
              <a:t>are</a:t>
            </a:r>
            <a:r>
              <a:rPr lang="en-US" sz="1700" dirty="0">
                <a:solidFill>
                  <a:srgbClr val="2B1D19"/>
                </a:solidFill>
              </a:rPr>
              <a:t> related, it doesn't prove one causes the other</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our line chart doesn't prove being Indie </a:t>
            </a:r>
            <a:r>
              <a:rPr lang="en-US" sz="1700" b="1" dirty="0">
                <a:solidFill>
                  <a:srgbClr val="2B1D19"/>
                </a:solidFill>
              </a:rPr>
              <a:t>makes</a:t>
            </a:r>
            <a:r>
              <a:rPr lang="en-US" sz="1700" dirty="0">
                <a:solidFill>
                  <a:srgbClr val="2B1D19"/>
                </a:solidFill>
              </a:rPr>
              <a:t> a game better</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maybe Indie players are kinder reviewers</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maybe only the best Indie games reach 500 reviews</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we say "Indie games get better reviews", not "being Indie makes games better"</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does </a:t>
            </a:r>
            <a:r>
              <a:rPr lang="en-US" sz="1800" b="1" dirty="0">
                <a:solidFill>
                  <a:srgbClr val="E8A55A"/>
                </a:solidFill>
                <a:latin typeface="Courier New" pitchFamily="34" charset="0"/>
                <a:ea typeface="Courier New" pitchFamily="34" charset="-122"/>
                <a:cs typeface="Courier New" pitchFamily="34" charset="-120"/>
              </a:rPr>
              <a:t>per_year_group</a:t>
            </a:r>
            <a:r>
              <a:rPr lang="en-US" sz="2000" dirty="0">
                <a:solidFill>
                  <a:srgbClr val="FFFFFF"/>
                </a:solidFill>
              </a:rPr>
              <a:t> have 30 rows?</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did we leave out the years before 2010 and 2025?</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shouldn't we use a line chart to compare genres?</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Indie games get better reviews. Does that prove being Indie makes a game better?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Trends and relationships</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If your question involves time, draw a line chart with a headline title. Record what the trend shows.</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Choose two number columns your question uses and draw a scatter plot. Are they related?</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Write down one other explanation for a pattern you've found, apart from the obvious one.</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Trends and Relationships</dc:title>
  <dc:subject>PptxGenJS Presentation</dc:subject>
  <dc:creator>Steam Data Stories</dc:creator>
  <cp:lastModifiedBy>Steam Data Stories</cp:lastModifiedBy>
  <cp:revision>1</cp:revision>
  <dcterms:created xsi:type="dcterms:W3CDTF">2026-10-13T11:23:01Z</dcterms:created>
  <dcterms:modified xsi:type="dcterms:W3CDTF">2026-10-13T11:23:01Z</dcterms:modified>
</cp:coreProperties>
</file>